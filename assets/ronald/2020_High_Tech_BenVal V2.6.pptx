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comments/comment1.xml" ContentType="application/vnd.openxmlformats-officedocument.presentationml.comment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comments/comment2.xml" ContentType="application/vnd.openxmlformats-officedocument.presentationml.comment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22.xml" ContentType="application/vnd.openxmlformats-officedocument.presentationml.tags+xml"/>
  <Override PartName="/ppt/tags/tag23.xml" ContentType="application/vnd.openxmlformats-officedocument.presentationml.tags+xml"/>
  <Override PartName="/ppt/comments/comment3.xml" ContentType="application/vnd.openxmlformats-officedocument.presentationml.comments+xml"/>
  <Override PartName="/ppt/comments/comment4.xml" ContentType="application/vnd.openxmlformats-officedocument.presentationml.comment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omments/comment5.xml" ContentType="application/vnd.openxmlformats-officedocument.presentationml.comments+xml"/>
  <Override PartName="/ppt/comments/comment6.xml" ContentType="application/vnd.openxmlformats-officedocument.presentationml.comments+xml"/>
  <Override PartName="/ppt/tags/tag28.xml" ContentType="application/vnd.openxmlformats-officedocument.presentationml.tags+xml"/>
  <Override PartName="/ppt/tags/tag29.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comments/comment7.xml" ContentType="application/vnd.openxmlformats-officedocument.presentationml.comment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omments/comment8.xml" ContentType="application/vnd.openxmlformats-officedocument.presentationml.comment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omments/comment9.xml" ContentType="application/vnd.openxmlformats-officedocument.presentationml.comment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comments/comment10.xml" ContentType="application/vnd.openxmlformats-officedocument.presentationml.comment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comments/comment11.xml" ContentType="application/vnd.openxmlformats-officedocument.presentationml.comment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comments/comment12.xml" ContentType="application/vnd.openxmlformats-officedocument.presentationml.comment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comments/comment13.xml" ContentType="application/vnd.openxmlformats-officedocument.presentationml.comments+xml"/>
  <Override PartName="/ppt/tags/tag46.xml" ContentType="application/vnd.openxmlformats-officedocument.presentationml.tags+xml"/>
  <Override PartName="/ppt/tags/tag47.xml" ContentType="application/vnd.openxmlformats-officedocument.presentationml.tags+xml"/>
  <Override PartName="/ppt/comments/comment14.xml" ContentType="application/vnd.openxmlformats-officedocument.presentationml.comments+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omments/comment15.xml" ContentType="application/vnd.openxmlformats-officedocument.presentationml.comment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comments/comment16.xml" ContentType="application/vnd.openxmlformats-officedocument.presentationml.comment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comments/comment17.xml" ContentType="application/vnd.openxmlformats-officedocument.presentationml.comments+xml"/>
  <Override PartName="/ppt/tags/tag56.xml" ContentType="application/vnd.openxmlformats-officedocument.presentationml.tags+xml"/>
  <Override PartName="/ppt/tags/tag57.xml" ContentType="application/vnd.openxmlformats-officedocument.presentationml.tags+xml"/>
  <Override PartName="/ppt/comments/comment18.xml" ContentType="application/vnd.openxmlformats-officedocument.presentationml.comments+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omments/comment19.xml" ContentType="application/vnd.openxmlformats-officedocument.presentationml.comment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comments/comment20.xml" ContentType="application/vnd.openxmlformats-officedocument.presentationml.comment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comments/comment21.xml" ContentType="application/vnd.openxmlformats-officedocument.presentationml.comment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comments/comment22.xml" ContentType="application/vnd.openxmlformats-officedocument.presentationml.comments+xml"/>
  <Override PartName="/ppt/tags/tag70.xml" ContentType="application/vnd.openxmlformats-officedocument.presentationml.tags+xml"/>
  <Override PartName="/ppt/tags/tag71.xml" ContentType="application/vnd.openxmlformats-officedocument.presentationml.tags+xml"/>
  <Override PartName="/ppt/comments/comment23.xml" ContentType="application/vnd.openxmlformats-officedocument.presentationml.comment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omments/comment24.xml" ContentType="application/vnd.openxmlformats-officedocument.presentationml.comment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comments/comment25.xml" ContentType="application/vnd.openxmlformats-officedocument.presentationml.comments+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omments/comment26.xml" ContentType="application/vnd.openxmlformats-officedocument.presentationml.comments+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omments/comment27.xml" ContentType="application/vnd.openxmlformats-officedocument.presentationml.comments+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omments/comment28.xml" ContentType="application/vnd.openxmlformats-officedocument.presentationml.comments+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omments/comment29.xml" ContentType="application/vnd.openxmlformats-officedocument.presentationml.comments+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omments/comment30.xml" ContentType="application/vnd.openxmlformats-officedocument.presentationml.comment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omments/comment31.xml" ContentType="application/vnd.openxmlformats-officedocument.presentationml.comments+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omments/comment32.xml" ContentType="application/vnd.openxmlformats-officedocument.presentationml.comments+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omments/comment33.xml" ContentType="application/vnd.openxmlformats-officedocument.presentationml.comments+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omments/comment34.xml" ContentType="application/vnd.openxmlformats-officedocument.presentationml.comment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comments/comment35.xml" ContentType="application/vnd.openxmlformats-officedocument.presentationml.comments+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omments/comment36.xml" ContentType="application/vnd.openxmlformats-officedocument.presentationml.comment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comments/comment37.xml" ContentType="application/vnd.openxmlformats-officedocument.presentationml.comment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7"/>
  </p:notesMasterIdLst>
  <p:handoutMasterIdLst>
    <p:handoutMasterId r:id="rId48"/>
  </p:handoutMasterIdLst>
  <p:sldIdLst>
    <p:sldId id="338" r:id="rId5"/>
    <p:sldId id="346" r:id="rId6"/>
    <p:sldId id="342" r:id="rId7"/>
    <p:sldId id="345" r:id="rId8"/>
    <p:sldId id="355" r:id="rId9"/>
    <p:sldId id="356" r:id="rId10"/>
    <p:sldId id="358" r:id="rId11"/>
    <p:sldId id="408" r:id="rId12"/>
    <p:sldId id="360" r:id="rId13"/>
    <p:sldId id="361" r:id="rId14"/>
    <p:sldId id="362" r:id="rId15"/>
    <p:sldId id="365" r:id="rId16"/>
    <p:sldId id="367" r:id="rId17"/>
    <p:sldId id="369" r:id="rId18"/>
    <p:sldId id="371" r:id="rId19"/>
    <p:sldId id="372" r:id="rId20"/>
    <p:sldId id="373" r:id="rId21"/>
    <p:sldId id="374" r:id="rId22"/>
    <p:sldId id="375" r:id="rId23"/>
    <p:sldId id="376" r:id="rId24"/>
    <p:sldId id="377" r:id="rId25"/>
    <p:sldId id="378" r:id="rId26"/>
    <p:sldId id="382" r:id="rId27"/>
    <p:sldId id="379" r:id="rId28"/>
    <p:sldId id="380" r:id="rId29"/>
    <p:sldId id="384" r:id="rId30"/>
    <p:sldId id="392" r:id="rId31"/>
    <p:sldId id="393" r:id="rId32"/>
    <p:sldId id="394" r:id="rId33"/>
    <p:sldId id="409" r:id="rId34"/>
    <p:sldId id="411" r:id="rId35"/>
    <p:sldId id="395" r:id="rId36"/>
    <p:sldId id="412" r:id="rId37"/>
    <p:sldId id="400" r:id="rId38"/>
    <p:sldId id="396" r:id="rId39"/>
    <p:sldId id="401" r:id="rId40"/>
    <p:sldId id="398" r:id="rId41"/>
    <p:sldId id="402" r:id="rId42"/>
    <p:sldId id="404" r:id="rId43"/>
    <p:sldId id="403" r:id="rId44"/>
    <p:sldId id="406" r:id="rId45"/>
    <p:sldId id="407" r:id="rId46"/>
  </p:sldIdLst>
  <p:sldSz cx="9144000" cy="6858000" type="screen4x3"/>
  <p:notesSz cx="6985000" cy="92837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300" userDrawn="1">
          <p15:clr>
            <a:srgbClr val="A4A3A4"/>
          </p15:clr>
        </p15:guide>
        <p15:guide id="3" orient="horz" pos="960" userDrawn="1">
          <p15:clr>
            <a:srgbClr val="A4A3A4"/>
          </p15:clr>
        </p15:guide>
        <p15:guide id="5" orient="horz" pos="4032">
          <p15:clr>
            <a:srgbClr val="A4A3A4"/>
          </p15:clr>
        </p15:guide>
        <p15:guide id="6" orient="horz" pos="3840">
          <p15:clr>
            <a:srgbClr val="A4A3A4"/>
          </p15:clr>
        </p15:guide>
        <p15:guide id="7" pos="3576" userDrawn="1">
          <p15:clr>
            <a:srgbClr val="A4A3A4"/>
          </p15:clr>
        </p15:guide>
        <p15:guide id="8" pos="264" userDrawn="1">
          <p15:clr>
            <a:srgbClr val="A4A3A4"/>
          </p15:clr>
        </p15:guide>
        <p15:guide id="9" pos="5472">
          <p15:clr>
            <a:srgbClr val="A4A3A4"/>
          </p15:clr>
        </p15:guide>
        <p15:guide id="10" pos="1247" userDrawn="1">
          <p15:clr>
            <a:srgbClr val="A4A3A4"/>
          </p15:clr>
        </p15:guide>
        <p15:guide id="11" pos="4416">
          <p15:clr>
            <a:srgbClr val="A4A3A4"/>
          </p15:clr>
        </p15:guide>
        <p15:guide id="12" pos="4512">
          <p15:clr>
            <a:srgbClr val="A4A3A4"/>
          </p15:clr>
        </p15:guide>
        <p15:guide id="13" pos="3360">
          <p15:clr>
            <a:srgbClr val="A4A3A4"/>
          </p15:clr>
        </p15:guide>
        <p15:guide id="14" pos="1344">
          <p15:clr>
            <a:srgbClr val="A4A3A4"/>
          </p15:clr>
        </p15:guide>
        <p15:guide id="15" pos="2280" userDrawn="1">
          <p15:clr>
            <a:srgbClr val="A4A3A4"/>
          </p15:clr>
        </p15:guide>
        <p15:guide id="16" pos="240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 Gigi (San Francisco)" initials="ZG(F" lastIdx="14" clrIdx="0">
    <p:extLst>
      <p:ext uri="{19B8F6BF-5375-455C-9EA6-DF929625EA0E}">
        <p15:presenceInfo xmlns:p15="http://schemas.microsoft.com/office/powerpoint/2012/main" userId="S-1-5-21-4255863253-1233835171-2685878428-3751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E0E1"/>
    <a:srgbClr val="C8D7DF"/>
    <a:srgbClr val="C0C0C0"/>
    <a:srgbClr val="702082"/>
    <a:srgbClr val="D8D7DF"/>
    <a:srgbClr val="D8DB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7" autoAdjust="0"/>
    <p:restoredTop sz="91270" autoAdjust="0"/>
  </p:normalViewPr>
  <p:slideViewPr>
    <p:cSldViewPr snapToGrid="0" showGuides="1">
      <p:cViewPr varScale="1">
        <p:scale>
          <a:sx n="74" d="100"/>
          <a:sy n="74" d="100"/>
        </p:scale>
        <p:origin x="902" y="72"/>
      </p:cViewPr>
      <p:guideLst>
        <p:guide orient="horz" pos="2160"/>
        <p:guide orient="horz" pos="300"/>
        <p:guide orient="horz" pos="960"/>
        <p:guide orient="horz" pos="4032"/>
        <p:guide orient="horz" pos="3840"/>
        <p:guide pos="3576"/>
        <p:guide pos="264"/>
        <p:guide pos="5472"/>
        <p:guide pos="1247"/>
        <p:guide pos="4416"/>
        <p:guide pos="4512"/>
        <p:guide pos="3360"/>
        <p:guide pos="1344"/>
        <p:guide pos="2280"/>
        <p:guide pos="240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7" d="100"/>
          <a:sy n="87" d="100"/>
        </p:scale>
        <p:origin x="2874"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1-9DFF-4C8D-93F3-FD2AEF205B33}"/>
              </c:ext>
            </c:extLst>
          </c:dPt>
          <c:dPt>
            <c:idx val="31"/>
            <c:invertIfNegative val="0"/>
            <c:bubble3D val="0"/>
            <c:spPr>
              <a:solidFill>
                <a:schemeClr val="accent1"/>
              </a:solidFill>
              <a:ln>
                <a:noFill/>
              </a:ln>
              <a:effectLst/>
            </c:spPr>
            <c:extLst>
              <c:ext xmlns:c16="http://schemas.microsoft.com/office/drawing/2014/chart" uri="{C3380CC4-5D6E-409C-BE32-E72D297353CC}">
                <c16:uniqueId val="{00000002-9DFF-4C8D-93F3-FD2AEF205B33}"/>
              </c:ext>
            </c:extLst>
          </c:dPt>
          <c:dPt>
            <c:idx val="32"/>
            <c:invertIfNegative val="0"/>
            <c:bubble3D val="0"/>
            <c:spPr>
              <a:solidFill>
                <a:schemeClr val="accent3"/>
              </a:solidFill>
              <a:ln>
                <a:noFill/>
              </a:ln>
              <a:effectLst/>
            </c:spPr>
            <c:extLst>
              <c:ext xmlns:c16="http://schemas.microsoft.com/office/drawing/2014/chart" uri="{C3380CC4-5D6E-409C-BE32-E72D297353CC}">
                <c16:uniqueId val="{00000000-9DFF-4C8D-93F3-FD2AEF205B33}"/>
              </c:ext>
            </c:extLst>
          </c:dPt>
          <c:dLbls>
            <c:dLbl>
              <c:idx val="0"/>
              <c:numFmt formatCode="0.0" sourceLinked="0"/>
              <c:spPr>
                <a:noFill/>
                <a:ln>
                  <a:noFill/>
                </a:ln>
                <a:effectLst/>
              </c:spPr>
              <c:txPr>
                <a:bodyPr rot="-5400000" spcFirstLastPara="1" vertOverflow="ellipsis" wrap="square" anchor="ctr" anchorCtr="1"/>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1-9DFF-4C8D-93F3-FD2AEF205B33}"/>
                </c:ext>
              </c:extLst>
            </c:dLbl>
            <c:dLbl>
              <c:idx val="31"/>
              <c:numFmt formatCode="0.0" sourceLinked="0"/>
              <c:spPr>
                <a:noFill/>
                <a:ln>
                  <a:noFill/>
                </a:ln>
                <a:effectLst/>
              </c:spPr>
              <c:txPr>
                <a:bodyPr rot="-5400000" spcFirstLastPara="1" vertOverflow="ellipsis" wrap="square" anchor="ctr" anchorCtr="1"/>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2-9DFF-4C8D-93F3-FD2AEF205B33}"/>
                </c:ext>
              </c:extLst>
            </c:dLbl>
            <c:dLbl>
              <c:idx val="32"/>
              <c:layout>
                <c:manualLayout>
                  <c:x val="-1.5104435875486323E-3"/>
                  <c:y val="2.427805854010078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DFF-4C8D-93F3-FD2AEF205B33}"/>
                </c:ext>
              </c:extLst>
            </c:dLbl>
            <c:numFmt formatCode="0.0" sourceLinked="0"/>
            <c:spPr>
              <a:noFill/>
              <a:ln>
                <a:noFill/>
              </a:ln>
              <a:effectLst/>
            </c:spPr>
            <c:txPr>
              <a:bodyPr rot="-540000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Sheet1!$A$2:$A$34</c:f>
              <c:strCache>
                <c:ptCount val="33"/>
                <c:pt idx="0">
                  <c:v>RICH</c:v>
                </c:pt>
                <c:pt idx="1">
                  <c:v>L</c:v>
                </c:pt>
                <c:pt idx="2">
                  <c:v>J</c:v>
                </c:pt>
                <c:pt idx="3">
                  <c:v>C</c:v>
                </c:pt>
                <c:pt idx="4">
                  <c:v>F</c:v>
                </c:pt>
                <c:pt idx="5">
                  <c:v>H</c:v>
                </c:pt>
                <c:pt idx="6">
                  <c:v>M</c:v>
                </c:pt>
                <c:pt idx="7">
                  <c:v>K</c:v>
                </c:pt>
                <c:pt idx="8">
                  <c:v>O</c:v>
                </c:pt>
                <c:pt idx="9">
                  <c:v>W</c:v>
                </c:pt>
                <c:pt idx="10">
                  <c:v>Z</c:v>
                </c:pt>
                <c:pt idx="11">
                  <c:v>Y</c:v>
                </c:pt>
                <c:pt idx="12">
                  <c:v>D</c:v>
                </c:pt>
                <c:pt idx="13">
                  <c:v>Q</c:v>
                </c:pt>
                <c:pt idx="14">
                  <c:v>E</c:v>
                </c:pt>
                <c:pt idx="15">
                  <c:v>A</c:v>
                </c:pt>
                <c:pt idx="16">
                  <c:v>G</c:v>
                </c:pt>
                <c:pt idx="17">
                  <c:v>X</c:v>
                </c:pt>
                <c:pt idx="18">
                  <c:v>I</c:v>
                </c:pt>
                <c:pt idx="19">
                  <c:v>N</c:v>
                </c:pt>
                <c:pt idx="20">
                  <c:v>P</c:v>
                </c:pt>
                <c:pt idx="21">
                  <c:v>B</c:v>
                </c:pt>
                <c:pt idx="22">
                  <c:v> ZZ </c:v>
                </c:pt>
                <c:pt idx="23">
                  <c:v> BB </c:v>
                </c:pt>
                <c:pt idx="24">
                  <c:v> CC </c:v>
                </c:pt>
                <c:pt idx="25">
                  <c:v> FF </c:v>
                </c:pt>
                <c:pt idx="26">
                  <c:v> KK </c:v>
                </c:pt>
                <c:pt idx="27">
                  <c:v> DD </c:v>
                </c:pt>
                <c:pt idx="28">
                  <c:v> LL </c:v>
                </c:pt>
                <c:pt idx="29">
                  <c:v> OO </c:v>
                </c:pt>
                <c:pt idx="30">
                  <c:v> PP </c:v>
                </c:pt>
                <c:pt idx="31">
                  <c:v> $$$$ </c:v>
                </c:pt>
                <c:pt idx="32">
                  <c:v> POOR </c:v>
                </c:pt>
              </c:strCache>
            </c:strRef>
          </c:cat>
          <c:val>
            <c:numRef>
              <c:f>Sheet1!$B$2:$B$34</c:f>
              <c:numCache>
                <c:formatCode>General</c:formatCode>
                <c:ptCount val="33"/>
                <c:pt idx="0">
                  <c:v>148.1</c:v>
                </c:pt>
                <c:pt idx="1">
                  <c:v>143</c:v>
                </c:pt>
                <c:pt idx="2">
                  <c:v>140.5</c:v>
                </c:pt>
                <c:pt idx="3">
                  <c:v>137.4</c:v>
                </c:pt>
                <c:pt idx="4">
                  <c:v>131.69999999999999</c:v>
                </c:pt>
                <c:pt idx="5">
                  <c:v>126.7</c:v>
                </c:pt>
                <c:pt idx="6">
                  <c:v>121</c:v>
                </c:pt>
                <c:pt idx="7">
                  <c:v>119.2</c:v>
                </c:pt>
                <c:pt idx="8">
                  <c:v>118.2</c:v>
                </c:pt>
                <c:pt idx="9">
                  <c:v>117.1</c:v>
                </c:pt>
                <c:pt idx="10">
                  <c:v>115.4</c:v>
                </c:pt>
                <c:pt idx="11">
                  <c:v>114</c:v>
                </c:pt>
                <c:pt idx="12">
                  <c:v>112.9</c:v>
                </c:pt>
                <c:pt idx="13">
                  <c:v>111.3</c:v>
                </c:pt>
                <c:pt idx="14">
                  <c:v>109.9</c:v>
                </c:pt>
                <c:pt idx="15">
                  <c:v>104.6</c:v>
                </c:pt>
                <c:pt idx="16">
                  <c:v>104.3</c:v>
                </c:pt>
                <c:pt idx="17">
                  <c:v>98.7</c:v>
                </c:pt>
                <c:pt idx="18">
                  <c:v>97.4</c:v>
                </c:pt>
                <c:pt idx="19">
                  <c:v>95.9</c:v>
                </c:pt>
                <c:pt idx="20">
                  <c:v>94.1</c:v>
                </c:pt>
                <c:pt idx="21">
                  <c:v>89.6</c:v>
                </c:pt>
                <c:pt idx="22">
                  <c:v>87.3</c:v>
                </c:pt>
                <c:pt idx="23">
                  <c:v>83.2</c:v>
                </c:pt>
                <c:pt idx="24">
                  <c:v>82.2</c:v>
                </c:pt>
                <c:pt idx="25">
                  <c:v>81.099999999999994</c:v>
                </c:pt>
                <c:pt idx="26">
                  <c:v>74.7</c:v>
                </c:pt>
                <c:pt idx="27">
                  <c:v>73.8</c:v>
                </c:pt>
                <c:pt idx="28">
                  <c:v>65.3</c:v>
                </c:pt>
                <c:pt idx="29">
                  <c:v>64.5</c:v>
                </c:pt>
                <c:pt idx="30">
                  <c:v>60.7</c:v>
                </c:pt>
                <c:pt idx="31">
                  <c:v>57.1</c:v>
                </c:pt>
                <c:pt idx="32">
                  <c:v>19.2</c:v>
                </c:pt>
              </c:numCache>
            </c:numRef>
          </c:val>
          <c:extLst>
            <c:ext xmlns:c16="http://schemas.microsoft.com/office/drawing/2014/chart" uri="{C3380CC4-5D6E-409C-BE32-E72D297353CC}">
              <c16:uniqueId val="{00000000-DDA3-410D-BE71-14AF79CF0CF4}"/>
            </c:ext>
          </c:extLst>
        </c:ser>
        <c:dLbls>
          <c:showLegendKey val="0"/>
          <c:showVal val="0"/>
          <c:showCatName val="0"/>
          <c:showSerName val="0"/>
          <c:showPercent val="0"/>
          <c:showBubbleSize val="0"/>
        </c:dLbls>
        <c:gapWidth val="30"/>
        <c:axId val="978276160"/>
        <c:axId val="978274192"/>
      </c:barChart>
      <c:catAx>
        <c:axId val="97827616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978274192"/>
        <c:crosses val="autoZero"/>
        <c:auto val="1"/>
        <c:lblAlgn val="ctr"/>
        <c:lblOffset val="100"/>
        <c:noMultiLvlLbl val="0"/>
      </c:catAx>
      <c:valAx>
        <c:axId val="978274192"/>
        <c:scaling>
          <c:orientation val="minMax"/>
          <c:max val="15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97827616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2-D1EA-497A-8F59-1E9D957E12D1}"/>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D1EA-497A-8F59-1E9D957E12D1}"/>
              </c:ext>
            </c:extLst>
          </c:dPt>
          <c:dPt>
            <c:idx val="32"/>
            <c:invertIfNegative val="0"/>
            <c:bubble3D val="0"/>
            <c:spPr>
              <a:solidFill>
                <a:schemeClr val="accent3"/>
              </a:solidFill>
              <a:ln>
                <a:noFill/>
              </a:ln>
              <a:effectLst/>
            </c:spPr>
            <c:extLst>
              <c:ext xmlns:c16="http://schemas.microsoft.com/office/drawing/2014/chart" uri="{C3380CC4-5D6E-409C-BE32-E72D297353CC}">
                <c16:uniqueId val="{00000000-D1EA-497A-8F59-1E9D957E12D1}"/>
              </c:ext>
            </c:extLst>
          </c:dPt>
          <c:dLbls>
            <c:dLbl>
              <c:idx val="0"/>
              <c:numFmt formatCode="0.0" sourceLinked="0"/>
              <c:spPr>
                <a:noFill/>
                <a:ln>
                  <a:noFill/>
                </a:ln>
                <a:effectLst/>
              </c:spPr>
              <c:txPr>
                <a:bodyPr rot="-5400000" spcFirstLastPara="1" vertOverflow="ellipsis" wrap="square" anchor="ctr" anchorCtr="1"/>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2-D1EA-497A-8F59-1E9D957E12D1}"/>
                </c:ext>
              </c:extLst>
            </c:dLbl>
            <c:dLbl>
              <c:idx val="1"/>
              <c:numFmt formatCode="0.0" sourceLinked="0"/>
              <c:spPr>
                <a:noFill/>
                <a:ln>
                  <a:noFill/>
                </a:ln>
                <a:effectLst/>
              </c:spPr>
              <c:txPr>
                <a:bodyPr rot="-5400000" spcFirstLastPara="1" vertOverflow="ellipsis" wrap="square" anchor="ctr" anchorCtr="1"/>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3-D1EA-497A-8F59-1E9D957E12D1}"/>
                </c:ext>
              </c:extLst>
            </c:dLbl>
            <c:dLbl>
              <c:idx val="32"/>
              <c:numFmt formatCode="0.0" sourceLinked="0"/>
              <c:spPr>
                <a:noFill/>
                <a:ln>
                  <a:noFill/>
                </a:ln>
                <a:effectLst/>
              </c:spPr>
              <c:txPr>
                <a:bodyPr rot="-5400000" spcFirstLastPara="1" vertOverflow="ellipsis" wrap="square" anchor="ctr" anchorCtr="1"/>
                <a:lstStyle/>
                <a:p>
                  <a:pPr>
                    <a:defRPr sz="8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0-D1EA-497A-8F59-1E9D957E12D1}"/>
                </c:ext>
              </c:extLst>
            </c:dLbl>
            <c:numFmt formatCode="0.0" sourceLinked="0"/>
            <c:spPr>
              <a:noFill/>
              <a:ln>
                <a:noFill/>
              </a:ln>
              <a:effectLst/>
            </c:spPr>
            <c:txPr>
              <a:bodyPr rot="-540000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Sheet1!$A$2:$A$34</c:f>
              <c:strCache>
                <c:ptCount val="33"/>
                <c:pt idx="0">
                  <c:v>RICH</c:v>
                </c:pt>
                <c:pt idx="1">
                  <c:v>$$$$</c:v>
                </c:pt>
                <c:pt idx="2">
                  <c:v>A</c:v>
                </c:pt>
                <c:pt idx="3">
                  <c:v>K</c:v>
                </c:pt>
                <c:pt idx="4">
                  <c:v>Z</c:v>
                </c:pt>
                <c:pt idx="5">
                  <c:v>I</c:v>
                </c:pt>
                <c:pt idx="6">
                  <c:v>J</c:v>
                </c:pt>
                <c:pt idx="7">
                  <c:v>L</c:v>
                </c:pt>
                <c:pt idx="8">
                  <c:v>M</c:v>
                </c:pt>
                <c:pt idx="9">
                  <c:v>Y</c:v>
                </c:pt>
                <c:pt idx="10">
                  <c:v>O</c:v>
                </c:pt>
                <c:pt idx="11">
                  <c:v>E</c:v>
                </c:pt>
                <c:pt idx="12">
                  <c:v>X</c:v>
                </c:pt>
                <c:pt idx="13">
                  <c:v>H</c:v>
                </c:pt>
                <c:pt idx="14">
                  <c:v>P</c:v>
                </c:pt>
                <c:pt idx="15">
                  <c:v>D</c:v>
                </c:pt>
                <c:pt idx="16">
                  <c:v>W</c:v>
                </c:pt>
                <c:pt idx="17">
                  <c:v>F</c:v>
                </c:pt>
                <c:pt idx="18">
                  <c:v>Q</c:v>
                </c:pt>
                <c:pt idx="19">
                  <c:v>C</c:v>
                </c:pt>
                <c:pt idx="20">
                  <c:v>B</c:v>
                </c:pt>
                <c:pt idx="21">
                  <c:v>N</c:v>
                </c:pt>
                <c:pt idx="22">
                  <c:v> PP </c:v>
                </c:pt>
                <c:pt idx="23">
                  <c:v> OO </c:v>
                </c:pt>
                <c:pt idx="24">
                  <c:v> LL </c:v>
                </c:pt>
                <c:pt idx="25">
                  <c:v> DD </c:v>
                </c:pt>
                <c:pt idx="26">
                  <c:v> KK </c:v>
                </c:pt>
                <c:pt idx="27">
                  <c:v> FF </c:v>
                </c:pt>
                <c:pt idx="28">
                  <c:v> CC </c:v>
                </c:pt>
                <c:pt idx="29">
                  <c:v> BB </c:v>
                </c:pt>
                <c:pt idx="30">
                  <c:v> ZZ </c:v>
                </c:pt>
                <c:pt idx="31">
                  <c:v> YY </c:v>
                </c:pt>
                <c:pt idx="32">
                  <c:v> POOR </c:v>
                </c:pt>
              </c:strCache>
            </c:strRef>
          </c:cat>
          <c:val>
            <c:numRef>
              <c:f>Sheet1!$B$2:$B$34</c:f>
              <c:numCache>
                <c:formatCode>General</c:formatCode>
                <c:ptCount val="33"/>
                <c:pt idx="0">
                  <c:v>120.8</c:v>
                </c:pt>
                <c:pt idx="1">
                  <c:v>116.3</c:v>
                </c:pt>
                <c:pt idx="2">
                  <c:v>111.8</c:v>
                </c:pt>
                <c:pt idx="3">
                  <c:v>110.4</c:v>
                </c:pt>
                <c:pt idx="4">
                  <c:v>106</c:v>
                </c:pt>
                <c:pt idx="5">
                  <c:v>105.9</c:v>
                </c:pt>
                <c:pt idx="6">
                  <c:v>105.4</c:v>
                </c:pt>
                <c:pt idx="7">
                  <c:v>105.2</c:v>
                </c:pt>
                <c:pt idx="8">
                  <c:v>105.1</c:v>
                </c:pt>
                <c:pt idx="9">
                  <c:v>102.6</c:v>
                </c:pt>
                <c:pt idx="10">
                  <c:v>101.1</c:v>
                </c:pt>
                <c:pt idx="11">
                  <c:v>100.9</c:v>
                </c:pt>
                <c:pt idx="12">
                  <c:v>100.7</c:v>
                </c:pt>
                <c:pt idx="13">
                  <c:v>100.7</c:v>
                </c:pt>
                <c:pt idx="14">
                  <c:v>100.2</c:v>
                </c:pt>
                <c:pt idx="15">
                  <c:v>100</c:v>
                </c:pt>
                <c:pt idx="16">
                  <c:v>99.2</c:v>
                </c:pt>
                <c:pt idx="17">
                  <c:v>99.1</c:v>
                </c:pt>
                <c:pt idx="18">
                  <c:v>99.1</c:v>
                </c:pt>
                <c:pt idx="19">
                  <c:v>98.1</c:v>
                </c:pt>
                <c:pt idx="20">
                  <c:v>96.9</c:v>
                </c:pt>
                <c:pt idx="21">
                  <c:v>96.8</c:v>
                </c:pt>
                <c:pt idx="22">
                  <c:v>96.5</c:v>
                </c:pt>
                <c:pt idx="23">
                  <c:v>94.7</c:v>
                </c:pt>
                <c:pt idx="24">
                  <c:v>94.4</c:v>
                </c:pt>
                <c:pt idx="25">
                  <c:v>94.4</c:v>
                </c:pt>
                <c:pt idx="26">
                  <c:v>93.7</c:v>
                </c:pt>
                <c:pt idx="27">
                  <c:v>92.7</c:v>
                </c:pt>
                <c:pt idx="28">
                  <c:v>92.4</c:v>
                </c:pt>
                <c:pt idx="29">
                  <c:v>91.7</c:v>
                </c:pt>
                <c:pt idx="30">
                  <c:v>91.7</c:v>
                </c:pt>
                <c:pt idx="31">
                  <c:v>89.6</c:v>
                </c:pt>
                <c:pt idx="32">
                  <c:v>86</c:v>
                </c:pt>
              </c:numCache>
            </c:numRef>
          </c:val>
          <c:extLst>
            <c:ext xmlns:c16="http://schemas.microsoft.com/office/drawing/2014/chart" uri="{C3380CC4-5D6E-409C-BE32-E72D297353CC}">
              <c16:uniqueId val="{00000001-D1EA-497A-8F59-1E9D957E12D1}"/>
            </c:ext>
          </c:extLst>
        </c:ser>
        <c:dLbls>
          <c:showLegendKey val="0"/>
          <c:showVal val="0"/>
          <c:showCatName val="0"/>
          <c:showSerName val="0"/>
          <c:showPercent val="0"/>
          <c:showBubbleSize val="0"/>
        </c:dLbls>
        <c:gapWidth val="30"/>
        <c:axId val="978276160"/>
        <c:axId val="978274192"/>
      </c:barChart>
      <c:catAx>
        <c:axId val="97827616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800" b="0" i="0" u="none" strike="noStrike" kern="1200" baseline="0">
                <a:solidFill>
                  <a:schemeClr val="tx1"/>
                </a:solidFill>
                <a:latin typeface="+mn-lt"/>
                <a:ea typeface="+mn-ea"/>
                <a:cs typeface="+mn-cs"/>
              </a:defRPr>
            </a:pPr>
            <a:endParaRPr lang="en-US"/>
          </a:p>
        </c:txPr>
        <c:crossAx val="978274192"/>
        <c:crosses val="autoZero"/>
        <c:auto val="1"/>
        <c:lblAlgn val="ctr"/>
        <c:lblOffset val="100"/>
        <c:noMultiLvlLbl val="0"/>
      </c:catAx>
      <c:valAx>
        <c:axId val="978274192"/>
        <c:scaling>
          <c:orientation val="minMax"/>
          <c:max val="15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97827616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901423612371028E-2"/>
          <c:y val="5.4297995327340733E-2"/>
          <c:w val="0.90780978990529415"/>
          <c:h val="0.71481231433447645"/>
        </c:manualLayout>
      </c:layout>
      <c:barChart>
        <c:barDir val="col"/>
        <c:grouping val="clustered"/>
        <c:varyColors val="0"/>
        <c:ser>
          <c:idx val="0"/>
          <c:order val="0"/>
          <c:tx>
            <c:strRef>
              <c:f>Sheet1!$A$2</c:f>
              <c:strCache>
                <c:ptCount val="1"/>
                <c:pt idx="0">
                  <c:v>Employer Value*</c:v>
                </c:pt>
              </c:strCache>
            </c:strRef>
          </c:tx>
          <c:spPr>
            <a:solidFill>
              <a:schemeClr val="tx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3-1790-4266-90A1-4DC9F33983A6}"/>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Entire Program</c:v>
                </c:pt>
                <c:pt idx="1">
                  <c:v>Active Health Care</c:v>
                </c:pt>
                <c:pt idx="2">
                  <c:v>Retirement</c:v>
                </c:pt>
                <c:pt idx="3">
                  <c:v>Disability</c:v>
                </c:pt>
                <c:pt idx="4">
                  <c:v>Life</c:v>
                </c:pt>
                <c:pt idx="5">
                  <c:v>Paid Time Off</c:v>
                </c:pt>
              </c:strCache>
            </c:strRef>
          </c:cat>
          <c:val>
            <c:numRef>
              <c:f>Sheet1!$B$2:$G$2</c:f>
              <c:numCache>
                <c:formatCode>0.0%</c:formatCode>
                <c:ptCount val="6"/>
                <c:pt idx="0">
                  <c:v>0.996</c:v>
                </c:pt>
                <c:pt idx="1">
                  <c:v>0.89200000000000002</c:v>
                </c:pt>
                <c:pt idx="2">
                  <c:v>1.3530000000000002</c:v>
                </c:pt>
                <c:pt idx="3">
                  <c:v>1.2090000000000001</c:v>
                </c:pt>
                <c:pt idx="4">
                  <c:v>1.1950000000000001</c:v>
                </c:pt>
                <c:pt idx="5">
                  <c:v>0.8590000000000001</c:v>
                </c:pt>
              </c:numCache>
            </c:numRef>
          </c:val>
          <c:extLst>
            <c:ext xmlns:c16="http://schemas.microsoft.com/office/drawing/2014/chart" uri="{C3380CC4-5D6E-409C-BE32-E72D297353CC}">
              <c16:uniqueId val="{00000000-1790-4266-90A1-4DC9F33983A6}"/>
            </c:ext>
          </c:extLst>
        </c:ser>
        <c:ser>
          <c:idx val="1"/>
          <c:order val="1"/>
          <c:tx>
            <c:strRef>
              <c:f>Sheet1!$A$3</c:f>
              <c:strCache>
                <c:ptCount val="1"/>
                <c:pt idx="0">
                  <c:v>Total Value</c:v>
                </c:pt>
              </c:strCache>
            </c:strRef>
          </c:tx>
          <c:spPr>
            <a:solidFill>
              <a:schemeClr val="tx2">
                <a:lumMod val="20000"/>
                <a:lumOff val="80000"/>
              </a:schemeClr>
            </a:solidFill>
            <a:ln>
              <a:noFill/>
            </a:ln>
            <a:effectLst/>
          </c:spPr>
          <c:invertIfNegative val="0"/>
          <c:dPt>
            <c:idx val="0"/>
            <c:invertIfNegative val="0"/>
            <c:bubble3D val="0"/>
            <c:spPr>
              <a:solidFill>
                <a:srgbClr val="D8D7DF"/>
              </a:solidFill>
              <a:ln>
                <a:noFill/>
              </a:ln>
              <a:effectLst/>
            </c:spPr>
            <c:extLst>
              <c:ext xmlns:c16="http://schemas.microsoft.com/office/drawing/2014/chart" uri="{C3380CC4-5D6E-409C-BE32-E72D297353CC}">
                <c16:uniqueId val="{00000004-1790-4266-90A1-4DC9F33983A6}"/>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Sheet1!$B$1:$G$1</c:f>
              <c:strCache>
                <c:ptCount val="6"/>
                <c:pt idx="0">
                  <c:v>Entire Program</c:v>
                </c:pt>
                <c:pt idx="1">
                  <c:v>Active Health Care</c:v>
                </c:pt>
                <c:pt idx="2">
                  <c:v>Retirement</c:v>
                </c:pt>
                <c:pt idx="3">
                  <c:v>Disability</c:v>
                </c:pt>
                <c:pt idx="4">
                  <c:v>Life</c:v>
                </c:pt>
                <c:pt idx="5">
                  <c:v>Paid Time Off</c:v>
                </c:pt>
              </c:strCache>
            </c:strRef>
          </c:cat>
          <c:val>
            <c:numRef>
              <c:f>Sheet1!$B$3:$G$3</c:f>
              <c:numCache>
                <c:formatCode>0.0%</c:formatCode>
                <c:ptCount val="6"/>
                <c:pt idx="0">
                  <c:v>0.93599999999999994</c:v>
                </c:pt>
                <c:pt idx="1">
                  <c:v>0.877</c:v>
                </c:pt>
                <c:pt idx="2">
                  <c:v>0.9890000000000001</c:v>
                </c:pt>
                <c:pt idx="3">
                  <c:v>1.0309999999999999</c:v>
                </c:pt>
                <c:pt idx="4">
                  <c:v>1.1950000000000001</c:v>
                </c:pt>
                <c:pt idx="5">
                  <c:v>0.8590000000000001</c:v>
                </c:pt>
              </c:numCache>
            </c:numRef>
          </c:val>
          <c:extLst>
            <c:ext xmlns:c16="http://schemas.microsoft.com/office/drawing/2014/chart" uri="{C3380CC4-5D6E-409C-BE32-E72D297353CC}">
              <c16:uniqueId val="{00000001-1790-4266-90A1-4DC9F33983A6}"/>
            </c:ext>
          </c:extLst>
        </c:ser>
        <c:dLbls>
          <c:showLegendKey val="0"/>
          <c:showVal val="0"/>
          <c:showCatName val="0"/>
          <c:showSerName val="0"/>
          <c:showPercent val="0"/>
          <c:showBubbleSize val="0"/>
        </c:dLbls>
        <c:gapWidth val="50"/>
        <c:axId val="966597632"/>
        <c:axId val="966600912"/>
      </c:barChart>
      <c:catAx>
        <c:axId val="966597632"/>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66600912"/>
        <c:crosses val="autoZero"/>
        <c:auto val="1"/>
        <c:lblAlgn val="ctr"/>
        <c:lblOffset val="100"/>
        <c:noMultiLvlLbl val="0"/>
      </c:catAx>
      <c:valAx>
        <c:axId val="966600912"/>
        <c:scaling>
          <c:orientation val="minMax"/>
          <c:max val="2"/>
        </c:scaling>
        <c:delete val="0"/>
        <c:axPos val="l"/>
        <c:numFmt formatCode="0.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66597632"/>
        <c:crosses val="autoZero"/>
        <c:crossBetween val="between"/>
        <c:majorUnit val="0.5"/>
      </c:valAx>
      <c:spPr>
        <a:noFill/>
        <a:ln>
          <a:noFill/>
        </a:ln>
        <a:effectLst/>
      </c:spPr>
    </c:plotArea>
    <c:legend>
      <c:legendPos val="b"/>
      <c:layout>
        <c:manualLayout>
          <c:xMode val="edge"/>
          <c:yMode val="edge"/>
          <c:x val="0.77175889304159562"/>
          <c:y val="7.6621972847893002E-2"/>
          <c:w val="0.22824110695840438"/>
          <c:h val="8.4227190275023039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1" i="0" u="none" strike="noStrike" kern="1200" spc="0" baseline="0">
                <a:solidFill>
                  <a:schemeClr val="tx1"/>
                </a:solidFill>
                <a:latin typeface="+mj-lt"/>
                <a:ea typeface="+mn-ea"/>
                <a:cs typeface="+mn-cs"/>
              </a:defRPr>
            </a:pPr>
            <a:r>
              <a:rPr lang="en-US" b="1"/>
              <a:t>EMPLOYER</a:t>
            </a:r>
          </a:p>
        </c:rich>
      </c:tx>
      <c:overlay val="0"/>
      <c:spPr>
        <a:noFill/>
        <a:ln>
          <a:noFill/>
        </a:ln>
        <a:effectLst/>
      </c:spPr>
      <c:txPr>
        <a:bodyPr rot="0" spcFirstLastPara="1" vertOverflow="ellipsis" vert="horz" wrap="square" anchor="ctr" anchorCtr="1"/>
        <a:lstStyle/>
        <a:p>
          <a:pPr>
            <a:defRPr sz="1080" b="1" i="0" u="none" strike="noStrike" kern="1200" spc="0" baseline="0">
              <a:solidFill>
                <a:schemeClr val="tx1"/>
              </a:solidFill>
              <a:latin typeface="+mj-lt"/>
              <a:ea typeface="+mn-ea"/>
              <a:cs typeface="+mn-cs"/>
            </a:defRPr>
          </a:pPr>
          <a:endParaRPr lang="en-US"/>
        </a:p>
      </c:txPr>
    </c:title>
    <c:autoTitleDeleted val="0"/>
    <c:plotArea>
      <c:layout/>
      <c:barChart>
        <c:barDir val="col"/>
        <c:grouping val="stacked"/>
        <c:varyColors val="0"/>
        <c:ser>
          <c:idx val="5"/>
          <c:order val="0"/>
          <c:tx>
            <c:strRef>
              <c:f>Sheet1!$G$1</c:f>
              <c:strCache>
                <c:ptCount val="1"/>
                <c:pt idx="0">
                  <c:v> Paid Time Off</c:v>
                </c:pt>
              </c:strCache>
            </c:strRef>
          </c:tx>
          <c:spPr>
            <a:solidFill>
              <a:schemeClr val="accent1"/>
            </a:solidFill>
            <a:ln>
              <a:noFill/>
            </a:ln>
            <a:effectLst/>
          </c:spPr>
          <c:invertIfNegative val="0"/>
          <c:cat>
            <c:strRef>
              <c:f>Sheet1!$A$2:$A$55</c:f>
              <c:strCache>
                <c:ptCount val="54"/>
                <c:pt idx="0">
                  <c:v> SC </c:v>
                </c:pt>
                <c:pt idx="1">
                  <c:v> ZH </c:v>
                </c:pt>
                <c:pt idx="2">
                  <c:v> FA </c:v>
                </c:pt>
                <c:pt idx="3">
                  <c:v> AI </c:v>
                </c:pt>
                <c:pt idx="4">
                  <c:v> CF </c:v>
                </c:pt>
                <c:pt idx="5">
                  <c:v> ON </c:v>
                </c:pt>
                <c:pt idx="6">
                  <c:v> YM </c:v>
                </c:pt>
                <c:pt idx="7">
                  <c:v> VP </c:v>
                </c:pt>
                <c:pt idx="8">
                  <c:v> DN </c:v>
                </c:pt>
                <c:pt idx="9">
                  <c:v> TN </c:v>
                </c:pt>
                <c:pt idx="10">
                  <c:v> FF </c:v>
                </c:pt>
                <c:pt idx="11">
                  <c:v> WX </c:v>
                </c:pt>
                <c:pt idx="12">
                  <c:v> KZ </c:v>
                </c:pt>
                <c:pt idx="13">
                  <c:v> GC </c:v>
                </c:pt>
                <c:pt idx="14">
                  <c:v> NH </c:v>
                </c:pt>
                <c:pt idx="15">
                  <c:v> KS </c:v>
                </c:pt>
                <c:pt idx="16">
                  <c:v> QO </c:v>
                </c:pt>
                <c:pt idx="17">
                  <c:v> DO </c:v>
                </c:pt>
                <c:pt idx="18">
                  <c:v> EG </c:v>
                </c:pt>
                <c:pt idx="19">
                  <c:v> AW </c:v>
                </c:pt>
                <c:pt idx="20">
                  <c:v> EJ </c:v>
                </c:pt>
                <c:pt idx="21">
                  <c:v> JA </c:v>
                </c:pt>
                <c:pt idx="22">
                  <c:v> CD </c:v>
                </c:pt>
                <c:pt idx="23">
                  <c:v> GJ </c:v>
                </c:pt>
                <c:pt idx="24">
                  <c:v> MJ </c:v>
                </c:pt>
                <c:pt idx="25">
                  <c:v> NE </c:v>
                </c:pt>
                <c:pt idx="26">
                  <c:v> EO </c:v>
                </c:pt>
                <c:pt idx="27">
                  <c:v> BV </c:v>
                </c:pt>
                <c:pt idx="28">
                  <c:v> XR </c:v>
                </c:pt>
                <c:pt idx="29">
                  <c:v> OU </c:v>
                </c:pt>
                <c:pt idx="30">
                  <c:v> RG </c:v>
                </c:pt>
                <c:pt idx="31">
                  <c:v> AMD</c:v>
                </c:pt>
                <c:pt idx="32">
                  <c:v> XE </c:v>
                </c:pt>
                <c:pt idx="33">
                  <c:v> YT </c:v>
                </c:pt>
                <c:pt idx="34">
                  <c:v> HH </c:v>
                </c:pt>
                <c:pt idx="35">
                  <c:v> MD </c:v>
                </c:pt>
                <c:pt idx="36">
                  <c:v> HF </c:v>
                </c:pt>
                <c:pt idx="37">
                  <c:v> MG </c:v>
                </c:pt>
                <c:pt idx="38">
                  <c:v> RU </c:v>
                </c:pt>
                <c:pt idx="39">
                  <c:v> UD </c:v>
                </c:pt>
                <c:pt idx="40">
                  <c:v> TB </c:v>
                </c:pt>
                <c:pt idx="41">
                  <c:v> SB </c:v>
                </c:pt>
                <c:pt idx="42">
                  <c:v> NL </c:v>
                </c:pt>
                <c:pt idx="43">
                  <c:v> BR </c:v>
                </c:pt>
                <c:pt idx="44">
                  <c:v> ZQ </c:v>
                </c:pt>
                <c:pt idx="45">
                  <c:v> AK </c:v>
                </c:pt>
                <c:pt idx="46">
                  <c:v> FM </c:v>
                </c:pt>
                <c:pt idx="47">
                  <c:v> UY </c:v>
                </c:pt>
                <c:pt idx="48">
                  <c:v> IF </c:v>
                </c:pt>
                <c:pt idx="49">
                  <c:v> PE </c:v>
                </c:pt>
                <c:pt idx="50">
                  <c:v> CL </c:v>
                </c:pt>
                <c:pt idx="51">
                  <c:v> HI </c:v>
                </c:pt>
                <c:pt idx="52">
                  <c:v> GK </c:v>
                </c:pt>
                <c:pt idx="53">
                  <c:v> JW </c:v>
                </c:pt>
              </c:strCache>
            </c:strRef>
          </c:cat>
          <c:val>
            <c:numRef>
              <c:f>Sheet1!$G$2:$G$55</c:f>
              <c:numCache>
                <c:formatCode>_(* #,##0.00_);_(* \(#,##0.00\);_(* "-"??_);_(@_)</c:formatCode>
                <c:ptCount val="54"/>
                <c:pt idx="0">
                  <c:v>58.5</c:v>
                </c:pt>
                <c:pt idx="1">
                  <c:v>37</c:v>
                </c:pt>
                <c:pt idx="2">
                  <c:v>49.6</c:v>
                </c:pt>
                <c:pt idx="3">
                  <c:v>51.4</c:v>
                </c:pt>
                <c:pt idx="4">
                  <c:v>44.6</c:v>
                </c:pt>
                <c:pt idx="5">
                  <c:v>48.6</c:v>
                </c:pt>
                <c:pt idx="6">
                  <c:v>42.6</c:v>
                </c:pt>
                <c:pt idx="7">
                  <c:v>49.3</c:v>
                </c:pt>
                <c:pt idx="8">
                  <c:v>48.6</c:v>
                </c:pt>
                <c:pt idx="9">
                  <c:v>50</c:v>
                </c:pt>
                <c:pt idx="10">
                  <c:v>50</c:v>
                </c:pt>
                <c:pt idx="11">
                  <c:v>50</c:v>
                </c:pt>
                <c:pt idx="12">
                  <c:v>48.6</c:v>
                </c:pt>
                <c:pt idx="13">
                  <c:v>47.1</c:v>
                </c:pt>
                <c:pt idx="14">
                  <c:v>44.3</c:v>
                </c:pt>
                <c:pt idx="15">
                  <c:v>48.6</c:v>
                </c:pt>
                <c:pt idx="16">
                  <c:v>45.3</c:v>
                </c:pt>
                <c:pt idx="17">
                  <c:v>48.6</c:v>
                </c:pt>
                <c:pt idx="18">
                  <c:v>52.8</c:v>
                </c:pt>
                <c:pt idx="19">
                  <c:v>48.1</c:v>
                </c:pt>
                <c:pt idx="20">
                  <c:v>48.1</c:v>
                </c:pt>
                <c:pt idx="21">
                  <c:v>49.7</c:v>
                </c:pt>
                <c:pt idx="22">
                  <c:v>45.3</c:v>
                </c:pt>
                <c:pt idx="23">
                  <c:v>46</c:v>
                </c:pt>
                <c:pt idx="24">
                  <c:v>48.6</c:v>
                </c:pt>
                <c:pt idx="25">
                  <c:v>50</c:v>
                </c:pt>
                <c:pt idx="26">
                  <c:v>38.200000000000003</c:v>
                </c:pt>
                <c:pt idx="27">
                  <c:v>38.5</c:v>
                </c:pt>
                <c:pt idx="28">
                  <c:v>48.6</c:v>
                </c:pt>
                <c:pt idx="29">
                  <c:v>41.1</c:v>
                </c:pt>
                <c:pt idx="30">
                  <c:v>49.5</c:v>
                </c:pt>
                <c:pt idx="31">
                  <c:v>39.4</c:v>
                </c:pt>
                <c:pt idx="32">
                  <c:v>41.2</c:v>
                </c:pt>
                <c:pt idx="33">
                  <c:v>44</c:v>
                </c:pt>
                <c:pt idx="34">
                  <c:v>45</c:v>
                </c:pt>
                <c:pt idx="35">
                  <c:v>38.200000000000003</c:v>
                </c:pt>
                <c:pt idx="36">
                  <c:v>38.200000000000003</c:v>
                </c:pt>
                <c:pt idx="37">
                  <c:v>41.3</c:v>
                </c:pt>
                <c:pt idx="38">
                  <c:v>50</c:v>
                </c:pt>
                <c:pt idx="39">
                  <c:v>40.799999999999997</c:v>
                </c:pt>
                <c:pt idx="40">
                  <c:v>50</c:v>
                </c:pt>
                <c:pt idx="41">
                  <c:v>38.1</c:v>
                </c:pt>
                <c:pt idx="42">
                  <c:v>41.2</c:v>
                </c:pt>
                <c:pt idx="43">
                  <c:v>39.799999999999997</c:v>
                </c:pt>
                <c:pt idx="44">
                  <c:v>50</c:v>
                </c:pt>
                <c:pt idx="45">
                  <c:v>51.4</c:v>
                </c:pt>
                <c:pt idx="46">
                  <c:v>36.1</c:v>
                </c:pt>
                <c:pt idx="47">
                  <c:v>33.299999999999997</c:v>
                </c:pt>
                <c:pt idx="48">
                  <c:v>41.2</c:v>
                </c:pt>
                <c:pt idx="49">
                  <c:v>48.6</c:v>
                </c:pt>
                <c:pt idx="50">
                  <c:v>35</c:v>
                </c:pt>
                <c:pt idx="51">
                  <c:v>42.6</c:v>
                </c:pt>
                <c:pt idx="52">
                  <c:v>41.9</c:v>
                </c:pt>
                <c:pt idx="53">
                  <c:v>35.799999999999997</c:v>
                </c:pt>
              </c:numCache>
            </c:numRef>
          </c:val>
          <c:extLst>
            <c:ext xmlns:c16="http://schemas.microsoft.com/office/drawing/2014/chart" uri="{C3380CC4-5D6E-409C-BE32-E72D297353CC}">
              <c16:uniqueId val="{00000005-CEAE-4CDD-82DF-6E56D3391735}"/>
            </c:ext>
          </c:extLst>
        </c:ser>
        <c:ser>
          <c:idx val="4"/>
          <c:order val="1"/>
          <c:tx>
            <c:strRef>
              <c:f>Sheet1!$F$1</c:f>
              <c:strCache>
                <c:ptCount val="1"/>
                <c:pt idx="0">
                  <c:v> Health Care</c:v>
                </c:pt>
              </c:strCache>
            </c:strRef>
          </c:tx>
          <c:spPr>
            <a:solidFill>
              <a:schemeClr val="tx2"/>
            </a:solidFill>
            <a:ln>
              <a:noFill/>
            </a:ln>
            <a:effectLst/>
          </c:spPr>
          <c:invertIfNegative val="0"/>
          <c:cat>
            <c:strRef>
              <c:f>Sheet1!$A$2:$A$55</c:f>
              <c:strCache>
                <c:ptCount val="54"/>
                <c:pt idx="0">
                  <c:v> SC </c:v>
                </c:pt>
                <c:pt idx="1">
                  <c:v> ZH </c:v>
                </c:pt>
                <c:pt idx="2">
                  <c:v> FA </c:v>
                </c:pt>
                <c:pt idx="3">
                  <c:v> AI </c:v>
                </c:pt>
                <c:pt idx="4">
                  <c:v> CF </c:v>
                </c:pt>
                <c:pt idx="5">
                  <c:v> ON </c:v>
                </c:pt>
                <c:pt idx="6">
                  <c:v> YM </c:v>
                </c:pt>
                <c:pt idx="7">
                  <c:v> VP </c:v>
                </c:pt>
                <c:pt idx="8">
                  <c:v> DN </c:v>
                </c:pt>
                <c:pt idx="9">
                  <c:v> TN </c:v>
                </c:pt>
                <c:pt idx="10">
                  <c:v> FF </c:v>
                </c:pt>
                <c:pt idx="11">
                  <c:v> WX </c:v>
                </c:pt>
                <c:pt idx="12">
                  <c:v> KZ </c:v>
                </c:pt>
                <c:pt idx="13">
                  <c:v> GC </c:v>
                </c:pt>
                <c:pt idx="14">
                  <c:v> NH </c:v>
                </c:pt>
                <c:pt idx="15">
                  <c:v> KS </c:v>
                </c:pt>
                <c:pt idx="16">
                  <c:v> QO </c:v>
                </c:pt>
                <c:pt idx="17">
                  <c:v> DO </c:v>
                </c:pt>
                <c:pt idx="18">
                  <c:v> EG </c:v>
                </c:pt>
                <c:pt idx="19">
                  <c:v> AW </c:v>
                </c:pt>
                <c:pt idx="20">
                  <c:v> EJ </c:v>
                </c:pt>
                <c:pt idx="21">
                  <c:v> JA </c:v>
                </c:pt>
                <c:pt idx="22">
                  <c:v> CD </c:v>
                </c:pt>
                <c:pt idx="23">
                  <c:v> GJ </c:v>
                </c:pt>
                <c:pt idx="24">
                  <c:v> MJ </c:v>
                </c:pt>
                <c:pt idx="25">
                  <c:v> NE </c:v>
                </c:pt>
                <c:pt idx="26">
                  <c:v> EO </c:v>
                </c:pt>
                <c:pt idx="27">
                  <c:v> BV </c:v>
                </c:pt>
                <c:pt idx="28">
                  <c:v> XR </c:v>
                </c:pt>
                <c:pt idx="29">
                  <c:v> OU </c:v>
                </c:pt>
                <c:pt idx="30">
                  <c:v> RG </c:v>
                </c:pt>
                <c:pt idx="31">
                  <c:v> AMD</c:v>
                </c:pt>
                <c:pt idx="32">
                  <c:v> XE </c:v>
                </c:pt>
                <c:pt idx="33">
                  <c:v> YT </c:v>
                </c:pt>
                <c:pt idx="34">
                  <c:v> HH </c:v>
                </c:pt>
                <c:pt idx="35">
                  <c:v> MD </c:v>
                </c:pt>
                <c:pt idx="36">
                  <c:v> HF </c:v>
                </c:pt>
                <c:pt idx="37">
                  <c:v> MG </c:v>
                </c:pt>
                <c:pt idx="38">
                  <c:v> RU </c:v>
                </c:pt>
                <c:pt idx="39">
                  <c:v> UD </c:v>
                </c:pt>
                <c:pt idx="40">
                  <c:v> TB </c:v>
                </c:pt>
                <c:pt idx="41">
                  <c:v> SB </c:v>
                </c:pt>
                <c:pt idx="42">
                  <c:v> NL </c:v>
                </c:pt>
                <c:pt idx="43">
                  <c:v> BR </c:v>
                </c:pt>
                <c:pt idx="44">
                  <c:v> ZQ </c:v>
                </c:pt>
                <c:pt idx="45">
                  <c:v> AK </c:v>
                </c:pt>
                <c:pt idx="46">
                  <c:v> FM </c:v>
                </c:pt>
                <c:pt idx="47">
                  <c:v> UY </c:v>
                </c:pt>
                <c:pt idx="48">
                  <c:v> IF </c:v>
                </c:pt>
                <c:pt idx="49">
                  <c:v> PE </c:v>
                </c:pt>
                <c:pt idx="50">
                  <c:v> CL </c:v>
                </c:pt>
                <c:pt idx="51">
                  <c:v> HI </c:v>
                </c:pt>
                <c:pt idx="52">
                  <c:v> GK </c:v>
                </c:pt>
                <c:pt idx="53">
                  <c:v> JW </c:v>
                </c:pt>
              </c:strCache>
            </c:strRef>
          </c:cat>
          <c:val>
            <c:numRef>
              <c:f>Sheet1!$F$2:$F$55</c:f>
              <c:numCache>
                <c:formatCode>_(* #,##0.00_);_(* \(#,##0.00\);_(* "-"??_);_(@_)</c:formatCode>
                <c:ptCount val="54"/>
                <c:pt idx="0">
                  <c:v>29.6</c:v>
                </c:pt>
                <c:pt idx="1">
                  <c:v>33</c:v>
                </c:pt>
                <c:pt idx="2">
                  <c:v>30.1</c:v>
                </c:pt>
                <c:pt idx="3">
                  <c:v>27.5</c:v>
                </c:pt>
                <c:pt idx="4">
                  <c:v>31.3</c:v>
                </c:pt>
                <c:pt idx="5">
                  <c:v>29.3</c:v>
                </c:pt>
                <c:pt idx="6">
                  <c:v>34.299999999999997</c:v>
                </c:pt>
                <c:pt idx="7">
                  <c:v>24.6</c:v>
                </c:pt>
                <c:pt idx="8">
                  <c:v>27.5</c:v>
                </c:pt>
                <c:pt idx="9">
                  <c:v>27.9</c:v>
                </c:pt>
                <c:pt idx="10">
                  <c:v>33.299999999999997</c:v>
                </c:pt>
                <c:pt idx="11">
                  <c:v>24.4</c:v>
                </c:pt>
                <c:pt idx="12">
                  <c:v>31.9</c:v>
                </c:pt>
                <c:pt idx="13">
                  <c:v>28.6</c:v>
                </c:pt>
                <c:pt idx="14">
                  <c:v>22.8</c:v>
                </c:pt>
                <c:pt idx="15">
                  <c:v>25.9</c:v>
                </c:pt>
                <c:pt idx="16">
                  <c:v>23.9</c:v>
                </c:pt>
                <c:pt idx="17">
                  <c:v>29.4</c:v>
                </c:pt>
                <c:pt idx="18">
                  <c:v>25.1</c:v>
                </c:pt>
                <c:pt idx="19">
                  <c:v>25.4</c:v>
                </c:pt>
                <c:pt idx="20">
                  <c:v>29.3</c:v>
                </c:pt>
                <c:pt idx="21">
                  <c:v>33.200000000000003</c:v>
                </c:pt>
                <c:pt idx="22">
                  <c:v>31.4</c:v>
                </c:pt>
                <c:pt idx="23">
                  <c:v>23.4</c:v>
                </c:pt>
                <c:pt idx="24">
                  <c:v>23.2</c:v>
                </c:pt>
                <c:pt idx="25">
                  <c:v>24.6</c:v>
                </c:pt>
                <c:pt idx="26">
                  <c:v>26.1</c:v>
                </c:pt>
                <c:pt idx="27">
                  <c:v>23.1</c:v>
                </c:pt>
                <c:pt idx="28">
                  <c:v>24.9</c:v>
                </c:pt>
                <c:pt idx="29">
                  <c:v>24.7</c:v>
                </c:pt>
                <c:pt idx="30">
                  <c:v>26.7</c:v>
                </c:pt>
                <c:pt idx="31">
                  <c:v>27.1</c:v>
                </c:pt>
                <c:pt idx="32">
                  <c:v>22.7</c:v>
                </c:pt>
                <c:pt idx="33">
                  <c:v>22.9</c:v>
                </c:pt>
                <c:pt idx="34">
                  <c:v>25</c:v>
                </c:pt>
                <c:pt idx="35">
                  <c:v>22.5</c:v>
                </c:pt>
                <c:pt idx="36">
                  <c:v>24.3</c:v>
                </c:pt>
                <c:pt idx="37">
                  <c:v>27.2</c:v>
                </c:pt>
                <c:pt idx="38">
                  <c:v>18.2</c:v>
                </c:pt>
                <c:pt idx="39">
                  <c:v>21.2</c:v>
                </c:pt>
                <c:pt idx="40">
                  <c:v>21.7</c:v>
                </c:pt>
                <c:pt idx="41">
                  <c:v>24.7</c:v>
                </c:pt>
                <c:pt idx="42">
                  <c:v>21.8</c:v>
                </c:pt>
                <c:pt idx="43">
                  <c:v>24.6</c:v>
                </c:pt>
                <c:pt idx="44">
                  <c:v>23.7</c:v>
                </c:pt>
                <c:pt idx="45">
                  <c:v>22.3</c:v>
                </c:pt>
                <c:pt idx="46">
                  <c:v>23.9</c:v>
                </c:pt>
                <c:pt idx="47">
                  <c:v>25.4</c:v>
                </c:pt>
                <c:pt idx="48">
                  <c:v>20.399999999999999</c:v>
                </c:pt>
                <c:pt idx="49">
                  <c:v>22.7</c:v>
                </c:pt>
                <c:pt idx="50">
                  <c:v>23.2</c:v>
                </c:pt>
                <c:pt idx="51">
                  <c:v>28.6</c:v>
                </c:pt>
                <c:pt idx="52">
                  <c:v>24.9</c:v>
                </c:pt>
                <c:pt idx="53">
                  <c:v>22</c:v>
                </c:pt>
              </c:numCache>
            </c:numRef>
          </c:val>
          <c:extLst>
            <c:ext xmlns:c16="http://schemas.microsoft.com/office/drawing/2014/chart" uri="{C3380CC4-5D6E-409C-BE32-E72D297353CC}">
              <c16:uniqueId val="{00000004-CEAE-4CDD-82DF-6E56D3391735}"/>
            </c:ext>
          </c:extLst>
        </c:ser>
        <c:ser>
          <c:idx val="3"/>
          <c:order val="2"/>
          <c:tx>
            <c:strRef>
              <c:f>Sheet1!$E$1</c:f>
              <c:strCache>
                <c:ptCount val="1"/>
                <c:pt idx="0">
                  <c:v> Life</c:v>
                </c:pt>
              </c:strCache>
            </c:strRef>
          </c:tx>
          <c:spPr>
            <a:solidFill>
              <a:schemeClr val="accent2"/>
            </a:solidFill>
            <a:ln>
              <a:noFill/>
            </a:ln>
            <a:effectLst/>
          </c:spPr>
          <c:invertIfNegative val="0"/>
          <c:cat>
            <c:strRef>
              <c:f>Sheet1!$A$2:$A$55</c:f>
              <c:strCache>
                <c:ptCount val="54"/>
                <c:pt idx="0">
                  <c:v> SC </c:v>
                </c:pt>
                <c:pt idx="1">
                  <c:v> ZH </c:v>
                </c:pt>
                <c:pt idx="2">
                  <c:v> FA </c:v>
                </c:pt>
                <c:pt idx="3">
                  <c:v> AI </c:v>
                </c:pt>
                <c:pt idx="4">
                  <c:v> CF </c:v>
                </c:pt>
                <c:pt idx="5">
                  <c:v> ON </c:v>
                </c:pt>
                <c:pt idx="6">
                  <c:v> YM </c:v>
                </c:pt>
                <c:pt idx="7">
                  <c:v> VP </c:v>
                </c:pt>
                <c:pt idx="8">
                  <c:v> DN </c:v>
                </c:pt>
                <c:pt idx="9">
                  <c:v> TN </c:v>
                </c:pt>
                <c:pt idx="10">
                  <c:v> FF </c:v>
                </c:pt>
                <c:pt idx="11">
                  <c:v> WX </c:v>
                </c:pt>
                <c:pt idx="12">
                  <c:v> KZ </c:v>
                </c:pt>
                <c:pt idx="13">
                  <c:v> GC </c:v>
                </c:pt>
                <c:pt idx="14">
                  <c:v> NH </c:v>
                </c:pt>
                <c:pt idx="15">
                  <c:v> KS </c:v>
                </c:pt>
                <c:pt idx="16">
                  <c:v> QO </c:v>
                </c:pt>
                <c:pt idx="17">
                  <c:v> DO </c:v>
                </c:pt>
                <c:pt idx="18">
                  <c:v> EG </c:v>
                </c:pt>
                <c:pt idx="19">
                  <c:v> AW </c:v>
                </c:pt>
                <c:pt idx="20">
                  <c:v> EJ </c:v>
                </c:pt>
                <c:pt idx="21">
                  <c:v> JA </c:v>
                </c:pt>
                <c:pt idx="22">
                  <c:v> CD </c:v>
                </c:pt>
                <c:pt idx="23">
                  <c:v> GJ </c:v>
                </c:pt>
                <c:pt idx="24">
                  <c:v> MJ </c:v>
                </c:pt>
                <c:pt idx="25">
                  <c:v> NE </c:v>
                </c:pt>
                <c:pt idx="26">
                  <c:v> EO </c:v>
                </c:pt>
                <c:pt idx="27">
                  <c:v> BV </c:v>
                </c:pt>
                <c:pt idx="28">
                  <c:v> XR </c:v>
                </c:pt>
                <c:pt idx="29">
                  <c:v> OU </c:v>
                </c:pt>
                <c:pt idx="30">
                  <c:v> RG </c:v>
                </c:pt>
                <c:pt idx="31">
                  <c:v> AMD</c:v>
                </c:pt>
                <c:pt idx="32">
                  <c:v> XE </c:v>
                </c:pt>
                <c:pt idx="33">
                  <c:v> YT </c:v>
                </c:pt>
                <c:pt idx="34">
                  <c:v> HH </c:v>
                </c:pt>
                <c:pt idx="35">
                  <c:v> MD </c:v>
                </c:pt>
                <c:pt idx="36">
                  <c:v> HF </c:v>
                </c:pt>
                <c:pt idx="37">
                  <c:v> MG </c:v>
                </c:pt>
                <c:pt idx="38">
                  <c:v> RU </c:v>
                </c:pt>
                <c:pt idx="39">
                  <c:v> UD </c:v>
                </c:pt>
                <c:pt idx="40">
                  <c:v> TB </c:v>
                </c:pt>
                <c:pt idx="41">
                  <c:v> SB </c:v>
                </c:pt>
                <c:pt idx="42">
                  <c:v> NL </c:v>
                </c:pt>
                <c:pt idx="43">
                  <c:v> BR </c:v>
                </c:pt>
                <c:pt idx="44">
                  <c:v> ZQ </c:v>
                </c:pt>
                <c:pt idx="45">
                  <c:v> AK </c:v>
                </c:pt>
                <c:pt idx="46">
                  <c:v> FM </c:v>
                </c:pt>
                <c:pt idx="47">
                  <c:v> UY </c:v>
                </c:pt>
                <c:pt idx="48">
                  <c:v> IF </c:v>
                </c:pt>
                <c:pt idx="49">
                  <c:v> PE </c:v>
                </c:pt>
                <c:pt idx="50">
                  <c:v> CL </c:v>
                </c:pt>
                <c:pt idx="51">
                  <c:v> HI </c:v>
                </c:pt>
                <c:pt idx="52">
                  <c:v> GK </c:v>
                </c:pt>
                <c:pt idx="53">
                  <c:v> JW </c:v>
                </c:pt>
              </c:strCache>
            </c:strRef>
          </c:cat>
          <c:val>
            <c:numRef>
              <c:f>Sheet1!$E$2:$E$55</c:f>
              <c:numCache>
                <c:formatCode>_(* #,##0.00_);_(* \(#,##0.00\);_(* "-"??_);_(@_)</c:formatCode>
                <c:ptCount val="54"/>
                <c:pt idx="0">
                  <c:v>2.2000000000000002</c:v>
                </c:pt>
                <c:pt idx="1">
                  <c:v>1.1000000000000001</c:v>
                </c:pt>
                <c:pt idx="2">
                  <c:v>1.5</c:v>
                </c:pt>
                <c:pt idx="3">
                  <c:v>1.7</c:v>
                </c:pt>
                <c:pt idx="4">
                  <c:v>1.4</c:v>
                </c:pt>
                <c:pt idx="5">
                  <c:v>1.5</c:v>
                </c:pt>
                <c:pt idx="6">
                  <c:v>1.4</c:v>
                </c:pt>
                <c:pt idx="7">
                  <c:v>0.8</c:v>
                </c:pt>
                <c:pt idx="8">
                  <c:v>1.5</c:v>
                </c:pt>
                <c:pt idx="9">
                  <c:v>2.1</c:v>
                </c:pt>
                <c:pt idx="10">
                  <c:v>2.2000000000000002</c:v>
                </c:pt>
                <c:pt idx="11">
                  <c:v>1.5</c:v>
                </c:pt>
                <c:pt idx="12">
                  <c:v>1.5</c:v>
                </c:pt>
                <c:pt idx="13">
                  <c:v>1.7</c:v>
                </c:pt>
                <c:pt idx="14">
                  <c:v>1.5</c:v>
                </c:pt>
                <c:pt idx="15">
                  <c:v>0.2</c:v>
                </c:pt>
                <c:pt idx="16">
                  <c:v>0.7</c:v>
                </c:pt>
                <c:pt idx="17">
                  <c:v>1.7</c:v>
                </c:pt>
                <c:pt idx="18">
                  <c:v>2.2000000000000002</c:v>
                </c:pt>
                <c:pt idx="19">
                  <c:v>1.7</c:v>
                </c:pt>
                <c:pt idx="20">
                  <c:v>2.5</c:v>
                </c:pt>
                <c:pt idx="21">
                  <c:v>1.5</c:v>
                </c:pt>
                <c:pt idx="22">
                  <c:v>0.8</c:v>
                </c:pt>
                <c:pt idx="23">
                  <c:v>1.5</c:v>
                </c:pt>
                <c:pt idx="24">
                  <c:v>0.2</c:v>
                </c:pt>
                <c:pt idx="25">
                  <c:v>1.5</c:v>
                </c:pt>
                <c:pt idx="26">
                  <c:v>0.7</c:v>
                </c:pt>
                <c:pt idx="27">
                  <c:v>1.7</c:v>
                </c:pt>
                <c:pt idx="28">
                  <c:v>1.7</c:v>
                </c:pt>
                <c:pt idx="29">
                  <c:v>1.7</c:v>
                </c:pt>
                <c:pt idx="30">
                  <c:v>1.5</c:v>
                </c:pt>
                <c:pt idx="31">
                  <c:v>1.4</c:v>
                </c:pt>
                <c:pt idx="32">
                  <c:v>1.4</c:v>
                </c:pt>
                <c:pt idx="33">
                  <c:v>1.7</c:v>
                </c:pt>
                <c:pt idx="34">
                  <c:v>1.1000000000000001</c:v>
                </c:pt>
                <c:pt idx="35">
                  <c:v>0.7</c:v>
                </c:pt>
                <c:pt idx="36">
                  <c:v>1.5</c:v>
                </c:pt>
                <c:pt idx="37">
                  <c:v>1.5</c:v>
                </c:pt>
                <c:pt idx="38">
                  <c:v>1.5</c:v>
                </c:pt>
                <c:pt idx="39">
                  <c:v>1.5</c:v>
                </c:pt>
                <c:pt idx="40">
                  <c:v>0.9</c:v>
                </c:pt>
                <c:pt idx="41">
                  <c:v>1.5</c:v>
                </c:pt>
                <c:pt idx="42">
                  <c:v>1.5</c:v>
                </c:pt>
                <c:pt idx="43">
                  <c:v>1.5</c:v>
                </c:pt>
                <c:pt idx="44">
                  <c:v>1.7</c:v>
                </c:pt>
                <c:pt idx="45">
                  <c:v>1.7</c:v>
                </c:pt>
                <c:pt idx="46">
                  <c:v>1.5</c:v>
                </c:pt>
                <c:pt idx="47">
                  <c:v>0.7</c:v>
                </c:pt>
                <c:pt idx="48">
                  <c:v>1.5</c:v>
                </c:pt>
                <c:pt idx="49">
                  <c:v>1.5</c:v>
                </c:pt>
                <c:pt idx="50">
                  <c:v>1.5</c:v>
                </c:pt>
                <c:pt idx="51">
                  <c:v>1.5</c:v>
                </c:pt>
                <c:pt idx="52">
                  <c:v>1.5</c:v>
                </c:pt>
                <c:pt idx="53">
                  <c:v>1.4</c:v>
                </c:pt>
              </c:numCache>
            </c:numRef>
          </c:val>
          <c:extLst>
            <c:ext xmlns:c16="http://schemas.microsoft.com/office/drawing/2014/chart" uri="{C3380CC4-5D6E-409C-BE32-E72D297353CC}">
              <c16:uniqueId val="{00000003-CEAE-4CDD-82DF-6E56D3391735}"/>
            </c:ext>
          </c:extLst>
        </c:ser>
        <c:ser>
          <c:idx val="2"/>
          <c:order val="3"/>
          <c:tx>
            <c:strRef>
              <c:f>Sheet1!$D$1</c:f>
              <c:strCache>
                <c:ptCount val="1"/>
                <c:pt idx="0">
                  <c:v> Disability</c:v>
                </c:pt>
              </c:strCache>
            </c:strRef>
          </c:tx>
          <c:spPr>
            <a:solidFill>
              <a:schemeClr val="accent3"/>
            </a:solidFill>
            <a:ln>
              <a:noFill/>
            </a:ln>
            <a:effectLst/>
          </c:spPr>
          <c:invertIfNegative val="0"/>
          <c:cat>
            <c:strRef>
              <c:f>Sheet1!$A$2:$A$55</c:f>
              <c:strCache>
                <c:ptCount val="54"/>
                <c:pt idx="0">
                  <c:v> SC </c:v>
                </c:pt>
                <c:pt idx="1">
                  <c:v> ZH </c:v>
                </c:pt>
                <c:pt idx="2">
                  <c:v> FA </c:v>
                </c:pt>
                <c:pt idx="3">
                  <c:v> AI </c:v>
                </c:pt>
                <c:pt idx="4">
                  <c:v> CF </c:v>
                </c:pt>
                <c:pt idx="5">
                  <c:v> ON </c:v>
                </c:pt>
                <c:pt idx="6">
                  <c:v> YM </c:v>
                </c:pt>
                <c:pt idx="7">
                  <c:v> VP </c:v>
                </c:pt>
                <c:pt idx="8">
                  <c:v> DN </c:v>
                </c:pt>
                <c:pt idx="9">
                  <c:v> TN </c:v>
                </c:pt>
                <c:pt idx="10">
                  <c:v> FF </c:v>
                </c:pt>
                <c:pt idx="11">
                  <c:v> WX </c:v>
                </c:pt>
                <c:pt idx="12">
                  <c:v> KZ </c:v>
                </c:pt>
                <c:pt idx="13">
                  <c:v> GC </c:v>
                </c:pt>
                <c:pt idx="14">
                  <c:v> NH </c:v>
                </c:pt>
                <c:pt idx="15">
                  <c:v> KS </c:v>
                </c:pt>
                <c:pt idx="16">
                  <c:v> QO </c:v>
                </c:pt>
                <c:pt idx="17">
                  <c:v> DO </c:v>
                </c:pt>
                <c:pt idx="18">
                  <c:v> EG </c:v>
                </c:pt>
                <c:pt idx="19">
                  <c:v> AW </c:v>
                </c:pt>
                <c:pt idx="20">
                  <c:v> EJ </c:v>
                </c:pt>
                <c:pt idx="21">
                  <c:v> JA </c:v>
                </c:pt>
                <c:pt idx="22">
                  <c:v> CD </c:v>
                </c:pt>
                <c:pt idx="23">
                  <c:v> GJ </c:v>
                </c:pt>
                <c:pt idx="24">
                  <c:v> MJ </c:v>
                </c:pt>
                <c:pt idx="25">
                  <c:v> NE </c:v>
                </c:pt>
                <c:pt idx="26">
                  <c:v> EO </c:v>
                </c:pt>
                <c:pt idx="27">
                  <c:v> BV </c:v>
                </c:pt>
                <c:pt idx="28">
                  <c:v> XR </c:v>
                </c:pt>
                <c:pt idx="29">
                  <c:v> OU </c:v>
                </c:pt>
                <c:pt idx="30">
                  <c:v> RG </c:v>
                </c:pt>
                <c:pt idx="31">
                  <c:v> AMD</c:v>
                </c:pt>
                <c:pt idx="32">
                  <c:v> XE </c:v>
                </c:pt>
                <c:pt idx="33">
                  <c:v> YT </c:v>
                </c:pt>
                <c:pt idx="34">
                  <c:v> HH </c:v>
                </c:pt>
                <c:pt idx="35">
                  <c:v> MD </c:v>
                </c:pt>
                <c:pt idx="36">
                  <c:v> HF </c:v>
                </c:pt>
                <c:pt idx="37">
                  <c:v> MG </c:v>
                </c:pt>
                <c:pt idx="38">
                  <c:v> RU </c:v>
                </c:pt>
                <c:pt idx="39">
                  <c:v> UD </c:v>
                </c:pt>
                <c:pt idx="40">
                  <c:v> TB </c:v>
                </c:pt>
                <c:pt idx="41">
                  <c:v> SB </c:v>
                </c:pt>
                <c:pt idx="42">
                  <c:v> NL </c:v>
                </c:pt>
                <c:pt idx="43">
                  <c:v> BR </c:v>
                </c:pt>
                <c:pt idx="44">
                  <c:v> ZQ </c:v>
                </c:pt>
                <c:pt idx="45">
                  <c:v> AK </c:v>
                </c:pt>
                <c:pt idx="46">
                  <c:v> FM </c:v>
                </c:pt>
                <c:pt idx="47">
                  <c:v> UY </c:v>
                </c:pt>
                <c:pt idx="48">
                  <c:v> IF </c:v>
                </c:pt>
                <c:pt idx="49">
                  <c:v> PE </c:v>
                </c:pt>
                <c:pt idx="50">
                  <c:v> CL </c:v>
                </c:pt>
                <c:pt idx="51">
                  <c:v> HI </c:v>
                </c:pt>
                <c:pt idx="52">
                  <c:v> GK </c:v>
                </c:pt>
                <c:pt idx="53">
                  <c:v> JW </c:v>
                </c:pt>
              </c:strCache>
            </c:strRef>
          </c:cat>
          <c:val>
            <c:numRef>
              <c:f>Sheet1!$D$2:$D$55</c:f>
              <c:numCache>
                <c:formatCode>_(* #,##0.00_);_(* \(#,##0.00\);_(* "-"??_);_(@_)</c:formatCode>
                <c:ptCount val="54"/>
                <c:pt idx="0">
                  <c:v>8.1</c:v>
                </c:pt>
                <c:pt idx="1">
                  <c:v>10.4</c:v>
                </c:pt>
                <c:pt idx="2">
                  <c:v>9</c:v>
                </c:pt>
                <c:pt idx="3">
                  <c:v>11.9</c:v>
                </c:pt>
                <c:pt idx="4">
                  <c:v>10.6</c:v>
                </c:pt>
                <c:pt idx="5">
                  <c:v>10.5</c:v>
                </c:pt>
                <c:pt idx="6">
                  <c:v>11.8</c:v>
                </c:pt>
                <c:pt idx="7">
                  <c:v>6.9</c:v>
                </c:pt>
                <c:pt idx="8">
                  <c:v>8.1999999999999993</c:v>
                </c:pt>
                <c:pt idx="9">
                  <c:v>8.6</c:v>
                </c:pt>
                <c:pt idx="10">
                  <c:v>5.5</c:v>
                </c:pt>
                <c:pt idx="11">
                  <c:v>11.3</c:v>
                </c:pt>
                <c:pt idx="12">
                  <c:v>7.4</c:v>
                </c:pt>
                <c:pt idx="13">
                  <c:v>8</c:v>
                </c:pt>
                <c:pt idx="14">
                  <c:v>11.1</c:v>
                </c:pt>
                <c:pt idx="15">
                  <c:v>6.5</c:v>
                </c:pt>
                <c:pt idx="16">
                  <c:v>6.8</c:v>
                </c:pt>
                <c:pt idx="17">
                  <c:v>9.1999999999999993</c:v>
                </c:pt>
                <c:pt idx="18">
                  <c:v>10.4</c:v>
                </c:pt>
                <c:pt idx="19">
                  <c:v>8.6</c:v>
                </c:pt>
                <c:pt idx="20">
                  <c:v>8</c:v>
                </c:pt>
                <c:pt idx="21">
                  <c:v>7.6</c:v>
                </c:pt>
                <c:pt idx="22">
                  <c:v>10.4</c:v>
                </c:pt>
                <c:pt idx="23">
                  <c:v>8.1999999999999993</c:v>
                </c:pt>
                <c:pt idx="24">
                  <c:v>10.199999999999999</c:v>
                </c:pt>
                <c:pt idx="25">
                  <c:v>9.6999999999999993</c:v>
                </c:pt>
                <c:pt idx="26">
                  <c:v>9.6999999999999993</c:v>
                </c:pt>
                <c:pt idx="27">
                  <c:v>11.1</c:v>
                </c:pt>
                <c:pt idx="28">
                  <c:v>10</c:v>
                </c:pt>
                <c:pt idx="29">
                  <c:v>6.5</c:v>
                </c:pt>
                <c:pt idx="30">
                  <c:v>7.9</c:v>
                </c:pt>
                <c:pt idx="31">
                  <c:v>10.199999999999999</c:v>
                </c:pt>
                <c:pt idx="32">
                  <c:v>11.2</c:v>
                </c:pt>
                <c:pt idx="33">
                  <c:v>8.8000000000000007</c:v>
                </c:pt>
                <c:pt idx="34">
                  <c:v>10.5</c:v>
                </c:pt>
                <c:pt idx="35">
                  <c:v>9.5</c:v>
                </c:pt>
                <c:pt idx="36">
                  <c:v>10.9</c:v>
                </c:pt>
                <c:pt idx="37">
                  <c:v>8.6</c:v>
                </c:pt>
                <c:pt idx="38">
                  <c:v>7</c:v>
                </c:pt>
                <c:pt idx="39">
                  <c:v>9</c:v>
                </c:pt>
                <c:pt idx="40">
                  <c:v>11</c:v>
                </c:pt>
                <c:pt idx="41">
                  <c:v>10.5</c:v>
                </c:pt>
                <c:pt idx="42">
                  <c:v>9.6</c:v>
                </c:pt>
                <c:pt idx="43">
                  <c:v>8.1999999999999993</c:v>
                </c:pt>
                <c:pt idx="44">
                  <c:v>9.6999999999999993</c:v>
                </c:pt>
                <c:pt idx="45">
                  <c:v>8.6999999999999993</c:v>
                </c:pt>
                <c:pt idx="46">
                  <c:v>7.9</c:v>
                </c:pt>
                <c:pt idx="47">
                  <c:v>9.6</c:v>
                </c:pt>
                <c:pt idx="48">
                  <c:v>9.3000000000000007</c:v>
                </c:pt>
                <c:pt idx="49">
                  <c:v>6.5</c:v>
                </c:pt>
                <c:pt idx="50">
                  <c:v>8.3000000000000007</c:v>
                </c:pt>
                <c:pt idx="51">
                  <c:v>7.8</c:v>
                </c:pt>
                <c:pt idx="52">
                  <c:v>10.1</c:v>
                </c:pt>
                <c:pt idx="53">
                  <c:v>10.6</c:v>
                </c:pt>
              </c:numCache>
            </c:numRef>
          </c:val>
          <c:extLst>
            <c:ext xmlns:c16="http://schemas.microsoft.com/office/drawing/2014/chart" uri="{C3380CC4-5D6E-409C-BE32-E72D297353CC}">
              <c16:uniqueId val="{00000002-CEAE-4CDD-82DF-6E56D3391735}"/>
            </c:ext>
          </c:extLst>
        </c:ser>
        <c:ser>
          <c:idx val="1"/>
          <c:order val="4"/>
          <c:tx>
            <c:strRef>
              <c:f>Sheet1!$C$1</c:f>
              <c:strCache>
                <c:ptCount val="1"/>
                <c:pt idx="0">
                  <c:v> DB &amp; DC</c:v>
                </c:pt>
              </c:strCache>
            </c:strRef>
          </c:tx>
          <c:spPr>
            <a:solidFill>
              <a:schemeClr val="accent5"/>
            </a:solidFill>
            <a:ln>
              <a:noFill/>
            </a:ln>
            <a:effectLst/>
          </c:spPr>
          <c:invertIfNegative val="0"/>
          <c:cat>
            <c:strRef>
              <c:f>Sheet1!$A$2:$A$55</c:f>
              <c:strCache>
                <c:ptCount val="54"/>
                <c:pt idx="0">
                  <c:v> SC </c:v>
                </c:pt>
                <c:pt idx="1">
                  <c:v> ZH </c:v>
                </c:pt>
                <c:pt idx="2">
                  <c:v> FA </c:v>
                </c:pt>
                <c:pt idx="3">
                  <c:v> AI </c:v>
                </c:pt>
                <c:pt idx="4">
                  <c:v> CF </c:v>
                </c:pt>
                <c:pt idx="5">
                  <c:v> ON </c:v>
                </c:pt>
                <c:pt idx="6">
                  <c:v> YM </c:v>
                </c:pt>
                <c:pt idx="7">
                  <c:v> VP </c:v>
                </c:pt>
                <c:pt idx="8">
                  <c:v> DN </c:v>
                </c:pt>
                <c:pt idx="9">
                  <c:v> TN </c:v>
                </c:pt>
                <c:pt idx="10">
                  <c:v> FF </c:v>
                </c:pt>
                <c:pt idx="11">
                  <c:v> WX </c:v>
                </c:pt>
                <c:pt idx="12">
                  <c:v> KZ </c:v>
                </c:pt>
                <c:pt idx="13">
                  <c:v> GC </c:v>
                </c:pt>
                <c:pt idx="14">
                  <c:v> NH </c:v>
                </c:pt>
                <c:pt idx="15">
                  <c:v> KS </c:v>
                </c:pt>
                <c:pt idx="16">
                  <c:v> QO </c:v>
                </c:pt>
                <c:pt idx="17">
                  <c:v> DO </c:v>
                </c:pt>
                <c:pt idx="18">
                  <c:v> EG </c:v>
                </c:pt>
                <c:pt idx="19">
                  <c:v> AW </c:v>
                </c:pt>
                <c:pt idx="20">
                  <c:v> EJ </c:v>
                </c:pt>
                <c:pt idx="21">
                  <c:v> JA </c:v>
                </c:pt>
                <c:pt idx="22">
                  <c:v> CD </c:v>
                </c:pt>
                <c:pt idx="23">
                  <c:v> GJ </c:v>
                </c:pt>
                <c:pt idx="24">
                  <c:v> MJ </c:v>
                </c:pt>
                <c:pt idx="25">
                  <c:v> NE </c:v>
                </c:pt>
                <c:pt idx="26">
                  <c:v> EO </c:v>
                </c:pt>
                <c:pt idx="27">
                  <c:v> BV </c:v>
                </c:pt>
                <c:pt idx="28">
                  <c:v> XR </c:v>
                </c:pt>
                <c:pt idx="29">
                  <c:v> OU </c:v>
                </c:pt>
                <c:pt idx="30">
                  <c:v> RG </c:v>
                </c:pt>
                <c:pt idx="31">
                  <c:v> AMD</c:v>
                </c:pt>
                <c:pt idx="32">
                  <c:v> XE </c:v>
                </c:pt>
                <c:pt idx="33">
                  <c:v> YT </c:v>
                </c:pt>
                <c:pt idx="34">
                  <c:v> HH </c:v>
                </c:pt>
                <c:pt idx="35">
                  <c:v> MD </c:v>
                </c:pt>
                <c:pt idx="36">
                  <c:v> HF </c:v>
                </c:pt>
                <c:pt idx="37">
                  <c:v> MG </c:v>
                </c:pt>
                <c:pt idx="38">
                  <c:v> RU </c:v>
                </c:pt>
                <c:pt idx="39">
                  <c:v> UD </c:v>
                </c:pt>
                <c:pt idx="40">
                  <c:v> TB </c:v>
                </c:pt>
                <c:pt idx="41">
                  <c:v> SB </c:v>
                </c:pt>
                <c:pt idx="42">
                  <c:v> NL </c:v>
                </c:pt>
                <c:pt idx="43">
                  <c:v> BR </c:v>
                </c:pt>
                <c:pt idx="44">
                  <c:v> ZQ </c:v>
                </c:pt>
                <c:pt idx="45">
                  <c:v> AK </c:v>
                </c:pt>
                <c:pt idx="46">
                  <c:v> FM </c:v>
                </c:pt>
                <c:pt idx="47">
                  <c:v> UY </c:v>
                </c:pt>
                <c:pt idx="48">
                  <c:v> IF </c:v>
                </c:pt>
                <c:pt idx="49">
                  <c:v> PE </c:v>
                </c:pt>
                <c:pt idx="50">
                  <c:v> CL </c:v>
                </c:pt>
                <c:pt idx="51">
                  <c:v> HI </c:v>
                </c:pt>
                <c:pt idx="52">
                  <c:v> GK </c:v>
                </c:pt>
                <c:pt idx="53">
                  <c:v> JW </c:v>
                </c:pt>
              </c:strCache>
            </c:strRef>
          </c:cat>
          <c:val>
            <c:numRef>
              <c:f>Sheet1!$C$2:$C$55</c:f>
              <c:numCache>
                <c:formatCode>_(* #,##0.00_);_(* \(#,##0.00\);_(* "-"??_);_(@_)</c:formatCode>
                <c:ptCount val="54"/>
                <c:pt idx="0">
                  <c:v>20.5</c:v>
                </c:pt>
                <c:pt idx="1">
                  <c:v>37.6</c:v>
                </c:pt>
                <c:pt idx="2">
                  <c:v>25</c:v>
                </c:pt>
                <c:pt idx="3">
                  <c:v>25</c:v>
                </c:pt>
                <c:pt idx="4">
                  <c:v>25.6</c:v>
                </c:pt>
                <c:pt idx="5">
                  <c:v>20.5</c:v>
                </c:pt>
                <c:pt idx="6">
                  <c:v>20.5</c:v>
                </c:pt>
                <c:pt idx="7">
                  <c:v>31.3</c:v>
                </c:pt>
                <c:pt idx="8">
                  <c:v>21.9</c:v>
                </c:pt>
                <c:pt idx="9">
                  <c:v>15.6</c:v>
                </c:pt>
                <c:pt idx="10">
                  <c:v>13.6</c:v>
                </c:pt>
                <c:pt idx="11">
                  <c:v>18.7</c:v>
                </c:pt>
                <c:pt idx="12">
                  <c:v>16.7</c:v>
                </c:pt>
                <c:pt idx="13">
                  <c:v>18.2</c:v>
                </c:pt>
                <c:pt idx="14">
                  <c:v>25</c:v>
                </c:pt>
                <c:pt idx="15">
                  <c:v>22</c:v>
                </c:pt>
                <c:pt idx="16">
                  <c:v>26.6</c:v>
                </c:pt>
                <c:pt idx="17">
                  <c:v>10.1</c:v>
                </c:pt>
                <c:pt idx="18">
                  <c:v>9</c:v>
                </c:pt>
                <c:pt idx="19">
                  <c:v>18.7</c:v>
                </c:pt>
                <c:pt idx="20">
                  <c:v>14.4</c:v>
                </c:pt>
                <c:pt idx="21">
                  <c:v>10.1</c:v>
                </c:pt>
                <c:pt idx="22">
                  <c:v>10.3</c:v>
                </c:pt>
                <c:pt idx="23">
                  <c:v>17.600000000000001</c:v>
                </c:pt>
                <c:pt idx="24">
                  <c:v>14.2</c:v>
                </c:pt>
                <c:pt idx="25">
                  <c:v>10.8</c:v>
                </c:pt>
                <c:pt idx="26">
                  <c:v>21.8</c:v>
                </c:pt>
                <c:pt idx="27">
                  <c:v>25</c:v>
                </c:pt>
                <c:pt idx="28">
                  <c:v>11.5</c:v>
                </c:pt>
                <c:pt idx="29">
                  <c:v>18.8</c:v>
                </c:pt>
                <c:pt idx="30">
                  <c:v>12.3</c:v>
                </c:pt>
                <c:pt idx="31">
                  <c:v>16.399999999999999</c:v>
                </c:pt>
                <c:pt idx="32">
                  <c:v>20.8</c:v>
                </c:pt>
                <c:pt idx="33">
                  <c:v>15.7</c:v>
                </c:pt>
                <c:pt idx="34">
                  <c:v>12.3</c:v>
                </c:pt>
                <c:pt idx="35">
                  <c:v>21.9</c:v>
                </c:pt>
                <c:pt idx="36">
                  <c:v>16.600000000000001</c:v>
                </c:pt>
                <c:pt idx="37">
                  <c:v>12.9</c:v>
                </c:pt>
                <c:pt idx="38">
                  <c:v>14.5</c:v>
                </c:pt>
                <c:pt idx="39">
                  <c:v>16.7</c:v>
                </c:pt>
                <c:pt idx="40">
                  <c:v>10.3</c:v>
                </c:pt>
                <c:pt idx="41">
                  <c:v>19</c:v>
                </c:pt>
                <c:pt idx="42">
                  <c:v>18.7</c:v>
                </c:pt>
                <c:pt idx="43">
                  <c:v>14.3</c:v>
                </c:pt>
                <c:pt idx="44">
                  <c:v>2.5</c:v>
                </c:pt>
                <c:pt idx="45">
                  <c:v>0</c:v>
                </c:pt>
                <c:pt idx="46">
                  <c:v>16.3</c:v>
                </c:pt>
                <c:pt idx="47">
                  <c:v>16.7</c:v>
                </c:pt>
                <c:pt idx="48">
                  <c:v>12.3</c:v>
                </c:pt>
                <c:pt idx="49">
                  <c:v>3.9</c:v>
                </c:pt>
                <c:pt idx="50">
                  <c:v>14.1</c:v>
                </c:pt>
                <c:pt idx="51">
                  <c:v>5.0999999999999996</c:v>
                </c:pt>
                <c:pt idx="52">
                  <c:v>4.5999999999999996</c:v>
                </c:pt>
                <c:pt idx="53">
                  <c:v>7.6</c:v>
                </c:pt>
              </c:numCache>
            </c:numRef>
          </c:val>
          <c:extLst>
            <c:ext xmlns:c16="http://schemas.microsoft.com/office/drawing/2014/chart" uri="{C3380CC4-5D6E-409C-BE32-E72D297353CC}">
              <c16:uniqueId val="{00000001-CEAE-4CDD-82DF-6E56D3391735}"/>
            </c:ext>
          </c:extLst>
        </c:ser>
        <c:ser>
          <c:idx val="0"/>
          <c:order val="5"/>
          <c:tx>
            <c:strRef>
              <c:f>Sheet1!$B$1</c:f>
              <c:strCache>
                <c:ptCount val="1"/>
                <c:pt idx="0">
                  <c:v> Stock Purchase</c:v>
                </c:pt>
              </c:strCache>
            </c:strRef>
          </c:tx>
          <c:spPr>
            <a:solidFill>
              <a:schemeClr val="accent5">
                <a:lumMod val="75000"/>
              </a:schemeClr>
            </a:solidFill>
            <a:ln>
              <a:noFill/>
            </a:ln>
            <a:effectLst/>
          </c:spPr>
          <c:invertIfNegative val="0"/>
          <c:cat>
            <c:strRef>
              <c:f>Sheet1!$A$2:$A$55</c:f>
              <c:strCache>
                <c:ptCount val="54"/>
                <c:pt idx="0">
                  <c:v> SC </c:v>
                </c:pt>
                <c:pt idx="1">
                  <c:v> ZH </c:v>
                </c:pt>
                <c:pt idx="2">
                  <c:v> FA </c:v>
                </c:pt>
                <c:pt idx="3">
                  <c:v> AI </c:v>
                </c:pt>
                <c:pt idx="4">
                  <c:v> CF </c:v>
                </c:pt>
                <c:pt idx="5">
                  <c:v> ON </c:v>
                </c:pt>
                <c:pt idx="6">
                  <c:v> YM </c:v>
                </c:pt>
                <c:pt idx="7">
                  <c:v> VP </c:v>
                </c:pt>
                <c:pt idx="8">
                  <c:v> DN </c:v>
                </c:pt>
                <c:pt idx="9">
                  <c:v> TN </c:v>
                </c:pt>
                <c:pt idx="10">
                  <c:v> FF </c:v>
                </c:pt>
                <c:pt idx="11">
                  <c:v> WX </c:v>
                </c:pt>
                <c:pt idx="12">
                  <c:v> KZ </c:v>
                </c:pt>
                <c:pt idx="13">
                  <c:v> GC </c:v>
                </c:pt>
                <c:pt idx="14">
                  <c:v> NH </c:v>
                </c:pt>
                <c:pt idx="15">
                  <c:v> KS </c:v>
                </c:pt>
                <c:pt idx="16">
                  <c:v> QO </c:v>
                </c:pt>
                <c:pt idx="17">
                  <c:v> DO </c:v>
                </c:pt>
                <c:pt idx="18">
                  <c:v> EG </c:v>
                </c:pt>
                <c:pt idx="19">
                  <c:v> AW </c:v>
                </c:pt>
                <c:pt idx="20">
                  <c:v> EJ </c:v>
                </c:pt>
                <c:pt idx="21">
                  <c:v> JA </c:v>
                </c:pt>
                <c:pt idx="22">
                  <c:v> CD </c:v>
                </c:pt>
                <c:pt idx="23">
                  <c:v> GJ </c:v>
                </c:pt>
                <c:pt idx="24">
                  <c:v> MJ </c:v>
                </c:pt>
                <c:pt idx="25">
                  <c:v> NE </c:v>
                </c:pt>
                <c:pt idx="26">
                  <c:v> EO </c:v>
                </c:pt>
                <c:pt idx="27">
                  <c:v> BV </c:v>
                </c:pt>
                <c:pt idx="28">
                  <c:v> XR </c:v>
                </c:pt>
                <c:pt idx="29">
                  <c:v> OU </c:v>
                </c:pt>
                <c:pt idx="30">
                  <c:v> RG </c:v>
                </c:pt>
                <c:pt idx="31">
                  <c:v> AMD</c:v>
                </c:pt>
                <c:pt idx="32">
                  <c:v> XE </c:v>
                </c:pt>
                <c:pt idx="33">
                  <c:v> YT </c:v>
                </c:pt>
                <c:pt idx="34">
                  <c:v> HH </c:v>
                </c:pt>
                <c:pt idx="35">
                  <c:v> MD </c:v>
                </c:pt>
                <c:pt idx="36">
                  <c:v> HF </c:v>
                </c:pt>
                <c:pt idx="37">
                  <c:v> MG </c:v>
                </c:pt>
                <c:pt idx="38">
                  <c:v> RU </c:v>
                </c:pt>
                <c:pt idx="39">
                  <c:v> UD </c:v>
                </c:pt>
                <c:pt idx="40">
                  <c:v> TB </c:v>
                </c:pt>
                <c:pt idx="41">
                  <c:v> SB </c:v>
                </c:pt>
                <c:pt idx="42">
                  <c:v> NL </c:v>
                </c:pt>
                <c:pt idx="43">
                  <c:v> BR </c:v>
                </c:pt>
                <c:pt idx="44">
                  <c:v> ZQ </c:v>
                </c:pt>
                <c:pt idx="45">
                  <c:v> AK </c:v>
                </c:pt>
                <c:pt idx="46">
                  <c:v> FM </c:v>
                </c:pt>
                <c:pt idx="47">
                  <c:v> UY </c:v>
                </c:pt>
                <c:pt idx="48">
                  <c:v> IF </c:v>
                </c:pt>
                <c:pt idx="49">
                  <c:v> PE </c:v>
                </c:pt>
                <c:pt idx="50">
                  <c:v> CL </c:v>
                </c:pt>
                <c:pt idx="51">
                  <c:v> HI </c:v>
                </c:pt>
                <c:pt idx="52">
                  <c:v> GK </c:v>
                </c:pt>
                <c:pt idx="53">
                  <c:v> JW </c:v>
                </c:pt>
              </c:strCache>
            </c:strRef>
          </c:cat>
          <c:val>
            <c:numRef>
              <c:f>Sheet1!$B$2:$B$55</c:f>
              <c:numCache>
                <c:formatCode>_(* #,##0.00_);_(* \(#,##0.00\);_(* "-"??_);_(@_)</c:formatCode>
                <c:ptCount val="54"/>
                <c:pt idx="0">
                  <c:v>2.2999999999999998</c:v>
                </c:pt>
                <c:pt idx="1">
                  <c:v>0</c:v>
                </c:pt>
                <c:pt idx="2">
                  <c:v>2.9</c:v>
                </c:pt>
                <c:pt idx="3">
                  <c:v>0.4</c:v>
                </c:pt>
                <c:pt idx="4">
                  <c:v>0</c:v>
                </c:pt>
                <c:pt idx="5">
                  <c:v>2.9</c:v>
                </c:pt>
                <c:pt idx="6">
                  <c:v>2.2999999999999998</c:v>
                </c:pt>
                <c:pt idx="7">
                  <c:v>0</c:v>
                </c:pt>
                <c:pt idx="8">
                  <c:v>3.3</c:v>
                </c:pt>
                <c:pt idx="9">
                  <c:v>5.5</c:v>
                </c:pt>
                <c:pt idx="10">
                  <c:v>3.3</c:v>
                </c:pt>
                <c:pt idx="11">
                  <c:v>1.5</c:v>
                </c:pt>
                <c:pt idx="12">
                  <c:v>0</c:v>
                </c:pt>
                <c:pt idx="13">
                  <c:v>2</c:v>
                </c:pt>
                <c:pt idx="14">
                  <c:v>0</c:v>
                </c:pt>
                <c:pt idx="15">
                  <c:v>0.3</c:v>
                </c:pt>
                <c:pt idx="16">
                  <c:v>0</c:v>
                </c:pt>
                <c:pt idx="17">
                  <c:v>3.9</c:v>
                </c:pt>
                <c:pt idx="18">
                  <c:v>3.1</c:v>
                </c:pt>
                <c:pt idx="19">
                  <c:v>0</c:v>
                </c:pt>
                <c:pt idx="20">
                  <c:v>0</c:v>
                </c:pt>
                <c:pt idx="21">
                  <c:v>0</c:v>
                </c:pt>
                <c:pt idx="22">
                  <c:v>3.1</c:v>
                </c:pt>
                <c:pt idx="23">
                  <c:v>3.3</c:v>
                </c:pt>
                <c:pt idx="24">
                  <c:v>3.6</c:v>
                </c:pt>
                <c:pt idx="25">
                  <c:v>3.3</c:v>
                </c:pt>
                <c:pt idx="26">
                  <c:v>3.1</c:v>
                </c:pt>
                <c:pt idx="27">
                  <c:v>0</c:v>
                </c:pt>
                <c:pt idx="28">
                  <c:v>1.8</c:v>
                </c:pt>
                <c:pt idx="29">
                  <c:v>5.2</c:v>
                </c:pt>
                <c:pt idx="30">
                  <c:v>0</c:v>
                </c:pt>
                <c:pt idx="31">
                  <c:v>3.1</c:v>
                </c:pt>
                <c:pt idx="32">
                  <c:v>0</c:v>
                </c:pt>
                <c:pt idx="33">
                  <c:v>3.7</c:v>
                </c:pt>
                <c:pt idx="34">
                  <c:v>2.8</c:v>
                </c:pt>
                <c:pt idx="35">
                  <c:v>3.1</c:v>
                </c:pt>
                <c:pt idx="36">
                  <c:v>4</c:v>
                </c:pt>
                <c:pt idx="37">
                  <c:v>3.6</c:v>
                </c:pt>
                <c:pt idx="38">
                  <c:v>3.3</c:v>
                </c:pt>
                <c:pt idx="39">
                  <c:v>5.2</c:v>
                </c:pt>
                <c:pt idx="40">
                  <c:v>0</c:v>
                </c:pt>
                <c:pt idx="41">
                  <c:v>0</c:v>
                </c:pt>
                <c:pt idx="42">
                  <c:v>0</c:v>
                </c:pt>
                <c:pt idx="43">
                  <c:v>3.8</c:v>
                </c:pt>
                <c:pt idx="44">
                  <c:v>4.5999999999999996</c:v>
                </c:pt>
                <c:pt idx="45">
                  <c:v>5.2</c:v>
                </c:pt>
                <c:pt idx="46">
                  <c:v>2.9</c:v>
                </c:pt>
                <c:pt idx="47">
                  <c:v>2.7</c:v>
                </c:pt>
                <c:pt idx="48">
                  <c:v>3.6</c:v>
                </c:pt>
                <c:pt idx="49">
                  <c:v>3.5</c:v>
                </c:pt>
                <c:pt idx="50">
                  <c:v>3.5</c:v>
                </c:pt>
                <c:pt idx="51">
                  <c:v>0</c:v>
                </c:pt>
                <c:pt idx="52">
                  <c:v>0</c:v>
                </c:pt>
                <c:pt idx="53">
                  <c:v>3.6</c:v>
                </c:pt>
              </c:numCache>
            </c:numRef>
          </c:val>
          <c:extLst>
            <c:ext xmlns:c16="http://schemas.microsoft.com/office/drawing/2014/chart" uri="{C3380CC4-5D6E-409C-BE32-E72D297353CC}">
              <c16:uniqueId val="{00000000-CEAE-4CDD-82DF-6E56D3391735}"/>
            </c:ext>
          </c:extLst>
        </c:ser>
        <c:ser>
          <c:idx val="6"/>
          <c:order val="6"/>
          <c:tx>
            <c:strRef>
              <c:f>Sheet1!$H$1</c:f>
              <c:strCache>
                <c:ptCount val="1"/>
                <c:pt idx="0">
                  <c:v>Total</c:v>
                </c:pt>
              </c:strCache>
            </c:strRef>
          </c:tx>
          <c:spPr>
            <a:no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solidFill>
                    <a:latin typeface="+mj-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SC </c:v>
                </c:pt>
                <c:pt idx="1">
                  <c:v> ZH </c:v>
                </c:pt>
                <c:pt idx="2">
                  <c:v> FA </c:v>
                </c:pt>
                <c:pt idx="3">
                  <c:v> AI </c:v>
                </c:pt>
                <c:pt idx="4">
                  <c:v> CF </c:v>
                </c:pt>
                <c:pt idx="5">
                  <c:v> ON </c:v>
                </c:pt>
                <c:pt idx="6">
                  <c:v> YM </c:v>
                </c:pt>
                <c:pt idx="7">
                  <c:v> VP </c:v>
                </c:pt>
                <c:pt idx="8">
                  <c:v> DN </c:v>
                </c:pt>
                <c:pt idx="9">
                  <c:v> TN </c:v>
                </c:pt>
                <c:pt idx="10">
                  <c:v> FF </c:v>
                </c:pt>
                <c:pt idx="11">
                  <c:v> WX </c:v>
                </c:pt>
                <c:pt idx="12">
                  <c:v> KZ </c:v>
                </c:pt>
                <c:pt idx="13">
                  <c:v> GC </c:v>
                </c:pt>
                <c:pt idx="14">
                  <c:v> NH </c:v>
                </c:pt>
                <c:pt idx="15">
                  <c:v> KS </c:v>
                </c:pt>
                <c:pt idx="16">
                  <c:v> QO </c:v>
                </c:pt>
                <c:pt idx="17">
                  <c:v> DO </c:v>
                </c:pt>
                <c:pt idx="18">
                  <c:v> EG </c:v>
                </c:pt>
                <c:pt idx="19">
                  <c:v> AW </c:v>
                </c:pt>
                <c:pt idx="20">
                  <c:v> EJ </c:v>
                </c:pt>
                <c:pt idx="21">
                  <c:v> JA </c:v>
                </c:pt>
                <c:pt idx="22">
                  <c:v> CD </c:v>
                </c:pt>
                <c:pt idx="23">
                  <c:v> GJ </c:v>
                </c:pt>
                <c:pt idx="24">
                  <c:v> MJ </c:v>
                </c:pt>
                <c:pt idx="25">
                  <c:v> NE </c:v>
                </c:pt>
                <c:pt idx="26">
                  <c:v> EO </c:v>
                </c:pt>
                <c:pt idx="27">
                  <c:v> BV </c:v>
                </c:pt>
                <c:pt idx="28">
                  <c:v> XR </c:v>
                </c:pt>
                <c:pt idx="29">
                  <c:v> OU </c:v>
                </c:pt>
                <c:pt idx="30">
                  <c:v> RG </c:v>
                </c:pt>
                <c:pt idx="31">
                  <c:v> AMD</c:v>
                </c:pt>
                <c:pt idx="32">
                  <c:v> XE </c:v>
                </c:pt>
                <c:pt idx="33">
                  <c:v> YT </c:v>
                </c:pt>
                <c:pt idx="34">
                  <c:v> HH </c:v>
                </c:pt>
                <c:pt idx="35">
                  <c:v> MD </c:v>
                </c:pt>
                <c:pt idx="36">
                  <c:v> HF </c:v>
                </c:pt>
                <c:pt idx="37">
                  <c:v> MG </c:v>
                </c:pt>
                <c:pt idx="38">
                  <c:v> RU </c:v>
                </c:pt>
                <c:pt idx="39">
                  <c:v> UD </c:v>
                </c:pt>
                <c:pt idx="40">
                  <c:v> TB </c:v>
                </c:pt>
                <c:pt idx="41">
                  <c:v> SB </c:v>
                </c:pt>
                <c:pt idx="42">
                  <c:v> NL </c:v>
                </c:pt>
                <c:pt idx="43">
                  <c:v> BR </c:v>
                </c:pt>
                <c:pt idx="44">
                  <c:v> ZQ </c:v>
                </c:pt>
                <c:pt idx="45">
                  <c:v> AK </c:v>
                </c:pt>
                <c:pt idx="46">
                  <c:v> FM </c:v>
                </c:pt>
                <c:pt idx="47">
                  <c:v> UY </c:v>
                </c:pt>
                <c:pt idx="48">
                  <c:v> IF </c:v>
                </c:pt>
                <c:pt idx="49">
                  <c:v> PE </c:v>
                </c:pt>
                <c:pt idx="50">
                  <c:v> CL </c:v>
                </c:pt>
                <c:pt idx="51">
                  <c:v> HI </c:v>
                </c:pt>
                <c:pt idx="52">
                  <c:v> GK </c:v>
                </c:pt>
                <c:pt idx="53">
                  <c:v> JW </c:v>
                </c:pt>
              </c:strCache>
            </c:strRef>
          </c:cat>
          <c:val>
            <c:numRef>
              <c:f>Sheet1!$H$2:$H$55</c:f>
              <c:numCache>
                <c:formatCode>_(* #,##0.00_);_(* \(#,##0.00\);_(* "-"??_);_(@_)</c:formatCode>
                <c:ptCount val="54"/>
                <c:pt idx="0">
                  <c:v>121.2</c:v>
                </c:pt>
                <c:pt idx="1">
                  <c:v>119</c:v>
                </c:pt>
                <c:pt idx="2">
                  <c:v>118</c:v>
                </c:pt>
                <c:pt idx="3">
                  <c:v>118</c:v>
                </c:pt>
                <c:pt idx="4">
                  <c:v>113.5</c:v>
                </c:pt>
                <c:pt idx="5">
                  <c:v>113.3</c:v>
                </c:pt>
                <c:pt idx="6">
                  <c:v>112.9</c:v>
                </c:pt>
                <c:pt idx="7">
                  <c:v>112.8</c:v>
                </c:pt>
                <c:pt idx="8">
                  <c:v>111</c:v>
                </c:pt>
                <c:pt idx="9">
                  <c:v>109.7</c:v>
                </c:pt>
                <c:pt idx="10">
                  <c:v>107.8</c:v>
                </c:pt>
                <c:pt idx="11">
                  <c:v>107.4</c:v>
                </c:pt>
                <c:pt idx="12">
                  <c:v>106</c:v>
                </c:pt>
                <c:pt idx="13">
                  <c:v>105.6</c:v>
                </c:pt>
                <c:pt idx="14">
                  <c:v>104.6</c:v>
                </c:pt>
                <c:pt idx="15">
                  <c:v>103.5</c:v>
                </c:pt>
                <c:pt idx="16">
                  <c:v>103.3</c:v>
                </c:pt>
                <c:pt idx="17">
                  <c:v>103</c:v>
                </c:pt>
                <c:pt idx="18">
                  <c:v>102.7</c:v>
                </c:pt>
                <c:pt idx="19">
                  <c:v>102.5</c:v>
                </c:pt>
                <c:pt idx="20">
                  <c:v>102.4</c:v>
                </c:pt>
                <c:pt idx="21">
                  <c:v>102</c:v>
                </c:pt>
                <c:pt idx="22">
                  <c:v>101.3</c:v>
                </c:pt>
                <c:pt idx="23">
                  <c:v>100.1</c:v>
                </c:pt>
                <c:pt idx="24">
                  <c:v>100</c:v>
                </c:pt>
                <c:pt idx="25">
                  <c:v>99.9</c:v>
                </c:pt>
                <c:pt idx="26">
                  <c:v>99.6</c:v>
                </c:pt>
                <c:pt idx="27">
                  <c:v>99.5</c:v>
                </c:pt>
                <c:pt idx="28">
                  <c:v>98.4</c:v>
                </c:pt>
                <c:pt idx="29">
                  <c:v>98</c:v>
                </c:pt>
                <c:pt idx="30">
                  <c:v>97.9</c:v>
                </c:pt>
                <c:pt idx="31">
                  <c:v>97.6</c:v>
                </c:pt>
                <c:pt idx="32">
                  <c:v>97.4</c:v>
                </c:pt>
                <c:pt idx="33">
                  <c:v>96.8</c:v>
                </c:pt>
                <c:pt idx="34">
                  <c:v>96.7</c:v>
                </c:pt>
                <c:pt idx="35">
                  <c:v>96</c:v>
                </c:pt>
                <c:pt idx="36">
                  <c:v>95.5</c:v>
                </c:pt>
                <c:pt idx="37">
                  <c:v>95.1</c:v>
                </c:pt>
                <c:pt idx="38">
                  <c:v>94.5</c:v>
                </c:pt>
                <c:pt idx="39">
                  <c:v>94.3</c:v>
                </c:pt>
                <c:pt idx="40">
                  <c:v>93.8</c:v>
                </c:pt>
                <c:pt idx="41">
                  <c:v>93.8</c:v>
                </c:pt>
                <c:pt idx="42">
                  <c:v>92.8</c:v>
                </c:pt>
                <c:pt idx="43">
                  <c:v>92.2</c:v>
                </c:pt>
                <c:pt idx="44">
                  <c:v>92.2</c:v>
                </c:pt>
                <c:pt idx="45">
                  <c:v>89.4</c:v>
                </c:pt>
                <c:pt idx="46">
                  <c:v>88.7</c:v>
                </c:pt>
                <c:pt idx="47">
                  <c:v>88.4</c:v>
                </c:pt>
                <c:pt idx="48">
                  <c:v>88.2</c:v>
                </c:pt>
                <c:pt idx="49">
                  <c:v>86.6</c:v>
                </c:pt>
                <c:pt idx="50">
                  <c:v>85.6</c:v>
                </c:pt>
                <c:pt idx="51">
                  <c:v>85.5</c:v>
                </c:pt>
                <c:pt idx="52">
                  <c:v>83</c:v>
                </c:pt>
                <c:pt idx="53">
                  <c:v>81</c:v>
                </c:pt>
              </c:numCache>
            </c:numRef>
          </c:val>
          <c:extLst>
            <c:ext xmlns:c16="http://schemas.microsoft.com/office/drawing/2014/chart" uri="{C3380CC4-5D6E-409C-BE32-E72D297353CC}">
              <c16:uniqueId val="{00000006-CEAE-4CDD-82DF-6E56D3391735}"/>
            </c:ext>
          </c:extLst>
        </c:ser>
        <c:dLbls>
          <c:showLegendKey val="0"/>
          <c:showVal val="0"/>
          <c:showCatName val="0"/>
          <c:showSerName val="0"/>
          <c:showPercent val="0"/>
          <c:showBubbleSize val="0"/>
        </c:dLbls>
        <c:gapWidth val="50"/>
        <c:overlap val="100"/>
        <c:axId val="788652776"/>
        <c:axId val="788647528"/>
      </c:barChart>
      <c:catAx>
        <c:axId val="78865277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j-lt"/>
                <a:ea typeface="+mn-ea"/>
                <a:cs typeface="+mn-cs"/>
              </a:defRPr>
            </a:pPr>
            <a:endParaRPr lang="en-US"/>
          </a:p>
        </c:txPr>
        <c:crossAx val="788647528"/>
        <c:crosses val="autoZero"/>
        <c:auto val="1"/>
        <c:lblAlgn val="ctr"/>
        <c:lblOffset val="100"/>
        <c:noMultiLvlLbl val="0"/>
      </c:catAx>
      <c:valAx>
        <c:axId val="788647528"/>
        <c:scaling>
          <c:orientation val="minMax"/>
          <c:max val="200"/>
        </c:scaling>
        <c:delete val="0"/>
        <c:axPos val="l"/>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mj-lt"/>
                <a:ea typeface="+mn-ea"/>
                <a:cs typeface="+mn-cs"/>
              </a:defRPr>
            </a:pPr>
            <a:endParaRPr lang="en-US"/>
          </a:p>
        </c:txPr>
        <c:crossAx val="788652776"/>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latin typeface="+mj-lt"/>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1" i="0" u="none" strike="noStrike" kern="1200" spc="0" baseline="0">
                <a:solidFill>
                  <a:schemeClr val="tx1"/>
                </a:solidFill>
                <a:latin typeface="+mj-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080" b="1" i="0" u="none" strike="noStrike" kern="1200" spc="0" baseline="0">
              <a:solidFill>
                <a:schemeClr val="tx1"/>
              </a:solidFill>
              <a:latin typeface="+mj-lt"/>
              <a:ea typeface="+mn-ea"/>
              <a:cs typeface="+mn-cs"/>
            </a:defRPr>
          </a:pPr>
          <a:endParaRPr lang="en-US"/>
        </a:p>
      </c:txPr>
    </c:title>
    <c:autoTitleDeleted val="0"/>
    <c:plotArea>
      <c:layout/>
      <c:barChart>
        <c:barDir val="col"/>
        <c:grouping val="stacked"/>
        <c:varyColors val="0"/>
        <c:ser>
          <c:idx val="5"/>
          <c:order val="0"/>
          <c:tx>
            <c:strRef>
              <c:f>Sheet1!$G$1</c:f>
              <c:strCache>
                <c:ptCount val="1"/>
                <c:pt idx="0">
                  <c:v> Paid Time Off</c:v>
                </c:pt>
              </c:strCache>
            </c:strRef>
          </c:tx>
          <c:spPr>
            <a:solidFill>
              <a:schemeClr val="accent1"/>
            </a:solidFill>
            <a:ln>
              <a:noFill/>
            </a:ln>
            <a:effectLst/>
          </c:spPr>
          <c:invertIfNegative val="0"/>
          <c:cat>
            <c:strRef>
              <c:f>Sheet1!$A$2:$A$55</c:f>
              <c:strCache>
                <c:ptCount val="54"/>
                <c:pt idx="0">
                  <c:v> SC </c:v>
                </c:pt>
                <c:pt idx="1">
                  <c:v> FA </c:v>
                </c:pt>
                <c:pt idx="2">
                  <c:v> YM </c:v>
                </c:pt>
                <c:pt idx="3">
                  <c:v> TN </c:v>
                </c:pt>
                <c:pt idx="4">
                  <c:v> FF </c:v>
                </c:pt>
                <c:pt idx="5">
                  <c:v> ON </c:v>
                </c:pt>
                <c:pt idx="6">
                  <c:v> OU </c:v>
                </c:pt>
                <c:pt idx="7">
                  <c:v> WX </c:v>
                </c:pt>
                <c:pt idx="8">
                  <c:v> EG </c:v>
                </c:pt>
                <c:pt idx="9">
                  <c:v> DN </c:v>
                </c:pt>
                <c:pt idx="10">
                  <c:v> AI </c:v>
                </c:pt>
                <c:pt idx="11">
                  <c:v> VP </c:v>
                </c:pt>
                <c:pt idx="12">
                  <c:v> GJ </c:v>
                </c:pt>
                <c:pt idx="13">
                  <c:v> DO </c:v>
                </c:pt>
                <c:pt idx="14">
                  <c:v> UD </c:v>
                </c:pt>
                <c:pt idx="15">
                  <c:v> MJ </c:v>
                </c:pt>
                <c:pt idx="16">
                  <c:v> XR </c:v>
                </c:pt>
                <c:pt idx="17">
                  <c:v> RU </c:v>
                </c:pt>
                <c:pt idx="18">
                  <c:v> ZH </c:v>
                </c:pt>
                <c:pt idx="19">
                  <c:v> BR </c:v>
                </c:pt>
                <c:pt idx="20">
                  <c:v> NE </c:v>
                </c:pt>
                <c:pt idx="21">
                  <c:v> KS </c:v>
                </c:pt>
                <c:pt idx="22">
                  <c:v> HH </c:v>
                </c:pt>
                <c:pt idx="23">
                  <c:v> HF </c:v>
                </c:pt>
                <c:pt idx="24">
                  <c:v> GC </c:v>
                </c:pt>
                <c:pt idx="25">
                  <c:v> MG </c:v>
                </c:pt>
                <c:pt idx="26">
                  <c:v> YT </c:v>
                </c:pt>
                <c:pt idx="27">
                  <c:v> IF </c:v>
                </c:pt>
                <c:pt idx="28">
                  <c:v> CD </c:v>
                </c:pt>
                <c:pt idx="29">
                  <c:v> CL </c:v>
                </c:pt>
                <c:pt idx="30">
                  <c:v> ZQ </c:v>
                </c:pt>
                <c:pt idx="31">
                  <c:v> AW </c:v>
                </c:pt>
                <c:pt idx="32">
                  <c:v> EO </c:v>
                </c:pt>
                <c:pt idx="33">
                  <c:v> EJ </c:v>
                </c:pt>
                <c:pt idx="34">
                  <c:v> AMD </c:v>
                </c:pt>
                <c:pt idx="35">
                  <c:v> MD </c:v>
                </c:pt>
                <c:pt idx="36">
                  <c:v> NH </c:v>
                </c:pt>
                <c:pt idx="37">
                  <c:v> CF </c:v>
                </c:pt>
                <c:pt idx="38">
                  <c:v> PE </c:v>
                </c:pt>
                <c:pt idx="39">
                  <c:v> KZ </c:v>
                </c:pt>
                <c:pt idx="40">
                  <c:v> UY </c:v>
                </c:pt>
                <c:pt idx="41">
                  <c:v> AK </c:v>
                </c:pt>
                <c:pt idx="42">
                  <c:v> QO </c:v>
                </c:pt>
                <c:pt idx="43">
                  <c:v> RG </c:v>
                </c:pt>
                <c:pt idx="44">
                  <c:v> BV </c:v>
                </c:pt>
                <c:pt idx="45">
                  <c:v> FM </c:v>
                </c:pt>
                <c:pt idx="46">
                  <c:v> XE </c:v>
                </c:pt>
                <c:pt idx="47">
                  <c:v> JA </c:v>
                </c:pt>
                <c:pt idx="48">
                  <c:v> JW </c:v>
                </c:pt>
                <c:pt idx="49">
                  <c:v> SB </c:v>
                </c:pt>
                <c:pt idx="50">
                  <c:v> NL </c:v>
                </c:pt>
                <c:pt idx="51">
                  <c:v> TB </c:v>
                </c:pt>
                <c:pt idx="52">
                  <c:v> HI </c:v>
                </c:pt>
                <c:pt idx="53">
                  <c:v> GK </c:v>
                </c:pt>
              </c:strCache>
            </c:strRef>
          </c:cat>
          <c:val>
            <c:numRef>
              <c:f>Sheet1!$G$2:$G$55</c:f>
              <c:numCache>
                <c:formatCode>_(* #,##0.00_);_(* \(#,##0.00\);_(* "-"??_);_(@_)</c:formatCode>
                <c:ptCount val="54"/>
                <c:pt idx="0">
                  <c:v>40.1</c:v>
                </c:pt>
                <c:pt idx="1">
                  <c:v>34</c:v>
                </c:pt>
                <c:pt idx="2">
                  <c:v>29.3</c:v>
                </c:pt>
                <c:pt idx="3">
                  <c:v>34.299999999999997</c:v>
                </c:pt>
                <c:pt idx="4">
                  <c:v>34.299999999999997</c:v>
                </c:pt>
                <c:pt idx="5">
                  <c:v>33.299999999999997</c:v>
                </c:pt>
                <c:pt idx="6">
                  <c:v>28.2</c:v>
                </c:pt>
                <c:pt idx="7">
                  <c:v>34.299999999999997</c:v>
                </c:pt>
                <c:pt idx="8">
                  <c:v>36.299999999999997</c:v>
                </c:pt>
                <c:pt idx="9">
                  <c:v>33.299999999999997</c:v>
                </c:pt>
                <c:pt idx="10">
                  <c:v>35.299999999999997</c:v>
                </c:pt>
                <c:pt idx="11">
                  <c:v>33.799999999999997</c:v>
                </c:pt>
                <c:pt idx="12">
                  <c:v>31.6</c:v>
                </c:pt>
                <c:pt idx="13">
                  <c:v>33.299999999999997</c:v>
                </c:pt>
                <c:pt idx="14">
                  <c:v>28</c:v>
                </c:pt>
                <c:pt idx="15">
                  <c:v>33.299999999999997</c:v>
                </c:pt>
                <c:pt idx="16">
                  <c:v>33.299999999999997</c:v>
                </c:pt>
                <c:pt idx="17">
                  <c:v>34.299999999999997</c:v>
                </c:pt>
                <c:pt idx="18">
                  <c:v>25.4</c:v>
                </c:pt>
                <c:pt idx="19">
                  <c:v>27.3</c:v>
                </c:pt>
                <c:pt idx="20">
                  <c:v>34.299999999999997</c:v>
                </c:pt>
                <c:pt idx="21">
                  <c:v>33.299999999999997</c:v>
                </c:pt>
                <c:pt idx="22">
                  <c:v>30.9</c:v>
                </c:pt>
                <c:pt idx="23">
                  <c:v>26.2</c:v>
                </c:pt>
                <c:pt idx="24">
                  <c:v>32.299999999999997</c:v>
                </c:pt>
                <c:pt idx="25">
                  <c:v>28.4</c:v>
                </c:pt>
                <c:pt idx="26">
                  <c:v>30.2</c:v>
                </c:pt>
                <c:pt idx="27">
                  <c:v>28.3</c:v>
                </c:pt>
                <c:pt idx="28">
                  <c:v>31.1</c:v>
                </c:pt>
                <c:pt idx="29">
                  <c:v>24</c:v>
                </c:pt>
                <c:pt idx="30">
                  <c:v>34.299999999999997</c:v>
                </c:pt>
                <c:pt idx="31">
                  <c:v>33</c:v>
                </c:pt>
                <c:pt idx="32">
                  <c:v>26.2</c:v>
                </c:pt>
                <c:pt idx="33">
                  <c:v>33</c:v>
                </c:pt>
                <c:pt idx="34">
                  <c:v>27</c:v>
                </c:pt>
                <c:pt idx="35">
                  <c:v>26.2</c:v>
                </c:pt>
                <c:pt idx="36">
                  <c:v>30.4</c:v>
                </c:pt>
                <c:pt idx="37">
                  <c:v>30.6</c:v>
                </c:pt>
                <c:pt idx="38">
                  <c:v>33.299999999999997</c:v>
                </c:pt>
                <c:pt idx="39">
                  <c:v>33.299999999999997</c:v>
                </c:pt>
                <c:pt idx="40">
                  <c:v>22.9</c:v>
                </c:pt>
                <c:pt idx="41">
                  <c:v>35.299999999999997</c:v>
                </c:pt>
                <c:pt idx="42">
                  <c:v>31.1</c:v>
                </c:pt>
                <c:pt idx="43">
                  <c:v>34</c:v>
                </c:pt>
                <c:pt idx="44">
                  <c:v>26.5</c:v>
                </c:pt>
                <c:pt idx="45">
                  <c:v>24.8</c:v>
                </c:pt>
                <c:pt idx="46">
                  <c:v>28.3</c:v>
                </c:pt>
                <c:pt idx="47">
                  <c:v>34.1</c:v>
                </c:pt>
                <c:pt idx="48">
                  <c:v>24.6</c:v>
                </c:pt>
                <c:pt idx="49">
                  <c:v>26.1</c:v>
                </c:pt>
                <c:pt idx="50">
                  <c:v>28.3</c:v>
                </c:pt>
                <c:pt idx="51">
                  <c:v>34.299999999999997</c:v>
                </c:pt>
                <c:pt idx="52">
                  <c:v>29.2</c:v>
                </c:pt>
                <c:pt idx="53">
                  <c:v>28.8</c:v>
                </c:pt>
              </c:numCache>
            </c:numRef>
          </c:val>
          <c:extLst>
            <c:ext xmlns:c16="http://schemas.microsoft.com/office/drawing/2014/chart" uri="{C3380CC4-5D6E-409C-BE32-E72D297353CC}">
              <c16:uniqueId val="{00000000-E6EB-42EB-A336-5EB473FF66B6}"/>
            </c:ext>
          </c:extLst>
        </c:ser>
        <c:ser>
          <c:idx val="4"/>
          <c:order val="1"/>
          <c:tx>
            <c:strRef>
              <c:f>Sheet1!$F$1</c:f>
              <c:strCache>
                <c:ptCount val="1"/>
                <c:pt idx="0">
                  <c:v> Health Care</c:v>
                </c:pt>
              </c:strCache>
            </c:strRef>
          </c:tx>
          <c:spPr>
            <a:solidFill>
              <a:schemeClr val="tx2"/>
            </a:solidFill>
            <a:ln>
              <a:noFill/>
            </a:ln>
            <a:effectLst/>
          </c:spPr>
          <c:invertIfNegative val="0"/>
          <c:cat>
            <c:strRef>
              <c:f>Sheet1!$A$2:$A$55</c:f>
              <c:strCache>
                <c:ptCount val="54"/>
                <c:pt idx="0">
                  <c:v> SC </c:v>
                </c:pt>
                <c:pt idx="1">
                  <c:v> FA </c:v>
                </c:pt>
                <c:pt idx="2">
                  <c:v> YM </c:v>
                </c:pt>
                <c:pt idx="3">
                  <c:v> TN </c:v>
                </c:pt>
                <c:pt idx="4">
                  <c:v> FF </c:v>
                </c:pt>
                <c:pt idx="5">
                  <c:v> ON </c:v>
                </c:pt>
                <c:pt idx="6">
                  <c:v> OU </c:v>
                </c:pt>
                <c:pt idx="7">
                  <c:v> WX </c:v>
                </c:pt>
                <c:pt idx="8">
                  <c:v> EG </c:v>
                </c:pt>
                <c:pt idx="9">
                  <c:v> DN </c:v>
                </c:pt>
                <c:pt idx="10">
                  <c:v> AI </c:v>
                </c:pt>
                <c:pt idx="11">
                  <c:v> VP </c:v>
                </c:pt>
                <c:pt idx="12">
                  <c:v> GJ </c:v>
                </c:pt>
                <c:pt idx="13">
                  <c:v> DO </c:v>
                </c:pt>
                <c:pt idx="14">
                  <c:v> UD </c:v>
                </c:pt>
                <c:pt idx="15">
                  <c:v> MJ </c:v>
                </c:pt>
                <c:pt idx="16">
                  <c:v> XR </c:v>
                </c:pt>
                <c:pt idx="17">
                  <c:v> RU </c:v>
                </c:pt>
                <c:pt idx="18">
                  <c:v> ZH </c:v>
                </c:pt>
                <c:pt idx="19">
                  <c:v> BR </c:v>
                </c:pt>
                <c:pt idx="20">
                  <c:v> NE </c:v>
                </c:pt>
                <c:pt idx="21">
                  <c:v> KS </c:v>
                </c:pt>
                <c:pt idx="22">
                  <c:v> HH </c:v>
                </c:pt>
                <c:pt idx="23">
                  <c:v> HF </c:v>
                </c:pt>
                <c:pt idx="24">
                  <c:v> GC </c:v>
                </c:pt>
                <c:pt idx="25">
                  <c:v> MG </c:v>
                </c:pt>
                <c:pt idx="26">
                  <c:v> YT </c:v>
                </c:pt>
                <c:pt idx="27">
                  <c:v> IF </c:v>
                </c:pt>
                <c:pt idx="28">
                  <c:v> CD </c:v>
                </c:pt>
                <c:pt idx="29">
                  <c:v> CL </c:v>
                </c:pt>
                <c:pt idx="30">
                  <c:v> ZQ </c:v>
                </c:pt>
                <c:pt idx="31">
                  <c:v> AW </c:v>
                </c:pt>
                <c:pt idx="32">
                  <c:v> EO </c:v>
                </c:pt>
                <c:pt idx="33">
                  <c:v> EJ </c:v>
                </c:pt>
                <c:pt idx="34">
                  <c:v> AMD </c:v>
                </c:pt>
                <c:pt idx="35">
                  <c:v> MD </c:v>
                </c:pt>
                <c:pt idx="36">
                  <c:v> NH </c:v>
                </c:pt>
                <c:pt idx="37">
                  <c:v> CF </c:v>
                </c:pt>
                <c:pt idx="38">
                  <c:v> PE </c:v>
                </c:pt>
                <c:pt idx="39">
                  <c:v> KZ </c:v>
                </c:pt>
                <c:pt idx="40">
                  <c:v> UY </c:v>
                </c:pt>
                <c:pt idx="41">
                  <c:v> AK </c:v>
                </c:pt>
                <c:pt idx="42">
                  <c:v> QO </c:v>
                </c:pt>
                <c:pt idx="43">
                  <c:v> RG </c:v>
                </c:pt>
                <c:pt idx="44">
                  <c:v> BV </c:v>
                </c:pt>
                <c:pt idx="45">
                  <c:v> FM </c:v>
                </c:pt>
                <c:pt idx="46">
                  <c:v> XE </c:v>
                </c:pt>
                <c:pt idx="47">
                  <c:v> JA </c:v>
                </c:pt>
                <c:pt idx="48">
                  <c:v> JW </c:v>
                </c:pt>
                <c:pt idx="49">
                  <c:v> SB </c:v>
                </c:pt>
                <c:pt idx="50">
                  <c:v> NL </c:v>
                </c:pt>
                <c:pt idx="51">
                  <c:v> TB </c:v>
                </c:pt>
                <c:pt idx="52">
                  <c:v> HI </c:v>
                </c:pt>
                <c:pt idx="53">
                  <c:v> GK </c:v>
                </c:pt>
              </c:strCache>
            </c:strRef>
          </c:cat>
          <c:val>
            <c:numRef>
              <c:f>Sheet1!$F$2:$F$55</c:f>
              <c:numCache>
                <c:formatCode>_(* #,##0.00_);_(* \(#,##0.00\);_(* "-"??_);_(@_)</c:formatCode>
                <c:ptCount val="54"/>
                <c:pt idx="0">
                  <c:v>23.2</c:v>
                </c:pt>
                <c:pt idx="1">
                  <c:v>23.8</c:v>
                </c:pt>
                <c:pt idx="2">
                  <c:v>23.5</c:v>
                </c:pt>
                <c:pt idx="3">
                  <c:v>22.3</c:v>
                </c:pt>
                <c:pt idx="4">
                  <c:v>22.8</c:v>
                </c:pt>
                <c:pt idx="5">
                  <c:v>22.4</c:v>
                </c:pt>
                <c:pt idx="6">
                  <c:v>25.4</c:v>
                </c:pt>
                <c:pt idx="7">
                  <c:v>20.8</c:v>
                </c:pt>
                <c:pt idx="8">
                  <c:v>21.6</c:v>
                </c:pt>
                <c:pt idx="9">
                  <c:v>21.3</c:v>
                </c:pt>
                <c:pt idx="10">
                  <c:v>21.5</c:v>
                </c:pt>
                <c:pt idx="11">
                  <c:v>19.7</c:v>
                </c:pt>
                <c:pt idx="12">
                  <c:v>21.5</c:v>
                </c:pt>
                <c:pt idx="13">
                  <c:v>22.5</c:v>
                </c:pt>
                <c:pt idx="14">
                  <c:v>21.1</c:v>
                </c:pt>
                <c:pt idx="15">
                  <c:v>20.7</c:v>
                </c:pt>
                <c:pt idx="16">
                  <c:v>21</c:v>
                </c:pt>
                <c:pt idx="17">
                  <c:v>20.5</c:v>
                </c:pt>
                <c:pt idx="18">
                  <c:v>22.7</c:v>
                </c:pt>
                <c:pt idx="19">
                  <c:v>21.7</c:v>
                </c:pt>
                <c:pt idx="20">
                  <c:v>21.3</c:v>
                </c:pt>
                <c:pt idx="21">
                  <c:v>22.4</c:v>
                </c:pt>
                <c:pt idx="22">
                  <c:v>21.7</c:v>
                </c:pt>
                <c:pt idx="23">
                  <c:v>21.4</c:v>
                </c:pt>
                <c:pt idx="24">
                  <c:v>22.1</c:v>
                </c:pt>
                <c:pt idx="25">
                  <c:v>21.5</c:v>
                </c:pt>
                <c:pt idx="26">
                  <c:v>21.1</c:v>
                </c:pt>
                <c:pt idx="27">
                  <c:v>20.6</c:v>
                </c:pt>
                <c:pt idx="28">
                  <c:v>23.7</c:v>
                </c:pt>
                <c:pt idx="29">
                  <c:v>20.7</c:v>
                </c:pt>
                <c:pt idx="30">
                  <c:v>21.2</c:v>
                </c:pt>
                <c:pt idx="31">
                  <c:v>21.5</c:v>
                </c:pt>
                <c:pt idx="32">
                  <c:v>19</c:v>
                </c:pt>
                <c:pt idx="33">
                  <c:v>23.2</c:v>
                </c:pt>
                <c:pt idx="34">
                  <c:v>21.2</c:v>
                </c:pt>
                <c:pt idx="35">
                  <c:v>19.5</c:v>
                </c:pt>
                <c:pt idx="36">
                  <c:v>19.100000000000001</c:v>
                </c:pt>
                <c:pt idx="37">
                  <c:v>21.5</c:v>
                </c:pt>
                <c:pt idx="38">
                  <c:v>21</c:v>
                </c:pt>
                <c:pt idx="39">
                  <c:v>21.9</c:v>
                </c:pt>
                <c:pt idx="40">
                  <c:v>23</c:v>
                </c:pt>
                <c:pt idx="41">
                  <c:v>20.8</c:v>
                </c:pt>
                <c:pt idx="42">
                  <c:v>20.6</c:v>
                </c:pt>
                <c:pt idx="43">
                  <c:v>21.8</c:v>
                </c:pt>
                <c:pt idx="44">
                  <c:v>19.399999999999999</c:v>
                </c:pt>
                <c:pt idx="45">
                  <c:v>20.399999999999999</c:v>
                </c:pt>
                <c:pt idx="46">
                  <c:v>20</c:v>
                </c:pt>
                <c:pt idx="47">
                  <c:v>22.8</c:v>
                </c:pt>
                <c:pt idx="48">
                  <c:v>19.7</c:v>
                </c:pt>
                <c:pt idx="49">
                  <c:v>20.9</c:v>
                </c:pt>
                <c:pt idx="50">
                  <c:v>19.600000000000001</c:v>
                </c:pt>
                <c:pt idx="51">
                  <c:v>19.3</c:v>
                </c:pt>
                <c:pt idx="52">
                  <c:v>22.2</c:v>
                </c:pt>
                <c:pt idx="53">
                  <c:v>20.100000000000001</c:v>
                </c:pt>
              </c:numCache>
            </c:numRef>
          </c:val>
          <c:extLst>
            <c:ext xmlns:c16="http://schemas.microsoft.com/office/drawing/2014/chart" uri="{C3380CC4-5D6E-409C-BE32-E72D297353CC}">
              <c16:uniqueId val="{00000001-E6EB-42EB-A336-5EB473FF66B6}"/>
            </c:ext>
          </c:extLst>
        </c:ser>
        <c:ser>
          <c:idx val="3"/>
          <c:order val="2"/>
          <c:tx>
            <c:strRef>
              <c:f>Sheet1!$E$1</c:f>
              <c:strCache>
                <c:ptCount val="1"/>
                <c:pt idx="0">
                  <c:v> Life</c:v>
                </c:pt>
              </c:strCache>
            </c:strRef>
          </c:tx>
          <c:spPr>
            <a:solidFill>
              <a:schemeClr val="accent2"/>
            </a:solidFill>
            <a:ln>
              <a:noFill/>
            </a:ln>
            <a:effectLst/>
          </c:spPr>
          <c:invertIfNegative val="0"/>
          <c:cat>
            <c:strRef>
              <c:f>Sheet1!$A$2:$A$55</c:f>
              <c:strCache>
                <c:ptCount val="54"/>
                <c:pt idx="0">
                  <c:v> SC </c:v>
                </c:pt>
                <c:pt idx="1">
                  <c:v> FA </c:v>
                </c:pt>
                <c:pt idx="2">
                  <c:v> YM </c:v>
                </c:pt>
                <c:pt idx="3">
                  <c:v> TN </c:v>
                </c:pt>
                <c:pt idx="4">
                  <c:v> FF </c:v>
                </c:pt>
                <c:pt idx="5">
                  <c:v> ON </c:v>
                </c:pt>
                <c:pt idx="6">
                  <c:v> OU </c:v>
                </c:pt>
                <c:pt idx="7">
                  <c:v> WX </c:v>
                </c:pt>
                <c:pt idx="8">
                  <c:v> EG </c:v>
                </c:pt>
                <c:pt idx="9">
                  <c:v> DN </c:v>
                </c:pt>
                <c:pt idx="10">
                  <c:v> AI </c:v>
                </c:pt>
                <c:pt idx="11">
                  <c:v> VP </c:v>
                </c:pt>
                <c:pt idx="12">
                  <c:v> GJ </c:v>
                </c:pt>
                <c:pt idx="13">
                  <c:v> DO </c:v>
                </c:pt>
                <c:pt idx="14">
                  <c:v> UD </c:v>
                </c:pt>
                <c:pt idx="15">
                  <c:v> MJ </c:v>
                </c:pt>
                <c:pt idx="16">
                  <c:v> XR </c:v>
                </c:pt>
                <c:pt idx="17">
                  <c:v> RU </c:v>
                </c:pt>
                <c:pt idx="18">
                  <c:v> ZH </c:v>
                </c:pt>
                <c:pt idx="19">
                  <c:v> BR </c:v>
                </c:pt>
                <c:pt idx="20">
                  <c:v> NE </c:v>
                </c:pt>
                <c:pt idx="21">
                  <c:v> KS </c:v>
                </c:pt>
                <c:pt idx="22">
                  <c:v> HH </c:v>
                </c:pt>
                <c:pt idx="23">
                  <c:v> HF </c:v>
                </c:pt>
                <c:pt idx="24">
                  <c:v> GC </c:v>
                </c:pt>
                <c:pt idx="25">
                  <c:v> MG </c:v>
                </c:pt>
                <c:pt idx="26">
                  <c:v> YT </c:v>
                </c:pt>
                <c:pt idx="27">
                  <c:v> IF </c:v>
                </c:pt>
                <c:pt idx="28">
                  <c:v> CD </c:v>
                </c:pt>
                <c:pt idx="29">
                  <c:v> CL </c:v>
                </c:pt>
                <c:pt idx="30">
                  <c:v> ZQ </c:v>
                </c:pt>
                <c:pt idx="31">
                  <c:v> AW </c:v>
                </c:pt>
                <c:pt idx="32">
                  <c:v> EO </c:v>
                </c:pt>
                <c:pt idx="33">
                  <c:v> EJ </c:v>
                </c:pt>
                <c:pt idx="34">
                  <c:v> AMD </c:v>
                </c:pt>
                <c:pt idx="35">
                  <c:v> MD </c:v>
                </c:pt>
                <c:pt idx="36">
                  <c:v> NH </c:v>
                </c:pt>
                <c:pt idx="37">
                  <c:v> CF </c:v>
                </c:pt>
                <c:pt idx="38">
                  <c:v> PE </c:v>
                </c:pt>
                <c:pt idx="39">
                  <c:v> KZ </c:v>
                </c:pt>
                <c:pt idx="40">
                  <c:v> UY </c:v>
                </c:pt>
                <c:pt idx="41">
                  <c:v> AK </c:v>
                </c:pt>
                <c:pt idx="42">
                  <c:v> QO </c:v>
                </c:pt>
                <c:pt idx="43">
                  <c:v> RG </c:v>
                </c:pt>
                <c:pt idx="44">
                  <c:v> BV </c:v>
                </c:pt>
                <c:pt idx="45">
                  <c:v> FM </c:v>
                </c:pt>
                <c:pt idx="46">
                  <c:v> XE </c:v>
                </c:pt>
                <c:pt idx="47">
                  <c:v> JA </c:v>
                </c:pt>
                <c:pt idx="48">
                  <c:v> JW </c:v>
                </c:pt>
                <c:pt idx="49">
                  <c:v> SB </c:v>
                </c:pt>
                <c:pt idx="50">
                  <c:v> NL </c:v>
                </c:pt>
                <c:pt idx="51">
                  <c:v> TB </c:v>
                </c:pt>
                <c:pt idx="52">
                  <c:v> HI </c:v>
                </c:pt>
                <c:pt idx="53">
                  <c:v> GK </c:v>
                </c:pt>
              </c:strCache>
            </c:strRef>
          </c:cat>
          <c:val>
            <c:numRef>
              <c:f>Sheet1!$E$2:$E$55</c:f>
              <c:numCache>
                <c:formatCode>_(* #,##0.00_);_(* \(#,##0.00\);_(* "-"??_);_(@_)</c:formatCode>
                <c:ptCount val="54"/>
                <c:pt idx="0">
                  <c:v>1.5</c:v>
                </c:pt>
                <c:pt idx="1">
                  <c:v>1</c:v>
                </c:pt>
                <c:pt idx="2">
                  <c:v>1</c:v>
                </c:pt>
                <c:pt idx="3">
                  <c:v>1.5</c:v>
                </c:pt>
                <c:pt idx="4">
                  <c:v>1.5</c:v>
                </c:pt>
                <c:pt idx="5">
                  <c:v>1</c:v>
                </c:pt>
                <c:pt idx="6">
                  <c:v>1.2</c:v>
                </c:pt>
                <c:pt idx="7">
                  <c:v>1</c:v>
                </c:pt>
                <c:pt idx="8">
                  <c:v>1.5</c:v>
                </c:pt>
                <c:pt idx="9">
                  <c:v>1</c:v>
                </c:pt>
                <c:pt idx="10">
                  <c:v>1.2</c:v>
                </c:pt>
                <c:pt idx="11">
                  <c:v>0.5</c:v>
                </c:pt>
                <c:pt idx="12">
                  <c:v>1</c:v>
                </c:pt>
                <c:pt idx="13">
                  <c:v>1.2</c:v>
                </c:pt>
                <c:pt idx="14">
                  <c:v>1</c:v>
                </c:pt>
                <c:pt idx="15">
                  <c:v>0.2</c:v>
                </c:pt>
                <c:pt idx="16">
                  <c:v>1.2</c:v>
                </c:pt>
                <c:pt idx="17">
                  <c:v>1</c:v>
                </c:pt>
                <c:pt idx="18">
                  <c:v>0.7</c:v>
                </c:pt>
                <c:pt idx="19">
                  <c:v>1</c:v>
                </c:pt>
                <c:pt idx="20">
                  <c:v>1</c:v>
                </c:pt>
                <c:pt idx="21">
                  <c:v>0.2</c:v>
                </c:pt>
                <c:pt idx="22">
                  <c:v>0.8</c:v>
                </c:pt>
                <c:pt idx="23">
                  <c:v>1</c:v>
                </c:pt>
                <c:pt idx="24">
                  <c:v>1.2</c:v>
                </c:pt>
                <c:pt idx="25">
                  <c:v>1</c:v>
                </c:pt>
                <c:pt idx="26">
                  <c:v>1.2</c:v>
                </c:pt>
                <c:pt idx="27">
                  <c:v>1</c:v>
                </c:pt>
                <c:pt idx="28">
                  <c:v>0.5</c:v>
                </c:pt>
                <c:pt idx="29">
                  <c:v>1</c:v>
                </c:pt>
                <c:pt idx="30">
                  <c:v>1.2</c:v>
                </c:pt>
                <c:pt idx="31">
                  <c:v>1.2</c:v>
                </c:pt>
                <c:pt idx="32">
                  <c:v>0.5</c:v>
                </c:pt>
                <c:pt idx="33">
                  <c:v>1.7</c:v>
                </c:pt>
                <c:pt idx="34">
                  <c:v>1</c:v>
                </c:pt>
                <c:pt idx="35">
                  <c:v>0.5</c:v>
                </c:pt>
                <c:pt idx="36">
                  <c:v>1</c:v>
                </c:pt>
                <c:pt idx="37">
                  <c:v>1</c:v>
                </c:pt>
                <c:pt idx="38">
                  <c:v>1</c:v>
                </c:pt>
                <c:pt idx="39">
                  <c:v>1</c:v>
                </c:pt>
                <c:pt idx="40">
                  <c:v>0.5</c:v>
                </c:pt>
                <c:pt idx="41">
                  <c:v>1.2</c:v>
                </c:pt>
                <c:pt idx="42">
                  <c:v>0.5</c:v>
                </c:pt>
                <c:pt idx="43">
                  <c:v>1</c:v>
                </c:pt>
                <c:pt idx="44">
                  <c:v>1.2</c:v>
                </c:pt>
                <c:pt idx="45">
                  <c:v>1</c:v>
                </c:pt>
                <c:pt idx="46">
                  <c:v>1</c:v>
                </c:pt>
                <c:pt idx="47">
                  <c:v>1</c:v>
                </c:pt>
                <c:pt idx="48">
                  <c:v>1</c:v>
                </c:pt>
                <c:pt idx="49">
                  <c:v>1</c:v>
                </c:pt>
                <c:pt idx="50">
                  <c:v>1</c:v>
                </c:pt>
                <c:pt idx="51">
                  <c:v>0.6</c:v>
                </c:pt>
                <c:pt idx="52">
                  <c:v>1</c:v>
                </c:pt>
                <c:pt idx="53">
                  <c:v>1</c:v>
                </c:pt>
              </c:numCache>
            </c:numRef>
          </c:val>
          <c:extLst>
            <c:ext xmlns:c16="http://schemas.microsoft.com/office/drawing/2014/chart" uri="{C3380CC4-5D6E-409C-BE32-E72D297353CC}">
              <c16:uniqueId val="{00000002-E6EB-42EB-A336-5EB473FF66B6}"/>
            </c:ext>
          </c:extLst>
        </c:ser>
        <c:ser>
          <c:idx val="2"/>
          <c:order val="3"/>
          <c:tx>
            <c:strRef>
              <c:f>Sheet1!$D$1</c:f>
              <c:strCache>
                <c:ptCount val="1"/>
                <c:pt idx="0">
                  <c:v> Disability</c:v>
                </c:pt>
              </c:strCache>
            </c:strRef>
          </c:tx>
          <c:spPr>
            <a:solidFill>
              <a:schemeClr val="accent3"/>
            </a:solidFill>
            <a:ln>
              <a:noFill/>
            </a:ln>
            <a:effectLst/>
          </c:spPr>
          <c:invertIfNegative val="0"/>
          <c:cat>
            <c:strRef>
              <c:f>Sheet1!$A$2:$A$55</c:f>
              <c:strCache>
                <c:ptCount val="54"/>
                <c:pt idx="0">
                  <c:v> SC </c:v>
                </c:pt>
                <c:pt idx="1">
                  <c:v> FA </c:v>
                </c:pt>
                <c:pt idx="2">
                  <c:v> YM </c:v>
                </c:pt>
                <c:pt idx="3">
                  <c:v> TN </c:v>
                </c:pt>
                <c:pt idx="4">
                  <c:v> FF </c:v>
                </c:pt>
                <c:pt idx="5">
                  <c:v> ON </c:v>
                </c:pt>
                <c:pt idx="6">
                  <c:v> OU </c:v>
                </c:pt>
                <c:pt idx="7">
                  <c:v> WX </c:v>
                </c:pt>
                <c:pt idx="8">
                  <c:v> EG </c:v>
                </c:pt>
                <c:pt idx="9">
                  <c:v> DN </c:v>
                </c:pt>
                <c:pt idx="10">
                  <c:v> AI </c:v>
                </c:pt>
                <c:pt idx="11">
                  <c:v> VP </c:v>
                </c:pt>
                <c:pt idx="12">
                  <c:v> GJ </c:v>
                </c:pt>
                <c:pt idx="13">
                  <c:v> DO </c:v>
                </c:pt>
                <c:pt idx="14">
                  <c:v> UD </c:v>
                </c:pt>
                <c:pt idx="15">
                  <c:v> MJ </c:v>
                </c:pt>
                <c:pt idx="16">
                  <c:v> XR </c:v>
                </c:pt>
                <c:pt idx="17">
                  <c:v> RU </c:v>
                </c:pt>
                <c:pt idx="18">
                  <c:v> ZH </c:v>
                </c:pt>
                <c:pt idx="19">
                  <c:v> BR </c:v>
                </c:pt>
                <c:pt idx="20">
                  <c:v> NE </c:v>
                </c:pt>
                <c:pt idx="21">
                  <c:v> KS </c:v>
                </c:pt>
                <c:pt idx="22">
                  <c:v> HH </c:v>
                </c:pt>
                <c:pt idx="23">
                  <c:v> HF </c:v>
                </c:pt>
                <c:pt idx="24">
                  <c:v> GC </c:v>
                </c:pt>
                <c:pt idx="25">
                  <c:v> MG </c:v>
                </c:pt>
                <c:pt idx="26">
                  <c:v> YT </c:v>
                </c:pt>
                <c:pt idx="27">
                  <c:v> IF </c:v>
                </c:pt>
                <c:pt idx="28">
                  <c:v> CD </c:v>
                </c:pt>
                <c:pt idx="29">
                  <c:v> CL </c:v>
                </c:pt>
                <c:pt idx="30">
                  <c:v> ZQ </c:v>
                </c:pt>
                <c:pt idx="31">
                  <c:v> AW </c:v>
                </c:pt>
                <c:pt idx="32">
                  <c:v> EO </c:v>
                </c:pt>
                <c:pt idx="33">
                  <c:v> EJ </c:v>
                </c:pt>
                <c:pt idx="34">
                  <c:v> AMD </c:v>
                </c:pt>
                <c:pt idx="35">
                  <c:v> MD </c:v>
                </c:pt>
                <c:pt idx="36">
                  <c:v> NH </c:v>
                </c:pt>
                <c:pt idx="37">
                  <c:v> CF </c:v>
                </c:pt>
                <c:pt idx="38">
                  <c:v> PE </c:v>
                </c:pt>
                <c:pt idx="39">
                  <c:v> KZ </c:v>
                </c:pt>
                <c:pt idx="40">
                  <c:v> UY </c:v>
                </c:pt>
                <c:pt idx="41">
                  <c:v> AK </c:v>
                </c:pt>
                <c:pt idx="42">
                  <c:v> QO </c:v>
                </c:pt>
                <c:pt idx="43">
                  <c:v> RG </c:v>
                </c:pt>
                <c:pt idx="44">
                  <c:v> BV </c:v>
                </c:pt>
                <c:pt idx="45">
                  <c:v> FM </c:v>
                </c:pt>
                <c:pt idx="46">
                  <c:v> XE </c:v>
                </c:pt>
                <c:pt idx="47">
                  <c:v> JA </c:v>
                </c:pt>
                <c:pt idx="48">
                  <c:v> JW </c:v>
                </c:pt>
                <c:pt idx="49">
                  <c:v> SB </c:v>
                </c:pt>
                <c:pt idx="50">
                  <c:v> NL </c:v>
                </c:pt>
                <c:pt idx="51">
                  <c:v> TB </c:v>
                </c:pt>
                <c:pt idx="52">
                  <c:v> HI </c:v>
                </c:pt>
                <c:pt idx="53">
                  <c:v> GK </c:v>
                </c:pt>
              </c:strCache>
            </c:strRef>
          </c:cat>
          <c:val>
            <c:numRef>
              <c:f>Sheet1!$D$2:$D$55</c:f>
              <c:numCache>
                <c:formatCode>_(* #,##0.00_);_(* \(#,##0.00\);_(* "-"??_);_(@_)</c:formatCode>
                <c:ptCount val="54"/>
                <c:pt idx="0">
                  <c:v>7.7</c:v>
                </c:pt>
                <c:pt idx="1">
                  <c:v>8.3000000000000007</c:v>
                </c:pt>
                <c:pt idx="2">
                  <c:v>8.1</c:v>
                </c:pt>
                <c:pt idx="3">
                  <c:v>7.9</c:v>
                </c:pt>
                <c:pt idx="4">
                  <c:v>5.8</c:v>
                </c:pt>
                <c:pt idx="5">
                  <c:v>7.2</c:v>
                </c:pt>
                <c:pt idx="6">
                  <c:v>6.6</c:v>
                </c:pt>
                <c:pt idx="7">
                  <c:v>7.7</c:v>
                </c:pt>
                <c:pt idx="8">
                  <c:v>7.2</c:v>
                </c:pt>
                <c:pt idx="9">
                  <c:v>6.7</c:v>
                </c:pt>
                <c:pt idx="10">
                  <c:v>8.1999999999999993</c:v>
                </c:pt>
                <c:pt idx="11">
                  <c:v>7.3</c:v>
                </c:pt>
                <c:pt idx="12">
                  <c:v>8.1</c:v>
                </c:pt>
                <c:pt idx="13">
                  <c:v>8.3000000000000007</c:v>
                </c:pt>
                <c:pt idx="14">
                  <c:v>8.1999999999999993</c:v>
                </c:pt>
                <c:pt idx="15">
                  <c:v>7</c:v>
                </c:pt>
                <c:pt idx="16">
                  <c:v>7.9</c:v>
                </c:pt>
                <c:pt idx="17">
                  <c:v>7</c:v>
                </c:pt>
                <c:pt idx="18">
                  <c:v>7.2</c:v>
                </c:pt>
                <c:pt idx="19">
                  <c:v>7.6</c:v>
                </c:pt>
                <c:pt idx="20">
                  <c:v>6.8</c:v>
                </c:pt>
                <c:pt idx="21">
                  <c:v>7.6</c:v>
                </c:pt>
                <c:pt idx="22">
                  <c:v>7.2</c:v>
                </c:pt>
                <c:pt idx="23">
                  <c:v>7.5</c:v>
                </c:pt>
                <c:pt idx="24">
                  <c:v>7.1</c:v>
                </c:pt>
                <c:pt idx="25">
                  <c:v>7.8</c:v>
                </c:pt>
                <c:pt idx="26">
                  <c:v>8.1</c:v>
                </c:pt>
                <c:pt idx="27">
                  <c:v>7.8</c:v>
                </c:pt>
                <c:pt idx="28">
                  <c:v>7.2</c:v>
                </c:pt>
                <c:pt idx="29">
                  <c:v>7.1</c:v>
                </c:pt>
                <c:pt idx="30">
                  <c:v>8.4</c:v>
                </c:pt>
                <c:pt idx="31">
                  <c:v>8</c:v>
                </c:pt>
                <c:pt idx="32">
                  <c:v>6.9</c:v>
                </c:pt>
                <c:pt idx="33">
                  <c:v>7.5</c:v>
                </c:pt>
                <c:pt idx="34">
                  <c:v>7.8</c:v>
                </c:pt>
                <c:pt idx="35">
                  <c:v>6.5</c:v>
                </c:pt>
                <c:pt idx="36">
                  <c:v>7.6</c:v>
                </c:pt>
                <c:pt idx="37">
                  <c:v>7.3</c:v>
                </c:pt>
                <c:pt idx="38">
                  <c:v>6.6</c:v>
                </c:pt>
                <c:pt idx="39">
                  <c:v>7.2</c:v>
                </c:pt>
                <c:pt idx="40">
                  <c:v>7</c:v>
                </c:pt>
                <c:pt idx="41">
                  <c:v>8.1</c:v>
                </c:pt>
                <c:pt idx="42">
                  <c:v>6.8</c:v>
                </c:pt>
                <c:pt idx="43">
                  <c:v>7.4</c:v>
                </c:pt>
                <c:pt idx="44">
                  <c:v>7.6</c:v>
                </c:pt>
                <c:pt idx="45">
                  <c:v>6.9</c:v>
                </c:pt>
                <c:pt idx="46">
                  <c:v>7.7</c:v>
                </c:pt>
                <c:pt idx="47">
                  <c:v>7.3</c:v>
                </c:pt>
                <c:pt idx="48">
                  <c:v>7.3</c:v>
                </c:pt>
                <c:pt idx="49">
                  <c:v>7.6</c:v>
                </c:pt>
                <c:pt idx="50">
                  <c:v>6.6</c:v>
                </c:pt>
                <c:pt idx="51">
                  <c:v>7.6</c:v>
                </c:pt>
                <c:pt idx="52">
                  <c:v>7.5</c:v>
                </c:pt>
                <c:pt idx="53">
                  <c:v>6.9</c:v>
                </c:pt>
              </c:numCache>
            </c:numRef>
          </c:val>
          <c:extLst>
            <c:ext xmlns:c16="http://schemas.microsoft.com/office/drawing/2014/chart" uri="{C3380CC4-5D6E-409C-BE32-E72D297353CC}">
              <c16:uniqueId val="{00000003-E6EB-42EB-A336-5EB473FF66B6}"/>
            </c:ext>
          </c:extLst>
        </c:ser>
        <c:ser>
          <c:idx val="1"/>
          <c:order val="4"/>
          <c:tx>
            <c:strRef>
              <c:f>Sheet1!$C$1</c:f>
              <c:strCache>
                <c:ptCount val="1"/>
                <c:pt idx="0">
                  <c:v> DB &amp; DC</c:v>
                </c:pt>
              </c:strCache>
            </c:strRef>
          </c:tx>
          <c:spPr>
            <a:solidFill>
              <a:schemeClr val="accent5"/>
            </a:solidFill>
            <a:ln>
              <a:noFill/>
            </a:ln>
            <a:effectLst/>
          </c:spPr>
          <c:invertIfNegative val="0"/>
          <c:cat>
            <c:strRef>
              <c:f>Sheet1!$A$2:$A$55</c:f>
              <c:strCache>
                <c:ptCount val="54"/>
                <c:pt idx="0">
                  <c:v> SC </c:v>
                </c:pt>
                <c:pt idx="1">
                  <c:v> FA </c:v>
                </c:pt>
                <c:pt idx="2">
                  <c:v> YM </c:v>
                </c:pt>
                <c:pt idx="3">
                  <c:v> TN </c:v>
                </c:pt>
                <c:pt idx="4">
                  <c:v> FF </c:v>
                </c:pt>
                <c:pt idx="5">
                  <c:v> ON </c:v>
                </c:pt>
                <c:pt idx="6">
                  <c:v> OU </c:v>
                </c:pt>
                <c:pt idx="7">
                  <c:v> WX </c:v>
                </c:pt>
                <c:pt idx="8">
                  <c:v> EG </c:v>
                </c:pt>
                <c:pt idx="9">
                  <c:v> DN </c:v>
                </c:pt>
                <c:pt idx="10">
                  <c:v> AI </c:v>
                </c:pt>
                <c:pt idx="11">
                  <c:v> VP </c:v>
                </c:pt>
                <c:pt idx="12">
                  <c:v> GJ </c:v>
                </c:pt>
                <c:pt idx="13">
                  <c:v> DO </c:v>
                </c:pt>
                <c:pt idx="14">
                  <c:v> UD </c:v>
                </c:pt>
                <c:pt idx="15">
                  <c:v> MJ </c:v>
                </c:pt>
                <c:pt idx="16">
                  <c:v> XR </c:v>
                </c:pt>
                <c:pt idx="17">
                  <c:v> RU </c:v>
                </c:pt>
                <c:pt idx="18">
                  <c:v> ZH </c:v>
                </c:pt>
                <c:pt idx="19">
                  <c:v> BR </c:v>
                </c:pt>
                <c:pt idx="20">
                  <c:v> NE </c:v>
                </c:pt>
                <c:pt idx="21">
                  <c:v> KS </c:v>
                </c:pt>
                <c:pt idx="22">
                  <c:v> HH </c:v>
                </c:pt>
                <c:pt idx="23">
                  <c:v> HF </c:v>
                </c:pt>
                <c:pt idx="24">
                  <c:v> GC </c:v>
                </c:pt>
                <c:pt idx="25">
                  <c:v> MG </c:v>
                </c:pt>
                <c:pt idx="26">
                  <c:v> YT </c:v>
                </c:pt>
                <c:pt idx="27">
                  <c:v> IF </c:v>
                </c:pt>
                <c:pt idx="28">
                  <c:v> CD </c:v>
                </c:pt>
                <c:pt idx="29">
                  <c:v> CL </c:v>
                </c:pt>
                <c:pt idx="30">
                  <c:v> ZQ </c:v>
                </c:pt>
                <c:pt idx="31">
                  <c:v> AW </c:v>
                </c:pt>
                <c:pt idx="32">
                  <c:v> EO </c:v>
                </c:pt>
                <c:pt idx="33">
                  <c:v> EJ </c:v>
                </c:pt>
                <c:pt idx="34">
                  <c:v> AMD </c:v>
                </c:pt>
                <c:pt idx="35">
                  <c:v> MD </c:v>
                </c:pt>
                <c:pt idx="36">
                  <c:v> NH </c:v>
                </c:pt>
                <c:pt idx="37">
                  <c:v> CF </c:v>
                </c:pt>
                <c:pt idx="38">
                  <c:v> PE </c:v>
                </c:pt>
                <c:pt idx="39">
                  <c:v> KZ </c:v>
                </c:pt>
                <c:pt idx="40">
                  <c:v> UY </c:v>
                </c:pt>
                <c:pt idx="41">
                  <c:v> AK </c:v>
                </c:pt>
                <c:pt idx="42">
                  <c:v> QO </c:v>
                </c:pt>
                <c:pt idx="43">
                  <c:v> RG </c:v>
                </c:pt>
                <c:pt idx="44">
                  <c:v> BV </c:v>
                </c:pt>
                <c:pt idx="45">
                  <c:v> FM </c:v>
                </c:pt>
                <c:pt idx="46">
                  <c:v> XE </c:v>
                </c:pt>
                <c:pt idx="47">
                  <c:v> JA </c:v>
                </c:pt>
                <c:pt idx="48">
                  <c:v> JW </c:v>
                </c:pt>
                <c:pt idx="49">
                  <c:v> SB </c:v>
                </c:pt>
                <c:pt idx="50">
                  <c:v> NL </c:v>
                </c:pt>
                <c:pt idx="51">
                  <c:v> TB </c:v>
                </c:pt>
                <c:pt idx="52">
                  <c:v> HI </c:v>
                </c:pt>
                <c:pt idx="53">
                  <c:v> GK </c:v>
                </c:pt>
              </c:strCache>
            </c:strRef>
          </c:cat>
          <c:val>
            <c:numRef>
              <c:f>Sheet1!$C$2:$C$55</c:f>
              <c:numCache>
                <c:formatCode>_(* #,##0.00_);_(* \(#,##0.00\);_(* "-"??_);_(@_)</c:formatCode>
                <c:ptCount val="54"/>
                <c:pt idx="0">
                  <c:v>42.1</c:v>
                </c:pt>
                <c:pt idx="1">
                  <c:v>38.9</c:v>
                </c:pt>
                <c:pt idx="2">
                  <c:v>42.2</c:v>
                </c:pt>
                <c:pt idx="3">
                  <c:v>31.8</c:v>
                </c:pt>
                <c:pt idx="4">
                  <c:v>36.1</c:v>
                </c:pt>
                <c:pt idx="5">
                  <c:v>35.6</c:v>
                </c:pt>
                <c:pt idx="6">
                  <c:v>33.9</c:v>
                </c:pt>
                <c:pt idx="7">
                  <c:v>34.6</c:v>
                </c:pt>
                <c:pt idx="8">
                  <c:v>31</c:v>
                </c:pt>
                <c:pt idx="9">
                  <c:v>34.1</c:v>
                </c:pt>
                <c:pt idx="10">
                  <c:v>39</c:v>
                </c:pt>
                <c:pt idx="11">
                  <c:v>43.3</c:v>
                </c:pt>
                <c:pt idx="12">
                  <c:v>31.1</c:v>
                </c:pt>
                <c:pt idx="13">
                  <c:v>28.6</c:v>
                </c:pt>
                <c:pt idx="14">
                  <c:v>32.200000000000003</c:v>
                </c:pt>
                <c:pt idx="15">
                  <c:v>30.9</c:v>
                </c:pt>
                <c:pt idx="16">
                  <c:v>29.5</c:v>
                </c:pt>
                <c:pt idx="17">
                  <c:v>28.5</c:v>
                </c:pt>
                <c:pt idx="18">
                  <c:v>45.8</c:v>
                </c:pt>
                <c:pt idx="19">
                  <c:v>31.3</c:v>
                </c:pt>
                <c:pt idx="20">
                  <c:v>26.3</c:v>
                </c:pt>
                <c:pt idx="21">
                  <c:v>35.700000000000003</c:v>
                </c:pt>
                <c:pt idx="22">
                  <c:v>30</c:v>
                </c:pt>
                <c:pt idx="23">
                  <c:v>32.6</c:v>
                </c:pt>
                <c:pt idx="24">
                  <c:v>31</c:v>
                </c:pt>
                <c:pt idx="25">
                  <c:v>29.5</c:v>
                </c:pt>
                <c:pt idx="26">
                  <c:v>27.8</c:v>
                </c:pt>
                <c:pt idx="27">
                  <c:v>30</c:v>
                </c:pt>
                <c:pt idx="28">
                  <c:v>26.5</c:v>
                </c:pt>
                <c:pt idx="29">
                  <c:v>34.4</c:v>
                </c:pt>
                <c:pt idx="30">
                  <c:v>21.1</c:v>
                </c:pt>
                <c:pt idx="31">
                  <c:v>34.5</c:v>
                </c:pt>
                <c:pt idx="32">
                  <c:v>34.9</c:v>
                </c:pt>
                <c:pt idx="33">
                  <c:v>31.9</c:v>
                </c:pt>
                <c:pt idx="34">
                  <c:v>30.3</c:v>
                </c:pt>
                <c:pt idx="35">
                  <c:v>34.1</c:v>
                </c:pt>
                <c:pt idx="36">
                  <c:v>38.700000000000003</c:v>
                </c:pt>
                <c:pt idx="37">
                  <c:v>36.1</c:v>
                </c:pt>
                <c:pt idx="38">
                  <c:v>22.6</c:v>
                </c:pt>
                <c:pt idx="39">
                  <c:v>32.200000000000003</c:v>
                </c:pt>
                <c:pt idx="40">
                  <c:v>32.200000000000003</c:v>
                </c:pt>
                <c:pt idx="41">
                  <c:v>16.2</c:v>
                </c:pt>
                <c:pt idx="42">
                  <c:v>35.9</c:v>
                </c:pt>
                <c:pt idx="43">
                  <c:v>30</c:v>
                </c:pt>
                <c:pt idx="44">
                  <c:v>39</c:v>
                </c:pt>
                <c:pt idx="45">
                  <c:v>30.2</c:v>
                </c:pt>
                <c:pt idx="46">
                  <c:v>35.6</c:v>
                </c:pt>
                <c:pt idx="47">
                  <c:v>26.2</c:v>
                </c:pt>
                <c:pt idx="48">
                  <c:v>26.1</c:v>
                </c:pt>
                <c:pt idx="49">
                  <c:v>34.5</c:v>
                </c:pt>
                <c:pt idx="50">
                  <c:v>34.5</c:v>
                </c:pt>
                <c:pt idx="51">
                  <c:v>28.1</c:v>
                </c:pt>
                <c:pt idx="52">
                  <c:v>23.6</c:v>
                </c:pt>
                <c:pt idx="53">
                  <c:v>23.2</c:v>
                </c:pt>
              </c:numCache>
            </c:numRef>
          </c:val>
          <c:extLst>
            <c:ext xmlns:c16="http://schemas.microsoft.com/office/drawing/2014/chart" uri="{C3380CC4-5D6E-409C-BE32-E72D297353CC}">
              <c16:uniqueId val="{00000004-E6EB-42EB-A336-5EB473FF66B6}"/>
            </c:ext>
          </c:extLst>
        </c:ser>
        <c:ser>
          <c:idx val="0"/>
          <c:order val="5"/>
          <c:tx>
            <c:strRef>
              <c:f>Sheet1!$B$1</c:f>
              <c:strCache>
                <c:ptCount val="1"/>
                <c:pt idx="0">
                  <c:v> Stock Purchase</c:v>
                </c:pt>
              </c:strCache>
            </c:strRef>
          </c:tx>
          <c:spPr>
            <a:solidFill>
              <a:schemeClr val="accent5">
                <a:lumMod val="75000"/>
              </a:schemeClr>
            </a:solidFill>
            <a:ln>
              <a:noFill/>
            </a:ln>
            <a:effectLst/>
          </c:spPr>
          <c:invertIfNegative val="0"/>
          <c:cat>
            <c:strRef>
              <c:f>Sheet1!$A$2:$A$55</c:f>
              <c:strCache>
                <c:ptCount val="54"/>
                <c:pt idx="0">
                  <c:v> SC </c:v>
                </c:pt>
                <c:pt idx="1">
                  <c:v> FA </c:v>
                </c:pt>
                <c:pt idx="2">
                  <c:v> YM </c:v>
                </c:pt>
                <c:pt idx="3">
                  <c:v> TN </c:v>
                </c:pt>
                <c:pt idx="4">
                  <c:v> FF </c:v>
                </c:pt>
                <c:pt idx="5">
                  <c:v> ON </c:v>
                </c:pt>
                <c:pt idx="6">
                  <c:v> OU </c:v>
                </c:pt>
                <c:pt idx="7">
                  <c:v> WX </c:v>
                </c:pt>
                <c:pt idx="8">
                  <c:v> EG </c:v>
                </c:pt>
                <c:pt idx="9">
                  <c:v> DN </c:v>
                </c:pt>
                <c:pt idx="10">
                  <c:v> AI </c:v>
                </c:pt>
                <c:pt idx="11">
                  <c:v> VP </c:v>
                </c:pt>
                <c:pt idx="12">
                  <c:v> GJ </c:v>
                </c:pt>
                <c:pt idx="13">
                  <c:v> DO </c:v>
                </c:pt>
                <c:pt idx="14">
                  <c:v> UD </c:v>
                </c:pt>
                <c:pt idx="15">
                  <c:v> MJ </c:v>
                </c:pt>
                <c:pt idx="16">
                  <c:v> XR </c:v>
                </c:pt>
                <c:pt idx="17">
                  <c:v> RU </c:v>
                </c:pt>
                <c:pt idx="18">
                  <c:v> ZH </c:v>
                </c:pt>
                <c:pt idx="19">
                  <c:v> BR </c:v>
                </c:pt>
                <c:pt idx="20">
                  <c:v> NE </c:v>
                </c:pt>
                <c:pt idx="21">
                  <c:v> KS </c:v>
                </c:pt>
                <c:pt idx="22">
                  <c:v> HH </c:v>
                </c:pt>
                <c:pt idx="23">
                  <c:v> HF </c:v>
                </c:pt>
                <c:pt idx="24">
                  <c:v> GC </c:v>
                </c:pt>
                <c:pt idx="25">
                  <c:v> MG </c:v>
                </c:pt>
                <c:pt idx="26">
                  <c:v> YT </c:v>
                </c:pt>
                <c:pt idx="27">
                  <c:v> IF </c:v>
                </c:pt>
                <c:pt idx="28">
                  <c:v> CD </c:v>
                </c:pt>
                <c:pt idx="29">
                  <c:v> CL </c:v>
                </c:pt>
                <c:pt idx="30">
                  <c:v> ZQ </c:v>
                </c:pt>
                <c:pt idx="31">
                  <c:v> AW </c:v>
                </c:pt>
                <c:pt idx="32">
                  <c:v> EO </c:v>
                </c:pt>
                <c:pt idx="33">
                  <c:v> EJ </c:v>
                </c:pt>
                <c:pt idx="34">
                  <c:v> AMD </c:v>
                </c:pt>
                <c:pt idx="35">
                  <c:v> MD </c:v>
                </c:pt>
                <c:pt idx="36">
                  <c:v> NH </c:v>
                </c:pt>
                <c:pt idx="37">
                  <c:v> CF </c:v>
                </c:pt>
                <c:pt idx="38">
                  <c:v> PE </c:v>
                </c:pt>
                <c:pt idx="39">
                  <c:v> KZ </c:v>
                </c:pt>
                <c:pt idx="40">
                  <c:v> UY </c:v>
                </c:pt>
                <c:pt idx="41">
                  <c:v> AK </c:v>
                </c:pt>
                <c:pt idx="42">
                  <c:v> QO </c:v>
                </c:pt>
                <c:pt idx="43">
                  <c:v> RG </c:v>
                </c:pt>
                <c:pt idx="44">
                  <c:v> BV </c:v>
                </c:pt>
                <c:pt idx="45">
                  <c:v> FM </c:v>
                </c:pt>
                <c:pt idx="46">
                  <c:v> XE </c:v>
                </c:pt>
                <c:pt idx="47">
                  <c:v> JA </c:v>
                </c:pt>
                <c:pt idx="48">
                  <c:v> JW </c:v>
                </c:pt>
                <c:pt idx="49">
                  <c:v> SB </c:v>
                </c:pt>
                <c:pt idx="50">
                  <c:v> NL </c:v>
                </c:pt>
                <c:pt idx="51">
                  <c:v> TB </c:v>
                </c:pt>
                <c:pt idx="52">
                  <c:v> HI </c:v>
                </c:pt>
                <c:pt idx="53">
                  <c:v> GK </c:v>
                </c:pt>
              </c:strCache>
            </c:strRef>
          </c:cat>
          <c:val>
            <c:numRef>
              <c:f>Sheet1!$B$2:$B$55</c:f>
              <c:numCache>
                <c:formatCode>_(* #,##0.00_);_(* \(#,##0.00\);_(* "-"??_);_(@_)</c:formatCode>
                <c:ptCount val="54"/>
                <c:pt idx="0">
                  <c:v>10.6</c:v>
                </c:pt>
                <c:pt idx="1">
                  <c:v>10.5</c:v>
                </c:pt>
                <c:pt idx="2">
                  <c:v>10.6</c:v>
                </c:pt>
                <c:pt idx="3">
                  <c:v>14.5</c:v>
                </c:pt>
                <c:pt idx="4">
                  <c:v>10.8</c:v>
                </c:pt>
                <c:pt idx="5">
                  <c:v>9.6</c:v>
                </c:pt>
                <c:pt idx="6">
                  <c:v>13.6</c:v>
                </c:pt>
                <c:pt idx="7">
                  <c:v>10</c:v>
                </c:pt>
                <c:pt idx="8">
                  <c:v>10.199999999999999</c:v>
                </c:pt>
                <c:pt idx="9">
                  <c:v>10.9</c:v>
                </c:pt>
                <c:pt idx="10">
                  <c:v>1.5</c:v>
                </c:pt>
                <c:pt idx="11">
                  <c:v>0</c:v>
                </c:pt>
                <c:pt idx="12">
                  <c:v>10.9</c:v>
                </c:pt>
                <c:pt idx="13">
                  <c:v>10.4</c:v>
                </c:pt>
                <c:pt idx="14">
                  <c:v>13.6</c:v>
                </c:pt>
                <c:pt idx="15">
                  <c:v>11.6</c:v>
                </c:pt>
                <c:pt idx="16">
                  <c:v>9.6999999999999993</c:v>
                </c:pt>
                <c:pt idx="17">
                  <c:v>10.9</c:v>
                </c:pt>
                <c:pt idx="18">
                  <c:v>0</c:v>
                </c:pt>
                <c:pt idx="19">
                  <c:v>12.4</c:v>
                </c:pt>
                <c:pt idx="20">
                  <c:v>10.9</c:v>
                </c:pt>
                <c:pt idx="21">
                  <c:v>1.4</c:v>
                </c:pt>
                <c:pt idx="22">
                  <c:v>9.9</c:v>
                </c:pt>
                <c:pt idx="23">
                  <c:v>11.7</c:v>
                </c:pt>
                <c:pt idx="24">
                  <c:v>6.5</c:v>
                </c:pt>
                <c:pt idx="25">
                  <c:v>11.6</c:v>
                </c:pt>
                <c:pt idx="26">
                  <c:v>11</c:v>
                </c:pt>
                <c:pt idx="27">
                  <c:v>11.6</c:v>
                </c:pt>
                <c:pt idx="28">
                  <c:v>10.3</c:v>
                </c:pt>
                <c:pt idx="29">
                  <c:v>11.5</c:v>
                </c:pt>
                <c:pt idx="30">
                  <c:v>12.1</c:v>
                </c:pt>
                <c:pt idx="31">
                  <c:v>0</c:v>
                </c:pt>
                <c:pt idx="32">
                  <c:v>10.3</c:v>
                </c:pt>
                <c:pt idx="33">
                  <c:v>0</c:v>
                </c:pt>
                <c:pt idx="34">
                  <c:v>10.199999999999999</c:v>
                </c:pt>
                <c:pt idx="35">
                  <c:v>10.3</c:v>
                </c:pt>
                <c:pt idx="36">
                  <c:v>0</c:v>
                </c:pt>
                <c:pt idx="37">
                  <c:v>0</c:v>
                </c:pt>
                <c:pt idx="38">
                  <c:v>11.5</c:v>
                </c:pt>
                <c:pt idx="39">
                  <c:v>0</c:v>
                </c:pt>
                <c:pt idx="40">
                  <c:v>9.6999999999999993</c:v>
                </c:pt>
                <c:pt idx="41">
                  <c:v>13.6</c:v>
                </c:pt>
                <c:pt idx="42">
                  <c:v>0</c:v>
                </c:pt>
                <c:pt idx="43">
                  <c:v>0</c:v>
                </c:pt>
                <c:pt idx="44">
                  <c:v>0</c:v>
                </c:pt>
                <c:pt idx="45">
                  <c:v>9.5</c:v>
                </c:pt>
                <c:pt idx="46">
                  <c:v>0</c:v>
                </c:pt>
                <c:pt idx="47">
                  <c:v>0</c:v>
                </c:pt>
                <c:pt idx="48">
                  <c:v>11.6</c:v>
                </c:pt>
                <c:pt idx="49">
                  <c:v>0</c:v>
                </c:pt>
                <c:pt idx="50">
                  <c:v>0</c:v>
                </c:pt>
                <c:pt idx="51">
                  <c:v>0</c:v>
                </c:pt>
                <c:pt idx="52">
                  <c:v>0</c:v>
                </c:pt>
                <c:pt idx="53">
                  <c:v>0</c:v>
                </c:pt>
              </c:numCache>
            </c:numRef>
          </c:val>
          <c:extLst>
            <c:ext xmlns:c16="http://schemas.microsoft.com/office/drawing/2014/chart" uri="{C3380CC4-5D6E-409C-BE32-E72D297353CC}">
              <c16:uniqueId val="{00000005-E6EB-42EB-A336-5EB473FF66B6}"/>
            </c:ext>
          </c:extLst>
        </c:ser>
        <c:ser>
          <c:idx val="6"/>
          <c:order val="6"/>
          <c:tx>
            <c:strRef>
              <c:f>Sheet1!$H$1</c:f>
              <c:strCache>
                <c:ptCount val="1"/>
                <c:pt idx="0">
                  <c:v>Total</c:v>
                </c:pt>
              </c:strCache>
            </c:strRef>
          </c:tx>
          <c:spPr>
            <a:no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solidFill>
                    <a:latin typeface="+mj-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SC </c:v>
                </c:pt>
                <c:pt idx="1">
                  <c:v> FA </c:v>
                </c:pt>
                <c:pt idx="2">
                  <c:v> YM </c:v>
                </c:pt>
                <c:pt idx="3">
                  <c:v> TN </c:v>
                </c:pt>
                <c:pt idx="4">
                  <c:v> FF </c:v>
                </c:pt>
                <c:pt idx="5">
                  <c:v> ON </c:v>
                </c:pt>
                <c:pt idx="6">
                  <c:v> OU </c:v>
                </c:pt>
                <c:pt idx="7">
                  <c:v> WX </c:v>
                </c:pt>
                <c:pt idx="8">
                  <c:v> EG </c:v>
                </c:pt>
                <c:pt idx="9">
                  <c:v> DN </c:v>
                </c:pt>
                <c:pt idx="10">
                  <c:v> AI </c:v>
                </c:pt>
                <c:pt idx="11">
                  <c:v> VP </c:v>
                </c:pt>
                <c:pt idx="12">
                  <c:v> GJ </c:v>
                </c:pt>
                <c:pt idx="13">
                  <c:v> DO </c:v>
                </c:pt>
                <c:pt idx="14">
                  <c:v> UD </c:v>
                </c:pt>
                <c:pt idx="15">
                  <c:v> MJ </c:v>
                </c:pt>
                <c:pt idx="16">
                  <c:v> XR </c:v>
                </c:pt>
                <c:pt idx="17">
                  <c:v> RU </c:v>
                </c:pt>
                <c:pt idx="18">
                  <c:v> ZH </c:v>
                </c:pt>
                <c:pt idx="19">
                  <c:v> BR </c:v>
                </c:pt>
                <c:pt idx="20">
                  <c:v> NE </c:v>
                </c:pt>
                <c:pt idx="21">
                  <c:v> KS </c:v>
                </c:pt>
                <c:pt idx="22">
                  <c:v> HH </c:v>
                </c:pt>
                <c:pt idx="23">
                  <c:v> HF </c:v>
                </c:pt>
                <c:pt idx="24">
                  <c:v> GC </c:v>
                </c:pt>
                <c:pt idx="25">
                  <c:v> MG </c:v>
                </c:pt>
                <c:pt idx="26">
                  <c:v> YT </c:v>
                </c:pt>
                <c:pt idx="27">
                  <c:v> IF </c:v>
                </c:pt>
                <c:pt idx="28">
                  <c:v> CD </c:v>
                </c:pt>
                <c:pt idx="29">
                  <c:v> CL </c:v>
                </c:pt>
                <c:pt idx="30">
                  <c:v> ZQ </c:v>
                </c:pt>
                <c:pt idx="31">
                  <c:v> AW </c:v>
                </c:pt>
                <c:pt idx="32">
                  <c:v> EO </c:v>
                </c:pt>
                <c:pt idx="33">
                  <c:v> EJ </c:v>
                </c:pt>
                <c:pt idx="34">
                  <c:v> AMD </c:v>
                </c:pt>
                <c:pt idx="35">
                  <c:v> MD </c:v>
                </c:pt>
                <c:pt idx="36">
                  <c:v> NH </c:v>
                </c:pt>
                <c:pt idx="37">
                  <c:v> CF </c:v>
                </c:pt>
                <c:pt idx="38">
                  <c:v> PE </c:v>
                </c:pt>
                <c:pt idx="39">
                  <c:v> KZ </c:v>
                </c:pt>
                <c:pt idx="40">
                  <c:v> UY </c:v>
                </c:pt>
                <c:pt idx="41">
                  <c:v> AK </c:v>
                </c:pt>
                <c:pt idx="42">
                  <c:v> QO </c:v>
                </c:pt>
                <c:pt idx="43">
                  <c:v> RG </c:v>
                </c:pt>
                <c:pt idx="44">
                  <c:v> BV </c:v>
                </c:pt>
                <c:pt idx="45">
                  <c:v> FM </c:v>
                </c:pt>
                <c:pt idx="46">
                  <c:v> XE </c:v>
                </c:pt>
                <c:pt idx="47">
                  <c:v> JA </c:v>
                </c:pt>
                <c:pt idx="48">
                  <c:v> JW </c:v>
                </c:pt>
                <c:pt idx="49">
                  <c:v> SB </c:v>
                </c:pt>
                <c:pt idx="50">
                  <c:v> NL </c:v>
                </c:pt>
                <c:pt idx="51">
                  <c:v> TB </c:v>
                </c:pt>
                <c:pt idx="52">
                  <c:v> HI </c:v>
                </c:pt>
                <c:pt idx="53">
                  <c:v> GK </c:v>
                </c:pt>
              </c:strCache>
            </c:strRef>
          </c:cat>
          <c:val>
            <c:numRef>
              <c:f>Sheet1!$H$2:$H$55</c:f>
              <c:numCache>
                <c:formatCode>_(* #,##0.00_);_(* \(#,##0.00\);_(* "-"??_);_(@_)</c:formatCode>
                <c:ptCount val="54"/>
                <c:pt idx="0">
                  <c:v>125.3</c:v>
                </c:pt>
                <c:pt idx="1">
                  <c:v>116.6</c:v>
                </c:pt>
                <c:pt idx="2">
                  <c:v>114.7</c:v>
                </c:pt>
                <c:pt idx="3">
                  <c:v>112.2</c:v>
                </c:pt>
                <c:pt idx="4">
                  <c:v>111.4</c:v>
                </c:pt>
                <c:pt idx="5">
                  <c:v>109.2</c:v>
                </c:pt>
                <c:pt idx="6">
                  <c:v>108.9</c:v>
                </c:pt>
                <c:pt idx="7">
                  <c:v>108.4</c:v>
                </c:pt>
                <c:pt idx="8">
                  <c:v>107.6</c:v>
                </c:pt>
                <c:pt idx="9">
                  <c:v>107.4</c:v>
                </c:pt>
                <c:pt idx="10">
                  <c:v>106.6</c:v>
                </c:pt>
                <c:pt idx="11">
                  <c:v>104.6</c:v>
                </c:pt>
                <c:pt idx="12">
                  <c:v>104.2</c:v>
                </c:pt>
                <c:pt idx="13">
                  <c:v>104.2</c:v>
                </c:pt>
                <c:pt idx="14">
                  <c:v>104.1</c:v>
                </c:pt>
                <c:pt idx="15">
                  <c:v>103.8</c:v>
                </c:pt>
                <c:pt idx="16">
                  <c:v>102.6</c:v>
                </c:pt>
                <c:pt idx="17">
                  <c:v>102.3</c:v>
                </c:pt>
                <c:pt idx="18">
                  <c:v>101.7</c:v>
                </c:pt>
                <c:pt idx="19">
                  <c:v>101.2</c:v>
                </c:pt>
                <c:pt idx="20">
                  <c:v>100.6</c:v>
                </c:pt>
                <c:pt idx="21">
                  <c:v>100.5</c:v>
                </c:pt>
                <c:pt idx="22">
                  <c:v>100.5</c:v>
                </c:pt>
                <c:pt idx="23">
                  <c:v>100.3</c:v>
                </c:pt>
                <c:pt idx="24">
                  <c:v>100.3</c:v>
                </c:pt>
                <c:pt idx="25">
                  <c:v>99.7</c:v>
                </c:pt>
                <c:pt idx="26">
                  <c:v>99.4</c:v>
                </c:pt>
                <c:pt idx="27">
                  <c:v>99.3</c:v>
                </c:pt>
                <c:pt idx="28">
                  <c:v>99.3</c:v>
                </c:pt>
                <c:pt idx="29">
                  <c:v>98.7</c:v>
                </c:pt>
                <c:pt idx="30">
                  <c:v>98.3</c:v>
                </c:pt>
                <c:pt idx="31">
                  <c:v>98.1</c:v>
                </c:pt>
                <c:pt idx="32">
                  <c:v>97.8</c:v>
                </c:pt>
                <c:pt idx="33">
                  <c:v>97.4</c:v>
                </c:pt>
                <c:pt idx="34">
                  <c:v>97.4</c:v>
                </c:pt>
                <c:pt idx="35">
                  <c:v>97.1</c:v>
                </c:pt>
                <c:pt idx="36">
                  <c:v>96.8</c:v>
                </c:pt>
                <c:pt idx="37">
                  <c:v>96.5</c:v>
                </c:pt>
                <c:pt idx="38">
                  <c:v>96.1</c:v>
                </c:pt>
                <c:pt idx="39">
                  <c:v>95.6</c:v>
                </c:pt>
                <c:pt idx="40">
                  <c:v>95.2</c:v>
                </c:pt>
                <c:pt idx="41">
                  <c:v>95.1</c:v>
                </c:pt>
                <c:pt idx="42">
                  <c:v>94.9</c:v>
                </c:pt>
                <c:pt idx="43">
                  <c:v>94.2</c:v>
                </c:pt>
                <c:pt idx="44">
                  <c:v>93.6</c:v>
                </c:pt>
                <c:pt idx="45">
                  <c:v>92.8</c:v>
                </c:pt>
                <c:pt idx="46">
                  <c:v>92.5</c:v>
                </c:pt>
                <c:pt idx="47">
                  <c:v>91.3</c:v>
                </c:pt>
                <c:pt idx="48">
                  <c:v>90.2</c:v>
                </c:pt>
                <c:pt idx="49">
                  <c:v>90.1</c:v>
                </c:pt>
                <c:pt idx="50">
                  <c:v>90</c:v>
                </c:pt>
                <c:pt idx="51">
                  <c:v>89.9</c:v>
                </c:pt>
                <c:pt idx="52">
                  <c:v>83.5</c:v>
                </c:pt>
                <c:pt idx="53">
                  <c:v>80.099999999999994</c:v>
                </c:pt>
              </c:numCache>
            </c:numRef>
          </c:val>
          <c:extLst>
            <c:ext xmlns:c16="http://schemas.microsoft.com/office/drawing/2014/chart" uri="{C3380CC4-5D6E-409C-BE32-E72D297353CC}">
              <c16:uniqueId val="{00000006-E6EB-42EB-A336-5EB473FF66B6}"/>
            </c:ext>
          </c:extLst>
        </c:ser>
        <c:dLbls>
          <c:showLegendKey val="0"/>
          <c:showVal val="0"/>
          <c:showCatName val="0"/>
          <c:showSerName val="0"/>
          <c:showPercent val="0"/>
          <c:showBubbleSize val="0"/>
        </c:dLbls>
        <c:gapWidth val="50"/>
        <c:overlap val="100"/>
        <c:axId val="788652776"/>
        <c:axId val="788647528"/>
      </c:barChart>
      <c:catAx>
        <c:axId val="78865277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j-lt"/>
                <a:ea typeface="+mn-ea"/>
                <a:cs typeface="+mn-cs"/>
              </a:defRPr>
            </a:pPr>
            <a:endParaRPr lang="en-US"/>
          </a:p>
        </c:txPr>
        <c:crossAx val="788647528"/>
        <c:crosses val="autoZero"/>
        <c:auto val="1"/>
        <c:lblAlgn val="ctr"/>
        <c:lblOffset val="100"/>
        <c:noMultiLvlLbl val="0"/>
      </c:catAx>
      <c:valAx>
        <c:axId val="788647528"/>
        <c:scaling>
          <c:orientation val="minMax"/>
          <c:max val="200"/>
        </c:scaling>
        <c:delete val="0"/>
        <c:axPos val="l"/>
        <c:numFmt formatCode="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mj-lt"/>
                <a:ea typeface="+mn-ea"/>
                <a:cs typeface="+mn-cs"/>
              </a:defRPr>
            </a:pPr>
            <a:endParaRPr lang="en-US"/>
          </a:p>
        </c:txPr>
        <c:crossAx val="788652776"/>
        <c:crosses val="autoZero"/>
        <c:crossBetween val="between"/>
      </c:valAx>
      <c:spPr>
        <a:noFill/>
        <a:ln>
          <a:noFill/>
        </a:ln>
        <a:effectLst/>
      </c:spPr>
    </c:plotArea>
    <c:legend>
      <c:legendPos val="b"/>
      <c:legendEntry>
        <c:idx val="6"/>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j-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latin typeface="+mj-lt"/>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rgbClr val="FF0000"/>
                </a:solidFill>
                <a:latin typeface="+mj-lt"/>
                <a:ea typeface="+mn-ea"/>
                <a:cs typeface="+mn-cs"/>
              </a:defRPr>
            </a:pPr>
            <a:r>
              <a:rPr lang="en-US" dirty="0">
                <a:solidFill>
                  <a:schemeClr val="tx1"/>
                </a:solidFill>
              </a:rPr>
              <a:t>{{COMPANY2}}</a:t>
            </a:r>
          </a:p>
        </c:rich>
      </c:tx>
      <c:layout>
        <c:manualLayout>
          <c:xMode val="edge"/>
          <c:yMode val="edge"/>
          <c:x val="0.33158000235702473"/>
          <c:y val="2.606506579274127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rgbClr val="FF0000"/>
              </a:solidFill>
              <a:latin typeface="+mj-lt"/>
              <a:ea typeface="+mn-ea"/>
              <a:cs typeface="+mn-cs"/>
            </a:defRPr>
          </a:pPr>
          <a:endParaRPr lang="en-US"/>
        </a:p>
      </c:txPr>
    </c:title>
    <c:autoTitleDeleted val="0"/>
    <c:plotArea>
      <c:layout/>
      <c:pieChart>
        <c:varyColors val="1"/>
        <c:ser>
          <c:idx val="0"/>
          <c:order val="0"/>
          <c:tx>
            <c:strRef>
              <c:f>Sheet1!$A$2</c:f>
              <c:strCache>
                <c:ptCount val="1"/>
                <c:pt idx="0">
                  <c:v>AMD</c:v>
                </c:pt>
              </c:strCache>
            </c:strRef>
          </c:tx>
          <c:dPt>
            <c:idx val="0"/>
            <c:bubble3D val="0"/>
            <c:spPr>
              <a:solidFill>
                <a:schemeClr val="accent5"/>
              </a:solidFill>
              <a:ln w="19050">
                <a:solidFill>
                  <a:schemeClr val="lt1"/>
                </a:solidFill>
              </a:ln>
              <a:effectLst/>
            </c:spPr>
            <c:extLst>
              <c:ext xmlns:c16="http://schemas.microsoft.com/office/drawing/2014/chart" uri="{C3380CC4-5D6E-409C-BE32-E72D297353CC}">
                <c16:uniqueId val="{00000002-5C44-42C5-BB75-62C6D9456A5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4-5C44-42C5-BB75-62C6D9456A5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8AD-4817-8EC1-A520702671EE}"/>
              </c:ext>
            </c:extLst>
          </c:dPt>
          <c:dPt>
            <c:idx val="3"/>
            <c:bubble3D val="0"/>
            <c:spPr>
              <a:solidFill>
                <a:schemeClr val="tx2"/>
              </a:solidFill>
              <a:ln w="19050">
                <a:solidFill>
                  <a:schemeClr val="lt1"/>
                </a:solidFill>
              </a:ln>
              <a:effectLst/>
            </c:spPr>
            <c:extLst>
              <c:ext xmlns:c16="http://schemas.microsoft.com/office/drawing/2014/chart" uri="{C3380CC4-5D6E-409C-BE32-E72D297353CC}">
                <c16:uniqueId val="{00000001-5C44-42C5-BB75-62C6D9456A5D}"/>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3-5C44-42C5-BB75-62C6D9456A5D}"/>
              </c:ext>
            </c:extLst>
          </c:dPt>
          <c:dLbls>
            <c:dLbl>
              <c:idx val="1"/>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lt"/>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4-5C44-42C5-BB75-62C6D9456A5D}"/>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j-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5"/>
                <c:pt idx="0">
                  <c:v>Retirement</c:v>
                </c:pt>
                <c:pt idx="1">
                  <c:v>Life</c:v>
                </c:pt>
                <c:pt idx="2">
                  <c:v>Disability</c:v>
                </c:pt>
                <c:pt idx="3">
                  <c:v>Health Care</c:v>
                </c:pt>
                <c:pt idx="4">
                  <c:v>Paid Time Off</c:v>
                </c:pt>
              </c:strCache>
            </c:strRef>
          </c:cat>
          <c:val>
            <c:numRef>
              <c:f>Sheet1!$B$2:$F$2</c:f>
              <c:numCache>
                <c:formatCode>0.00%</c:formatCode>
                <c:ptCount val="5"/>
                <c:pt idx="0">
                  <c:v>0.2</c:v>
                </c:pt>
                <c:pt idx="1">
                  <c:v>1.4999999999999999E-2</c:v>
                </c:pt>
                <c:pt idx="2">
                  <c:v>0.104</c:v>
                </c:pt>
                <c:pt idx="3">
                  <c:v>0.27800000000000002</c:v>
                </c:pt>
                <c:pt idx="4">
                  <c:v>0.40300000000000002</c:v>
                </c:pt>
              </c:numCache>
            </c:numRef>
          </c:val>
          <c:extLst>
            <c:ext xmlns:c16="http://schemas.microsoft.com/office/drawing/2014/chart" uri="{C3380CC4-5D6E-409C-BE32-E72D297353CC}">
              <c16:uniqueId val="{00000000-5C44-42C5-BB75-62C6D9456A5D}"/>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j-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latin typeface="+mj-lt"/>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mj-lt"/>
              <a:ea typeface="+mn-ea"/>
              <a:cs typeface="+mn-cs"/>
            </a:defRPr>
          </a:pPr>
          <a:endParaRPr lang="en-US"/>
        </a:p>
      </c:txPr>
    </c:title>
    <c:autoTitleDeleted val="0"/>
    <c:plotArea>
      <c:layout/>
      <c:pieChart>
        <c:varyColors val="1"/>
        <c:ser>
          <c:idx val="0"/>
          <c:order val="0"/>
          <c:tx>
            <c:strRef>
              <c:f>Sheet1!$A$2</c:f>
              <c:strCache>
                <c:ptCount val="1"/>
                <c:pt idx="0">
                  <c:v>Average Company</c:v>
                </c:pt>
              </c:strCache>
            </c:strRef>
          </c:tx>
          <c:dPt>
            <c:idx val="0"/>
            <c:bubble3D val="0"/>
            <c:spPr>
              <a:solidFill>
                <a:schemeClr val="accent5"/>
              </a:solidFill>
              <a:ln w="19050">
                <a:solidFill>
                  <a:schemeClr val="lt1"/>
                </a:solidFill>
              </a:ln>
              <a:effectLst/>
            </c:spPr>
            <c:extLst>
              <c:ext xmlns:c16="http://schemas.microsoft.com/office/drawing/2014/chart" uri="{C3380CC4-5D6E-409C-BE32-E72D297353CC}">
                <c16:uniqueId val="{00000001-2B76-4C1D-8F2E-5939B5C4496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B76-4C1D-8F2E-5939B5C4496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B76-4C1D-8F2E-5939B5C4496D}"/>
              </c:ext>
            </c:extLst>
          </c:dPt>
          <c:dPt>
            <c:idx val="3"/>
            <c:bubble3D val="0"/>
            <c:spPr>
              <a:solidFill>
                <a:schemeClr val="tx2"/>
              </a:solidFill>
              <a:ln w="19050">
                <a:solidFill>
                  <a:schemeClr val="lt1"/>
                </a:solidFill>
              </a:ln>
              <a:effectLst/>
            </c:spPr>
            <c:extLst>
              <c:ext xmlns:c16="http://schemas.microsoft.com/office/drawing/2014/chart" uri="{C3380CC4-5D6E-409C-BE32-E72D297353CC}">
                <c16:uniqueId val="{00000007-2B76-4C1D-8F2E-5939B5C4496D}"/>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2B76-4C1D-8F2E-5939B5C4496D}"/>
              </c:ext>
            </c:extLst>
          </c:dPt>
          <c:dLbls>
            <c:dLbl>
              <c:idx val="1"/>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lt"/>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3-2B76-4C1D-8F2E-5939B5C4496D}"/>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j-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5"/>
                <c:pt idx="0">
                  <c:v>Retirement</c:v>
                </c:pt>
                <c:pt idx="1">
                  <c:v>Life</c:v>
                </c:pt>
                <c:pt idx="2">
                  <c:v>Disability</c:v>
                </c:pt>
                <c:pt idx="3">
                  <c:v>Health Care</c:v>
                </c:pt>
                <c:pt idx="4">
                  <c:v>Paid Time Off</c:v>
                </c:pt>
              </c:strCache>
            </c:strRef>
          </c:cat>
          <c:val>
            <c:numRef>
              <c:f>Sheet1!$B$2:$F$2</c:f>
              <c:numCache>
                <c:formatCode>0.00%</c:formatCode>
                <c:ptCount val="5"/>
                <c:pt idx="0">
                  <c:v>0.185</c:v>
                </c:pt>
                <c:pt idx="1">
                  <c:v>1.4E-2</c:v>
                </c:pt>
                <c:pt idx="2">
                  <c:v>9.0999999999999998E-2</c:v>
                </c:pt>
                <c:pt idx="3">
                  <c:v>0.26</c:v>
                </c:pt>
                <c:pt idx="4">
                  <c:v>0.45</c:v>
                </c:pt>
              </c:numCache>
            </c:numRef>
          </c:val>
          <c:extLst>
            <c:ext xmlns:c16="http://schemas.microsoft.com/office/drawing/2014/chart" uri="{C3380CC4-5D6E-409C-BE32-E72D297353CC}">
              <c16:uniqueId val="{0000000A-2B76-4C1D-8F2E-5939B5C4496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latin typeface="+mj-lt"/>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bg1">
                <a:lumMod val="75000"/>
              </a:schemeClr>
            </a:solidFill>
            <a:ln>
              <a:noFill/>
            </a:ln>
            <a:effectLst/>
          </c:spPr>
          <c:invertIfNegative val="0"/>
          <c:dPt>
            <c:idx val="17"/>
            <c:invertIfNegative val="0"/>
            <c:bubble3D val="0"/>
            <c:spPr>
              <a:solidFill>
                <a:schemeClr val="bg1">
                  <a:lumMod val="75000"/>
                </a:schemeClr>
              </a:solidFill>
              <a:ln>
                <a:noFill/>
              </a:ln>
              <a:effectLst/>
            </c:spPr>
            <c:extLst>
              <c:ext xmlns:c16="http://schemas.microsoft.com/office/drawing/2014/chart" uri="{C3380CC4-5D6E-409C-BE32-E72D297353CC}">
                <c16:uniqueId val="{00000003-52CE-4BD7-B853-E26225FE6F3D}"/>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FA</c:v>
                </c:pt>
                <c:pt idx="1">
                  <c:v>CD</c:v>
                </c:pt>
                <c:pt idx="2">
                  <c:v>YM</c:v>
                </c:pt>
                <c:pt idx="3">
                  <c:v>SC</c:v>
                </c:pt>
                <c:pt idx="4">
                  <c:v>EJ</c:v>
                </c:pt>
                <c:pt idx="5">
                  <c:v>FF</c:v>
                </c:pt>
                <c:pt idx="6">
                  <c:v>JA</c:v>
                </c:pt>
                <c:pt idx="7">
                  <c:v>ZH</c:v>
                </c:pt>
                <c:pt idx="8">
                  <c:v>DO</c:v>
                </c:pt>
                <c:pt idx="9">
                  <c:v>KS</c:v>
                </c:pt>
                <c:pt idx="10">
                  <c:v>ON</c:v>
                </c:pt>
                <c:pt idx="11">
                  <c:v>HI</c:v>
                </c:pt>
                <c:pt idx="12">
                  <c:v>TN</c:v>
                </c:pt>
                <c:pt idx="13">
                  <c:v>KZ</c:v>
                </c:pt>
                <c:pt idx="14">
                  <c:v>RG</c:v>
                </c:pt>
                <c:pt idx="15">
                  <c:v>HH</c:v>
                </c:pt>
                <c:pt idx="16">
                  <c:v>BR</c:v>
                </c:pt>
                <c:pt idx="17">
                  <c:v>DN</c:v>
                </c:pt>
                <c:pt idx="18">
                  <c:v>EG</c:v>
                </c:pt>
                <c:pt idx="19">
                  <c:v>GJ</c:v>
                </c:pt>
                <c:pt idx="20">
                  <c:v>MG</c:v>
                </c:pt>
                <c:pt idx="21">
                  <c:v>UY</c:v>
                </c:pt>
                <c:pt idx="22">
                  <c:v>AI</c:v>
                </c:pt>
                <c:pt idx="23">
                  <c:v>CF</c:v>
                </c:pt>
                <c:pt idx="24">
                  <c:v>HF</c:v>
                </c:pt>
                <c:pt idx="25">
                  <c:v>AW</c:v>
                </c:pt>
                <c:pt idx="26">
                  <c:v>YT</c:v>
                </c:pt>
                <c:pt idx="27">
                  <c:v>AMD</c:v>
                </c:pt>
                <c:pt idx="28">
                  <c:v>NE</c:v>
                </c:pt>
                <c:pt idx="29">
                  <c:v>UD</c:v>
                </c:pt>
                <c:pt idx="30">
                  <c:v>XR</c:v>
                </c:pt>
                <c:pt idx="31">
                  <c:v>ZQ</c:v>
                </c:pt>
                <c:pt idx="32">
                  <c:v>PE</c:v>
                </c:pt>
                <c:pt idx="33">
                  <c:v>SB</c:v>
                </c:pt>
                <c:pt idx="34">
                  <c:v>WX</c:v>
                </c:pt>
                <c:pt idx="35">
                  <c:v>MJ</c:v>
                </c:pt>
                <c:pt idx="36">
                  <c:v>CL</c:v>
                </c:pt>
                <c:pt idx="37">
                  <c:v>AK</c:v>
                </c:pt>
                <c:pt idx="38">
                  <c:v>RU</c:v>
                </c:pt>
                <c:pt idx="39">
                  <c:v>IF</c:v>
                </c:pt>
                <c:pt idx="40">
                  <c:v>FM</c:v>
                </c:pt>
                <c:pt idx="41">
                  <c:v>OU</c:v>
                </c:pt>
                <c:pt idx="42">
                  <c:v>QO</c:v>
                </c:pt>
                <c:pt idx="43">
                  <c:v>GK</c:v>
                </c:pt>
                <c:pt idx="44">
                  <c:v>GC</c:v>
                </c:pt>
                <c:pt idx="45">
                  <c:v>NL</c:v>
                </c:pt>
                <c:pt idx="46">
                  <c:v>XE</c:v>
                </c:pt>
                <c:pt idx="47">
                  <c:v>JW</c:v>
                </c:pt>
                <c:pt idx="48">
                  <c:v>VP</c:v>
                </c:pt>
                <c:pt idx="49">
                  <c:v>MD</c:v>
                </c:pt>
                <c:pt idx="50">
                  <c:v>NH</c:v>
                </c:pt>
                <c:pt idx="51">
                  <c:v>TB</c:v>
                </c:pt>
                <c:pt idx="52">
                  <c:v>EO</c:v>
                </c:pt>
                <c:pt idx="53">
                  <c:v>BV</c:v>
                </c:pt>
              </c:strCache>
            </c:strRef>
          </c:cat>
          <c:val>
            <c:numRef>
              <c:f>Sheet1!$B$2:$B$55</c:f>
              <c:numCache>
                <c:formatCode>General</c:formatCode>
                <c:ptCount val="54"/>
                <c:pt idx="0">
                  <c:v>112.2</c:v>
                </c:pt>
                <c:pt idx="1">
                  <c:v>112</c:v>
                </c:pt>
                <c:pt idx="2">
                  <c:v>111.5</c:v>
                </c:pt>
                <c:pt idx="3">
                  <c:v>109.7</c:v>
                </c:pt>
                <c:pt idx="4">
                  <c:v>108.7</c:v>
                </c:pt>
                <c:pt idx="5">
                  <c:v>108.7</c:v>
                </c:pt>
                <c:pt idx="6">
                  <c:v>107.4</c:v>
                </c:pt>
                <c:pt idx="7">
                  <c:v>107.2</c:v>
                </c:pt>
                <c:pt idx="8">
                  <c:v>107.1</c:v>
                </c:pt>
                <c:pt idx="9">
                  <c:v>106</c:v>
                </c:pt>
                <c:pt idx="10">
                  <c:v>105.7</c:v>
                </c:pt>
                <c:pt idx="11">
                  <c:v>105.4</c:v>
                </c:pt>
                <c:pt idx="12">
                  <c:v>104.5</c:v>
                </c:pt>
                <c:pt idx="13">
                  <c:v>103.9</c:v>
                </c:pt>
                <c:pt idx="14">
                  <c:v>103.1</c:v>
                </c:pt>
                <c:pt idx="15">
                  <c:v>102.8</c:v>
                </c:pt>
                <c:pt idx="16">
                  <c:v>102.3</c:v>
                </c:pt>
                <c:pt idx="17">
                  <c:v>101.5</c:v>
                </c:pt>
                <c:pt idx="18">
                  <c:v>101.5</c:v>
                </c:pt>
                <c:pt idx="19">
                  <c:v>101.3</c:v>
                </c:pt>
                <c:pt idx="20">
                  <c:v>101.2</c:v>
                </c:pt>
                <c:pt idx="21">
                  <c:v>101.1</c:v>
                </c:pt>
                <c:pt idx="22">
                  <c:v>100.9</c:v>
                </c:pt>
                <c:pt idx="23">
                  <c:v>100.9</c:v>
                </c:pt>
                <c:pt idx="24">
                  <c:v>100.4</c:v>
                </c:pt>
                <c:pt idx="25">
                  <c:v>100.3</c:v>
                </c:pt>
                <c:pt idx="26">
                  <c:v>100.2</c:v>
                </c:pt>
                <c:pt idx="27">
                  <c:v>#N/A</c:v>
                </c:pt>
                <c:pt idx="28">
                  <c:v>99.8</c:v>
                </c:pt>
                <c:pt idx="29">
                  <c:v>99.4</c:v>
                </c:pt>
                <c:pt idx="30">
                  <c:v>99.3</c:v>
                </c:pt>
                <c:pt idx="31">
                  <c:v>99.3</c:v>
                </c:pt>
                <c:pt idx="32">
                  <c:v>99.2</c:v>
                </c:pt>
                <c:pt idx="33">
                  <c:v>98.4</c:v>
                </c:pt>
                <c:pt idx="34">
                  <c:v>97.9</c:v>
                </c:pt>
                <c:pt idx="35">
                  <c:v>97.7</c:v>
                </c:pt>
                <c:pt idx="36">
                  <c:v>97.3</c:v>
                </c:pt>
                <c:pt idx="37">
                  <c:v>97.2</c:v>
                </c:pt>
                <c:pt idx="38">
                  <c:v>97.2</c:v>
                </c:pt>
                <c:pt idx="39">
                  <c:v>96.6</c:v>
                </c:pt>
                <c:pt idx="40">
                  <c:v>96.1</c:v>
                </c:pt>
                <c:pt idx="41">
                  <c:v>94.5</c:v>
                </c:pt>
                <c:pt idx="42">
                  <c:v>94.5</c:v>
                </c:pt>
                <c:pt idx="43">
                  <c:v>94.4</c:v>
                </c:pt>
                <c:pt idx="44">
                  <c:v>93.8</c:v>
                </c:pt>
                <c:pt idx="45">
                  <c:v>93.7</c:v>
                </c:pt>
                <c:pt idx="46">
                  <c:v>93.5</c:v>
                </c:pt>
                <c:pt idx="47">
                  <c:v>92.2</c:v>
                </c:pt>
                <c:pt idx="48">
                  <c:v>92.1</c:v>
                </c:pt>
                <c:pt idx="49">
                  <c:v>91.5</c:v>
                </c:pt>
                <c:pt idx="50">
                  <c:v>90.8</c:v>
                </c:pt>
                <c:pt idx="51">
                  <c:v>90.1</c:v>
                </c:pt>
                <c:pt idx="52">
                  <c:v>89</c:v>
                </c:pt>
                <c:pt idx="53">
                  <c:v>86.5</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100</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2-BB45-452B-B919-C6429FC0530D}"/>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bg1">
                <a:lumMod val="75000"/>
              </a:schemeClr>
            </a:solidFill>
            <a:ln>
              <a:noFill/>
            </a:ln>
            <a:effectLst/>
          </c:spPr>
          <c:invertIfNegative val="0"/>
          <c:dPt>
            <c:idx val="17"/>
            <c:invertIfNegative val="0"/>
            <c:bubble3D val="0"/>
            <c:spPr>
              <a:solidFill>
                <a:schemeClr val="bg1">
                  <a:lumMod val="75000"/>
                </a:schemeClr>
              </a:solidFill>
              <a:ln>
                <a:noFill/>
              </a:ln>
              <a:effectLst/>
            </c:spPr>
            <c:extLst>
              <c:ext xmlns:c16="http://schemas.microsoft.com/office/drawing/2014/chart" uri="{C3380CC4-5D6E-409C-BE32-E72D297353CC}">
                <c16:uniqueId val="{00000001-4E51-47A6-B8DF-10C50991A71F}"/>
              </c:ext>
            </c:extLst>
          </c:dPt>
          <c:dPt>
            <c:idx val="27"/>
            <c:invertIfNegative val="0"/>
            <c:bubble3D val="0"/>
            <c:spPr>
              <a:solidFill>
                <a:schemeClr val="bg1">
                  <a:lumMod val="75000"/>
                </a:schemeClr>
              </a:solidFill>
              <a:ln>
                <a:noFill/>
              </a:ln>
              <a:effectLst/>
            </c:spPr>
            <c:extLst>
              <c:ext xmlns:c16="http://schemas.microsoft.com/office/drawing/2014/chart" uri="{C3380CC4-5D6E-409C-BE32-E72D297353CC}">
                <c16:uniqueId val="{00000003-4E51-47A6-B8DF-10C50991A71F}"/>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YM</c:v>
                </c:pt>
                <c:pt idx="1">
                  <c:v>FF</c:v>
                </c:pt>
                <c:pt idx="2">
                  <c:v>JA</c:v>
                </c:pt>
                <c:pt idx="3">
                  <c:v>ZH</c:v>
                </c:pt>
                <c:pt idx="4">
                  <c:v>KZ</c:v>
                </c:pt>
                <c:pt idx="5">
                  <c:v>CD</c:v>
                </c:pt>
                <c:pt idx="6">
                  <c:v>CF</c:v>
                </c:pt>
                <c:pt idx="7">
                  <c:v>FA</c:v>
                </c:pt>
                <c:pt idx="8">
                  <c:v>SC</c:v>
                </c:pt>
                <c:pt idx="9">
                  <c:v>EJ</c:v>
                </c:pt>
                <c:pt idx="10">
                  <c:v>ON</c:v>
                </c:pt>
                <c:pt idx="11">
                  <c:v>DO</c:v>
                </c:pt>
                <c:pt idx="12">
                  <c:v>GC</c:v>
                </c:pt>
                <c:pt idx="13">
                  <c:v>HI</c:v>
                </c:pt>
                <c:pt idx="14">
                  <c:v>TN</c:v>
                </c:pt>
                <c:pt idx="15">
                  <c:v>DN</c:v>
                </c:pt>
                <c:pt idx="16">
                  <c:v>AI</c:v>
                </c:pt>
                <c:pt idx="17">
                  <c:v>AMD</c:v>
                </c:pt>
                <c:pt idx="18">
                  <c:v>MG</c:v>
                </c:pt>
                <c:pt idx="19">
                  <c:v>RG</c:v>
                </c:pt>
                <c:pt idx="20">
                  <c:v>EO</c:v>
                </c:pt>
                <c:pt idx="21">
                  <c:v>KS</c:v>
                </c:pt>
                <c:pt idx="22">
                  <c:v>UY</c:v>
                </c:pt>
                <c:pt idx="23">
                  <c:v>AW</c:v>
                </c:pt>
                <c:pt idx="24">
                  <c:v>HH</c:v>
                </c:pt>
                <c:pt idx="25">
                  <c:v>EG</c:v>
                </c:pt>
                <c:pt idx="26">
                  <c:v>GK</c:v>
                </c:pt>
                <c:pt idx="27">
                  <c:v>BR</c:v>
                </c:pt>
                <c:pt idx="28">
                  <c:v>SB</c:v>
                </c:pt>
                <c:pt idx="29">
                  <c:v>WX</c:v>
                </c:pt>
                <c:pt idx="30">
                  <c:v>XR</c:v>
                </c:pt>
                <c:pt idx="31">
                  <c:v>OU</c:v>
                </c:pt>
                <c:pt idx="32">
                  <c:v>FM</c:v>
                </c:pt>
                <c:pt idx="33">
                  <c:v>NE</c:v>
                </c:pt>
                <c:pt idx="34">
                  <c:v>VP</c:v>
                </c:pt>
                <c:pt idx="35">
                  <c:v>CL</c:v>
                </c:pt>
                <c:pt idx="36">
                  <c:v>GJ</c:v>
                </c:pt>
                <c:pt idx="37">
                  <c:v>QO</c:v>
                </c:pt>
                <c:pt idx="38">
                  <c:v>HF</c:v>
                </c:pt>
                <c:pt idx="39">
                  <c:v>ZQ</c:v>
                </c:pt>
                <c:pt idx="40">
                  <c:v>NH</c:v>
                </c:pt>
                <c:pt idx="41">
                  <c:v>MJ</c:v>
                </c:pt>
                <c:pt idx="42">
                  <c:v>XE</c:v>
                </c:pt>
                <c:pt idx="43">
                  <c:v>BV</c:v>
                </c:pt>
                <c:pt idx="44">
                  <c:v>MD</c:v>
                </c:pt>
                <c:pt idx="45">
                  <c:v>PE</c:v>
                </c:pt>
                <c:pt idx="46">
                  <c:v>YT</c:v>
                </c:pt>
                <c:pt idx="47">
                  <c:v>JW</c:v>
                </c:pt>
                <c:pt idx="48">
                  <c:v>AK</c:v>
                </c:pt>
                <c:pt idx="49">
                  <c:v>NL</c:v>
                </c:pt>
                <c:pt idx="50">
                  <c:v>TB</c:v>
                </c:pt>
                <c:pt idx="51">
                  <c:v>UD</c:v>
                </c:pt>
                <c:pt idx="52">
                  <c:v>IF</c:v>
                </c:pt>
                <c:pt idx="53">
                  <c:v>RU</c:v>
                </c:pt>
              </c:strCache>
            </c:strRef>
          </c:cat>
          <c:val>
            <c:numRef>
              <c:f>Sheet1!$B$2:$B$55</c:f>
              <c:numCache>
                <c:formatCode>General</c:formatCode>
                <c:ptCount val="54"/>
                <c:pt idx="0">
                  <c:v>131.5</c:v>
                </c:pt>
                <c:pt idx="1">
                  <c:v>128.19999999999999</c:v>
                </c:pt>
                <c:pt idx="2">
                  <c:v>126.7</c:v>
                </c:pt>
                <c:pt idx="3">
                  <c:v>126.4</c:v>
                </c:pt>
                <c:pt idx="4">
                  <c:v>122.5</c:v>
                </c:pt>
                <c:pt idx="5">
                  <c:v>119.5</c:v>
                </c:pt>
                <c:pt idx="6">
                  <c:v>119.1</c:v>
                </c:pt>
                <c:pt idx="7">
                  <c:v>116.7</c:v>
                </c:pt>
                <c:pt idx="8">
                  <c:v>114</c:v>
                </c:pt>
                <c:pt idx="9">
                  <c:v>113.6</c:v>
                </c:pt>
                <c:pt idx="10">
                  <c:v>113</c:v>
                </c:pt>
                <c:pt idx="11">
                  <c:v>112.3</c:v>
                </c:pt>
                <c:pt idx="12">
                  <c:v>110.7</c:v>
                </c:pt>
                <c:pt idx="13">
                  <c:v>109.8</c:v>
                </c:pt>
                <c:pt idx="14">
                  <c:v>109</c:v>
                </c:pt>
                <c:pt idx="15">
                  <c:v>107.9</c:v>
                </c:pt>
                <c:pt idx="16">
                  <c:v>106.6</c:v>
                </c:pt>
                <c:pt idx="17">
                  <c:v>#N/A</c:v>
                </c:pt>
                <c:pt idx="18">
                  <c:v>105.3</c:v>
                </c:pt>
                <c:pt idx="19">
                  <c:v>102.2</c:v>
                </c:pt>
                <c:pt idx="20">
                  <c:v>101.9</c:v>
                </c:pt>
                <c:pt idx="21">
                  <c:v>101.6</c:v>
                </c:pt>
                <c:pt idx="22">
                  <c:v>100.9</c:v>
                </c:pt>
                <c:pt idx="23">
                  <c:v>99.3</c:v>
                </c:pt>
                <c:pt idx="24">
                  <c:v>98.5</c:v>
                </c:pt>
                <c:pt idx="25">
                  <c:v>96.4</c:v>
                </c:pt>
                <c:pt idx="26">
                  <c:v>96.3</c:v>
                </c:pt>
                <c:pt idx="27">
                  <c:v>96</c:v>
                </c:pt>
                <c:pt idx="28">
                  <c:v>95.2</c:v>
                </c:pt>
                <c:pt idx="29">
                  <c:v>95</c:v>
                </c:pt>
                <c:pt idx="30">
                  <c:v>94.9</c:v>
                </c:pt>
                <c:pt idx="31">
                  <c:v>94.5</c:v>
                </c:pt>
                <c:pt idx="32">
                  <c:v>94.4</c:v>
                </c:pt>
                <c:pt idx="33">
                  <c:v>94.3</c:v>
                </c:pt>
                <c:pt idx="34">
                  <c:v>94.3</c:v>
                </c:pt>
                <c:pt idx="35">
                  <c:v>93.7</c:v>
                </c:pt>
                <c:pt idx="36">
                  <c:v>92.4</c:v>
                </c:pt>
                <c:pt idx="37">
                  <c:v>92.3</c:v>
                </c:pt>
                <c:pt idx="38">
                  <c:v>92.2</c:v>
                </c:pt>
                <c:pt idx="39">
                  <c:v>91.2</c:v>
                </c:pt>
                <c:pt idx="40">
                  <c:v>89.3</c:v>
                </c:pt>
                <c:pt idx="41">
                  <c:v>88.8</c:v>
                </c:pt>
                <c:pt idx="42">
                  <c:v>88.1</c:v>
                </c:pt>
                <c:pt idx="43">
                  <c:v>87.8</c:v>
                </c:pt>
                <c:pt idx="44">
                  <c:v>87.5</c:v>
                </c:pt>
                <c:pt idx="45">
                  <c:v>86.4</c:v>
                </c:pt>
                <c:pt idx="46">
                  <c:v>85.6</c:v>
                </c:pt>
                <c:pt idx="47">
                  <c:v>85.1</c:v>
                </c:pt>
                <c:pt idx="48">
                  <c:v>84.5</c:v>
                </c:pt>
                <c:pt idx="49">
                  <c:v>84.1</c:v>
                </c:pt>
                <c:pt idx="50">
                  <c:v>83.5</c:v>
                </c:pt>
                <c:pt idx="51">
                  <c:v>80.8</c:v>
                </c:pt>
                <c:pt idx="52">
                  <c:v>78.599999999999994</c:v>
                </c:pt>
                <c:pt idx="53">
                  <c:v>74.099999999999994</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105.5</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9A6B-49CB-9663-A928643CB0B5}"/>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31"/>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0-1102-42E8-A8BA-1E0D7E07583A}"/>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JA </c:v>
                </c:pt>
                <c:pt idx="1">
                  <c:v> YM </c:v>
                </c:pt>
                <c:pt idx="2">
                  <c:v> CF </c:v>
                </c:pt>
                <c:pt idx="3">
                  <c:v> CD </c:v>
                </c:pt>
                <c:pt idx="4">
                  <c:v> ZH </c:v>
                </c:pt>
                <c:pt idx="5">
                  <c:v> KZ </c:v>
                </c:pt>
                <c:pt idx="6">
                  <c:v> DO </c:v>
                </c:pt>
                <c:pt idx="7">
                  <c:v> FF </c:v>
                </c:pt>
                <c:pt idx="8">
                  <c:v> YT </c:v>
                </c:pt>
                <c:pt idx="9">
                  <c:v> SC </c:v>
                </c:pt>
                <c:pt idx="10">
                  <c:v> HF </c:v>
                </c:pt>
                <c:pt idx="11">
                  <c:v> RG </c:v>
                </c:pt>
                <c:pt idx="12">
                  <c:v> ON </c:v>
                </c:pt>
                <c:pt idx="13">
                  <c:v> HI </c:v>
                </c:pt>
                <c:pt idx="14">
                  <c:v> XR </c:v>
                </c:pt>
                <c:pt idx="15">
                  <c:v> AK </c:v>
                </c:pt>
                <c:pt idx="16">
                  <c:v> OU </c:v>
                </c:pt>
                <c:pt idx="17">
                  <c:v> BV </c:v>
                </c:pt>
                <c:pt idx="18">
                  <c:v> GC </c:v>
                </c:pt>
                <c:pt idx="19">
                  <c:v> EJ </c:v>
                </c:pt>
                <c:pt idx="20">
                  <c:v> FA </c:v>
                </c:pt>
                <c:pt idx="21">
                  <c:v> NE </c:v>
                </c:pt>
                <c:pt idx="22">
                  <c:v> EG </c:v>
                </c:pt>
                <c:pt idx="23">
                  <c:v> PE </c:v>
                </c:pt>
                <c:pt idx="24">
                  <c:v> MG </c:v>
                </c:pt>
                <c:pt idx="25">
                  <c:v> MJ </c:v>
                </c:pt>
                <c:pt idx="26">
                  <c:v> AI </c:v>
                </c:pt>
                <c:pt idx="27">
                  <c:v> VP </c:v>
                </c:pt>
                <c:pt idx="28">
                  <c:v> SB </c:v>
                </c:pt>
                <c:pt idx="29">
                  <c:v> UD </c:v>
                </c:pt>
                <c:pt idx="30">
                  <c:v> ZQ </c:v>
                </c:pt>
                <c:pt idx="31">
                  <c:v> AMD</c:v>
                </c:pt>
                <c:pt idx="32">
                  <c:v> GK </c:v>
                </c:pt>
                <c:pt idx="33">
                  <c:v> TN </c:v>
                </c:pt>
                <c:pt idx="34">
                  <c:v> QO </c:v>
                </c:pt>
                <c:pt idx="35">
                  <c:v> EO </c:v>
                </c:pt>
                <c:pt idx="36">
                  <c:v> WX </c:v>
                </c:pt>
                <c:pt idx="37">
                  <c:v> JW </c:v>
                </c:pt>
                <c:pt idx="38">
                  <c:v> NL </c:v>
                </c:pt>
                <c:pt idx="39">
                  <c:v> TB </c:v>
                </c:pt>
                <c:pt idx="40">
                  <c:v> AW </c:v>
                </c:pt>
                <c:pt idx="41">
                  <c:v> XE </c:v>
                </c:pt>
                <c:pt idx="42">
                  <c:v> BR </c:v>
                </c:pt>
                <c:pt idx="43">
                  <c:v> MD </c:v>
                </c:pt>
                <c:pt idx="44">
                  <c:v> DN </c:v>
                </c:pt>
                <c:pt idx="45">
                  <c:v> IF </c:v>
                </c:pt>
                <c:pt idx="46">
                  <c:v> KS </c:v>
                </c:pt>
                <c:pt idx="47">
                  <c:v> HH </c:v>
                </c:pt>
                <c:pt idx="48">
                  <c:v> NH </c:v>
                </c:pt>
                <c:pt idx="49">
                  <c:v> FM </c:v>
                </c:pt>
                <c:pt idx="50">
                  <c:v> GJ </c:v>
                </c:pt>
                <c:pt idx="51">
                  <c:v> UY </c:v>
                </c:pt>
                <c:pt idx="52">
                  <c:v> CL </c:v>
                </c:pt>
                <c:pt idx="53">
                  <c:v> RU </c:v>
                </c:pt>
              </c:strCache>
            </c:strRef>
          </c:cat>
          <c:val>
            <c:numRef>
              <c:f>Sheet1!$B$2:$B$55</c:f>
              <c:numCache>
                <c:formatCode>General</c:formatCode>
                <c:ptCount val="54"/>
                <c:pt idx="0">
                  <c:v>149.4</c:v>
                </c:pt>
                <c:pt idx="1">
                  <c:v>146.19999999999999</c:v>
                </c:pt>
                <c:pt idx="2">
                  <c:v>145.19999999999999</c:v>
                </c:pt>
                <c:pt idx="3">
                  <c:v>143.19999999999999</c:v>
                </c:pt>
                <c:pt idx="4">
                  <c:v>142.9</c:v>
                </c:pt>
                <c:pt idx="5">
                  <c:v>134.5</c:v>
                </c:pt>
                <c:pt idx="6">
                  <c:v>132.69999999999999</c:v>
                </c:pt>
                <c:pt idx="7">
                  <c:v>132.1</c:v>
                </c:pt>
                <c:pt idx="8">
                  <c:v>126.8</c:v>
                </c:pt>
                <c:pt idx="9">
                  <c:v>121</c:v>
                </c:pt>
                <c:pt idx="10">
                  <c:v>120.1</c:v>
                </c:pt>
                <c:pt idx="11">
                  <c:v>119</c:v>
                </c:pt>
                <c:pt idx="12">
                  <c:v>118.5</c:v>
                </c:pt>
                <c:pt idx="13">
                  <c:v>118.1</c:v>
                </c:pt>
                <c:pt idx="14">
                  <c:v>114.9</c:v>
                </c:pt>
                <c:pt idx="15">
                  <c:v>111.8</c:v>
                </c:pt>
                <c:pt idx="16">
                  <c:v>111.7</c:v>
                </c:pt>
                <c:pt idx="17">
                  <c:v>110.5</c:v>
                </c:pt>
                <c:pt idx="18">
                  <c:v>110</c:v>
                </c:pt>
                <c:pt idx="19">
                  <c:v>108.8</c:v>
                </c:pt>
                <c:pt idx="20">
                  <c:v>108.6</c:v>
                </c:pt>
                <c:pt idx="21">
                  <c:v>106.8</c:v>
                </c:pt>
                <c:pt idx="22">
                  <c:v>105.9</c:v>
                </c:pt>
                <c:pt idx="23">
                  <c:v>104.4</c:v>
                </c:pt>
                <c:pt idx="24">
                  <c:v>104.2</c:v>
                </c:pt>
                <c:pt idx="25">
                  <c:v>102.7</c:v>
                </c:pt>
                <c:pt idx="26">
                  <c:v>102.6</c:v>
                </c:pt>
                <c:pt idx="27">
                  <c:v>102.6</c:v>
                </c:pt>
                <c:pt idx="28">
                  <c:v>101.8</c:v>
                </c:pt>
                <c:pt idx="29">
                  <c:v>96.6</c:v>
                </c:pt>
                <c:pt idx="30">
                  <c:v>94.6</c:v>
                </c:pt>
                <c:pt idx="31">
                  <c:v>#N/A</c:v>
                </c:pt>
                <c:pt idx="32">
                  <c:v>93.3</c:v>
                </c:pt>
                <c:pt idx="33">
                  <c:v>91.6</c:v>
                </c:pt>
                <c:pt idx="34">
                  <c:v>90.4</c:v>
                </c:pt>
                <c:pt idx="35">
                  <c:v>87.8</c:v>
                </c:pt>
                <c:pt idx="36">
                  <c:v>86</c:v>
                </c:pt>
                <c:pt idx="37">
                  <c:v>85.8</c:v>
                </c:pt>
                <c:pt idx="38">
                  <c:v>85.2</c:v>
                </c:pt>
                <c:pt idx="39">
                  <c:v>84.9</c:v>
                </c:pt>
                <c:pt idx="40">
                  <c:v>84.5</c:v>
                </c:pt>
                <c:pt idx="41">
                  <c:v>83.2</c:v>
                </c:pt>
                <c:pt idx="42">
                  <c:v>82.6</c:v>
                </c:pt>
                <c:pt idx="43">
                  <c:v>81.599999999999994</c:v>
                </c:pt>
                <c:pt idx="44">
                  <c:v>81.3</c:v>
                </c:pt>
                <c:pt idx="45">
                  <c:v>81</c:v>
                </c:pt>
                <c:pt idx="46">
                  <c:v>77.5</c:v>
                </c:pt>
                <c:pt idx="47">
                  <c:v>72.7</c:v>
                </c:pt>
                <c:pt idx="48">
                  <c:v>69.7</c:v>
                </c:pt>
                <c:pt idx="49">
                  <c:v>63.8</c:v>
                </c:pt>
                <c:pt idx="50">
                  <c:v>63</c:v>
                </c:pt>
                <c:pt idx="51">
                  <c:v>60.4</c:v>
                </c:pt>
                <c:pt idx="52">
                  <c:v>35.5</c:v>
                </c:pt>
                <c:pt idx="53">
                  <c:v>16.399999999999999</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93.7</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48C3-4748-9CE7-E3F8BF63AB2A}"/>
            </c:ext>
          </c:extLst>
        </c:ser>
        <c:dLbls>
          <c:dLblPos val="inEnd"/>
          <c:showLegendKey val="0"/>
          <c:showVal val="1"/>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Pt>
            <c:idx val="39"/>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0-3485-4848-A604-1B8CA3B98EEC}"/>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EJ </c:v>
                </c:pt>
                <c:pt idx="1">
                  <c:v> AW </c:v>
                </c:pt>
                <c:pt idx="2">
                  <c:v> CD </c:v>
                </c:pt>
                <c:pt idx="3">
                  <c:v> TN </c:v>
                </c:pt>
                <c:pt idx="4">
                  <c:v> FA </c:v>
                </c:pt>
                <c:pt idx="5">
                  <c:v> ZQ </c:v>
                </c:pt>
                <c:pt idx="6">
                  <c:v> NE </c:v>
                </c:pt>
                <c:pt idx="7">
                  <c:v> JA </c:v>
                </c:pt>
                <c:pt idx="8">
                  <c:v> AK </c:v>
                </c:pt>
                <c:pt idx="9">
                  <c:v> AI </c:v>
                </c:pt>
                <c:pt idx="10">
                  <c:v> YM </c:v>
                </c:pt>
                <c:pt idx="11">
                  <c:v> IF </c:v>
                </c:pt>
                <c:pt idx="12">
                  <c:v> EG </c:v>
                </c:pt>
                <c:pt idx="13">
                  <c:v> ON </c:v>
                </c:pt>
                <c:pt idx="14">
                  <c:v> CF </c:v>
                </c:pt>
                <c:pt idx="15">
                  <c:v> SC </c:v>
                </c:pt>
                <c:pt idx="16">
                  <c:v> HF </c:v>
                </c:pt>
                <c:pt idx="17">
                  <c:v> OU </c:v>
                </c:pt>
                <c:pt idx="18">
                  <c:v> RG </c:v>
                </c:pt>
                <c:pt idx="19">
                  <c:v> BV </c:v>
                </c:pt>
                <c:pt idx="20">
                  <c:v> ZH </c:v>
                </c:pt>
                <c:pt idx="21">
                  <c:v> MG </c:v>
                </c:pt>
                <c:pt idx="22">
                  <c:v> GC </c:v>
                </c:pt>
                <c:pt idx="23">
                  <c:v> GK </c:v>
                </c:pt>
                <c:pt idx="24">
                  <c:v> XE </c:v>
                </c:pt>
                <c:pt idx="25">
                  <c:v> KS </c:v>
                </c:pt>
                <c:pt idx="26">
                  <c:v> BR </c:v>
                </c:pt>
                <c:pt idx="27">
                  <c:v> WX </c:v>
                </c:pt>
                <c:pt idx="28">
                  <c:v> UD </c:v>
                </c:pt>
                <c:pt idx="29">
                  <c:v> GJ </c:v>
                </c:pt>
                <c:pt idx="30">
                  <c:v> VP </c:v>
                </c:pt>
                <c:pt idx="31">
                  <c:v> CL </c:v>
                </c:pt>
                <c:pt idx="32">
                  <c:v> FM </c:v>
                </c:pt>
                <c:pt idx="33">
                  <c:v> PE </c:v>
                </c:pt>
                <c:pt idx="34">
                  <c:v> SB </c:v>
                </c:pt>
                <c:pt idx="35">
                  <c:v> TB </c:v>
                </c:pt>
                <c:pt idx="36">
                  <c:v> EO </c:v>
                </c:pt>
                <c:pt idx="37">
                  <c:v> HH </c:v>
                </c:pt>
                <c:pt idx="38">
                  <c:v> JW </c:v>
                </c:pt>
                <c:pt idx="39">
                  <c:v> AMD</c:v>
                </c:pt>
                <c:pt idx="40">
                  <c:v> MJ </c:v>
                </c:pt>
                <c:pt idx="41">
                  <c:v> MD </c:v>
                </c:pt>
                <c:pt idx="42">
                  <c:v> KZ </c:v>
                </c:pt>
                <c:pt idx="43">
                  <c:v> HI </c:v>
                </c:pt>
                <c:pt idx="44">
                  <c:v> DO </c:v>
                </c:pt>
                <c:pt idx="45">
                  <c:v> UY </c:v>
                </c:pt>
                <c:pt idx="46">
                  <c:v> FF </c:v>
                </c:pt>
                <c:pt idx="47">
                  <c:v> XR </c:v>
                </c:pt>
                <c:pt idx="48">
                  <c:v> RU </c:v>
                </c:pt>
                <c:pt idx="49">
                  <c:v> YT </c:v>
                </c:pt>
                <c:pt idx="50">
                  <c:v> DN </c:v>
                </c:pt>
                <c:pt idx="51">
                  <c:v> NH </c:v>
                </c:pt>
                <c:pt idx="52">
                  <c:v> QO </c:v>
                </c:pt>
                <c:pt idx="53">
                  <c:v> NL </c:v>
                </c:pt>
              </c:strCache>
            </c:strRef>
          </c:cat>
          <c:val>
            <c:numRef>
              <c:f>Sheet1!$B$2:$B$55</c:f>
              <c:numCache>
                <c:formatCode>General</c:formatCode>
                <c:ptCount val="54"/>
                <c:pt idx="0">
                  <c:v>117</c:v>
                </c:pt>
                <c:pt idx="1">
                  <c:v>112</c:v>
                </c:pt>
                <c:pt idx="2">
                  <c:v>111</c:v>
                </c:pt>
                <c:pt idx="3">
                  <c:v>110.2</c:v>
                </c:pt>
                <c:pt idx="4">
                  <c:v>109.3</c:v>
                </c:pt>
                <c:pt idx="5">
                  <c:v>107.4</c:v>
                </c:pt>
                <c:pt idx="6">
                  <c:v>107.2</c:v>
                </c:pt>
                <c:pt idx="7">
                  <c:v>107.1</c:v>
                </c:pt>
                <c:pt idx="8">
                  <c:v>106.6</c:v>
                </c:pt>
                <c:pt idx="9">
                  <c:v>105.7</c:v>
                </c:pt>
                <c:pt idx="10">
                  <c:v>104.8</c:v>
                </c:pt>
                <c:pt idx="11">
                  <c:v>104.7</c:v>
                </c:pt>
                <c:pt idx="12">
                  <c:v>104.4</c:v>
                </c:pt>
                <c:pt idx="13">
                  <c:v>104.2</c:v>
                </c:pt>
                <c:pt idx="14">
                  <c:v>104.1</c:v>
                </c:pt>
                <c:pt idx="15">
                  <c:v>104.1</c:v>
                </c:pt>
                <c:pt idx="16">
                  <c:v>103.8</c:v>
                </c:pt>
                <c:pt idx="17">
                  <c:v>103.1</c:v>
                </c:pt>
                <c:pt idx="18">
                  <c:v>102.5</c:v>
                </c:pt>
                <c:pt idx="19">
                  <c:v>102.4</c:v>
                </c:pt>
                <c:pt idx="20">
                  <c:v>102.4</c:v>
                </c:pt>
                <c:pt idx="21">
                  <c:v>102.2</c:v>
                </c:pt>
                <c:pt idx="22">
                  <c:v>102.1</c:v>
                </c:pt>
                <c:pt idx="23">
                  <c:v>101.3</c:v>
                </c:pt>
                <c:pt idx="24">
                  <c:v>100.8</c:v>
                </c:pt>
                <c:pt idx="25">
                  <c:v>100.3</c:v>
                </c:pt>
                <c:pt idx="26">
                  <c:v>100.1</c:v>
                </c:pt>
                <c:pt idx="27">
                  <c:v>100</c:v>
                </c:pt>
                <c:pt idx="28">
                  <c:v>100</c:v>
                </c:pt>
                <c:pt idx="29">
                  <c:v>99.5</c:v>
                </c:pt>
                <c:pt idx="30">
                  <c:v>99.3</c:v>
                </c:pt>
                <c:pt idx="31">
                  <c:v>99</c:v>
                </c:pt>
                <c:pt idx="32">
                  <c:v>98.9</c:v>
                </c:pt>
                <c:pt idx="33">
                  <c:v>98.8</c:v>
                </c:pt>
                <c:pt idx="34">
                  <c:v>98.6</c:v>
                </c:pt>
                <c:pt idx="35">
                  <c:v>98.6</c:v>
                </c:pt>
                <c:pt idx="36">
                  <c:v>98.2</c:v>
                </c:pt>
                <c:pt idx="37">
                  <c:v>98.1</c:v>
                </c:pt>
                <c:pt idx="38">
                  <c:v>98.1</c:v>
                </c:pt>
                <c:pt idx="39">
                  <c:v>#N/A</c:v>
                </c:pt>
                <c:pt idx="40">
                  <c:v>97.7</c:v>
                </c:pt>
                <c:pt idx="41">
                  <c:v>97.7</c:v>
                </c:pt>
                <c:pt idx="42">
                  <c:v>96.4</c:v>
                </c:pt>
                <c:pt idx="43">
                  <c:v>96.2</c:v>
                </c:pt>
                <c:pt idx="44">
                  <c:v>95.1</c:v>
                </c:pt>
                <c:pt idx="45">
                  <c:v>94.9</c:v>
                </c:pt>
                <c:pt idx="46">
                  <c:v>94.7</c:v>
                </c:pt>
                <c:pt idx="47">
                  <c:v>93.4</c:v>
                </c:pt>
                <c:pt idx="48">
                  <c:v>93</c:v>
                </c:pt>
                <c:pt idx="49">
                  <c:v>90.9</c:v>
                </c:pt>
                <c:pt idx="50">
                  <c:v>85.8</c:v>
                </c:pt>
                <c:pt idx="51">
                  <c:v>83.8</c:v>
                </c:pt>
                <c:pt idx="52">
                  <c:v>77.7</c:v>
                </c:pt>
                <c:pt idx="53">
                  <c:v>77.099999999999994</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97.8</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A8B3-4C21-8087-3F12108FA6F8}"/>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18"/>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0-2A0B-4A9C-8681-5E6A72B68714}"/>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YM </c:v>
                </c:pt>
                <c:pt idx="1">
                  <c:v> FF </c:v>
                </c:pt>
                <c:pt idx="2">
                  <c:v> JA </c:v>
                </c:pt>
                <c:pt idx="3">
                  <c:v> ZH </c:v>
                </c:pt>
                <c:pt idx="4">
                  <c:v> KZ </c:v>
                </c:pt>
                <c:pt idx="5">
                  <c:v> CD </c:v>
                </c:pt>
                <c:pt idx="6">
                  <c:v> CF </c:v>
                </c:pt>
                <c:pt idx="7">
                  <c:v> FA </c:v>
                </c:pt>
                <c:pt idx="8">
                  <c:v> SC </c:v>
                </c:pt>
                <c:pt idx="9">
                  <c:v> DO </c:v>
                </c:pt>
                <c:pt idx="10">
                  <c:v> ON </c:v>
                </c:pt>
                <c:pt idx="11">
                  <c:v> EJ </c:v>
                </c:pt>
                <c:pt idx="12">
                  <c:v> GC </c:v>
                </c:pt>
                <c:pt idx="13">
                  <c:v> HI </c:v>
                </c:pt>
                <c:pt idx="14">
                  <c:v> TN </c:v>
                </c:pt>
                <c:pt idx="15">
                  <c:v> AI </c:v>
                </c:pt>
                <c:pt idx="16">
                  <c:v> DN </c:v>
                </c:pt>
                <c:pt idx="17">
                  <c:v> MG </c:v>
                </c:pt>
                <c:pt idx="18">
                  <c:v> AMD </c:v>
                </c:pt>
                <c:pt idx="19">
                  <c:v> RG </c:v>
                </c:pt>
                <c:pt idx="20">
                  <c:v> EO </c:v>
                </c:pt>
                <c:pt idx="21">
                  <c:v> KS </c:v>
                </c:pt>
                <c:pt idx="22">
                  <c:v> AW </c:v>
                </c:pt>
                <c:pt idx="23">
                  <c:v> UY </c:v>
                </c:pt>
                <c:pt idx="24">
                  <c:v> EG </c:v>
                </c:pt>
                <c:pt idx="25">
                  <c:v> HH </c:v>
                </c:pt>
                <c:pt idx="26">
                  <c:v> XR </c:v>
                </c:pt>
                <c:pt idx="27">
                  <c:v> GK </c:v>
                </c:pt>
                <c:pt idx="28">
                  <c:v> SB </c:v>
                </c:pt>
                <c:pt idx="29">
                  <c:v> OU </c:v>
                </c:pt>
                <c:pt idx="30">
                  <c:v> NE </c:v>
                </c:pt>
                <c:pt idx="31">
                  <c:v> BR </c:v>
                </c:pt>
                <c:pt idx="32">
                  <c:v> VP </c:v>
                </c:pt>
                <c:pt idx="33">
                  <c:v> WX </c:v>
                </c:pt>
                <c:pt idx="34">
                  <c:v> HF </c:v>
                </c:pt>
                <c:pt idx="35">
                  <c:v> FM </c:v>
                </c:pt>
                <c:pt idx="36">
                  <c:v> QO </c:v>
                </c:pt>
                <c:pt idx="37">
                  <c:v> ZQ </c:v>
                </c:pt>
                <c:pt idx="38">
                  <c:v> GJ </c:v>
                </c:pt>
                <c:pt idx="39">
                  <c:v> CL </c:v>
                </c:pt>
                <c:pt idx="40">
                  <c:v> MJ </c:v>
                </c:pt>
                <c:pt idx="41">
                  <c:v> BV </c:v>
                </c:pt>
                <c:pt idx="42">
                  <c:v> YT </c:v>
                </c:pt>
                <c:pt idx="43">
                  <c:v> NH </c:v>
                </c:pt>
                <c:pt idx="44">
                  <c:v> XE </c:v>
                </c:pt>
                <c:pt idx="45">
                  <c:v> PE </c:v>
                </c:pt>
                <c:pt idx="46">
                  <c:v> MD </c:v>
                </c:pt>
                <c:pt idx="47">
                  <c:v> AK </c:v>
                </c:pt>
                <c:pt idx="48">
                  <c:v> JW </c:v>
                </c:pt>
                <c:pt idx="49">
                  <c:v> NL </c:v>
                </c:pt>
                <c:pt idx="50">
                  <c:v> TB </c:v>
                </c:pt>
                <c:pt idx="51">
                  <c:v> UD </c:v>
                </c:pt>
                <c:pt idx="52">
                  <c:v> IF </c:v>
                </c:pt>
                <c:pt idx="53">
                  <c:v> RU </c:v>
                </c:pt>
              </c:strCache>
            </c:strRef>
          </c:cat>
          <c:val>
            <c:numRef>
              <c:f>Sheet1!$B$2:$B$55</c:f>
              <c:numCache>
                <c:formatCode>General</c:formatCode>
                <c:ptCount val="54"/>
                <c:pt idx="0">
                  <c:v>132.5</c:v>
                </c:pt>
                <c:pt idx="1">
                  <c:v>128.5</c:v>
                </c:pt>
                <c:pt idx="2">
                  <c:v>128.19999999999999</c:v>
                </c:pt>
                <c:pt idx="3">
                  <c:v>127.5</c:v>
                </c:pt>
                <c:pt idx="4">
                  <c:v>123.3</c:v>
                </c:pt>
                <c:pt idx="5">
                  <c:v>121.1</c:v>
                </c:pt>
                <c:pt idx="6">
                  <c:v>120.8</c:v>
                </c:pt>
                <c:pt idx="7">
                  <c:v>116.2</c:v>
                </c:pt>
                <c:pt idx="8">
                  <c:v>114.5</c:v>
                </c:pt>
                <c:pt idx="9">
                  <c:v>113.7</c:v>
                </c:pt>
                <c:pt idx="10">
                  <c:v>113.3</c:v>
                </c:pt>
                <c:pt idx="11">
                  <c:v>113.2</c:v>
                </c:pt>
                <c:pt idx="12">
                  <c:v>110.6</c:v>
                </c:pt>
                <c:pt idx="13">
                  <c:v>110.4</c:v>
                </c:pt>
                <c:pt idx="14">
                  <c:v>107.8</c:v>
                </c:pt>
                <c:pt idx="15">
                  <c:v>106.3</c:v>
                </c:pt>
                <c:pt idx="16">
                  <c:v>106.1</c:v>
                </c:pt>
                <c:pt idx="17">
                  <c:v>105.2</c:v>
                </c:pt>
                <c:pt idx="18">
                  <c:v>#N/A</c:v>
                </c:pt>
                <c:pt idx="19">
                  <c:v>103.3</c:v>
                </c:pt>
                <c:pt idx="20">
                  <c:v>100.9</c:v>
                </c:pt>
                <c:pt idx="21">
                  <c:v>100</c:v>
                </c:pt>
                <c:pt idx="22">
                  <c:v>98.3</c:v>
                </c:pt>
                <c:pt idx="23">
                  <c:v>98.2</c:v>
                </c:pt>
                <c:pt idx="24">
                  <c:v>97</c:v>
                </c:pt>
                <c:pt idx="25">
                  <c:v>96.7</c:v>
                </c:pt>
                <c:pt idx="26">
                  <c:v>96.2</c:v>
                </c:pt>
                <c:pt idx="27">
                  <c:v>96.1</c:v>
                </c:pt>
                <c:pt idx="28">
                  <c:v>95.6</c:v>
                </c:pt>
                <c:pt idx="29">
                  <c:v>95.6</c:v>
                </c:pt>
                <c:pt idx="30">
                  <c:v>95.1</c:v>
                </c:pt>
                <c:pt idx="31">
                  <c:v>95.1</c:v>
                </c:pt>
                <c:pt idx="32">
                  <c:v>94.9</c:v>
                </c:pt>
                <c:pt idx="33">
                  <c:v>94.4</c:v>
                </c:pt>
                <c:pt idx="34">
                  <c:v>94.1</c:v>
                </c:pt>
                <c:pt idx="35">
                  <c:v>92.4</c:v>
                </c:pt>
                <c:pt idx="36">
                  <c:v>92.2</c:v>
                </c:pt>
                <c:pt idx="37">
                  <c:v>91.5</c:v>
                </c:pt>
                <c:pt idx="38">
                  <c:v>90.5</c:v>
                </c:pt>
                <c:pt idx="39">
                  <c:v>89.8</c:v>
                </c:pt>
                <c:pt idx="40">
                  <c:v>89.7</c:v>
                </c:pt>
                <c:pt idx="41">
                  <c:v>89.3</c:v>
                </c:pt>
                <c:pt idx="42">
                  <c:v>88.3</c:v>
                </c:pt>
                <c:pt idx="43">
                  <c:v>88</c:v>
                </c:pt>
                <c:pt idx="44">
                  <c:v>87.8</c:v>
                </c:pt>
                <c:pt idx="45">
                  <c:v>87.6</c:v>
                </c:pt>
                <c:pt idx="46">
                  <c:v>87.1</c:v>
                </c:pt>
                <c:pt idx="47">
                  <c:v>86.3</c:v>
                </c:pt>
                <c:pt idx="48">
                  <c:v>85.1</c:v>
                </c:pt>
                <c:pt idx="49">
                  <c:v>84.2</c:v>
                </c:pt>
                <c:pt idx="50">
                  <c:v>83.6</c:v>
                </c:pt>
                <c:pt idx="51">
                  <c:v>81.8</c:v>
                </c:pt>
                <c:pt idx="52">
                  <c:v>78.7</c:v>
                </c:pt>
                <c:pt idx="53">
                  <c:v>70.2</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104.7</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6627-43A3-8C86-A39CAD92AEC8}"/>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Pt>
            <c:idx val="28"/>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0-8672-4CA7-BDB2-4BE8DB9EAA48}"/>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FA </c:v>
                </c:pt>
                <c:pt idx="1">
                  <c:v> CD </c:v>
                </c:pt>
                <c:pt idx="2">
                  <c:v> YM </c:v>
                </c:pt>
                <c:pt idx="3">
                  <c:v> EJ </c:v>
                </c:pt>
                <c:pt idx="4">
                  <c:v> SC </c:v>
                </c:pt>
                <c:pt idx="5">
                  <c:v> FF </c:v>
                </c:pt>
                <c:pt idx="6">
                  <c:v> JA </c:v>
                </c:pt>
                <c:pt idx="7">
                  <c:v> ZH </c:v>
                </c:pt>
                <c:pt idx="8">
                  <c:v> DO </c:v>
                </c:pt>
                <c:pt idx="9">
                  <c:v> ON </c:v>
                </c:pt>
                <c:pt idx="10">
                  <c:v> KS </c:v>
                </c:pt>
                <c:pt idx="11">
                  <c:v> TN </c:v>
                </c:pt>
                <c:pt idx="12">
                  <c:v> HI </c:v>
                </c:pt>
                <c:pt idx="13">
                  <c:v> KZ </c:v>
                </c:pt>
                <c:pt idx="14">
                  <c:v> RG </c:v>
                </c:pt>
                <c:pt idx="15">
                  <c:v> HH </c:v>
                </c:pt>
                <c:pt idx="16">
                  <c:v> BR </c:v>
                </c:pt>
                <c:pt idx="17">
                  <c:v> EG </c:v>
                </c:pt>
                <c:pt idx="18">
                  <c:v> AI </c:v>
                </c:pt>
                <c:pt idx="19">
                  <c:v> MG </c:v>
                </c:pt>
                <c:pt idx="20">
                  <c:v> AW </c:v>
                </c:pt>
                <c:pt idx="21">
                  <c:v> CF </c:v>
                </c:pt>
                <c:pt idx="22">
                  <c:v> GJ </c:v>
                </c:pt>
                <c:pt idx="23">
                  <c:v> HF </c:v>
                </c:pt>
                <c:pt idx="24">
                  <c:v> UY </c:v>
                </c:pt>
                <c:pt idx="25">
                  <c:v> NE </c:v>
                </c:pt>
                <c:pt idx="26">
                  <c:v> DN </c:v>
                </c:pt>
                <c:pt idx="27">
                  <c:v> ZQ </c:v>
                </c:pt>
                <c:pt idx="28">
                  <c:v> AMD </c:v>
                </c:pt>
                <c:pt idx="29">
                  <c:v> YT </c:v>
                </c:pt>
                <c:pt idx="30">
                  <c:v> UD </c:v>
                </c:pt>
                <c:pt idx="31">
                  <c:v> PE </c:v>
                </c:pt>
                <c:pt idx="32">
                  <c:v> XR </c:v>
                </c:pt>
                <c:pt idx="33">
                  <c:v> SB </c:v>
                </c:pt>
                <c:pt idx="34">
                  <c:v> WX </c:v>
                </c:pt>
                <c:pt idx="35">
                  <c:v> AK </c:v>
                </c:pt>
                <c:pt idx="36">
                  <c:v> MJ </c:v>
                </c:pt>
                <c:pt idx="37">
                  <c:v> CL </c:v>
                </c:pt>
                <c:pt idx="38">
                  <c:v> IF </c:v>
                </c:pt>
                <c:pt idx="39">
                  <c:v> RU </c:v>
                </c:pt>
                <c:pt idx="40">
                  <c:v> FM </c:v>
                </c:pt>
                <c:pt idx="41">
                  <c:v> OU </c:v>
                </c:pt>
                <c:pt idx="42">
                  <c:v> GK </c:v>
                </c:pt>
                <c:pt idx="43">
                  <c:v> GC </c:v>
                </c:pt>
                <c:pt idx="44">
                  <c:v> XE </c:v>
                </c:pt>
                <c:pt idx="45">
                  <c:v> QO </c:v>
                </c:pt>
                <c:pt idx="46">
                  <c:v> VP </c:v>
                </c:pt>
                <c:pt idx="47">
                  <c:v> JW </c:v>
                </c:pt>
                <c:pt idx="48">
                  <c:v> NL </c:v>
                </c:pt>
                <c:pt idx="49">
                  <c:v> MD </c:v>
                </c:pt>
                <c:pt idx="50">
                  <c:v> TB </c:v>
                </c:pt>
                <c:pt idx="51">
                  <c:v> NH </c:v>
                </c:pt>
                <c:pt idx="52">
                  <c:v> EO </c:v>
                </c:pt>
                <c:pt idx="53">
                  <c:v> BV </c:v>
                </c:pt>
              </c:strCache>
            </c:strRef>
          </c:cat>
          <c:val>
            <c:numRef>
              <c:f>Sheet1!$B$2:$B$55</c:f>
              <c:numCache>
                <c:formatCode>General</c:formatCode>
                <c:ptCount val="54"/>
                <c:pt idx="0">
                  <c:v>112</c:v>
                </c:pt>
                <c:pt idx="1">
                  <c:v>111.9</c:v>
                </c:pt>
                <c:pt idx="2">
                  <c:v>111</c:v>
                </c:pt>
                <c:pt idx="3">
                  <c:v>109.4</c:v>
                </c:pt>
                <c:pt idx="4">
                  <c:v>109.2</c:v>
                </c:pt>
                <c:pt idx="5">
                  <c:v>107.6</c:v>
                </c:pt>
                <c:pt idx="6">
                  <c:v>107.4</c:v>
                </c:pt>
                <c:pt idx="7">
                  <c:v>106.8</c:v>
                </c:pt>
                <c:pt idx="8">
                  <c:v>106.2</c:v>
                </c:pt>
                <c:pt idx="9">
                  <c:v>105.6</c:v>
                </c:pt>
                <c:pt idx="10">
                  <c:v>105.5</c:v>
                </c:pt>
                <c:pt idx="11">
                  <c:v>105</c:v>
                </c:pt>
                <c:pt idx="12">
                  <c:v>104.7</c:v>
                </c:pt>
                <c:pt idx="13">
                  <c:v>103.3</c:v>
                </c:pt>
                <c:pt idx="14">
                  <c:v>103</c:v>
                </c:pt>
                <c:pt idx="15">
                  <c:v>102.4</c:v>
                </c:pt>
                <c:pt idx="16">
                  <c:v>102.1</c:v>
                </c:pt>
                <c:pt idx="17">
                  <c:v>101.8</c:v>
                </c:pt>
                <c:pt idx="18">
                  <c:v>101.3</c:v>
                </c:pt>
                <c:pt idx="19">
                  <c:v>101.3</c:v>
                </c:pt>
                <c:pt idx="20">
                  <c:v>101.2</c:v>
                </c:pt>
                <c:pt idx="21">
                  <c:v>101.2</c:v>
                </c:pt>
                <c:pt idx="22">
                  <c:v>101.2</c:v>
                </c:pt>
                <c:pt idx="23">
                  <c:v>100.7</c:v>
                </c:pt>
                <c:pt idx="24">
                  <c:v>100.6</c:v>
                </c:pt>
                <c:pt idx="25">
                  <c:v>100.4</c:v>
                </c:pt>
                <c:pt idx="26">
                  <c:v>100.3</c:v>
                </c:pt>
                <c:pt idx="27">
                  <c:v>99.9</c:v>
                </c:pt>
                <c:pt idx="28">
                  <c:v>#N/A</c:v>
                </c:pt>
                <c:pt idx="29">
                  <c:v>99.5</c:v>
                </c:pt>
                <c:pt idx="30">
                  <c:v>99.4</c:v>
                </c:pt>
                <c:pt idx="31">
                  <c:v>99.2</c:v>
                </c:pt>
                <c:pt idx="32">
                  <c:v>98.9</c:v>
                </c:pt>
                <c:pt idx="33">
                  <c:v>98.5</c:v>
                </c:pt>
                <c:pt idx="34">
                  <c:v>98</c:v>
                </c:pt>
                <c:pt idx="35">
                  <c:v>97.9</c:v>
                </c:pt>
                <c:pt idx="36">
                  <c:v>97.7</c:v>
                </c:pt>
                <c:pt idx="37">
                  <c:v>97.5</c:v>
                </c:pt>
                <c:pt idx="38">
                  <c:v>97.2</c:v>
                </c:pt>
                <c:pt idx="39">
                  <c:v>96.9</c:v>
                </c:pt>
                <c:pt idx="40">
                  <c:v>96.3</c:v>
                </c:pt>
                <c:pt idx="41">
                  <c:v>95.2</c:v>
                </c:pt>
                <c:pt idx="42">
                  <c:v>94.9</c:v>
                </c:pt>
                <c:pt idx="43">
                  <c:v>94.5</c:v>
                </c:pt>
                <c:pt idx="44">
                  <c:v>94.1</c:v>
                </c:pt>
                <c:pt idx="45">
                  <c:v>93.2</c:v>
                </c:pt>
                <c:pt idx="46">
                  <c:v>92.7</c:v>
                </c:pt>
                <c:pt idx="47">
                  <c:v>92.7</c:v>
                </c:pt>
                <c:pt idx="48">
                  <c:v>92.4</c:v>
                </c:pt>
                <c:pt idx="49">
                  <c:v>92</c:v>
                </c:pt>
                <c:pt idx="50">
                  <c:v>90.7</c:v>
                </c:pt>
                <c:pt idx="51">
                  <c:v>90.2</c:v>
                </c:pt>
                <c:pt idx="52">
                  <c:v>89.7</c:v>
                </c:pt>
                <c:pt idx="53">
                  <c:v>87.8</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99.8</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22FC-4321-A4F5-3AEF9D0C20F8}"/>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6-ED59-4967-8CE6-52E3216B208C}"/>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ZH </c:v>
                </c:pt>
                <c:pt idx="1">
                  <c:v> VP </c:v>
                </c:pt>
                <c:pt idx="2">
                  <c:v> QO </c:v>
                </c:pt>
                <c:pt idx="3">
                  <c:v> CF </c:v>
                </c:pt>
                <c:pt idx="4">
                  <c:v> AI </c:v>
                </c:pt>
                <c:pt idx="5">
                  <c:v> BV </c:v>
                </c:pt>
                <c:pt idx="6">
                  <c:v> FA </c:v>
                </c:pt>
                <c:pt idx="7">
                  <c:v> NH </c:v>
                </c:pt>
                <c:pt idx="8">
                  <c:v> KS </c:v>
                </c:pt>
                <c:pt idx="9">
                  <c:v> DN </c:v>
                </c:pt>
                <c:pt idx="10">
                  <c:v> MD </c:v>
                </c:pt>
                <c:pt idx="11">
                  <c:v> EO </c:v>
                </c:pt>
                <c:pt idx="12">
                  <c:v> XE </c:v>
                </c:pt>
                <c:pt idx="13">
                  <c:v> ON </c:v>
                </c:pt>
                <c:pt idx="14">
                  <c:v> SC </c:v>
                </c:pt>
                <c:pt idx="15">
                  <c:v> YM </c:v>
                </c:pt>
                <c:pt idx="16">
                  <c:v> SB </c:v>
                </c:pt>
                <c:pt idx="17">
                  <c:v> OU </c:v>
                </c:pt>
                <c:pt idx="18">
                  <c:v> WX </c:v>
                </c:pt>
                <c:pt idx="19">
                  <c:v> AW </c:v>
                </c:pt>
                <c:pt idx="20">
                  <c:v> NL </c:v>
                </c:pt>
                <c:pt idx="21">
                  <c:v> GC </c:v>
                </c:pt>
                <c:pt idx="22">
                  <c:v> GJ </c:v>
                </c:pt>
                <c:pt idx="23">
                  <c:v> UD </c:v>
                </c:pt>
                <c:pt idx="24">
                  <c:v> KZ </c:v>
                </c:pt>
                <c:pt idx="25">
                  <c:v> UY </c:v>
                </c:pt>
                <c:pt idx="26">
                  <c:v> HF </c:v>
                </c:pt>
                <c:pt idx="27">
                  <c:v> AMD </c:v>
                </c:pt>
                <c:pt idx="28">
                  <c:v> FM </c:v>
                </c:pt>
                <c:pt idx="29">
                  <c:v> YT </c:v>
                </c:pt>
                <c:pt idx="30">
                  <c:v> TN </c:v>
                </c:pt>
                <c:pt idx="31">
                  <c:v> RU </c:v>
                </c:pt>
                <c:pt idx="32">
                  <c:v> EJ </c:v>
                </c:pt>
                <c:pt idx="33">
                  <c:v> BR </c:v>
                </c:pt>
                <c:pt idx="34">
                  <c:v> MJ </c:v>
                </c:pt>
                <c:pt idx="35">
                  <c:v> CL </c:v>
                </c:pt>
                <c:pt idx="36">
                  <c:v> FF </c:v>
                </c:pt>
                <c:pt idx="37">
                  <c:v> MG </c:v>
                </c:pt>
                <c:pt idx="38">
                  <c:v> HH </c:v>
                </c:pt>
                <c:pt idx="39">
                  <c:v> IF </c:v>
                </c:pt>
                <c:pt idx="40">
                  <c:v> RG </c:v>
                </c:pt>
                <c:pt idx="41">
                  <c:v> XR </c:v>
                </c:pt>
                <c:pt idx="42">
                  <c:v> NE </c:v>
                </c:pt>
                <c:pt idx="43">
                  <c:v> CD </c:v>
                </c:pt>
                <c:pt idx="44">
                  <c:v> TB </c:v>
                </c:pt>
                <c:pt idx="45">
                  <c:v> DO </c:v>
                </c:pt>
                <c:pt idx="46">
                  <c:v> JA </c:v>
                </c:pt>
                <c:pt idx="47">
                  <c:v> EG </c:v>
                </c:pt>
                <c:pt idx="48">
                  <c:v> JW </c:v>
                </c:pt>
                <c:pt idx="49">
                  <c:v> HI </c:v>
                </c:pt>
                <c:pt idx="50">
                  <c:v> GK </c:v>
                </c:pt>
                <c:pt idx="51">
                  <c:v> PE </c:v>
                </c:pt>
                <c:pt idx="52">
                  <c:v> ZQ </c:v>
                </c:pt>
                <c:pt idx="53">
                  <c:v> AK</c:v>
                </c:pt>
              </c:strCache>
            </c:strRef>
          </c:cat>
          <c:val>
            <c:numRef>
              <c:f>Sheet1!$B$2:$B$55</c:f>
              <c:numCache>
                <c:formatCode>General</c:formatCode>
                <c:ptCount val="54"/>
                <c:pt idx="0">
                  <c:v>229.9</c:v>
                </c:pt>
                <c:pt idx="1">
                  <c:v>191.7</c:v>
                </c:pt>
                <c:pt idx="2">
                  <c:v>163</c:v>
                </c:pt>
                <c:pt idx="3">
                  <c:v>156.80000000000001</c:v>
                </c:pt>
                <c:pt idx="4">
                  <c:v>153.1</c:v>
                </c:pt>
                <c:pt idx="5">
                  <c:v>153.1</c:v>
                </c:pt>
                <c:pt idx="6">
                  <c:v>152.80000000000001</c:v>
                </c:pt>
                <c:pt idx="7">
                  <c:v>152.80000000000001</c:v>
                </c:pt>
                <c:pt idx="8">
                  <c:v>134.80000000000001</c:v>
                </c:pt>
                <c:pt idx="9">
                  <c:v>134.1</c:v>
                </c:pt>
                <c:pt idx="10">
                  <c:v>134.1</c:v>
                </c:pt>
                <c:pt idx="11">
                  <c:v>133.4</c:v>
                </c:pt>
                <c:pt idx="12">
                  <c:v>127.6</c:v>
                </c:pt>
                <c:pt idx="13">
                  <c:v>125.4</c:v>
                </c:pt>
                <c:pt idx="14">
                  <c:v>125.3</c:v>
                </c:pt>
                <c:pt idx="15">
                  <c:v>125.3</c:v>
                </c:pt>
                <c:pt idx="16">
                  <c:v>116.1</c:v>
                </c:pt>
                <c:pt idx="17">
                  <c:v>114.8</c:v>
                </c:pt>
                <c:pt idx="18">
                  <c:v>114.7</c:v>
                </c:pt>
                <c:pt idx="19">
                  <c:v>114.3</c:v>
                </c:pt>
                <c:pt idx="20">
                  <c:v>114.3</c:v>
                </c:pt>
                <c:pt idx="21">
                  <c:v>111.2</c:v>
                </c:pt>
                <c:pt idx="22">
                  <c:v>107.9</c:v>
                </c:pt>
                <c:pt idx="23">
                  <c:v>102.1</c:v>
                </c:pt>
                <c:pt idx="24">
                  <c:v>102.1</c:v>
                </c:pt>
                <c:pt idx="25">
                  <c:v>102.1</c:v>
                </c:pt>
                <c:pt idx="26">
                  <c:v>101.7</c:v>
                </c:pt>
                <c:pt idx="27">
                  <c:v>#N/A</c:v>
                </c:pt>
                <c:pt idx="28">
                  <c:v>100.1</c:v>
                </c:pt>
                <c:pt idx="29">
                  <c:v>96.4</c:v>
                </c:pt>
                <c:pt idx="30">
                  <c:v>95.3</c:v>
                </c:pt>
                <c:pt idx="31">
                  <c:v>89.1</c:v>
                </c:pt>
                <c:pt idx="32">
                  <c:v>88</c:v>
                </c:pt>
                <c:pt idx="33">
                  <c:v>87.6</c:v>
                </c:pt>
                <c:pt idx="34">
                  <c:v>86.6</c:v>
                </c:pt>
                <c:pt idx="35">
                  <c:v>86.5</c:v>
                </c:pt>
                <c:pt idx="36">
                  <c:v>83.4</c:v>
                </c:pt>
                <c:pt idx="37">
                  <c:v>79.099999999999994</c:v>
                </c:pt>
                <c:pt idx="38">
                  <c:v>75.400000000000006</c:v>
                </c:pt>
                <c:pt idx="39">
                  <c:v>75.400000000000006</c:v>
                </c:pt>
                <c:pt idx="40">
                  <c:v>75.400000000000006</c:v>
                </c:pt>
                <c:pt idx="41">
                  <c:v>70.400000000000006</c:v>
                </c:pt>
                <c:pt idx="42">
                  <c:v>66</c:v>
                </c:pt>
                <c:pt idx="43">
                  <c:v>63</c:v>
                </c:pt>
                <c:pt idx="44">
                  <c:v>62.9</c:v>
                </c:pt>
                <c:pt idx="45">
                  <c:v>62.1</c:v>
                </c:pt>
                <c:pt idx="46">
                  <c:v>62</c:v>
                </c:pt>
                <c:pt idx="47">
                  <c:v>55.2</c:v>
                </c:pt>
                <c:pt idx="48">
                  <c:v>46.7</c:v>
                </c:pt>
                <c:pt idx="49">
                  <c:v>31.2</c:v>
                </c:pt>
                <c:pt idx="50">
                  <c:v>28.3</c:v>
                </c:pt>
                <c:pt idx="51">
                  <c:v>23.7</c:v>
                </c:pt>
                <c:pt idx="52">
                  <c:v>15.6</c:v>
                </c:pt>
                <c:pt idx="53">
                  <c:v>0</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100.4</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D5A4-4D8B-BD2F-AF6243788C6D}"/>
            </c:ext>
          </c:extLst>
        </c:ser>
        <c:dLbls>
          <c:dLblPos val="inEnd"/>
          <c:showLegendKey val="0"/>
          <c:showVal val="1"/>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5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rot="-5400000" vert="horz"/>
    <a:lstStyle/>
    <a:p>
      <a:pPr>
        <a:defRPr sz="1000">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Pt>
            <c:idx val="34"/>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5168-4E5F-B739-95088E9A04ED}"/>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ZH </c:v>
                </c:pt>
                <c:pt idx="1">
                  <c:v> VP </c:v>
                </c:pt>
                <c:pt idx="2">
                  <c:v> YM </c:v>
                </c:pt>
                <c:pt idx="3">
                  <c:v> SC </c:v>
                </c:pt>
                <c:pt idx="4">
                  <c:v> AI </c:v>
                </c:pt>
                <c:pt idx="5">
                  <c:v> BV </c:v>
                </c:pt>
                <c:pt idx="6">
                  <c:v> FA </c:v>
                </c:pt>
                <c:pt idx="7">
                  <c:v> NH </c:v>
                </c:pt>
                <c:pt idx="8">
                  <c:v> CF </c:v>
                </c:pt>
                <c:pt idx="9">
                  <c:v> FF </c:v>
                </c:pt>
                <c:pt idx="10">
                  <c:v> QO </c:v>
                </c:pt>
                <c:pt idx="11">
                  <c:v> KS </c:v>
                </c:pt>
                <c:pt idx="12">
                  <c:v> ON </c:v>
                </c:pt>
                <c:pt idx="13">
                  <c:v> XE </c:v>
                </c:pt>
                <c:pt idx="14">
                  <c:v> EO </c:v>
                </c:pt>
                <c:pt idx="15">
                  <c:v> WX </c:v>
                </c:pt>
                <c:pt idx="16">
                  <c:v> SB </c:v>
                </c:pt>
                <c:pt idx="17">
                  <c:v> AW </c:v>
                </c:pt>
                <c:pt idx="18">
                  <c:v> NL </c:v>
                </c:pt>
                <c:pt idx="19">
                  <c:v> CL </c:v>
                </c:pt>
                <c:pt idx="20">
                  <c:v> DN </c:v>
                </c:pt>
                <c:pt idx="21">
                  <c:v> MD </c:v>
                </c:pt>
                <c:pt idx="22">
                  <c:v> OU </c:v>
                </c:pt>
                <c:pt idx="23">
                  <c:v> HF </c:v>
                </c:pt>
                <c:pt idx="24">
                  <c:v> UD </c:v>
                </c:pt>
                <c:pt idx="25">
                  <c:v> KZ </c:v>
                </c:pt>
                <c:pt idx="26">
                  <c:v> UY </c:v>
                </c:pt>
                <c:pt idx="27">
                  <c:v> EJ </c:v>
                </c:pt>
                <c:pt idx="28">
                  <c:v> TN </c:v>
                </c:pt>
                <c:pt idx="29">
                  <c:v> BR </c:v>
                </c:pt>
                <c:pt idx="30">
                  <c:v> GJ </c:v>
                </c:pt>
                <c:pt idx="31">
                  <c:v> GC </c:v>
                </c:pt>
                <c:pt idx="32">
                  <c:v> EG </c:v>
                </c:pt>
                <c:pt idx="33">
                  <c:v> MJ </c:v>
                </c:pt>
                <c:pt idx="34">
                  <c:v> AMD </c:v>
                </c:pt>
                <c:pt idx="35">
                  <c:v> FM </c:v>
                </c:pt>
                <c:pt idx="36">
                  <c:v> HH </c:v>
                </c:pt>
                <c:pt idx="37">
                  <c:v> IF </c:v>
                </c:pt>
                <c:pt idx="38">
                  <c:v> RG </c:v>
                </c:pt>
                <c:pt idx="39">
                  <c:v> XR </c:v>
                </c:pt>
                <c:pt idx="40">
                  <c:v> MG </c:v>
                </c:pt>
                <c:pt idx="41">
                  <c:v> DO </c:v>
                </c:pt>
                <c:pt idx="42">
                  <c:v> RU </c:v>
                </c:pt>
                <c:pt idx="43">
                  <c:v> TB </c:v>
                </c:pt>
                <c:pt idx="44">
                  <c:v> YT </c:v>
                </c:pt>
                <c:pt idx="45">
                  <c:v> CD </c:v>
                </c:pt>
                <c:pt idx="46">
                  <c:v> NE </c:v>
                </c:pt>
                <c:pt idx="47">
                  <c:v> JA </c:v>
                </c:pt>
                <c:pt idx="48">
                  <c:v> JW </c:v>
                </c:pt>
                <c:pt idx="49">
                  <c:v> HI </c:v>
                </c:pt>
                <c:pt idx="50">
                  <c:v> GK </c:v>
                </c:pt>
                <c:pt idx="51">
                  <c:v> PE </c:v>
                </c:pt>
                <c:pt idx="52">
                  <c:v> ZQ </c:v>
                </c:pt>
                <c:pt idx="53">
                  <c:v> AK </c:v>
                </c:pt>
              </c:strCache>
            </c:strRef>
          </c:cat>
          <c:val>
            <c:numRef>
              <c:f>Sheet1!$B$2:$B$55</c:f>
              <c:numCache>
                <c:formatCode>General</c:formatCode>
                <c:ptCount val="54"/>
                <c:pt idx="0">
                  <c:v>142.5</c:v>
                </c:pt>
                <c:pt idx="1">
                  <c:v>134.80000000000001</c:v>
                </c:pt>
                <c:pt idx="2">
                  <c:v>131.19999999999999</c:v>
                </c:pt>
                <c:pt idx="3">
                  <c:v>131.1</c:v>
                </c:pt>
                <c:pt idx="4">
                  <c:v>121.3</c:v>
                </c:pt>
                <c:pt idx="5">
                  <c:v>121.3</c:v>
                </c:pt>
                <c:pt idx="6">
                  <c:v>121.2</c:v>
                </c:pt>
                <c:pt idx="7">
                  <c:v>120.3</c:v>
                </c:pt>
                <c:pt idx="8">
                  <c:v>112.3</c:v>
                </c:pt>
                <c:pt idx="9">
                  <c:v>112.2</c:v>
                </c:pt>
                <c:pt idx="10">
                  <c:v>111.7</c:v>
                </c:pt>
                <c:pt idx="11">
                  <c:v>111</c:v>
                </c:pt>
                <c:pt idx="12">
                  <c:v>110.9</c:v>
                </c:pt>
                <c:pt idx="13">
                  <c:v>110.7</c:v>
                </c:pt>
                <c:pt idx="14">
                  <c:v>108.5</c:v>
                </c:pt>
                <c:pt idx="15">
                  <c:v>107.7</c:v>
                </c:pt>
                <c:pt idx="16">
                  <c:v>107.4</c:v>
                </c:pt>
                <c:pt idx="17">
                  <c:v>107.3</c:v>
                </c:pt>
                <c:pt idx="18">
                  <c:v>107.3</c:v>
                </c:pt>
                <c:pt idx="19">
                  <c:v>107.1</c:v>
                </c:pt>
                <c:pt idx="20">
                  <c:v>106.1</c:v>
                </c:pt>
                <c:pt idx="21">
                  <c:v>106.1</c:v>
                </c:pt>
                <c:pt idx="22">
                  <c:v>105.4</c:v>
                </c:pt>
                <c:pt idx="23">
                  <c:v>101.4</c:v>
                </c:pt>
                <c:pt idx="24">
                  <c:v>100.1</c:v>
                </c:pt>
                <c:pt idx="25">
                  <c:v>100.1</c:v>
                </c:pt>
                <c:pt idx="26">
                  <c:v>100.1</c:v>
                </c:pt>
                <c:pt idx="27">
                  <c:v>99.3</c:v>
                </c:pt>
                <c:pt idx="28">
                  <c:v>98.8</c:v>
                </c:pt>
                <c:pt idx="29">
                  <c:v>97.4</c:v>
                </c:pt>
                <c:pt idx="30">
                  <c:v>96.7</c:v>
                </c:pt>
                <c:pt idx="31">
                  <c:v>96.6</c:v>
                </c:pt>
                <c:pt idx="32">
                  <c:v>96.3</c:v>
                </c:pt>
                <c:pt idx="33">
                  <c:v>96.1</c:v>
                </c:pt>
                <c:pt idx="34">
                  <c:v>#N/A</c:v>
                </c:pt>
                <c:pt idx="35">
                  <c:v>93.9</c:v>
                </c:pt>
                <c:pt idx="36">
                  <c:v>93.4</c:v>
                </c:pt>
                <c:pt idx="37">
                  <c:v>93.4</c:v>
                </c:pt>
                <c:pt idx="38">
                  <c:v>93.4</c:v>
                </c:pt>
                <c:pt idx="39">
                  <c:v>91.7</c:v>
                </c:pt>
                <c:pt idx="40">
                  <c:v>91.7</c:v>
                </c:pt>
                <c:pt idx="41">
                  <c:v>88.8</c:v>
                </c:pt>
                <c:pt idx="42">
                  <c:v>88.7</c:v>
                </c:pt>
                <c:pt idx="43">
                  <c:v>87.5</c:v>
                </c:pt>
                <c:pt idx="44">
                  <c:v>86.3</c:v>
                </c:pt>
                <c:pt idx="45">
                  <c:v>82.4</c:v>
                </c:pt>
                <c:pt idx="46">
                  <c:v>81.7</c:v>
                </c:pt>
                <c:pt idx="47">
                  <c:v>81.400000000000006</c:v>
                </c:pt>
                <c:pt idx="48">
                  <c:v>81.099999999999994</c:v>
                </c:pt>
                <c:pt idx="49">
                  <c:v>73.3</c:v>
                </c:pt>
                <c:pt idx="50">
                  <c:v>72.2</c:v>
                </c:pt>
                <c:pt idx="51">
                  <c:v>70.2</c:v>
                </c:pt>
                <c:pt idx="52">
                  <c:v>65.599999999999994</c:v>
                </c:pt>
                <c:pt idx="53">
                  <c:v>50.3</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94.3</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27EF-4518-8D56-7BFA59105040}"/>
            </c:ext>
          </c:extLst>
        </c:ser>
        <c:dLbls>
          <c:dLblPos val="inEnd"/>
          <c:showLegendKey val="0"/>
          <c:showVal val="1"/>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5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24"/>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ABA0-4BC7-B4C0-C680F239D3E1}"/>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TN </c:v>
                </c:pt>
                <c:pt idx="1">
                  <c:v> AK </c:v>
                </c:pt>
                <c:pt idx="2">
                  <c:v> OU </c:v>
                </c:pt>
                <c:pt idx="3">
                  <c:v> UD </c:v>
                </c:pt>
                <c:pt idx="4">
                  <c:v> ZQ </c:v>
                </c:pt>
                <c:pt idx="5">
                  <c:v> HF </c:v>
                </c:pt>
                <c:pt idx="6">
                  <c:v> DO </c:v>
                </c:pt>
                <c:pt idx="7">
                  <c:v> BR </c:v>
                </c:pt>
                <c:pt idx="8">
                  <c:v> YT </c:v>
                </c:pt>
                <c:pt idx="9">
                  <c:v> MG </c:v>
                </c:pt>
                <c:pt idx="10">
                  <c:v> MJ </c:v>
                </c:pt>
                <c:pt idx="11">
                  <c:v> IF </c:v>
                </c:pt>
                <c:pt idx="12">
                  <c:v> JW </c:v>
                </c:pt>
                <c:pt idx="13">
                  <c:v> CL </c:v>
                </c:pt>
                <c:pt idx="14">
                  <c:v> PE </c:v>
                </c:pt>
                <c:pt idx="15">
                  <c:v> GJ </c:v>
                </c:pt>
                <c:pt idx="16">
                  <c:v> DN </c:v>
                </c:pt>
                <c:pt idx="17">
                  <c:v> RU </c:v>
                </c:pt>
                <c:pt idx="18">
                  <c:v> NE </c:v>
                </c:pt>
                <c:pt idx="19">
                  <c:v> FF </c:v>
                </c:pt>
                <c:pt idx="20">
                  <c:v> MD </c:v>
                </c:pt>
                <c:pt idx="21">
                  <c:v> CD </c:v>
                </c:pt>
                <c:pt idx="22">
                  <c:v> EO </c:v>
                </c:pt>
                <c:pt idx="23">
                  <c:v> EG </c:v>
                </c:pt>
                <c:pt idx="24">
                  <c:v> AMD </c:v>
                </c:pt>
                <c:pt idx="25">
                  <c:v> FA </c:v>
                </c:pt>
                <c:pt idx="26">
                  <c:v> ON </c:v>
                </c:pt>
                <c:pt idx="27">
                  <c:v> FM </c:v>
                </c:pt>
                <c:pt idx="28">
                  <c:v> HH </c:v>
                </c:pt>
                <c:pt idx="29">
                  <c:v> UY </c:v>
                </c:pt>
                <c:pt idx="30">
                  <c:v> YM </c:v>
                </c:pt>
                <c:pt idx="31">
                  <c:v> SC </c:v>
                </c:pt>
                <c:pt idx="32">
                  <c:v> GC </c:v>
                </c:pt>
                <c:pt idx="33">
                  <c:v> XR </c:v>
                </c:pt>
                <c:pt idx="34">
                  <c:v> WX </c:v>
                </c:pt>
                <c:pt idx="35">
                  <c:v> AI </c:v>
                </c:pt>
                <c:pt idx="36">
                  <c:v> KS </c:v>
                </c:pt>
                <c:pt idx="37">
                  <c:v> AW </c:v>
                </c:pt>
                <c:pt idx="38">
                  <c:v> BV </c:v>
                </c:pt>
                <c:pt idx="39">
                  <c:v> CF </c:v>
                </c:pt>
                <c:pt idx="40">
                  <c:v> EJ </c:v>
                </c:pt>
                <c:pt idx="41">
                  <c:v> GK </c:v>
                </c:pt>
                <c:pt idx="42">
                  <c:v> HI </c:v>
                </c:pt>
                <c:pt idx="43">
                  <c:v> JA </c:v>
                </c:pt>
                <c:pt idx="44">
                  <c:v> KZ </c:v>
                </c:pt>
                <c:pt idx="45">
                  <c:v> NH </c:v>
                </c:pt>
                <c:pt idx="46">
                  <c:v> NL </c:v>
                </c:pt>
                <c:pt idx="47">
                  <c:v> QO </c:v>
                </c:pt>
                <c:pt idx="48">
                  <c:v> RG </c:v>
                </c:pt>
                <c:pt idx="49">
                  <c:v> SB </c:v>
                </c:pt>
                <c:pt idx="50">
                  <c:v> TB </c:v>
                </c:pt>
                <c:pt idx="51">
                  <c:v> VP </c:v>
                </c:pt>
                <c:pt idx="52">
                  <c:v> XE </c:v>
                </c:pt>
                <c:pt idx="53">
                  <c:v> ZH </c:v>
                </c:pt>
              </c:strCache>
            </c:strRef>
          </c:cat>
          <c:val>
            <c:numRef>
              <c:f>Sheet1!$B$2:$B$55</c:f>
              <c:numCache>
                <c:formatCode>General</c:formatCode>
                <c:ptCount val="54"/>
                <c:pt idx="0">
                  <c:v>250.5</c:v>
                </c:pt>
                <c:pt idx="1">
                  <c:v>235.3</c:v>
                </c:pt>
                <c:pt idx="2">
                  <c:v>235.3</c:v>
                </c:pt>
                <c:pt idx="3">
                  <c:v>234.7</c:v>
                </c:pt>
                <c:pt idx="4">
                  <c:v>209.4</c:v>
                </c:pt>
                <c:pt idx="5">
                  <c:v>178.7</c:v>
                </c:pt>
                <c:pt idx="6">
                  <c:v>178.6</c:v>
                </c:pt>
                <c:pt idx="7">
                  <c:v>170.9</c:v>
                </c:pt>
                <c:pt idx="8">
                  <c:v>168.9</c:v>
                </c:pt>
                <c:pt idx="9">
                  <c:v>160.6</c:v>
                </c:pt>
                <c:pt idx="10">
                  <c:v>160.6</c:v>
                </c:pt>
                <c:pt idx="11">
                  <c:v>160.6</c:v>
                </c:pt>
                <c:pt idx="12">
                  <c:v>160.6</c:v>
                </c:pt>
                <c:pt idx="13">
                  <c:v>158.80000000000001</c:v>
                </c:pt>
                <c:pt idx="14">
                  <c:v>158.80000000000001</c:v>
                </c:pt>
                <c:pt idx="15">
                  <c:v>151.1</c:v>
                </c:pt>
                <c:pt idx="16">
                  <c:v>151.1</c:v>
                </c:pt>
                <c:pt idx="17">
                  <c:v>151.1</c:v>
                </c:pt>
                <c:pt idx="18">
                  <c:v>151.1</c:v>
                </c:pt>
                <c:pt idx="19">
                  <c:v>149.5</c:v>
                </c:pt>
                <c:pt idx="20">
                  <c:v>141.6</c:v>
                </c:pt>
                <c:pt idx="21">
                  <c:v>141.6</c:v>
                </c:pt>
                <c:pt idx="22">
                  <c:v>141.6</c:v>
                </c:pt>
                <c:pt idx="23">
                  <c:v>140.1</c:v>
                </c:pt>
                <c:pt idx="24">
                  <c:v>#N/A</c:v>
                </c:pt>
                <c:pt idx="25">
                  <c:v>133.4</c:v>
                </c:pt>
                <c:pt idx="26">
                  <c:v>131.80000000000001</c:v>
                </c:pt>
                <c:pt idx="27">
                  <c:v>130.6</c:v>
                </c:pt>
                <c:pt idx="28">
                  <c:v>125.2</c:v>
                </c:pt>
                <c:pt idx="29">
                  <c:v>123.3</c:v>
                </c:pt>
                <c:pt idx="30">
                  <c:v>103.3</c:v>
                </c:pt>
                <c:pt idx="31">
                  <c:v>103.3</c:v>
                </c:pt>
                <c:pt idx="32">
                  <c:v>89.9</c:v>
                </c:pt>
                <c:pt idx="33">
                  <c:v>79.2</c:v>
                </c:pt>
                <c:pt idx="34">
                  <c:v>67.5</c:v>
                </c:pt>
                <c:pt idx="35">
                  <c:v>17.2</c:v>
                </c:pt>
                <c:pt idx="36">
                  <c:v>13.9</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140.1</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218A-4AC9-B38F-B5F8C8328527}"/>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3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6"/>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0-0A82-4CC8-8483-151064BDC1E4}"/>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TN </c:v>
                </c:pt>
                <c:pt idx="1">
                  <c:v> AK </c:v>
                </c:pt>
                <c:pt idx="2">
                  <c:v> OU </c:v>
                </c:pt>
                <c:pt idx="3">
                  <c:v> UD </c:v>
                </c:pt>
                <c:pt idx="4">
                  <c:v> BR </c:v>
                </c:pt>
                <c:pt idx="5">
                  <c:v> ZQ </c:v>
                </c:pt>
                <c:pt idx="6">
                  <c:v> HF </c:v>
                </c:pt>
                <c:pt idx="7">
                  <c:v> MG </c:v>
                </c:pt>
                <c:pt idx="8">
                  <c:v> MJ </c:v>
                </c:pt>
                <c:pt idx="9">
                  <c:v> IF </c:v>
                </c:pt>
                <c:pt idx="10">
                  <c:v> JW </c:v>
                </c:pt>
                <c:pt idx="11">
                  <c:v> CL </c:v>
                </c:pt>
                <c:pt idx="12">
                  <c:v> PE </c:v>
                </c:pt>
                <c:pt idx="13">
                  <c:v> YT </c:v>
                </c:pt>
                <c:pt idx="14">
                  <c:v> DN </c:v>
                </c:pt>
                <c:pt idx="15">
                  <c:v> GJ </c:v>
                </c:pt>
                <c:pt idx="16">
                  <c:v> RU </c:v>
                </c:pt>
                <c:pt idx="17">
                  <c:v> NE </c:v>
                </c:pt>
                <c:pt idx="18">
                  <c:v> FF </c:v>
                </c:pt>
                <c:pt idx="19">
                  <c:v> YM </c:v>
                </c:pt>
                <c:pt idx="20">
                  <c:v> SC </c:v>
                </c:pt>
                <c:pt idx="21">
                  <c:v> FA </c:v>
                </c:pt>
                <c:pt idx="22">
                  <c:v> DO </c:v>
                </c:pt>
                <c:pt idx="23">
                  <c:v> MD </c:v>
                </c:pt>
                <c:pt idx="24">
                  <c:v> CD </c:v>
                </c:pt>
                <c:pt idx="25">
                  <c:v> EO </c:v>
                </c:pt>
                <c:pt idx="26">
                  <c:v> AMD </c:v>
                </c:pt>
                <c:pt idx="27">
                  <c:v> EG </c:v>
                </c:pt>
                <c:pt idx="28">
                  <c:v> WX </c:v>
                </c:pt>
                <c:pt idx="29">
                  <c:v> HH </c:v>
                </c:pt>
                <c:pt idx="30">
                  <c:v> XR </c:v>
                </c:pt>
                <c:pt idx="31">
                  <c:v> UY </c:v>
                </c:pt>
                <c:pt idx="32">
                  <c:v> ON </c:v>
                </c:pt>
                <c:pt idx="33">
                  <c:v> FM </c:v>
                </c:pt>
                <c:pt idx="34">
                  <c:v> GC </c:v>
                </c:pt>
                <c:pt idx="35">
                  <c:v> AI </c:v>
                </c:pt>
                <c:pt idx="36">
                  <c:v> KS </c:v>
                </c:pt>
                <c:pt idx="37">
                  <c:v> AW </c:v>
                </c:pt>
                <c:pt idx="38">
                  <c:v> BV </c:v>
                </c:pt>
                <c:pt idx="39">
                  <c:v> CF </c:v>
                </c:pt>
                <c:pt idx="40">
                  <c:v> EJ </c:v>
                </c:pt>
                <c:pt idx="41">
                  <c:v> GK </c:v>
                </c:pt>
                <c:pt idx="42">
                  <c:v> HI </c:v>
                </c:pt>
                <c:pt idx="43">
                  <c:v> JA </c:v>
                </c:pt>
                <c:pt idx="44">
                  <c:v> KZ </c:v>
                </c:pt>
                <c:pt idx="45">
                  <c:v> NH </c:v>
                </c:pt>
                <c:pt idx="46">
                  <c:v> NL </c:v>
                </c:pt>
                <c:pt idx="47">
                  <c:v> QO </c:v>
                </c:pt>
                <c:pt idx="48">
                  <c:v> RG </c:v>
                </c:pt>
                <c:pt idx="49">
                  <c:v> SB </c:v>
                </c:pt>
                <c:pt idx="50">
                  <c:v> TB </c:v>
                </c:pt>
                <c:pt idx="51">
                  <c:v> VP </c:v>
                </c:pt>
                <c:pt idx="52">
                  <c:v> XE </c:v>
                </c:pt>
                <c:pt idx="53">
                  <c:v> ZH </c:v>
                </c:pt>
              </c:strCache>
            </c:strRef>
          </c:cat>
          <c:val>
            <c:numRef>
              <c:f>Sheet1!$B$2:$B$55</c:f>
              <c:numCache>
                <c:formatCode>General</c:formatCode>
                <c:ptCount val="54"/>
                <c:pt idx="0">
                  <c:v>202.2</c:v>
                </c:pt>
                <c:pt idx="1">
                  <c:v>189.9</c:v>
                </c:pt>
                <c:pt idx="2">
                  <c:v>189.9</c:v>
                </c:pt>
                <c:pt idx="3">
                  <c:v>189.4</c:v>
                </c:pt>
                <c:pt idx="4">
                  <c:v>172.5</c:v>
                </c:pt>
                <c:pt idx="5">
                  <c:v>169</c:v>
                </c:pt>
                <c:pt idx="6">
                  <c:v>162.69999999999999</c:v>
                </c:pt>
                <c:pt idx="7">
                  <c:v>162.1</c:v>
                </c:pt>
                <c:pt idx="8">
                  <c:v>162.1</c:v>
                </c:pt>
                <c:pt idx="9">
                  <c:v>162.1</c:v>
                </c:pt>
                <c:pt idx="10">
                  <c:v>162.1</c:v>
                </c:pt>
                <c:pt idx="11">
                  <c:v>160.30000000000001</c:v>
                </c:pt>
                <c:pt idx="12">
                  <c:v>160.30000000000001</c:v>
                </c:pt>
                <c:pt idx="13">
                  <c:v>153.69999999999999</c:v>
                </c:pt>
                <c:pt idx="14">
                  <c:v>152.4</c:v>
                </c:pt>
                <c:pt idx="15">
                  <c:v>152.4</c:v>
                </c:pt>
                <c:pt idx="16">
                  <c:v>152.4</c:v>
                </c:pt>
                <c:pt idx="17">
                  <c:v>152.4</c:v>
                </c:pt>
                <c:pt idx="18">
                  <c:v>150.9</c:v>
                </c:pt>
                <c:pt idx="19">
                  <c:v>148.1</c:v>
                </c:pt>
                <c:pt idx="20">
                  <c:v>148.1</c:v>
                </c:pt>
                <c:pt idx="21">
                  <c:v>146.4</c:v>
                </c:pt>
                <c:pt idx="22">
                  <c:v>144.1</c:v>
                </c:pt>
                <c:pt idx="23">
                  <c:v>143</c:v>
                </c:pt>
                <c:pt idx="24">
                  <c:v>143</c:v>
                </c:pt>
                <c:pt idx="25">
                  <c:v>143</c:v>
                </c:pt>
                <c:pt idx="26">
                  <c:v>#N/A</c:v>
                </c:pt>
                <c:pt idx="27">
                  <c:v>141.4</c:v>
                </c:pt>
                <c:pt idx="28">
                  <c:v>138.9</c:v>
                </c:pt>
                <c:pt idx="29">
                  <c:v>137.5</c:v>
                </c:pt>
                <c:pt idx="30">
                  <c:v>135.5</c:v>
                </c:pt>
                <c:pt idx="31">
                  <c:v>135.30000000000001</c:v>
                </c:pt>
                <c:pt idx="32">
                  <c:v>133</c:v>
                </c:pt>
                <c:pt idx="33">
                  <c:v>131.80000000000001</c:v>
                </c:pt>
                <c:pt idx="34">
                  <c:v>90.8</c:v>
                </c:pt>
                <c:pt idx="35">
                  <c:v>20.7</c:v>
                </c:pt>
                <c:pt idx="36">
                  <c:v>18.8</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141.4</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4FD7-4E03-8BFD-889BD6DA2324}"/>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3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23"/>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0-37D2-436A-8311-38DDF6D5EF01}"/>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ZH </c:v>
                </c:pt>
                <c:pt idx="1">
                  <c:v> VP </c:v>
                </c:pt>
                <c:pt idx="2">
                  <c:v> FA </c:v>
                </c:pt>
                <c:pt idx="3">
                  <c:v> QO </c:v>
                </c:pt>
                <c:pt idx="4">
                  <c:v> CF </c:v>
                </c:pt>
                <c:pt idx="5">
                  <c:v> AI </c:v>
                </c:pt>
                <c:pt idx="6">
                  <c:v> DN </c:v>
                </c:pt>
                <c:pt idx="7">
                  <c:v> MD </c:v>
                </c:pt>
                <c:pt idx="8">
                  <c:v> BV </c:v>
                </c:pt>
                <c:pt idx="9">
                  <c:v> NH </c:v>
                </c:pt>
                <c:pt idx="10">
                  <c:v> EO </c:v>
                </c:pt>
                <c:pt idx="11">
                  <c:v> OU </c:v>
                </c:pt>
                <c:pt idx="12">
                  <c:v> ON </c:v>
                </c:pt>
                <c:pt idx="13">
                  <c:v> SC </c:v>
                </c:pt>
                <c:pt idx="14">
                  <c:v> YM </c:v>
                </c:pt>
                <c:pt idx="15">
                  <c:v> KS </c:v>
                </c:pt>
                <c:pt idx="16">
                  <c:v> UD </c:v>
                </c:pt>
                <c:pt idx="17">
                  <c:v> TN </c:v>
                </c:pt>
                <c:pt idx="18">
                  <c:v> GJ </c:v>
                </c:pt>
                <c:pt idx="19">
                  <c:v> XE </c:v>
                </c:pt>
                <c:pt idx="20">
                  <c:v> HF </c:v>
                </c:pt>
                <c:pt idx="21">
                  <c:v> WX </c:v>
                </c:pt>
                <c:pt idx="22">
                  <c:v> GC </c:v>
                </c:pt>
                <c:pt idx="23">
                  <c:v> AMD </c:v>
                </c:pt>
                <c:pt idx="24">
                  <c:v> YT </c:v>
                </c:pt>
                <c:pt idx="25">
                  <c:v> UY </c:v>
                </c:pt>
                <c:pt idx="26">
                  <c:v> FM </c:v>
                </c:pt>
                <c:pt idx="27">
                  <c:v> SB </c:v>
                </c:pt>
                <c:pt idx="28">
                  <c:v> AW </c:v>
                </c:pt>
                <c:pt idx="29">
                  <c:v> NL </c:v>
                </c:pt>
                <c:pt idx="30">
                  <c:v> BR </c:v>
                </c:pt>
                <c:pt idx="31">
                  <c:v> RU </c:v>
                </c:pt>
                <c:pt idx="32">
                  <c:v> MJ </c:v>
                </c:pt>
                <c:pt idx="33">
                  <c:v> CL </c:v>
                </c:pt>
                <c:pt idx="34">
                  <c:v> FF </c:v>
                </c:pt>
                <c:pt idx="35">
                  <c:v> KZ </c:v>
                </c:pt>
                <c:pt idx="36">
                  <c:v> MG </c:v>
                </c:pt>
                <c:pt idx="37">
                  <c:v> IF </c:v>
                </c:pt>
                <c:pt idx="38">
                  <c:v> HH </c:v>
                </c:pt>
                <c:pt idx="39">
                  <c:v> EJ </c:v>
                </c:pt>
                <c:pt idx="40">
                  <c:v> NE </c:v>
                </c:pt>
                <c:pt idx="41">
                  <c:v> DO </c:v>
                </c:pt>
                <c:pt idx="42">
                  <c:v> CD </c:v>
                </c:pt>
                <c:pt idx="43">
                  <c:v> XR </c:v>
                </c:pt>
                <c:pt idx="44">
                  <c:v> RG </c:v>
                </c:pt>
                <c:pt idx="45">
                  <c:v> EG </c:v>
                </c:pt>
                <c:pt idx="46">
                  <c:v> JW </c:v>
                </c:pt>
                <c:pt idx="47">
                  <c:v> TB </c:v>
                </c:pt>
                <c:pt idx="48">
                  <c:v> JA </c:v>
                </c:pt>
                <c:pt idx="49">
                  <c:v> PE </c:v>
                </c:pt>
                <c:pt idx="50">
                  <c:v> ZQ </c:v>
                </c:pt>
                <c:pt idx="51">
                  <c:v> AK </c:v>
                </c:pt>
                <c:pt idx="52">
                  <c:v> HI </c:v>
                </c:pt>
                <c:pt idx="53">
                  <c:v> GK </c:v>
                </c:pt>
              </c:strCache>
            </c:strRef>
          </c:cat>
          <c:val>
            <c:numRef>
              <c:f>Sheet1!$B$2:$B$55</c:f>
              <c:numCache>
                <c:formatCode>General</c:formatCode>
                <c:ptCount val="54"/>
                <c:pt idx="0">
                  <c:v>202.5</c:v>
                </c:pt>
                <c:pt idx="1">
                  <c:v>168.9</c:v>
                </c:pt>
                <c:pt idx="2">
                  <c:v>150.5</c:v>
                </c:pt>
                <c:pt idx="3">
                  <c:v>143.6</c:v>
                </c:pt>
                <c:pt idx="4">
                  <c:v>138.1</c:v>
                </c:pt>
                <c:pt idx="5">
                  <c:v>136.9</c:v>
                </c:pt>
                <c:pt idx="6">
                  <c:v>136.1</c:v>
                </c:pt>
                <c:pt idx="7">
                  <c:v>135</c:v>
                </c:pt>
                <c:pt idx="8">
                  <c:v>134.80000000000001</c:v>
                </c:pt>
                <c:pt idx="9">
                  <c:v>134.6</c:v>
                </c:pt>
                <c:pt idx="10">
                  <c:v>134.4</c:v>
                </c:pt>
                <c:pt idx="11">
                  <c:v>129.19999999999999</c:v>
                </c:pt>
                <c:pt idx="12">
                  <c:v>126.1</c:v>
                </c:pt>
                <c:pt idx="13">
                  <c:v>122.7</c:v>
                </c:pt>
                <c:pt idx="14">
                  <c:v>122.7</c:v>
                </c:pt>
                <c:pt idx="15">
                  <c:v>120.4</c:v>
                </c:pt>
                <c:pt idx="16">
                  <c:v>117.9</c:v>
                </c:pt>
                <c:pt idx="17">
                  <c:v>113.8</c:v>
                </c:pt>
                <c:pt idx="18">
                  <c:v>113</c:v>
                </c:pt>
                <c:pt idx="19">
                  <c:v>112.4</c:v>
                </c:pt>
                <c:pt idx="20">
                  <c:v>110.9</c:v>
                </c:pt>
                <c:pt idx="21">
                  <c:v>109</c:v>
                </c:pt>
                <c:pt idx="22">
                  <c:v>108.7</c:v>
                </c:pt>
                <c:pt idx="23">
                  <c:v>#N/A</c:v>
                </c:pt>
                <c:pt idx="24">
                  <c:v>105</c:v>
                </c:pt>
                <c:pt idx="25">
                  <c:v>104.6</c:v>
                </c:pt>
                <c:pt idx="26">
                  <c:v>103.7</c:v>
                </c:pt>
                <c:pt idx="27">
                  <c:v>102.3</c:v>
                </c:pt>
                <c:pt idx="28">
                  <c:v>100.6</c:v>
                </c:pt>
                <c:pt idx="29">
                  <c:v>100.6</c:v>
                </c:pt>
                <c:pt idx="30">
                  <c:v>97.5</c:v>
                </c:pt>
                <c:pt idx="31">
                  <c:v>96.5</c:v>
                </c:pt>
                <c:pt idx="32">
                  <c:v>95.5</c:v>
                </c:pt>
                <c:pt idx="33">
                  <c:v>95.2</c:v>
                </c:pt>
                <c:pt idx="34">
                  <c:v>91.2</c:v>
                </c:pt>
                <c:pt idx="35">
                  <c:v>89.9</c:v>
                </c:pt>
                <c:pt idx="36">
                  <c:v>88.8</c:v>
                </c:pt>
                <c:pt idx="37">
                  <c:v>85.6</c:v>
                </c:pt>
                <c:pt idx="38">
                  <c:v>81.400000000000006</c:v>
                </c:pt>
                <c:pt idx="39">
                  <c:v>77.5</c:v>
                </c:pt>
                <c:pt idx="40">
                  <c:v>76.2</c:v>
                </c:pt>
                <c:pt idx="41">
                  <c:v>76</c:v>
                </c:pt>
                <c:pt idx="42">
                  <c:v>72.3</c:v>
                </c:pt>
                <c:pt idx="43">
                  <c:v>71.5</c:v>
                </c:pt>
                <c:pt idx="44">
                  <c:v>66.5</c:v>
                </c:pt>
                <c:pt idx="45">
                  <c:v>65.3</c:v>
                </c:pt>
                <c:pt idx="46">
                  <c:v>60.3</c:v>
                </c:pt>
                <c:pt idx="47">
                  <c:v>55.4</c:v>
                </c:pt>
                <c:pt idx="48">
                  <c:v>54.6</c:v>
                </c:pt>
                <c:pt idx="49">
                  <c:v>39.799999999999997</c:v>
                </c:pt>
                <c:pt idx="50">
                  <c:v>38.700000000000003</c:v>
                </c:pt>
                <c:pt idx="51">
                  <c:v>28</c:v>
                </c:pt>
                <c:pt idx="52">
                  <c:v>27.4</c:v>
                </c:pt>
                <c:pt idx="53">
                  <c:v>24.9</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105.1</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20C2-4B4B-8E20-CC89FEFDAFDB}"/>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5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3"/>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0-803C-49EC-A773-80FC809F7AE9}"/>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YM </c:v>
                </c:pt>
                <c:pt idx="1">
                  <c:v> SC </c:v>
                </c:pt>
                <c:pt idx="2">
                  <c:v> FA </c:v>
                </c:pt>
                <c:pt idx="3">
                  <c:v> OU </c:v>
                </c:pt>
                <c:pt idx="4">
                  <c:v> FF </c:v>
                </c:pt>
                <c:pt idx="5">
                  <c:v> TN </c:v>
                </c:pt>
                <c:pt idx="6">
                  <c:v> CL </c:v>
                </c:pt>
                <c:pt idx="7">
                  <c:v> ZH </c:v>
                </c:pt>
                <c:pt idx="8">
                  <c:v> UD </c:v>
                </c:pt>
                <c:pt idx="9">
                  <c:v> ON </c:v>
                </c:pt>
                <c:pt idx="10">
                  <c:v> EO </c:v>
                </c:pt>
                <c:pt idx="11">
                  <c:v> DN </c:v>
                </c:pt>
                <c:pt idx="12">
                  <c:v> WX </c:v>
                </c:pt>
                <c:pt idx="13">
                  <c:v> MD </c:v>
                </c:pt>
                <c:pt idx="14">
                  <c:v> HF </c:v>
                </c:pt>
                <c:pt idx="15">
                  <c:v> BR </c:v>
                </c:pt>
                <c:pt idx="16">
                  <c:v> VP </c:v>
                </c:pt>
                <c:pt idx="17">
                  <c:v> MJ </c:v>
                </c:pt>
                <c:pt idx="18">
                  <c:v> GJ </c:v>
                </c:pt>
                <c:pt idx="19">
                  <c:v> UY </c:v>
                </c:pt>
                <c:pt idx="20">
                  <c:v> IF </c:v>
                </c:pt>
                <c:pt idx="21">
                  <c:v> MG </c:v>
                </c:pt>
                <c:pt idx="22">
                  <c:v> EG </c:v>
                </c:pt>
                <c:pt idx="23">
                  <c:v> AMD </c:v>
                </c:pt>
                <c:pt idx="24">
                  <c:v> AI </c:v>
                </c:pt>
                <c:pt idx="25">
                  <c:v> HH </c:v>
                </c:pt>
                <c:pt idx="26">
                  <c:v> FM </c:v>
                </c:pt>
                <c:pt idx="27">
                  <c:v> RU </c:v>
                </c:pt>
                <c:pt idx="28">
                  <c:v> XR </c:v>
                </c:pt>
                <c:pt idx="29">
                  <c:v> BV </c:v>
                </c:pt>
                <c:pt idx="30">
                  <c:v> DO </c:v>
                </c:pt>
                <c:pt idx="31">
                  <c:v> YT </c:v>
                </c:pt>
                <c:pt idx="32">
                  <c:v> NH </c:v>
                </c:pt>
                <c:pt idx="33">
                  <c:v> JW </c:v>
                </c:pt>
                <c:pt idx="34">
                  <c:v> GC </c:v>
                </c:pt>
                <c:pt idx="35">
                  <c:v> NE </c:v>
                </c:pt>
                <c:pt idx="36">
                  <c:v> KS </c:v>
                </c:pt>
                <c:pt idx="37">
                  <c:v> CD </c:v>
                </c:pt>
                <c:pt idx="38">
                  <c:v> CF </c:v>
                </c:pt>
                <c:pt idx="39">
                  <c:v> QO </c:v>
                </c:pt>
                <c:pt idx="40">
                  <c:v> XE </c:v>
                </c:pt>
                <c:pt idx="41">
                  <c:v> SB </c:v>
                </c:pt>
                <c:pt idx="42">
                  <c:v> AW </c:v>
                </c:pt>
                <c:pt idx="43">
                  <c:v> NL </c:v>
                </c:pt>
                <c:pt idx="44">
                  <c:v> PE </c:v>
                </c:pt>
                <c:pt idx="45">
                  <c:v> ZQ </c:v>
                </c:pt>
                <c:pt idx="46">
                  <c:v> KZ </c:v>
                </c:pt>
                <c:pt idx="47">
                  <c:v> EJ </c:v>
                </c:pt>
                <c:pt idx="48">
                  <c:v> RG </c:v>
                </c:pt>
                <c:pt idx="49">
                  <c:v> AK </c:v>
                </c:pt>
                <c:pt idx="50">
                  <c:v> TB </c:v>
                </c:pt>
                <c:pt idx="51">
                  <c:v> JA </c:v>
                </c:pt>
                <c:pt idx="52">
                  <c:v> HI </c:v>
                </c:pt>
                <c:pt idx="53">
                  <c:v> GK </c:v>
                </c:pt>
              </c:strCache>
            </c:strRef>
          </c:cat>
          <c:val>
            <c:numRef>
              <c:f>Sheet1!$B$2:$B$55</c:f>
              <c:numCache>
                <c:formatCode>General</c:formatCode>
                <c:ptCount val="54"/>
                <c:pt idx="0">
                  <c:v>134.30000000000001</c:v>
                </c:pt>
                <c:pt idx="1">
                  <c:v>134.19999999999999</c:v>
                </c:pt>
                <c:pt idx="2">
                  <c:v>125.8</c:v>
                </c:pt>
                <c:pt idx="3">
                  <c:v>120.9</c:v>
                </c:pt>
                <c:pt idx="4">
                  <c:v>119.3</c:v>
                </c:pt>
                <c:pt idx="5">
                  <c:v>117.7</c:v>
                </c:pt>
                <c:pt idx="6">
                  <c:v>116.8</c:v>
                </c:pt>
                <c:pt idx="7">
                  <c:v>116.5</c:v>
                </c:pt>
                <c:pt idx="8">
                  <c:v>116.4</c:v>
                </c:pt>
                <c:pt idx="9">
                  <c:v>114.9</c:v>
                </c:pt>
                <c:pt idx="10">
                  <c:v>114.8</c:v>
                </c:pt>
                <c:pt idx="11">
                  <c:v>114.6</c:v>
                </c:pt>
                <c:pt idx="12">
                  <c:v>113.4</c:v>
                </c:pt>
                <c:pt idx="13">
                  <c:v>112.9</c:v>
                </c:pt>
                <c:pt idx="14">
                  <c:v>112.6</c:v>
                </c:pt>
                <c:pt idx="15">
                  <c:v>111.2</c:v>
                </c:pt>
                <c:pt idx="16">
                  <c:v>110.1</c:v>
                </c:pt>
                <c:pt idx="17">
                  <c:v>108.1</c:v>
                </c:pt>
                <c:pt idx="18">
                  <c:v>106.9</c:v>
                </c:pt>
                <c:pt idx="19">
                  <c:v>106.5</c:v>
                </c:pt>
                <c:pt idx="20">
                  <c:v>105.9</c:v>
                </c:pt>
                <c:pt idx="21">
                  <c:v>104.6</c:v>
                </c:pt>
                <c:pt idx="22">
                  <c:v>104.6</c:v>
                </c:pt>
                <c:pt idx="23">
                  <c:v>#N/A</c:v>
                </c:pt>
                <c:pt idx="24">
                  <c:v>102.9</c:v>
                </c:pt>
                <c:pt idx="25">
                  <c:v>101.5</c:v>
                </c:pt>
                <c:pt idx="26">
                  <c:v>100.9</c:v>
                </c:pt>
                <c:pt idx="27">
                  <c:v>100.3</c:v>
                </c:pt>
                <c:pt idx="28">
                  <c:v>99.7</c:v>
                </c:pt>
                <c:pt idx="29">
                  <c:v>99.1</c:v>
                </c:pt>
                <c:pt idx="30">
                  <c:v>98.9</c:v>
                </c:pt>
                <c:pt idx="31">
                  <c:v>98.7</c:v>
                </c:pt>
                <c:pt idx="32">
                  <c:v>98.4</c:v>
                </c:pt>
                <c:pt idx="33">
                  <c:v>95.9</c:v>
                </c:pt>
                <c:pt idx="34">
                  <c:v>95.5</c:v>
                </c:pt>
                <c:pt idx="35">
                  <c:v>94.6</c:v>
                </c:pt>
                <c:pt idx="36">
                  <c:v>94.2</c:v>
                </c:pt>
                <c:pt idx="37">
                  <c:v>93.4</c:v>
                </c:pt>
                <c:pt idx="38">
                  <c:v>91.8</c:v>
                </c:pt>
                <c:pt idx="39">
                  <c:v>91.3</c:v>
                </c:pt>
                <c:pt idx="40">
                  <c:v>90.5</c:v>
                </c:pt>
                <c:pt idx="41">
                  <c:v>87.8</c:v>
                </c:pt>
                <c:pt idx="42">
                  <c:v>87.7</c:v>
                </c:pt>
                <c:pt idx="43">
                  <c:v>87.7</c:v>
                </c:pt>
                <c:pt idx="44">
                  <c:v>86.7</c:v>
                </c:pt>
                <c:pt idx="45">
                  <c:v>84.5</c:v>
                </c:pt>
                <c:pt idx="46">
                  <c:v>81.8</c:v>
                </c:pt>
                <c:pt idx="47">
                  <c:v>81.2</c:v>
                </c:pt>
                <c:pt idx="48">
                  <c:v>76.400000000000006</c:v>
                </c:pt>
                <c:pt idx="49">
                  <c:v>75.8</c:v>
                </c:pt>
                <c:pt idx="50">
                  <c:v>71.5</c:v>
                </c:pt>
                <c:pt idx="51">
                  <c:v>66.5</c:v>
                </c:pt>
                <c:pt idx="52">
                  <c:v>59.9</c:v>
                </c:pt>
                <c:pt idx="53">
                  <c:v>59</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102.9</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23F0-4B9C-AC4A-673F52D322E2}"/>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5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24"/>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ABA0-4BC7-B4C0-C680F239D3E1}"/>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AMD</c:v>
                </c:pt>
                <c:pt idx="1">
                  <c:v> TN </c:v>
                </c:pt>
                <c:pt idx="2">
                  <c:v> AK </c:v>
                </c:pt>
                <c:pt idx="3">
                  <c:v> OU </c:v>
                </c:pt>
                <c:pt idx="4">
                  <c:v> UD </c:v>
                </c:pt>
                <c:pt idx="5">
                  <c:v> ZQ </c:v>
                </c:pt>
                <c:pt idx="6">
                  <c:v> HF </c:v>
                </c:pt>
                <c:pt idx="7">
                  <c:v> DO </c:v>
                </c:pt>
                <c:pt idx="8">
                  <c:v> BR </c:v>
                </c:pt>
                <c:pt idx="9">
                  <c:v> YT </c:v>
                </c:pt>
                <c:pt idx="10">
                  <c:v> MG </c:v>
                </c:pt>
                <c:pt idx="11">
                  <c:v> MJ </c:v>
                </c:pt>
                <c:pt idx="12">
                  <c:v> IF </c:v>
                </c:pt>
                <c:pt idx="13">
                  <c:v> JW </c:v>
                </c:pt>
                <c:pt idx="14">
                  <c:v> CL </c:v>
                </c:pt>
                <c:pt idx="15">
                  <c:v> PE </c:v>
                </c:pt>
                <c:pt idx="16">
                  <c:v> GJ </c:v>
                </c:pt>
                <c:pt idx="17">
                  <c:v> DN </c:v>
                </c:pt>
                <c:pt idx="18">
                  <c:v> RU </c:v>
                </c:pt>
                <c:pt idx="19">
                  <c:v> NE </c:v>
                </c:pt>
                <c:pt idx="20">
                  <c:v> FF </c:v>
                </c:pt>
                <c:pt idx="21">
                  <c:v> MD </c:v>
                </c:pt>
                <c:pt idx="22">
                  <c:v> CD </c:v>
                </c:pt>
                <c:pt idx="23">
                  <c:v> EO </c:v>
                </c:pt>
                <c:pt idx="24">
                  <c:v> EG </c:v>
                </c:pt>
                <c:pt idx="25">
                  <c:v> FA </c:v>
                </c:pt>
                <c:pt idx="26">
                  <c:v> ON </c:v>
                </c:pt>
                <c:pt idx="27">
                  <c:v> FM </c:v>
                </c:pt>
                <c:pt idx="28">
                  <c:v> HH </c:v>
                </c:pt>
                <c:pt idx="29">
                  <c:v> UY </c:v>
                </c:pt>
                <c:pt idx="30">
                  <c:v> YM </c:v>
                </c:pt>
                <c:pt idx="31">
                  <c:v> SC </c:v>
                </c:pt>
                <c:pt idx="32">
                  <c:v> GC </c:v>
                </c:pt>
                <c:pt idx="33">
                  <c:v> XR </c:v>
                </c:pt>
                <c:pt idx="34">
                  <c:v> WX </c:v>
                </c:pt>
                <c:pt idx="35">
                  <c:v> AI </c:v>
                </c:pt>
                <c:pt idx="36">
                  <c:v> KS </c:v>
                </c:pt>
                <c:pt idx="37">
                  <c:v> AW </c:v>
                </c:pt>
                <c:pt idx="38">
                  <c:v> BV </c:v>
                </c:pt>
                <c:pt idx="39">
                  <c:v> CF </c:v>
                </c:pt>
                <c:pt idx="40">
                  <c:v> EJ </c:v>
                </c:pt>
                <c:pt idx="41">
                  <c:v> GK </c:v>
                </c:pt>
                <c:pt idx="42">
                  <c:v> HI </c:v>
                </c:pt>
                <c:pt idx="43">
                  <c:v> JA </c:v>
                </c:pt>
                <c:pt idx="44">
                  <c:v> KZ </c:v>
                </c:pt>
                <c:pt idx="45">
                  <c:v> NH </c:v>
                </c:pt>
                <c:pt idx="46">
                  <c:v> NL </c:v>
                </c:pt>
                <c:pt idx="47">
                  <c:v> QO </c:v>
                </c:pt>
                <c:pt idx="48">
                  <c:v> RG </c:v>
                </c:pt>
                <c:pt idx="49">
                  <c:v> SB </c:v>
                </c:pt>
                <c:pt idx="50">
                  <c:v> TB </c:v>
                </c:pt>
                <c:pt idx="51">
                  <c:v> VP </c:v>
                </c:pt>
                <c:pt idx="52">
                  <c:v> XE </c:v>
                </c:pt>
                <c:pt idx="53">
                  <c:v> ZH </c:v>
                </c:pt>
              </c:strCache>
            </c:strRef>
          </c:cat>
          <c:val>
            <c:numRef>
              <c:f>Sheet1!$B$2:$B$55</c:f>
              <c:numCache>
                <c:formatCode>General</c:formatCode>
                <c:ptCount val="54"/>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3DAF-4134-8835-BA4E5193D0AC}"/>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3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a:p>
            <a:pPr>
              <a:defRPr/>
            </a:pPr>
            <a:endParaRPr lang="en-US" b="1" dirty="0"/>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6"/>
            <c:invertIfNegative val="0"/>
            <c:bubble3D val="0"/>
            <c:spPr>
              <a:solidFill>
                <a:schemeClr val="accent2"/>
              </a:solidFill>
              <a:ln>
                <a:noFill/>
              </a:ln>
              <a:effectLst/>
            </c:spPr>
            <c:extLst>
              <c:ext xmlns:c16="http://schemas.microsoft.com/office/drawing/2014/chart" uri="{C3380CC4-5D6E-409C-BE32-E72D297353CC}">
                <c16:uniqueId val="{00000000-0A82-4CC8-8483-151064BDC1E4}"/>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AMD</c:v>
                </c:pt>
                <c:pt idx="1">
                  <c:v> TN </c:v>
                </c:pt>
                <c:pt idx="2">
                  <c:v> AK </c:v>
                </c:pt>
                <c:pt idx="3">
                  <c:v> OU </c:v>
                </c:pt>
                <c:pt idx="4">
                  <c:v> UD </c:v>
                </c:pt>
                <c:pt idx="5">
                  <c:v> BR </c:v>
                </c:pt>
                <c:pt idx="6">
                  <c:v> ZQ </c:v>
                </c:pt>
                <c:pt idx="7">
                  <c:v> HF </c:v>
                </c:pt>
                <c:pt idx="8">
                  <c:v> MG </c:v>
                </c:pt>
                <c:pt idx="9">
                  <c:v> MJ </c:v>
                </c:pt>
                <c:pt idx="10">
                  <c:v> IF </c:v>
                </c:pt>
                <c:pt idx="11">
                  <c:v> JW </c:v>
                </c:pt>
                <c:pt idx="12">
                  <c:v> CL </c:v>
                </c:pt>
                <c:pt idx="13">
                  <c:v> PE </c:v>
                </c:pt>
                <c:pt idx="14">
                  <c:v> YT </c:v>
                </c:pt>
                <c:pt idx="15">
                  <c:v> DN </c:v>
                </c:pt>
                <c:pt idx="16">
                  <c:v> GJ </c:v>
                </c:pt>
                <c:pt idx="17">
                  <c:v> RU </c:v>
                </c:pt>
                <c:pt idx="18">
                  <c:v> NE </c:v>
                </c:pt>
                <c:pt idx="19">
                  <c:v> FF </c:v>
                </c:pt>
                <c:pt idx="20">
                  <c:v> YM </c:v>
                </c:pt>
                <c:pt idx="21">
                  <c:v> SC </c:v>
                </c:pt>
                <c:pt idx="22">
                  <c:v> FA </c:v>
                </c:pt>
                <c:pt idx="23">
                  <c:v> DO </c:v>
                </c:pt>
                <c:pt idx="24">
                  <c:v> MD </c:v>
                </c:pt>
                <c:pt idx="25">
                  <c:v> CD </c:v>
                </c:pt>
                <c:pt idx="26">
                  <c:v> EO </c:v>
                </c:pt>
                <c:pt idx="27">
                  <c:v> EG </c:v>
                </c:pt>
                <c:pt idx="28">
                  <c:v> WX </c:v>
                </c:pt>
                <c:pt idx="29">
                  <c:v> HH </c:v>
                </c:pt>
                <c:pt idx="30">
                  <c:v> XR </c:v>
                </c:pt>
                <c:pt idx="31">
                  <c:v> UY </c:v>
                </c:pt>
                <c:pt idx="32">
                  <c:v> ON </c:v>
                </c:pt>
                <c:pt idx="33">
                  <c:v> FM </c:v>
                </c:pt>
                <c:pt idx="34">
                  <c:v> GC </c:v>
                </c:pt>
                <c:pt idx="35">
                  <c:v> AI </c:v>
                </c:pt>
                <c:pt idx="36">
                  <c:v> KS </c:v>
                </c:pt>
                <c:pt idx="37">
                  <c:v> AW </c:v>
                </c:pt>
                <c:pt idx="38">
                  <c:v> BV </c:v>
                </c:pt>
                <c:pt idx="39">
                  <c:v> CF </c:v>
                </c:pt>
                <c:pt idx="40">
                  <c:v> EJ </c:v>
                </c:pt>
                <c:pt idx="41">
                  <c:v> GK </c:v>
                </c:pt>
                <c:pt idx="42">
                  <c:v> HI </c:v>
                </c:pt>
                <c:pt idx="43">
                  <c:v> JA </c:v>
                </c:pt>
                <c:pt idx="44">
                  <c:v> KZ </c:v>
                </c:pt>
                <c:pt idx="45">
                  <c:v> NH </c:v>
                </c:pt>
                <c:pt idx="46">
                  <c:v> NL </c:v>
                </c:pt>
                <c:pt idx="47">
                  <c:v> QO </c:v>
                </c:pt>
                <c:pt idx="48">
                  <c:v> RG </c:v>
                </c:pt>
                <c:pt idx="49">
                  <c:v> SB </c:v>
                </c:pt>
                <c:pt idx="50">
                  <c:v> TB </c:v>
                </c:pt>
                <c:pt idx="51">
                  <c:v> VP </c:v>
                </c:pt>
                <c:pt idx="52">
                  <c:v> XE </c:v>
                </c:pt>
                <c:pt idx="53">
                  <c:v> ZH </c:v>
                </c:pt>
              </c:strCache>
            </c:strRef>
          </c:cat>
          <c:val>
            <c:numRef>
              <c:f>Sheet1!$B$2:$B$55</c:f>
              <c:numCache>
                <c:formatCode>General</c:formatCode>
                <c:ptCount val="54"/>
                <c:pt idx="0">
                  <c:v>#N/A</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34BE-419D-AA1F-0EBDDFB8EC10}"/>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3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24"/>
            <c:invertIfNegative val="0"/>
            <c:bubble3D val="0"/>
            <c:spPr>
              <a:solidFill>
                <a:schemeClr val="accent2"/>
              </a:solidFill>
              <a:ln>
                <a:noFill/>
              </a:ln>
              <a:effectLst/>
            </c:spPr>
            <c:extLst>
              <c:ext xmlns:c16="http://schemas.microsoft.com/office/drawing/2014/chart" uri="{C3380CC4-5D6E-409C-BE32-E72D297353CC}">
                <c16:uniqueId val="{00000001-ABA0-4BC7-B4C0-C680F239D3E1}"/>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TB</c:v>
                </c:pt>
                <c:pt idx="1">
                  <c:v>AMD</c:v>
                </c:pt>
                <c:pt idx="2">
                  <c:v>AI</c:v>
                </c:pt>
                <c:pt idx="3">
                  <c:v>AK</c:v>
                </c:pt>
                <c:pt idx="4">
                  <c:v>AW</c:v>
                </c:pt>
                <c:pt idx="5">
                  <c:v>BR</c:v>
                </c:pt>
                <c:pt idx="6">
                  <c:v>BV</c:v>
                </c:pt>
                <c:pt idx="7">
                  <c:v>CD</c:v>
                </c:pt>
                <c:pt idx="8">
                  <c:v>CF</c:v>
                </c:pt>
                <c:pt idx="9">
                  <c:v>CL</c:v>
                </c:pt>
                <c:pt idx="10">
                  <c:v>DN</c:v>
                </c:pt>
                <c:pt idx="11">
                  <c:v>DO</c:v>
                </c:pt>
                <c:pt idx="12">
                  <c:v>EG</c:v>
                </c:pt>
                <c:pt idx="13">
                  <c:v>EJ</c:v>
                </c:pt>
                <c:pt idx="14">
                  <c:v>EO</c:v>
                </c:pt>
                <c:pt idx="15">
                  <c:v>FA</c:v>
                </c:pt>
                <c:pt idx="16">
                  <c:v>FF</c:v>
                </c:pt>
                <c:pt idx="17">
                  <c:v>FM</c:v>
                </c:pt>
                <c:pt idx="18">
                  <c:v>GC</c:v>
                </c:pt>
                <c:pt idx="19">
                  <c:v>GJ</c:v>
                </c:pt>
                <c:pt idx="20">
                  <c:v>GK</c:v>
                </c:pt>
                <c:pt idx="21">
                  <c:v>HF</c:v>
                </c:pt>
                <c:pt idx="22">
                  <c:v>HH</c:v>
                </c:pt>
                <c:pt idx="23">
                  <c:v>HI</c:v>
                </c:pt>
                <c:pt idx="24">
                  <c:v>IF</c:v>
                </c:pt>
                <c:pt idx="25">
                  <c:v>JA</c:v>
                </c:pt>
                <c:pt idx="26">
                  <c:v>JW</c:v>
                </c:pt>
                <c:pt idx="27">
                  <c:v>KS</c:v>
                </c:pt>
                <c:pt idx="28">
                  <c:v>KZ</c:v>
                </c:pt>
                <c:pt idx="29">
                  <c:v>MD</c:v>
                </c:pt>
                <c:pt idx="30">
                  <c:v>MG</c:v>
                </c:pt>
                <c:pt idx="31">
                  <c:v>MJ</c:v>
                </c:pt>
                <c:pt idx="32">
                  <c:v>NE</c:v>
                </c:pt>
                <c:pt idx="33">
                  <c:v>NH</c:v>
                </c:pt>
                <c:pt idx="34">
                  <c:v>NL</c:v>
                </c:pt>
                <c:pt idx="35">
                  <c:v>ON</c:v>
                </c:pt>
                <c:pt idx="36">
                  <c:v>OU</c:v>
                </c:pt>
                <c:pt idx="37">
                  <c:v>PE</c:v>
                </c:pt>
                <c:pt idx="38">
                  <c:v>QO</c:v>
                </c:pt>
                <c:pt idx="39">
                  <c:v>RG</c:v>
                </c:pt>
                <c:pt idx="40">
                  <c:v>RU</c:v>
                </c:pt>
                <c:pt idx="41">
                  <c:v>SB</c:v>
                </c:pt>
                <c:pt idx="42">
                  <c:v>SC</c:v>
                </c:pt>
                <c:pt idx="43">
                  <c:v>TN</c:v>
                </c:pt>
                <c:pt idx="44">
                  <c:v>UD</c:v>
                </c:pt>
                <c:pt idx="45">
                  <c:v>UY</c:v>
                </c:pt>
                <c:pt idx="46">
                  <c:v>VP</c:v>
                </c:pt>
                <c:pt idx="47">
                  <c:v>WX</c:v>
                </c:pt>
                <c:pt idx="48">
                  <c:v>XE</c:v>
                </c:pt>
                <c:pt idx="49">
                  <c:v>XR</c:v>
                </c:pt>
                <c:pt idx="50">
                  <c:v>YM</c:v>
                </c:pt>
                <c:pt idx="51">
                  <c:v>YT</c:v>
                </c:pt>
                <c:pt idx="52">
                  <c:v>ZH</c:v>
                </c:pt>
                <c:pt idx="53">
                  <c:v>ZQ</c:v>
                </c:pt>
              </c:strCache>
            </c:strRef>
          </c:cat>
          <c:val>
            <c:numRef>
              <c:f>Sheet1!$B$2:$B$55</c:f>
              <c:numCache>
                <c:formatCode>General</c:formatCode>
                <c:ptCount val="54"/>
                <c:pt idx="0">
                  <c:v>#N/A</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5500</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36F8-44E4-B1D5-C387C50A93D7}"/>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5400000" spcFirstLastPara="1" vertOverflow="ellipsis" wrap="square" anchor="ctr" anchorCtr="1"/>
          <a:lstStyle/>
          <a:p>
            <a:pPr>
              <a:defRPr sz="9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60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1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6"/>
            <c:invertIfNegative val="0"/>
            <c:bubble3D val="0"/>
            <c:spPr>
              <a:solidFill>
                <a:schemeClr val="accent2"/>
              </a:solidFill>
              <a:ln>
                <a:noFill/>
              </a:ln>
              <a:effectLst/>
            </c:spPr>
            <c:extLst>
              <c:ext xmlns:c16="http://schemas.microsoft.com/office/drawing/2014/chart" uri="{C3380CC4-5D6E-409C-BE32-E72D297353CC}">
                <c16:uniqueId val="{00000000-0A82-4CC8-8483-151064BDC1E4}"/>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OU</c:v>
                </c:pt>
                <c:pt idx="1">
                  <c:v>GC</c:v>
                </c:pt>
                <c:pt idx="2">
                  <c:v>UY</c:v>
                </c:pt>
                <c:pt idx="3">
                  <c:v>QO</c:v>
                </c:pt>
                <c:pt idx="4">
                  <c:v>BV</c:v>
                </c:pt>
                <c:pt idx="5">
                  <c:v>TB</c:v>
                </c:pt>
                <c:pt idx="6">
                  <c:v>AMD</c:v>
                </c:pt>
                <c:pt idx="7">
                  <c:v>AI</c:v>
                </c:pt>
                <c:pt idx="8">
                  <c:v>AK</c:v>
                </c:pt>
                <c:pt idx="9">
                  <c:v>AW</c:v>
                </c:pt>
                <c:pt idx="10">
                  <c:v>BR</c:v>
                </c:pt>
                <c:pt idx="11">
                  <c:v>CD</c:v>
                </c:pt>
                <c:pt idx="12">
                  <c:v>CF</c:v>
                </c:pt>
                <c:pt idx="13">
                  <c:v>CL</c:v>
                </c:pt>
                <c:pt idx="14">
                  <c:v>DN</c:v>
                </c:pt>
                <c:pt idx="15">
                  <c:v>DO</c:v>
                </c:pt>
                <c:pt idx="16">
                  <c:v>EG</c:v>
                </c:pt>
                <c:pt idx="17">
                  <c:v>EJ</c:v>
                </c:pt>
                <c:pt idx="18">
                  <c:v>EO</c:v>
                </c:pt>
                <c:pt idx="19">
                  <c:v>FA</c:v>
                </c:pt>
                <c:pt idx="20">
                  <c:v>FF</c:v>
                </c:pt>
                <c:pt idx="21">
                  <c:v>FM</c:v>
                </c:pt>
                <c:pt idx="22">
                  <c:v>GJ</c:v>
                </c:pt>
                <c:pt idx="23">
                  <c:v>GK</c:v>
                </c:pt>
                <c:pt idx="24">
                  <c:v>HF</c:v>
                </c:pt>
                <c:pt idx="25">
                  <c:v>HH</c:v>
                </c:pt>
                <c:pt idx="26">
                  <c:v>HI</c:v>
                </c:pt>
                <c:pt idx="27">
                  <c:v>IF</c:v>
                </c:pt>
                <c:pt idx="28">
                  <c:v>JA</c:v>
                </c:pt>
                <c:pt idx="29">
                  <c:v>JW</c:v>
                </c:pt>
                <c:pt idx="30">
                  <c:v>KS</c:v>
                </c:pt>
                <c:pt idx="31">
                  <c:v>KZ</c:v>
                </c:pt>
                <c:pt idx="32">
                  <c:v>MD</c:v>
                </c:pt>
                <c:pt idx="33">
                  <c:v>MG</c:v>
                </c:pt>
                <c:pt idx="34">
                  <c:v>MJ</c:v>
                </c:pt>
                <c:pt idx="35">
                  <c:v>NE</c:v>
                </c:pt>
                <c:pt idx="36">
                  <c:v>NH</c:v>
                </c:pt>
                <c:pt idx="37">
                  <c:v>NL</c:v>
                </c:pt>
                <c:pt idx="38">
                  <c:v>ON</c:v>
                </c:pt>
                <c:pt idx="39">
                  <c:v>PE</c:v>
                </c:pt>
                <c:pt idx="40">
                  <c:v>RG</c:v>
                </c:pt>
                <c:pt idx="41">
                  <c:v>RU</c:v>
                </c:pt>
                <c:pt idx="42">
                  <c:v>SB</c:v>
                </c:pt>
                <c:pt idx="43">
                  <c:v>SC</c:v>
                </c:pt>
                <c:pt idx="44">
                  <c:v>TN</c:v>
                </c:pt>
                <c:pt idx="45">
                  <c:v>UD</c:v>
                </c:pt>
                <c:pt idx="46">
                  <c:v>VP</c:v>
                </c:pt>
                <c:pt idx="47">
                  <c:v>WX</c:v>
                </c:pt>
                <c:pt idx="48">
                  <c:v>XE</c:v>
                </c:pt>
                <c:pt idx="49">
                  <c:v>XR</c:v>
                </c:pt>
                <c:pt idx="50">
                  <c:v>YM</c:v>
                </c:pt>
                <c:pt idx="51">
                  <c:v>YT</c:v>
                </c:pt>
                <c:pt idx="52">
                  <c:v>ZH</c:v>
                </c:pt>
                <c:pt idx="53">
                  <c:v>ZQ</c:v>
                </c:pt>
              </c:strCache>
            </c:strRef>
          </c:cat>
          <c:val>
            <c:numRef>
              <c:f>Sheet1!$B$2:$B$55</c:f>
              <c:numCache>
                <c:formatCode>General</c:formatCode>
                <c:ptCount val="54"/>
                <c:pt idx="0">
                  <c:v>2707.8</c:v>
                </c:pt>
                <c:pt idx="1">
                  <c:v>1079.7</c:v>
                </c:pt>
                <c:pt idx="2">
                  <c:v>867.2</c:v>
                </c:pt>
                <c:pt idx="3">
                  <c:v>447.8</c:v>
                </c:pt>
                <c:pt idx="4">
                  <c:v>387.1</c:v>
                </c:pt>
                <c:pt idx="5">
                  <c:v>10.4</c:v>
                </c:pt>
                <c:pt idx="6">
                  <c:v>#N/A</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0</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BC36-45AD-A8EA-F7000AB0E2D7}"/>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60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1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8826154795166735E-2"/>
          <c:y val="8.5676073607215686E-2"/>
          <c:w val="0.93427676379162283"/>
          <c:h val="0.72521170254211709"/>
        </c:manualLayout>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AI </c:v>
                </c:pt>
                <c:pt idx="1">
                  <c:v> YM </c:v>
                </c:pt>
                <c:pt idx="2">
                  <c:v> WX </c:v>
                </c:pt>
                <c:pt idx="3">
                  <c:v> XE </c:v>
                </c:pt>
                <c:pt idx="4">
                  <c:v> BV </c:v>
                </c:pt>
                <c:pt idx="5">
                  <c:v> NH </c:v>
                </c:pt>
                <c:pt idx="6">
                  <c:v> TB </c:v>
                </c:pt>
                <c:pt idx="7">
                  <c:v> HF </c:v>
                </c:pt>
                <c:pt idx="8">
                  <c:v> JW </c:v>
                </c:pt>
                <c:pt idx="9">
                  <c:v> CF </c:v>
                </c:pt>
                <c:pt idx="10">
                  <c:v> ON </c:v>
                </c:pt>
                <c:pt idx="11">
                  <c:v> SB </c:v>
                </c:pt>
                <c:pt idx="12">
                  <c:v> HH </c:v>
                </c:pt>
                <c:pt idx="13">
                  <c:v> EG </c:v>
                </c:pt>
                <c:pt idx="14">
                  <c:v> ZH </c:v>
                </c:pt>
                <c:pt idx="15">
                  <c:v> CD </c:v>
                </c:pt>
                <c:pt idx="16">
                  <c:v> MJ </c:v>
                </c:pt>
                <c:pt idx="17">
                  <c:v> AMD </c:v>
                </c:pt>
                <c:pt idx="18">
                  <c:v> GK </c:v>
                </c:pt>
                <c:pt idx="19">
                  <c:v> XR </c:v>
                </c:pt>
                <c:pt idx="20">
                  <c:v> NE </c:v>
                </c:pt>
                <c:pt idx="21">
                  <c:v> ZQ </c:v>
                </c:pt>
                <c:pt idx="22">
                  <c:v> EO </c:v>
                </c:pt>
                <c:pt idx="23">
                  <c:v> UY </c:v>
                </c:pt>
                <c:pt idx="24">
                  <c:v> NL </c:v>
                </c:pt>
                <c:pt idx="25">
                  <c:v> MD </c:v>
                </c:pt>
                <c:pt idx="26">
                  <c:v> IF </c:v>
                </c:pt>
                <c:pt idx="27">
                  <c:v> DO </c:v>
                </c:pt>
                <c:pt idx="28">
                  <c:v> UD </c:v>
                </c:pt>
                <c:pt idx="29">
                  <c:v> FA </c:v>
                </c:pt>
                <c:pt idx="30">
                  <c:v> YT </c:v>
                </c:pt>
                <c:pt idx="31">
                  <c:v> AK </c:v>
                </c:pt>
                <c:pt idx="32">
                  <c:v> MG </c:v>
                </c:pt>
                <c:pt idx="33">
                  <c:v> AW </c:v>
                </c:pt>
                <c:pt idx="34">
                  <c:v> TN </c:v>
                </c:pt>
                <c:pt idx="35">
                  <c:v> CL </c:v>
                </c:pt>
                <c:pt idx="36">
                  <c:v> DN </c:v>
                </c:pt>
                <c:pt idx="37">
                  <c:v> BR </c:v>
                </c:pt>
                <c:pt idx="38">
                  <c:v> GJ </c:v>
                </c:pt>
                <c:pt idx="39">
                  <c:v> SC </c:v>
                </c:pt>
                <c:pt idx="40">
                  <c:v> GC </c:v>
                </c:pt>
                <c:pt idx="41">
                  <c:v> EJ </c:v>
                </c:pt>
                <c:pt idx="42">
                  <c:v> FM </c:v>
                </c:pt>
                <c:pt idx="43">
                  <c:v> RG </c:v>
                </c:pt>
                <c:pt idx="44">
                  <c:v> HI </c:v>
                </c:pt>
                <c:pt idx="45">
                  <c:v> JA </c:v>
                </c:pt>
                <c:pt idx="46">
                  <c:v> KZ </c:v>
                </c:pt>
                <c:pt idx="47">
                  <c:v> RU </c:v>
                </c:pt>
                <c:pt idx="48">
                  <c:v> VP </c:v>
                </c:pt>
                <c:pt idx="49">
                  <c:v> QO </c:v>
                </c:pt>
                <c:pt idx="50">
                  <c:v> PE </c:v>
                </c:pt>
                <c:pt idx="51">
                  <c:v> KS </c:v>
                </c:pt>
                <c:pt idx="52">
                  <c:v> OU </c:v>
                </c:pt>
                <c:pt idx="53">
                  <c:v> FF </c:v>
                </c:pt>
              </c:strCache>
            </c:strRef>
          </c:cat>
          <c:val>
            <c:numRef>
              <c:f>Sheet1!$B$2:$B$55</c:f>
              <c:numCache>
                <c:formatCode>General</c:formatCode>
                <c:ptCount val="54"/>
                <c:pt idx="0">
                  <c:v>130.6</c:v>
                </c:pt>
                <c:pt idx="1">
                  <c:v>129.4</c:v>
                </c:pt>
                <c:pt idx="2">
                  <c:v>123.3</c:v>
                </c:pt>
                <c:pt idx="3">
                  <c:v>122.3</c:v>
                </c:pt>
                <c:pt idx="4">
                  <c:v>121.5</c:v>
                </c:pt>
                <c:pt idx="5">
                  <c:v>121.3</c:v>
                </c:pt>
                <c:pt idx="6">
                  <c:v>120.7</c:v>
                </c:pt>
                <c:pt idx="7">
                  <c:v>119.4</c:v>
                </c:pt>
                <c:pt idx="8">
                  <c:v>115.8</c:v>
                </c:pt>
                <c:pt idx="9">
                  <c:v>115.8</c:v>
                </c:pt>
                <c:pt idx="10">
                  <c:v>115.3</c:v>
                </c:pt>
                <c:pt idx="11">
                  <c:v>114.9</c:v>
                </c:pt>
                <c:pt idx="12">
                  <c:v>114.4</c:v>
                </c:pt>
                <c:pt idx="13">
                  <c:v>114.1</c:v>
                </c:pt>
                <c:pt idx="14">
                  <c:v>113.9</c:v>
                </c:pt>
                <c:pt idx="15">
                  <c:v>113.9</c:v>
                </c:pt>
                <c:pt idx="16">
                  <c:v>111.9</c:v>
                </c:pt>
                <c:pt idx="17">
                  <c:v>#N/A</c:v>
                </c:pt>
                <c:pt idx="18">
                  <c:v>110.6</c:v>
                </c:pt>
                <c:pt idx="19">
                  <c:v>109.3</c:v>
                </c:pt>
                <c:pt idx="20">
                  <c:v>106.6</c:v>
                </c:pt>
                <c:pt idx="21">
                  <c:v>105.6</c:v>
                </c:pt>
                <c:pt idx="22">
                  <c:v>105.5</c:v>
                </c:pt>
                <c:pt idx="23">
                  <c:v>104.9</c:v>
                </c:pt>
                <c:pt idx="24">
                  <c:v>104.9</c:v>
                </c:pt>
                <c:pt idx="25">
                  <c:v>103.9</c:v>
                </c:pt>
                <c:pt idx="26">
                  <c:v>101.3</c:v>
                </c:pt>
                <c:pt idx="27">
                  <c:v>101</c:v>
                </c:pt>
                <c:pt idx="28">
                  <c:v>98.2</c:v>
                </c:pt>
                <c:pt idx="29">
                  <c:v>98.2</c:v>
                </c:pt>
                <c:pt idx="30">
                  <c:v>95.7</c:v>
                </c:pt>
                <c:pt idx="31">
                  <c:v>95.3</c:v>
                </c:pt>
                <c:pt idx="32">
                  <c:v>94.6</c:v>
                </c:pt>
                <c:pt idx="33">
                  <c:v>94</c:v>
                </c:pt>
                <c:pt idx="34">
                  <c:v>94</c:v>
                </c:pt>
                <c:pt idx="35">
                  <c:v>90.9</c:v>
                </c:pt>
                <c:pt idx="36">
                  <c:v>90.1</c:v>
                </c:pt>
                <c:pt idx="37">
                  <c:v>89.8</c:v>
                </c:pt>
                <c:pt idx="38">
                  <c:v>89.5</c:v>
                </c:pt>
                <c:pt idx="39">
                  <c:v>88.8</c:v>
                </c:pt>
                <c:pt idx="40">
                  <c:v>87.6</c:v>
                </c:pt>
                <c:pt idx="41">
                  <c:v>87.5</c:v>
                </c:pt>
                <c:pt idx="42">
                  <c:v>86.5</c:v>
                </c:pt>
                <c:pt idx="43">
                  <c:v>85.9</c:v>
                </c:pt>
                <c:pt idx="44">
                  <c:v>85.2</c:v>
                </c:pt>
                <c:pt idx="45">
                  <c:v>82.9</c:v>
                </c:pt>
                <c:pt idx="46">
                  <c:v>81</c:v>
                </c:pt>
                <c:pt idx="47">
                  <c:v>77</c:v>
                </c:pt>
                <c:pt idx="48">
                  <c:v>75.2</c:v>
                </c:pt>
                <c:pt idx="49">
                  <c:v>74.7</c:v>
                </c:pt>
                <c:pt idx="50">
                  <c:v>71.599999999999994</c:v>
                </c:pt>
                <c:pt idx="51">
                  <c:v>71.099999999999994</c:v>
                </c:pt>
                <c:pt idx="52">
                  <c:v>70.900000000000006</c:v>
                </c:pt>
                <c:pt idx="53">
                  <c:v>60</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111.5</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2-0FC1-4D74-806B-B33BAD9BBF3B}"/>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3"/>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4-D3B4-40F2-90F9-58DBC7F532C1}"/>
              </c:ext>
            </c:extLst>
          </c:dPt>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ZQ </c:v>
                </c:pt>
                <c:pt idx="1">
                  <c:v> FA </c:v>
                </c:pt>
                <c:pt idx="2">
                  <c:v> DO </c:v>
                </c:pt>
                <c:pt idx="3">
                  <c:v> UD </c:v>
                </c:pt>
                <c:pt idx="4">
                  <c:v> AI </c:v>
                </c:pt>
                <c:pt idx="5">
                  <c:v> YT </c:v>
                </c:pt>
                <c:pt idx="6">
                  <c:v> YM </c:v>
                </c:pt>
                <c:pt idx="7">
                  <c:v> AK </c:v>
                </c:pt>
                <c:pt idx="8">
                  <c:v> GJ </c:v>
                </c:pt>
                <c:pt idx="9">
                  <c:v> AW </c:v>
                </c:pt>
                <c:pt idx="10">
                  <c:v> XR </c:v>
                </c:pt>
                <c:pt idx="11">
                  <c:v> TN </c:v>
                </c:pt>
                <c:pt idx="12">
                  <c:v> IF </c:v>
                </c:pt>
                <c:pt idx="13">
                  <c:v> AMD </c:v>
                </c:pt>
                <c:pt idx="14">
                  <c:v> MG </c:v>
                </c:pt>
                <c:pt idx="15">
                  <c:v> WX </c:v>
                </c:pt>
                <c:pt idx="16">
                  <c:v> SC </c:v>
                </c:pt>
                <c:pt idx="17">
                  <c:v> XE </c:v>
                </c:pt>
                <c:pt idx="18">
                  <c:v> KS </c:v>
                </c:pt>
                <c:pt idx="19">
                  <c:v> BV </c:v>
                </c:pt>
                <c:pt idx="20">
                  <c:v> NH </c:v>
                </c:pt>
                <c:pt idx="21">
                  <c:v> TB </c:v>
                </c:pt>
                <c:pt idx="22">
                  <c:v> SB </c:v>
                </c:pt>
                <c:pt idx="23">
                  <c:v> BR </c:v>
                </c:pt>
                <c:pt idx="24">
                  <c:v> EJ </c:v>
                </c:pt>
                <c:pt idx="25">
                  <c:v> HF </c:v>
                </c:pt>
                <c:pt idx="26">
                  <c:v> HI </c:v>
                </c:pt>
                <c:pt idx="27">
                  <c:v> RG </c:v>
                </c:pt>
                <c:pt idx="28">
                  <c:v> VP </c:v>
                </c:pt>
                <c:pt idx="29">
                  <c:v> JA </c:v>
                </c:pt>
                <c:pt idx="30">
                  <c:v> JW </c:v>
                </c:pt>
                <c:pt idx="31">
                  <c:v> CF </c:v>
                </c:pt>
                <c:pt idx="32">
                  <c:v> ON </c:v>
                </c:pt>
                <c:pt idx="33">
                  <c:v> HH </c:v>
                </c:pt>
                <c:pt idx="34">
                  <c:v> EG </c:v>
                </c:pt>
                <c:pt idx="35">
                  <c:v> KZ </c:v>
                </c:pt>
                <c:pt idx="36">
                  <c:v> ZH </c:v>
                </c:pt>
                <c:pt idx="37">
                  <c:v> CD </c:v>
                </c:pt>
                <c:pt idx="38">
                  <c:v> GC </c:v>
                </c:pt>
                <c:pt idx="39">
                  <c:v> CL </c:v>
                </c:pt>
                <c:pt idx="40">
                  <c:v> MJ </c:v>
                </c:pt>
                <c:pt idx="41">
                  <c:v> UY </c:v>
                </c:pt>
                <c:pt idx="42">
                  <c:v> RU </c:v>
                </c:pt>
                <c:pt idx="43">
                  <c:v> GK </c:v>
                </c:pt>
                <c:pt idx="44">
                  <c:v> EO </c:v>
                </c:pt>
                <c:pt idx="45">
                  <c:v> FM </c:v>
                </c:pt>
                <c:pt idx="46">
                  <c:v> QO </c:v>
                </c:pt>
                <c:pt idx="47">
                  <c:v> NE </c:v>
                </c:pt>
                <c:pt idx="48">
                  <c:v> DN </c:v>
                </c:pt>
                <c:pt idx="49">
                  <c:v> PE </c:v>
                </c:pt>
                <c:pt idx="50">
                  <c:v> NL </c:v>
                </c:pt>
                <c:pt idx="51">
                  <c:v> OU </c:v>
                </c:pt>
                <c:pt idx="52">
                  <c:v> MD </c:v>
                </c:pt>
                <c:pt idx="53">
                  <c:v> FF </c:v>
                </c:pt>
              </c:strCache>
            </c:strRef>
          </c:cat>
          <c:val>
            <c:numRef>
              <c:f>Sheet1!$B$2:$B$55</c:f>
              <c:numCache>
                <c:formatCode>General</c:formatCode>
                <c:ptCount val="54"/>
                <c:pt idx="0">
                  <c:v>113.9</c:v>
                </c:pt>
                <c:pt idx="1">
                  <c:v>111.8</c:v>
                </c:pt>
                <c:pt idx="2">
                  <c:v>111.4</c:v>
                </c:pt>
                <c:pt idx="3">
                  <c:v>111.2</c:v>
                </c:pt>
                <c:pt idx="4">
                  <c:v>110.6</c:v>
                </c:pt>
                <c:pt idx="5">
                  <c:v>109.8</c:v>
                </c:pt>
                <c:pt idx="6">
                  <c:v>109.7</c:v>
                </c:pt>
                <c:pt idx="7">
                  <c:v>109.4</c:v>
                </c:pt>
                <c:pt idx="8">
                  <c:v>108.8</c:v>
                </c:pt>
                <c:pt idx="9">
                  <c:v>108.4</c:v>
                </c:pt>
                <c:pt idx="10">
                  <c:v>107</c:v>
                </c:pt>
                <c:pt idx="11">
                  <c:v>106.9</c:v>
                </c:pt>
                <c:pt idx="12">
                  <c:v>104.9</c:v>
                </c:pt>
                <c:pt idx="13">
                  <c:v>#N/A</c:v>
                </c:pt>
                <c:pt idx="14">
                  <c:v>104.6</c:v>
                </c:pt>
                <c:pt idx="15">
                  <c:v>104.5</c:v>
                </c:pt>
                <c:pt idx="16">
                  <c:v>103.9</c:v>
                </c:pt>
                <c:pt idx="17">
                  <c:v>103.7</c:v>
                </c:pt>
                <c:pt idx="18">
                  <c:v>103.1</c:v>
                </c:pt>
                <c:pt idx="19">
                  <c:v>102.9</c:v>
                </c:pt>
                <c:pt idx="20">
                  <c:v>102.8</c:v>
                </c:pt>
                <c:pt idx="21">
                  <c:v>102.3</c:v>
                </c:pt>
                <c:pt idx="22">
                  <c:v>101.9</c:v>
                </c:pt>
                <c:pt idx="23">
                  <c:v>101.9</c:v>
                </c:pt>
                <c:pt idx="24">
                  <c:v>101.4</c:v>
                </c:pt>
                <c:pt idx="25">
                  <c:v>101.2</c:v>
                </c:pt>
                <c:pt idx="26">
                  <c:v>100.9</c:v>
                </c:pt>
                <c:pt idx="27">
                  <c:v>99.3</c:v>
                </c:pt>
                <c:pt idx="28">
                  <c:v>98.5</c:v>
                </c:pt>
                <c:pt idx="29">
                  <c:v>98.2</c:v>
                </c:pt>
                <c:pt idx="30">
                  <c:v>98.2</c:v>
                </c:pt>
                <c:pt idx="31">
                  <c:v>98.1</c:v>
                </c:pt>
                <c:pt idx="32">
                  <c:v>97.7</c:v>
                </c:pt>
                <c:pt idx="33">
                  <c:v>97</c:v>
                </c:pt>
                <c:pt idx="34">
                  <c:v>96.7</c:v>
                </c:pt>
                <c:pt idx="35">
                  <c:v>96.6</c:v>
                </c:pt>
                <c:pt idx="36">
                  <c:v>96.6</c:v>
                </c:pt>
                <c:pt idx="37">
                  <c:v>96.5</c:v>
                </c:pt>
                <c:pt idx="38">
                  <c:v>96</c:v>
                </c:pt>
                <c:pt idx="39">
                  <c:v>95.5</c:v>
                </c:pt>
                <c:pt idx="40">
                  <c:v>94.8</c:v>
                </c:pt>
                <c:pt idx="41">
                  <c:v>94</c:v>
                </c:pt>
                <c:pt idx="42">
                  <c:v>93.9</c:v>
                </c:pt>
                <c:pt idx="43">
                  <c:v>93.7</c:v>
                </c:pt>
                <c:pt idx="44">
                  <c:v>93.6</c:v>
                </c:pt>
                <c:pt idx="45">
                  <c:v>93.3</c:v>
                </c:pt>
                <c:pt idx="46">
                  <c:v>91.9</c:v>
                </c:pt>
                <c:pt idx="47">
                  <c:v>91.9</c:v>
                </c:pt>
                <c:pt idx="48">
                  <c:v>90.7</c:v>
                </c:pt>
                <c:pt idx="49">
                  <c:v>89.3</c:v>
                </c:pt>
                <c:pt idx="50">
                  <c:v>88.9</c:v>
                </c:pt>
                <c:pt idx="51">
                  <c:v>88.8</c:v>
                </c:pt>
                <c:pt idx="52">
                  <c:v>88</c:v>
                </c:pt>
                <c:pt idx="53">
                  <c:v>78.7</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104.7</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93E5-4C67-B90A-2735307569C3}"/>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20"/>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2-7EA2-4DA2-A73A-8F7B610761E7}"/>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UY </c:v>
                </c:pt>
                <c:pt idx="1">
                  <c:v> BV </c:v>
                </c:pt>
                <c:pt idx="2">
                  <c:v> YM </c:v>
                </c:pt>
                <c:pt idx="3">
                  <c:v> SB </c:v>
                </c:pt>
                <c:pt idx="4">
                  <c:v> CF </c:v>
                </c:pt>
                <c:pt idx="5">
                  <c:v> MJ </c:v>
                </c:pt>
                <c:pt idx="6">
                  <c:v> AI </c:v>
                </c:pt>
                <c:pt idx="7">
                  <c:v> NH </c:v>
                </c:pt>
                <c:pt idx="8">
                  <c:v> TB </c:v>
                </c:pt>
                <c:pt idx="9">
                  <c:v> ZH </c:v>
                </c:pt>
                <c:pt idx="10">
                  <c:v> XE </c:v>
                </c:pt>
                <c:pt idx="11">
                  <c:v> MD </c:v>
                </c:pt>
                <c:pt idx="12">
                  <c:v> ON </c:v>
                </c:pt>
                <c:pt idx="13">
                  <c:v> JW </c:v>
                </c:pt>
                <c:pt idx="14">
                  <c:v> WX </c:v>
                </c:pt>
                <c:pt idx="15">
                  <c:v> HH </c:v>
                </c:pt>
                <c:pt idx="16">
                  <c:v> HF </c:v>
                </c:pt>
                <c:pt idx="17">
                  <c:v> EO </c:v>
                </c:pt>
                <c:pt idx="18">
                  <c:v> CD </c:v>
                </c:pt>
                <c:pt idx="19">
                  <c:v> NL </c:v>
                </c:pt>
                <c:pt idx="20">
                  <c:v> AMD </c:v>
                </c:pt>
                <c:pt idx="21">
                  <c:v> NE </c:v>
                </c:pt>
                <c:pt idx="22">
                  <c:v> GK </c:v>
                </c:pt>
                <c:pt idx="23">
                  <c:v> IF </c:v>
                </c:pt>
                <c:pt idx="24">
                  <c:v> EG </c:v>
                </c:pt>
                <c:pt idx="25">
                  <c:v> XR </c:v>
                </c:pt>
                <c:pt idx="26">
                  <c:v> ZQ </c:v>
                </c:pt>
                <c:pt idx="27">
                  <c:v> CL </c:v>
                </c:pt>
                <c:pt idx="28">
                  <c:v> UD </c:v>
                </c:pt>
                <c:pt idx="29">
                  <c:v> DN </c:v>
                </c:pt>
                <c:pt idx="30">
                  <c:v> DO </c:v>
                </c:pt>
                <c:pt idx="31">
                  <c:v> VP </c:v>
                </c:pt>
                <c:pt idx="32">
                  <c:v> AW </c:v>
                </c:pt>
                <c:pt idx="33">
                  <c:v> GJ </c:v>
                </c:pt>
                <c:pt idx="34">
                  <c:v> TN </c:v>
                </c:pt>
                <c:pt idx="35">
                  <c:v> BR </c:v>
                </c:pt>
                <c:pt idx="36">
                  <c:v> KS </c:v>
                </c:pt>
                <c:pt idx="37">
                  <c:v> GC </c:v>
                </c:pt>
                <c:pt idx="38">
                  <c:v> FA </c:v>
                </c:pt>
                <c:pt idx="39">
                  <c:v> FM </c:v>
                </c:pt>
                <c:pt idx="40">
                  <c:v> EJ </c:v>
                </c:pt>
                <c:pt idx="41">
                  <c:v> RG </c:v>
                </c:pt>
                <c:pt idx="42">
                  <c:v> HI </c:v>
                </c:pt>
                <c:pt idx="43">
                  <c:v> SC </c:v>
                </c:pt>
                <c:pt idx="44">
                  <c:v> YT </c:v>
                </c:pt>
                <c:pt idx="45">
                  <c:v> AK </c:v>
                </c:pt>
                <c:pt idx="46">
                  <c:v> MG </c:v>
                </c:pt>
                <c:pt idx="47">
                  <c:v> QO </c:v>
                </c:pt>
                <c:pt idx="48">
                  <c:v> JA </c:v>
                </c:pt>
                <c:pt idx="49">
                  <c:v> KZ </c:v>
                </c:pt>
                <c:pt idx="50">
                  <c:v> RU </c:v>
                </c:pt>
                <c:pt idx="51">
                  <c:v> OU </c:v>
                </c:pt>
                <c:pt idx="52">
                  <c:v> PE </c:v>
                </c:pt>
                <c:pt idx="53">
                  <c:v> FF </c:v>
                </c:pt>
              </c:strCache>
            </c:strRef>
          </c:cat>
          <c:val>
            <c:numRef>
              <c:f>Sheet1!$B$2:$B$55</c:f>
              <c:numCache>
                <c:formatCode>General</c:formatCode>
                <c:ptCount val="54"/>
                <c:pt idx="0">
                  <c:v>132.5</c:v>
                </c:pt>
                <c:pt idx="1">
                  <c:v>131.4</c:v>
                </c:pt>
                <c:pt idx="2">
                  <c:v>129.5</c:v>
                </c:pt>
                <c:pt idx="3">
                  <c:v>129.1</c:v>
                </c:pt>
                <c:pt idx="4">
                  <c:v>128.80000000000001</c:v>
                </c:pt>
                <c:pt idx="5">
                  <c:v>128.4</c:v>
                </c:pt>
                <c:pt idx="6">
                  <c:v>128.19999999999999</c:v>
                </c:pt>
                <c:pt idx="7">
                  <c:v>127.5</c:v>
                </c:pt>
                <c:pt idx="8">
                  <c:v>126.5</c:v>
                </c:pt>
                <c:pt idx="9">
                  <c:v>126.4</c:v>
                </c:pt>
                <c:pt idx="10">
                  <c:v>123.9</c:v>
                </c:pt>
                <c:pt idx="11">
                  <c:v>122.6</c:v>
                </c:pt>
                <c:pt idx="12">
                  <c:v>122.4</c:v>
                </c:pt>
                <c:pt idx="13">
                  <c:v>122</c:v>
                </c:pt>
                <c:pt idx="14">
                  <c:v>121.9</c:v>
                </c:pt>
                <c:pt idx="15">
                  <c:v>121.2</c:v>
                </c:pt>
                <c:pt idx="16">
                  <c:v>116.1</c:v>
                </c:pt>
                <c:pt idx="17">
                  <c:v>115.9</c:v>
                </c:pt>
                <c:pt idx="18">
                  <c:v>114.5</c:v>
                </c:pt>
                <c:pt idx="19">
                  <c:v>114.2</c:v>
                </c:pt>
                <c:pt idx="20">
                  <c:v>#N/A</c:v>
                </c:pt>
                <c:pt idx="21">
                  <c:v>110.6</c:v>
                </c:pt>
                <c:pt idx="22">
                  <c:v>104.7</c:v>
                </c:pt>
                <c:pt idx="23">
                  <c:v>103.5</c:v>
                </c:pt>
                <c:pt idx="24">
                  <c:v>102.6</c:v>
                </c:pt>
                <c:pt idx="25">
                  <c:v>99.8</c:v>
                </c:pt>
                <c:pt idx="26">
                  <c:v>95.8</c:v>
                </c:pt>
                <c:pt idx="27">
                  <c:v>92.9</c:v>
                </c:pt>
                <c:pt idx="28">
                  <c:v>91.8</c:v>
                </c:pt>
                <c:pt idx="29">
                  <c:v>91.6</c:v>
                </c:pt>
                <c:pt idx="30">
                  <c:v>91.1</c:v>
                </c:pt>
                <c:pt idx="31">
                  <c:v>91</c:v>
                </c:pt>
                <c:pt idx="32">
                  <c:v>90.3</c:v>
                </c:pt>
                <c:pt idx="33">
                  <c:v>89.8</c:v>
                </c:pt>
                <c:pt idx="34">
                  <c:v>88.5</c:v>
                </c:pt>
                <c:pt idx="35">
                  <c:v>88.4</c:v>
                </c:pt>
                <c:pt idx="36">
                  <c:v>87.1</c:v>
                </c:pt>
                <c:pt idx="37">
                  <c:v>85.1</c:v>
                </c:pt>
                <c:pt idx="38">
                  <c:v>84.9</c:v>
                </c:pt>
                <c:pt idx="39">
                  <c:v>83.9</c:v>
                </c:pt>
                <c:pt idx="40">
                  <c:v>83.6</c:v>
                </c:pt>
                <c:pt idx="41">
                  <c:v>82.7</c:v>
                </c:pt>
                <c:pt idx="42">
                  <c:v>82.2</c:v>
                </c:pt>
                <c:pt idx="43">
                  <c:v>81.400000000000006</c:v>
                </c:pt>
                <c:pt idx="44">
                  <c:v>80.7</c:v>
                </c:pt>
                <c:pt idx="45">
                  <c:v>80.5</c:v>
                </c:pt>
                <c:pt idx="46">
                  <c:v>78.8</c:v>
                </c:pt>
                <c:pt idx="47">
                  <c:v>75.099999999999994</c:v>
                </c:pt>
                <c:pt idx="48">
                  <c:v>75.099999999999994</c:v>
                </c:pt>
                <c:pt idx="49">
                  <c:v>68.3</c:v>
                </c:pt>
                <c:pt idx="50">
                  <c:v>67.599999999999994</c:v>
                </c:pt>
                <c:pt idx="51">
                  <c:v>66.099999999999994</c:v>
                </c:pt>
                <c:pt idx="52">
                  <c:v>61.4</c:v>
                </c:pt>
                <c:pt idx="53">
                  <c:v>47.8</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112.1</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39-1B1E-4E03-A10E-D0BADED0113D}"/>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UD </c:v>
                </c:pt>
                <c:pt idx="1">
                  <c:v> AW </c:v>
                </c:pt>
                <c:pt idx="2">
                  <c:v> GJ </c:v>
                </c:pt>
                <c:pt idx="3">
                  <c:v> ZQ </c:v>
                </c:pt>
                <c:pt idx="4">
                  <c:v> VP </c:v>
                </c:pt>
                <c:pt idx="5">
                  <c:v> IF </c:v>
                </c:pt>
                <c:pt idx="6">
                  <c:v> KS </c:v>
                </c:pt>
                <c:pt idx="7">
                  <c:v> UY </c:v>
                </c:pt>
                <c:pt idx="8">
                  <c:v> DO </c:v>
                </c:pt>
                <c:pt idx="9">
                  <c:v> TN </c:v>
                </c:pt>
                <c:pt idx="10">
                  <c:v> BV </c:v>
                </c:pt>
                <c:pt idx="11">
                  <c:v> FA </c:v>
                </c:pt>
                <c:pt idx="12">
                  <c:v> YM </c:v>
                </c:pt>
                <c:pt idx="13">
                  <c:v> BR </c:v>
                </c:pt>
                <c:pt idx="14">
                  <c:v> SB </c:v>
                </c:pt>
                <c:pt idx="15">
                  <c:v> CF </c:v>
                </c:pt>
                <c:pt idx="16">
                  <c:v> MJ </c:v>
                </c:pt>
                <c:pt idx="17">
                  <c:v> AI </c:v>
                </c:pt>
                <c:pt idx="18">
                  <c:v> HI </c:v>
                </c:pt>
                <c:pt idx="19">
                  <c:v> NH </c:v>
                </c:pt>
                <c:pt idx="20">
                  <c:v> SC </c:v>
                </c:pt>
                <c:pt idx="21">
                  <c:v> EJ </c:v>
                </c:pt>
                <c:pt idx="22">
                  <c:v> TB </c:v>
                </c:pt>
                <c:pt idx="23">
                  <c:v> ZH </c:v>
                </c:pt>
                <c:pt idx="24">
                  <c:v> YT </c:v>
                </c:pt>
                <c:pt idx="25">
                  <c:v> AK </c:v>
                </c:pt>
                <c:pt idx="26">
                  <c:v> RG </c:v>
                </c:pt>
                <c:pt idx="27">
                  <c:v> AMD </c:v>
                </c:pt>
                <c:pt idx="28">
                  <c:v> XE </c:v>
                </c:pt>
                <c:pt idx="29">
                  <c:v> MD </c:v>
                </c:pt>
                <c:pt idx="30">
                  <c:v> XR </c:v>
                </c:pt>
                <c:pt idx="31">
                  <c:v> EO </c:v>
                </c:pt>
                <c:pt idx="32">
                  <c:v> ON </c:v>
                </c:pt>
                <c:pt idx="33">
                  <c:v> CL </c:v>
                </c:pt>
                <c:pt idx="34">
                  <c:v> JW </c:v>
                </c:pt>
                <c:pt idx="35">
                  <c:v> WX </c:v>
                </c:pt>
                <c:pt idx="36">
                  <c:v> HH </c:v>
                </c:pt>
                <c:pt idx="37">
                  <c:v> QO </c:v>
                </c:pt>
                <c:pt idx="38">
                  <c:v> GC </c:v>
                </c:pt>
                <c:pt idx="39">
                  <c:v> JA </c:v>
                </c:pt>
                <c:pt idx="40">
                  <c:v> MG </c:v>
                </c:pt>
                <c:pt idx="41">
                  <c:v> HF </c:v>
                </c:pt>
                <c:pt idx="42">
                  <c:v> FM </c:v>
                </c:pt>
                <c:pt idx="43">
                  <c:v> CD </c:v>
                </c:pt>
                <c:pt idx="44">
                  <c:v> DN </c:v>
                </c:pt>
                <c:pt idx="45">
                  <c:v> NL </c:v>
                </c:pt>
                <c:pt idx="46">
                  <c:v> NE </c:v>
                </c:pt>
                <c:pt idx="47">
                  <c:v> RU </c:v>
                </c:pt>
                <c:pt idx="48">
                  <c:v> KZ </c:v>
                </c:pt>
                <c:pt idx="49">
                  <c:v> OU </c:v>
                </c:pt>
                <c:pt idx="50">
                  <c:v> PE </c:v>
                </c:pt>
                <c:pt idx="51">
                  <c:v> GK </c:v>
                </c:pt>
                <c:pt idx="52">
                  <c:v> EG </c:v>
                </c:pt>
                <c:pt idx="53">
                  <c:v> FF </c:v>
                </c:pt>
              </c:strCache>
            </c:strRef>
          </c:cat>
          <c:val>
            <c:numRef>
              <c:f>Sheet1!$B$2:$B$55</c:f>
              <c:numCache>
                <c:formatCode>General</c:formatCode>
                <c:ptCount val="54"/>
                <c:pt idx="0">
                  <c:v>110.6</c:v>
                </c:pt>
                <c:pt idx="1">
                  <c:v>110.4</c:v>
                </c:pt>
                <c:pt idx="2">
                  <c:v>109.9</c:v>
                </c:pt>
                <c:pt idx="3">
                  <c:v>109.3</c:v>
                </c:pt>
                <c:pt idx="4">
                  <c:v>109</c:v>
                </c:pt>
                <c:pt idx="5">
                  <c:v>108.6</c:v>
                </c:pt>
                <c:pt idx="6">
                  <c:v>107.8</c:v>
                </c:pt>
                <c:pt idx="7">
                  <c:v>107.6</c:v>
                </c:pt>
                <c:pt idx="8">
                  <c:v>107.3</c:v>
                </c:pt>
                <c:pt idx="9">
                  <c:v>107.1</c:v>
                </c:pt>
                <c:pt idx="10">
                  <c:v>106.7</c:v>
                </c:pt>
                <c:pt idx="11">
                  <c:v>106</c:v>
                </c:pt>
                <c:pt idx="12">
                  <c:v>105.2</c:v>
                </c:pt>
                <c:pt idx="13">
                  <c:v>105.1</c:v>
                </c:pt>
                <c:pt idx="14">
                  <c:v>104.9</c:v>
                </c:pt>
                <c:pt idx="15">
                  <c:v>104.6</c:v>
                </c:pt>
                <c:pt idx="16">
                  <c:v>104.3</c:v>
                </c:pt>
                <c:pt idx="17">
                  <c:v>104.2</c:v>
                </c:pt>
                <c:pt idx="18">
                  <c:v>103.7</c:v>
                </c:pt>
                <c:pt idx="19">
                  <c:v>103.5</c:v>
                </c:pt>
                <c:pt idx="20">
                  <c:v>103.1</c:v>
                </c:pt>
                <c:pt idx="21">
                  <c:v>103</c:v>
                </c:pt>
                <c:pt idx="22">
                  <c:v>102.7</c:v>
                </c:pt>
                <c:pt idx="23">
                  <c:v>102.6</c:v>
                </c:pt>
                <c:pt idx="24">
                  <c:v>102.6</c:v>
                </c:pt>
                <c:pt idx="25">
                  <c:v>102.4</c:v>
                </c:pt>
                <c:pt idx="26">
                  <c:v>101.4</c:v>
                </c:pt>
                <c:pt idx="27">
                  <c:v>#N/A</c:v>
                </c:pt>
                <c:pt idx="28">
                  <c:v>100.6</c:v>
                </c:pt>
                <c:pt idx="29">
                  <c:v>99.6</c:v>
                </c:pt>
                <c:pt idx="30">
                  <c:v>99.6</c:v>
                </c:pt>
                <c:pt idx="31">
                  <c:v>99.5</c:v>
                </c:pt>
                <c:pt idx="32">
                  <c:v>99.4</c:v>
                </c:pt>
                <c:pt idx="33">
                  <c:v>99.4</c:v>
                </c:pt>
                <c:pt idx="34">
                  <c:v>99.1</c:v>
                </c:pt>
                <c:pt idx="35">
                  <c:v>99</c:v>
                </c:pt>
                <c:pt idx="36">
                  <c:v>98.4</c:v>
                </c:pt>
                <c:pt idx="37">
                  <c:v>98</c:v>
                </c:pt>
                <c:pt idx="38">
                  <c:v>97.2</c:v>
                </c:pt>
                <c:pt idx="39">
                  <c:v>97</c:v>
                </c:pt>
                <c:pt idx="40">
                  <c:v>95.6</c:v>
                </c:pt>
                <c:pt idx="41">
                  <c:v>94.3</c:v>
                </c:pt>
                <c:pt idx="42">
                  <c:v>94</c:v>
                </c:pt>
                <c:pt idx="43">
                  <c:v>93</c:v>
                </c:pt>
                <c:pt idx="44">
                  <c:v>92.9</c:v>
                </c:pt>
                <c:pt idx="45">
                  <c:v>92.7</c:v>
                </c:pt>
                <c:pt idx="46">
                  <c:v>91.9</c:v>
                </c:pt>
                <c:pt idx="47">
                  <c:v>91.9</c:v>
                </c:pt>
                <c:pt idx="48">
                  <c:v>91.5</c:v>
                </c:pt>
                <c:pt idx="49">
                  <c:v>90.7</c:v>
                </c:pt>
                <c:pt idx="50">
                  <c:v>86.9</c:v>
                </c:pt>
                <c:pt idx="51">
                  <c:v>85.1</c:v>
                </c:pt>
                <c:pt idx="52">
                  <c:v>83.3</c:v>
                </c:pt>
                <c:pt idx="53">
                  <c:v>74.8</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101</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D426-4D8E-BC65-6AFE68ED8CBD}"/>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5E6F-4E49-8129-23A67318DD95}"/>
              </c:ext>
            </c:extLst>
          </c:dPt>
          <c:dPt>
            <c:idx val="19"/>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E6F-4E49-8129-23A67318DD95}"/>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EG </c:v>
                </c:pt>
                <c:pt idx="1">
                  <c:v> MG </c:v>
                </c:pt>
                <c:pt idx="2">
                  <c:v> YT </c:v>
                </c:pt>
                <c:pt idx="3">
                  <c:v> AK </c:v>
                </c:pt>
                <c:pt idx="4">
                  <c:v> AI </c:v>
                </c:pt>
                <c:pt idx="5">
                  <c:v> XR </c:v>
                </c:pt>
                <c:pt idx="6">
                  <c:v> FA </c:v>
                </c:pt>
                <c:pt idx="7">
                  <c:v> ZQ </c:v>
                </c:pt>
                <c:pt idx="8">
                  <c:v> DO </c:v>
                </c:pt>
                <c:pt idx="9">
                  <c:v> YM </c:v>
                </c:pt>
                <c:pt idx="10">
                  <c:v> HF </c:v>
                </c:pt>
                <c:pt idx="11">
                  <c:v> WX </c:v>
                </c:pt>
                <c:pt idx="12">
                  <c:v> GK </c:v>
                </c:pt>
                <c:pt idx="13">
                  <c:v> XE </c:v>
                </c:pt>
                <c:pt idx="14">
                  <c:v> KZ </c:v>
                </c:pt>
                <c:pt idx="15">
                  <c:v> UD </c:v>
                </c:pt>
                <c:pt idx="16">
                  <c:v> CD </c:v>
                </c:pt>
                <c:pt idx="17">
                  <c:v> SC </c:v>
                </c:pt>
                <c:pt idx="18">
                  <c:v> TN </c:v>
                </c:pt>
                <c:pt idx="19">
                  <c:v> AMD </c:v>
                </c:pt>
                <c:pt idx="20">
                  <c:v> JA </c:v>
                </c:pt>
                <c:pt idx="21">
                  <c:v> AW </c:v>
                </c:pt>
                <c:pt idx="22">
                  <c:v> TB </c:v>
                </c:pt>
                <c:pt idx="23">
                  <c:v> RU </c:v>
                </c:pt>
                <c:pt idx="24">
                  <c:v> NH </c:v>
                </c:pt>
                <c:pt idx="25">
                  <c:v> PE </c:v>
                </c:pt>
                <c:pt idx="26">
                  <c:v> EJ </c:v>
                </c:pt>
                <c:pt idx="27">
                  <c:v> JW </c:v>
                </c:pt>
                <c:pt idx="28">
                  <c:v> FF </c:v>
                </c:pt>
                <c:pt idx="29">
                  <c:v> RG </c:v>
                </c:pt>
                <c:pt idx="30">
                  <c:v> IF </c:v>
                </c:pt>
                <c:pt idx="31">
                  <c:v> ON </c:v>
                </c:pt>
                <c:pt idx="32">
                  <c:v> NE </c:v>
                </c:pt>
                <c:pt idx="33">
                  <c:v> HH </c:v>
                </c:pt>
                <c:pt idx="34">
                  <c:v> GC </c:v>
                </c:pt>
                <c:pt idx="35">
                  <c:v> HI </c:v>
                </c:pt>
                <c:pt idx="36">
                  <c:v> FM </c:v>
                </c:pt>
                <c:pt idx="37">
                  <c:v> BR </c:v>
                </c:pt>
                <c:pt idx="38">
                  <c:v> BV </c:v>
                </c:pt>
                <c:pt idx="39">
                  <c:v> GJ </c:v>
                </c:pt>
                <c:pt idx="40">
                  <c:v> DN </c:v>
                </c:pt>
                <c:pt idx="41">
                  <c:v> OU </c:v>
                </c:pt>
                <c:pt idx="42">
                  <c:v> CL </c:v>
                </c:pt>
                <c:pt idx="43">
                  <c:v> CF </c:v>
                </c:pt>
                <c:pt idx="44">
                  <c:v> NL </c:v>
                </c:pt>
                <c:pt idx="45">
                  <c:v> ZH </c:v>
                </c:pt>
                <c:pt idx="46">
                  <c:v> EO </c:v>
                </c:pt>
                <c:pt idx="47">
                  <c:v> SB </c:v>
                </c:pt>
                <c:pt idx="48">
                  <c:v> QO </c:v>
                </c:pt>
                <c:pt idx="49">
                  <c:v> MJ </c:v>
                </c:pt>
                <c:pt idx="50">
                  <c:v> MD </c:v>
                </c:pt>
                <c:pt idx="51">
                  <c:v> VP </c:v>
                </c:pt>
                <c:pt idx="52">
                  <c:v> UY </c:v>
                </c:pt>
                <c:pt idx="53">
                  <c:v> KS </c:v>
                </c:pt>
              </c:strCache>
            </c:strRef>
          </c:cat>
          <c:val>
            <c:numRef>
              <c:f>Sheet1!$B$2:$B$55</c:f>
              <c:numCache>
                <c:formatCode>General</c:formatCode>
                <c:ptCount val="54"/>
                <c:pt idx="0">
                  <c:v>147.4</c:v>
                </c:pt>
                <c:pt idx="1">
                  <c:v>140.1</c:v>
                </c:pt>
                <c:pt idx="2">
                  <c:v>139</c:v>
                </c:pt>
                <c:pt idx="3">
                  <c:v>138.1</c:v>
                </c:pt>
                <c:pt idx="4">
                  <c:v>137.19999999999999</c:v>
                </c:pt>
                <c:pt idx="5">
                  <c:v>136.9</c:v>
                </c:pt>
                <c:pt idx="6">
                  <c:v>136.30000000000001</c:v>
                </c:pt>
                <c:pt idx="7">
                  <c:v>134</c:v>
                </c:pt>
                <c:pt idx="8">
                  <c:v>129.5</c:v>
                </c:pt>
                <c:pt idx="9">
                  <c:v>129.30000000000001</c:v>
                </c:pt>
                <c:pt idx="10">
                  <c:v>129</c:v>
                </c:pt>
                <c:pt idx="11">
                  <c:v>127.5</c:v>
                </c:pt>
                <c:pt idx="12">
                  <c:v>127.4</c:v>
                </c:pt>
                <c:pt idx="13">
                  <c:v>117.8</c:v>
                </c:pt>
                <c:pt idx="14">
                  <c:v>117.8</c:v>
                </c:pt>
                <c:pt idx="15">
                  <c:v>116.9</c:v>
                </c:pt>
                <c:pt idx="16">
                  <c:v>112.3</c:v>
                </c:pt>
                <c:pt idx="17">
                  <c:v>110</c:v>
                </c:pt>
                <c:pt idx="18">
                  <c:v>109.7</c:v>
                </c:pt>
                <c:pt idx="19">
                  <c:v>#N/A</c:v>
                </c:pt>
                <c:pt idx="20">
                  <c:v>105.7</c:v>
                </c:pt>
                <c:pt idx="21">
                  <c:v>104.8</c:v>
                </c:pt>
                <c:pt idx="22">
                  <c:v>104.1</c:v>
                </c:pt>
                <c:pt idx="23">
                  <c:v>104.1</c:v>
                </c:pt>
                <c:pt idx="24">
                  <c:v>103.6</c:v>
                </c:pt>
                <c:pt idx="25">
                  <c:v>100.9</c:v>
                </c:pt>
                <c:pt idx="26">
                  <c:v>99</c:v>
                </c:pt>
                <c:pt idx="27">
                  <c:v>98</c:v>
                </c:pt>
                <c:pt idx="28">
                  <c:v>95.2</c:v>
                </c:pt>
                <c:pt idx="29">
                  <c:v>95.1</c:v>
                </c:pt>
                <c:pt idx="30">
                  <c:v>95.1</c:v>
                </c:pt>
                <c:pt idx="31">
                  <c:v>94.9</c:v>
                </c:pt>
                <c:pt idx="32">
                  <c:v>94.9</c:v>
                </c:pt>
                <c:pt idx="33">
                  <c:v>94.9</c:v>
                </c:pt>
                <c:pt idx="34">
                  <c:v>94.6</c:v>
                </c:pt>
                <c:pt idx="35">
                  <c:v>94</c:v>
                </c:pt>
                <c:pt idx="36">
                  <c:v>94</c:v>
                </c:pt>
                <c:pt idx="37">
                  <c:v>94</c:v>
                </c:pt>
                <c:pt idx="38">
                  <c:v>92.8</c:v>
                </c:pt>
                <c:pt idx="39">
                  <c:v>88.6</c:v>
                </c:pt>
                <c:pt idx="40">
                  <c:v>85.9</c:v>
                </c:pt>
                <c:pt idx="41">
                  <c:v>84.9</c:v>
                </c:pt>
                <c:pt idx="42">
                  <c:v>84.9</c:v>
                </c:pt>
                <c:pt idx="43">
                  <c:v>78</c:v>
                </c:pt>
                <c:pt idx="44">
                  <c:v>78</c:v>
                </c:pt>
                <c:pt idx="45">
                  <c:v>78</c:v>
                </c:pt>
                <c:pt idx="46">
                  <c:v>75.599999999999994</c:v>
                </c:pt>
                <c:pt idx="47">
                  <c:v>73.8</c:v>
                </c:pt>
                <c:pt idx="48">
                  <c:v>73.400000000000006</c:v>
                </c:pt>
                <c:pt idx="49">
                  <c:v>64.2</c:v>
                </c:pt>
                <c:pt idx="50">
                  <c:v>49.7</c:v>
                </c:pt>
                <c:pt idx="51">
                  <c:v>29.7</c:v>
                </c:pt>
                <c:pt idx="52">
                  <c:v>25.2</c:v>
                </c:pt>
                <c:pt idx="53">
                  <c:v>24.8</c:v>
                </c:pt>
              </c:numCache>
            </c:numRef>
          </c:val>
          <c:extLst>
            <c:ext xmlns:c16="http://schemas.microsoft.com/office/drawing/2014/chart" uri="{C3380CC4-5D6E-409C-BE32-E72D297353CC}">
              <c16:uniqueId val="{00000004-5E6F-4E49-8129-23A67318DD95}"/>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109.6</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39-18BC-41D7-9CBB-BA90D676CFD1}"/>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3"/>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16EE-4B5D-83F4-C27DB73A3095}"/>
              </c:ext>
            </c:extLst>
          </c:dPt>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16EE-4B5D-83F4-C27DB73A3095}"/>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5-16EE-4B5D-83F4-C27DB73A3095}"/>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EG </c:v>
                </c:pt>
                <c:pt idx="1">
                  <c:v> MG </c:v>
                </c:pt>
                <c:pt idx="2">
                  <c:v> YT </c:v>
                </c:pt>
                <c:pt idx="3">
                  <c:v> AK </c:v>
                </c:pt>
                <c:pt idx="4">
                  <c:v> AI </c:v>
                </c:pt>
                <c:pt idx="5">
                  <c:v> XR </c:v>
                </c:pt>
                <c:pt idx="6">
                  <c:v> FA </c:v>
                </c:pt>
                <c:pt idx="7">
                  <c:v> ZQ </c:v>
                </c:pt>
                <c:pt idx="8">
                  <c:v> DO </c:v>
                </c:pt>
                <c:pt idx="9">
                  <c:v> YM </c:v>
                </c:pt>
                <c:pt idx="10">
                  <c:v> HF </c:v>
                </c:pt>
                <c:pt idx="11">
                  <c:v> WX </c:v>
                </c:pt>
                <c:pt idx="12">
                  <c:v> GK </c:v>
                </c:pt>
                <c:pt idx="13">
                  <c:v> AMD </c:v>
                </c:pt>
                <c:pt idx="14">
                  <c:v> XE </c:v>
                </c:pt>
                <c:pt idx="15">
                  <c:v> KZ </c:v>
                </c:pt>
                <c:pt idx="16">
                  <c:v> UD </c:v>
                </c:pt>
                <c:pt idx="17">
                  <c:v> CD </c:v>
                </c:pt>
                <c:pt idx="18">
                  <c:v> SC </c:v>
                </c:pt>
                <c:pt idx="19">
                  <c:v> TN </c:v>
                </c:pt>
                <c:pt idx="20">
                  <c:v> GJ </c:v>
                </c:pt>
                <c:pt idx="21">
                  <c:v> JA </c:v>
                </c:pt>
                <c:pt idx="22">
                  <c:v> AW </c:v>
                </c:pt>
                <c:pt idx="23">
                  <c:v> TB </c:v>
                </c:pt>
                <c:pt idx="24">
                  <c:v> RU </c:v>
                </c:pt>
                <c:pt idx="25">
                  <c:v> NH </c:v>
                </c:pt>
                <c:pt idx="26">
                  <c:v> PE </c:v>
                </c:pt>
                <c:pt idx="27">
                  <c:v> EJ </c:v>
                </c:pt>
                <c:pt idx="28">
                  <c:v> JW </c:v>
                </c:pt>
                <c:pt idx="29">
                  <c:v> FF </c:v>
                </c:pt>
                <c:pt idx="30">
                  <c:v> RG </c:v>
                </c:pt>
                <c:pt idx="31">
                  <c:v> IF </c:v>
                </c:pt>
                <c:pt idx="32">
                  <c:v> ON </c:v>
                </c:pt>
                <c:pt idx="33">
                  <c:v> NE </c:v>
                </c:pt>
                <c:pt idx="34">
                  <c:v> HH </c:v>
                </c:pt>
                <c:pt idx="35">
                  <c:v> SB </c:v>
                </c:pt>
                <c:pt idx="36">
                  <c:v> GC </c:v>
                </c:pt>
                <c:pt idx="37">
                  <c:v> HI </c:v>
                </c:pt>
                <c:pt idx="38">
                  <c:v> BR </c:v>
                </c:pt>
                <c:pt idx="39">
                  <c:v> FM </c:v>
                </c:pt>
                <c:pt idx="40">
                  <c:v> BV </c:v>
                </c:pt>
                <c:pt idx="41">
                  <c:v> KS </c:v>
                </c:pt>
                <c:pt idx="42">
                  <c:v> DN </c:v>
                </c:pt>
                <c:pt idx="43">
                  <c:v> OU </c:v>
                </c:pt>
                <c:pt idx="44">
                  <c:v> CL </c:v>
                </c:pt>
                <c:pt idx="45">
                  <c:v> CF </c:v>
                </c:pt>
                <c:pt idx="46">
                  <c:v> NL </c:v>
                </c:pt>
                <c:pt idx="47">
                  <c:v> ZH </c:v>
                </c:pt>
                <c:pt idx="48">
                  <c:v> EO </c:v>
                </c:pt>
                <c:pt idx="49">
                  <c:v> QO </c:v>
                </c:pt>
                <c:pt idx="50">
                  <c:v> MJ </c:v>
                </c:pt>
                <c:pt idx="51">
                  <c:v> VP </c:v>
                </c:pt>
                <c:pt idx="52">
                  <c:v> MD </c:v>
                </c:pt>
                <c:pt idx="53">
                  <c:v> UY </c:v>
                </c:pt>
              </c:strCache>
            </c:strRef>
          </c:cat>
          <c:val>
            <c:numRef>
              <c:f>Sheet1!$B$2:$B$55</c:f>
              <c:numCache>
                <c:formatCode>General</c:formatCode>
                <c:ptCount val="54"/>
                <c:pt idx="0">
                  <c:v>142.69999999999999</c:v>
                </c:pt>
                <c:pt idx="1">
                  <c:v>135.69999999999999</c:v>
                </c:pt>
                <c:pt idx="2">
                  <c:v>134.69999999999999</c:v>
                </c:pt>
                <c:pt idx="3">
                  <c:v>133.80000000000001</c:v>
                </c:pt>
                <c:pt idx="4">
                  <c:v>132.9</c:v>
                </c:pt>
                <c:pt idx="5">
                  <c:v>132.6</c:v>
                </c:pt>
                <c:pt idx="6">
                  <c:v>132.1</c:v>
                </c:pt>
                <c:pt idx="7">
                  <c:v>129.80000000000001</c:v>
                </c:pt>
                <c:pt idx="8">
                  <c:v>125.4</c:v>
                </c:pt>
                <c:pt idx="9">
                  <c:v>125.2</c:v>
                </c:pt>
                <c:pt idx="10">
                  <c:v>125</c:v>
                </c:pt>
                <c:pt idx="11">
                  <c:v>123.5</c:v>
                </c:pt>
                <c:pt idx="12">
                  <c:v>123.4</c:v>
                </c:pt>
                <c:pt idx="13">
                  <c:v>#N/A</c:v>
                </c:pt>
                <c:pt idx="14">
                  <c:v>114.1</c:v>
                </c:pt>
                <c:pt idx="15">
                  <c:v>114.1</c:v>
                </c:pt>
                <c:pt idx="16">
                  <c:v>113.2</c:v>
                </c:pt>
                <c:pt idx="17">
                  <c:v>108.8</c:v>
                </c:pt>
                <c:pt idx="18">
                  <c:v>106.6</c:v>
                </c:pt>
                <c:pt idx="19">
                  <c:v>106.3</c:v>
                </c:pt>
                <c:pt idx="20">
                  <c:v>104.8</c:v>
                </c:pt>
                <c:pt idx="21">
                  <c:v>102.3</c:v>
                </c:pt>
                <c:pt idx="22">
                  <c:v>101.5</c:v>
                </c:pt>
                <c:pt idx="23">
                  <c:v>100.8</c:v>
                </c:pt>
                <c:pt idx="24">
                  <c:v>100.8</c:v>
                </c:pt>
                <c:pt idx="25">
                  <c:v>100.4</c:v>
                </c:pt>
                <c:pt idx="26">
                  <c:v>97.8</c:v>
                </c:pt>
                <c:pt idx="27">
                  <c:v>95.9</c:v>
                </c:pt>
                <c:pt idx="28">
                  <c:v>94.9</c:v>
                </c:pt>
                <c:pt idx="29">
                  <c:v>92.2</c:v>
                </c:pt>
                <c:pt idx="30">
                  <c:v>92.1</c:v>
                </c:pt>
                <c:pt idx="31">
                  <c:v>92.1</c:v>
                </c:pt>
                <c:pt idx="32">
                  <c:v>91.9</c:v>
                </c:pt>
                <c:pt idx="33">
                  <c:v>91.9</c:v>
                </c:pt>
                <c:pt idx="34">
                  <c:v>91.9</c:v>
                </c:pt>
                <c:pt idx="35">
                  <c:v>91.8</c:v>
                </c:pt>
                <c:pt idx="36">
                  <c:v>91.7</c:v>
                </c:pt>
                <c:pt idx="37">
                  <c:v>91</c:v>
                </c:pt>
                <c:pt idx="38">
                  <c:v>91</c:v>
                </c:pt>
                <c:pt idx="39">
                  <c:v>91</c:v>
                </c:pt>
                <c:pt idx="40">
                  <c:v>89.9</c:v>
                </c:pt>
                <c:pt idx="41">
                  <c:v>86.8</c:v>
                </c:pt>
                <c:pt idx="42">
                  <c:v>83.2</c:v>
                </c:pt>
                <c:pt idx="43">
                  <c:v>82.2</c:v>
                </c:pt>
                <c:pt idx="44">
                  <c:v>82.2</c:v>
                </c:pt>
                <c:pt idx="45">
                  <c:v>75.599999999999994</c:v>
                </c:pt>
                <c:pt idx="46">
                  <c:v>75.599999999999994</c:v>
                </c:pt>
                <c:pt idx="47">
                  <c:v>75.599999999999994</c:v>
                </c:pt>
                <c:pt idx="48">
                  <c:v>73.3</c:v>
                </c:pt>
                <c:pt idx="49">
                  <c:v>71.099999999999994</c:v>
                </c:pt>
                <c:pt idx="50">
                  <c:v>62.2</c:v>
                </c:pt>
                <c:pt idx="51">
                  <c:v>62.1</c:v>
                </c:pt>
                <c:pt idx="52">
                  <c:v>48.1</c:v>
                </c:pt>
                <c:pt idx="53">
                  <c:v>47.3</c:v>
                </c:pt>
              </c:numCache>
            </c:numRef>
          </c:val>
          <c:extLst>
            <c:ext xmlns:c16="http://schemas.microsoft.com/office/drawing/2014/chart" uri="{C3380CC4-5D6E-409C-BE32-E72D297353CC}">
              <c16:uniqueId val="{00000006-16EE-4B5D-83F4-C27DB73A3095}"/>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117.6</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3B-9F45-4B91-B0B3-69312034EA88}"/>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EMPLOYER</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EMPLOYER</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52CE-4BD7-B853-E26225FE6F3D}"/>
              </c:ext>
            </c:extLst>
          </c:dPt>
          <c:dPt>
            <c:idx val="42"/>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2-E702-4A31-A803-D8884E81FA1B}"/>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EJ </c:v>
                </c:pt>
                <c:pt idx="1">
                  <c:v> EG </c:v>
                </c:pt>
                <c:pt idx="2">
                  <c:v> FF </c:v>
                </c:pt>
                <c:pt idx="3">
                  <c:v> SC </c:v>
                </c:pt>
                <c:pt idx="4">
                  <c:v> TN </c:v>
                </c:pt>
                <c:pt idx="5">
                  <c:v> AI </c:v>
                </c:pt>
                <c:pt idx="6">
                  <c:v> AK </c:v>
                </c:pt>
                <c:pt idx="7">
                  <c:v> AW </c:v>
                </c:pt>
                <c:pt idx="8">
                  <c:v> BV </c:v>
                </c:pt>
                <c:pt idx="9">
                  <c:v> DO </c:v>
                </c:pt>
                <c:pt idx="10">
                  <c:v> GC </c:v>
                </c:pt>
                <c:pt idx="11">
                  <c:v> OU </c:v>
                </c:pt>
                <c:pt idx="12">
                  <c:v> XR </c:v>
                </c:pt>
                <c:pt idx="13">
                  <c:v> YT </c:v>
                </c:pt>
                <c:pt idx="14">
                  <c:v> ZQ </c:v>
                </c:pt>
                <c:pt idx="15">
                  <c:v> BR </c:v>
                </c:pt>
                <c:pt idx="16">
                  <c:v> CL </c:v>
                </c:pt>
                <c:pt idx="17">
                  <c:v> DN </c:v>
                </c:pt>
                <c:pt idx="18">
                  <c:v> FA </c:v>
                </c:pt>
                <c:pt idx="19">
                  <c:v> FM </c:v>
                </c:pt>
                <c:pt idx="20">
                  <c:v> GJ </c:v>
                </c:pt>
                <c:pt idx="21">
                  <c:v> GK </c:v>
                </c:pt>
                <c:pt idx="22">
                  <c:v> HF </c:v>
                </c:pt>
                <c:pt idx="23">
                  <c:v> HI </c:v>
                </c:pt>
                <c:pt idx="24">
                  <c:v> NH </c:v>
                </c:pt>
                <c:pt idx="25">
                  <c:v> RU </c:v>
                </c:pt>
                <c:pt idx="26">
                  <c:v> ON </c:v>
                </c:pt>
                <c:pt idx="27">
                  <c:v> WX </c:v>
                </c:pt>
                <c:pt idx="28">
                  <c:v> UD </c:v>
                </c:pt>
                <c:pt idx="29">
                  <c:v> PE </c:v>
                </c:pt>
                <c:pt idx="30">
                  <c:v> MG </c:v>
                </c:pt>
                <c:pt idx="31">
                  <c:v> SB </c:v>
                </c:pt>
                <c:pt idx="32">
                  <c:v> RG </c:v>
                </c:pt>
                <c:pt idx="33">
                  <c:v> KZ </c:v>
                </c:pt>
                <c:pt idx="34">
                  <c:v> NL </c:v>
                </c:pt>
                <c:pt idx="35">
                  <c:v> IF </c:v>
                </c:pt>
                <c:pt idx="36">
                  <c:v> JA </c:v>
                </c:pt>
                <c:pt idx="37">
                  <c:v> NE </c:v>
                </c:pt>
                <c:pt idx="38">
                  <c:v> CF </c:v>
                </c:pt>
                <c:pt idx="39">
                  <c:v> XE </c:v>
                </c:pt>
                <c:pt idx="40">
                  <c:v> YM </c:v>
                </c:pt>
                <c:pt idx="41">
                  <c:v> JW </c:v>
                </c:pt>
                <c:pt idx="42">
                  <c:v> AMD </c:v>
                </c:pt>
                <c:pt idx="43">
                  <c:v> HH </c:v>
                </c:pt>
                <c:pt idx="44">
                  <c:v> ZH </c:v>
                </c:pt>
                <c:pt idx="45">
                  <c:v> TB </c:v>
                </c:pt>
                <c:pt idx="46">
                  <c:v> VP </c:v>
                </c:pt>
                <c:pt idx="47">
                  <c:v> CD </c:v>
                </c:pt>
                <c:pt idx="48">
                  <c:v> QO </c:v>
                </c:pt>
                <c:pt idx="49">
                  <c:v> EO </c:v>
                </c:pt>
                <c:pt idx="50">
                  <c:v> MD </c:v>
                </c:pt>
                <c:pt idx="51">
                  <c:v> UY </c:v>
                </c:pt>
                <c:pt idx="52">
                  <c:v> MJ </c:v>
                </c:pt>
                <c:pt idx="53">
                  <c:v> KS </c:v>
                </c:pt>
              </c:strCache>
            </c:strRef>
          </c:cat>
          <c:val>
            <c:numRef>
              <c:f>Sheet1!$B$2:$B$55</c:f>
              <c:numCache>
                <c:formatCode>General</c:formatCode>
                <c:ptCount val="54"/>
                <c:pt idx="0">
                  <c:v>177.7</c:v>
                </c:pt>
                <c:pt idx="1">
                  <c:v>152.9</c:v>
                </c:pt>
                <c:pt idx="2">
                  <c:v>152.9</c:v>
                </c:pt>
                <c:pt idx="3">
                  <c:v>152.9</c:v>
                </c:pt>
                <c:pt idx="4">
                  <c:v>148.5</c:v>
                </c:pt>
                <c:pt idx="5">
                  <c:v>119.4</c:v>
                </c:pt>
                <c:pt idx="6">
                  <c:v>119.4</c:v>
                </c:pt>
                <c:pt idx="7">
                  <c:v>119.4</c:v>
                </c:pt>
                <c:pt idx="8">
                  <c:v>119.4</c:v>
                </c:pt>
                <c:pt idx="9">
                  <c:v>119.4</c:v>
                </c:pt>
                <c:pt idx="10">
                  <c:v>119.4</c:v>
                </c:pt>
                <c:pt idx="11">
                  <c:v>119.4</c:v>
                </c:pt>
                <c:pt idx="12">
                  <c:v>119.4</c:v>
                </c:pt>
                <c:pt idx="13">
                  <c:v>119.4</c:v>
                </c:pt>
                <c:pt idx="14">
                  <c:v>119.4</c:v>
                </c:pt>
                <c:pt idx="15">
                  <c:v>102.9</c:v>
                </c:pt>
                <c:pt idx="16">
                  <c:v>102.9</c:v>
                </c:pt>
                <c:pt idx="17">
                  <c:v>102.9</c:v>
                </c:pt>
                <c:pt idx="18">
                  <c:v>102.9</c:v>
                </c:pt>
                <c:pt idx="19">
                  <c:v>102.9</c:v>
                </c:pt>
                <c:pt idx="20">
                  <c:v>102.9</c:v>
                </c:pt>
                <c:pt idx="21">
                  <c:v>102.9</c:v>
                </c:pt>
                <c:pt idx="22">
                  <c:v>102.9</c:v>
                </c:pt>
                <c:pt idx="23">
                  <c:v>102.9</c:v>
                </c:pt>
                <c:pt idx="24">
                  <c:v>102.9</c:v>
                </c:pt>
                <c:pt idx="25">
                  <c:v>102.9</c:v>
                </c:pt>
                <c:pt idx="26">
                  <c:v>102.9</c:v>
                </c:pt>
                <c:pt idx="27">
                  <c:v>102.9</c:v>
                </c:pt>
                <c:pt idx="28">
                  <c:v>102.9</c:v>
                </c:pt>
                <c:pt idx="29">
                  <c:v>102.9</c:v>
                </c:pt>
                <c:pt idx="30">
                  <c:v>102.9</c:v>
                </c:pt>
                <c:pt idx="31">
                  <c:v>102.9</c:v>
                </c:pt>
                <c:pt idx="32">
                  <c:v>102.9</c:v>
                </c:pt>
                <c:pt idx="33">
                  <c:v>102.9</c:v>
                </c:pt>
                <c:pt idx="34">
                  <c:v>102.9</c:v>
                </c:pt>
                <c:pt idx="35">
                  <c:v>102.9</c:v>
                </c:pt>
                <c:pt idx="36">
                  <c:v>102.9</c:v>
                </c:pt>
                <c:pt idx="37">
                  <c:v>102.6</c:v>
                </c:pt>
                <c:pt idx="38">
                  <c:v>100.3</c:v>
                </c:pt>
                <c:pt idx="39">
                  <c:v>99.8</c:v>
                </c:pt>
                <c:pt idx="40">
                  <c:v>99.8</c:v>
                </c:pt>
                <c:pt idx="41">
                  <c:v>99.8</c:v>
                </c:pt>
                <c:pt idx="42">
                  <c:v>#N/A</c:v>
                </c:pt>
                <c:pt idx="43">
                  <c:v>77.900000000000006</c:v>
                </c:pt>
                <c:pt idx="44">
                  <c:v>75.3</c:v>
                </c:pt>
                <c:pt idx="45">
                  <c:v>61.1</c:v>
                </c:pt>
                <c:pt idx="46">
                  <c:v>52.8</c:v>
                </c:pt>
                <c:pt idx="47">
                  <c:v>52.6</c:v>
                </c:pt>
                <c:pt idx="48">
                  <c:v>50.9</c:v>
                </c:pt>
                <c:pt idx="49">
                  <c:v>50.9</c:v>
                </c:pt>
                <c:pt idx="50">
                  <c:v>50.4</c:v>
                </c:pt>
                <c:pt idx="51">
                  <c:v>49.8</c:v>
                </c:pt>
                <c:pt idx="52">
                  <c:v>16.8</c:v>
                </c:pt>
                <c:pt idx="53">
                  <c:v>15.7</c:v>
                </c:pt>
              </c:numCache>
            </c:numRef>
          </c:val>
          <c:extLst>
            <c:ext xmlns:c16="http://schemas.microsoft.com/office/drawing/2014/chart" uri="{C3380CC4-5D6E-409C-BE32-E72D297353CC}">
              <c16:uniqueId val="{00000000-52CE-4BD7-B853-E26225FE6F3D}"/>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99.8</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8482-42D0-ACFF-16597A67A288}"/>
            </c:ext>
          </c:extLst>
        </c:ser>
        <c:dLbls>
          <c:showLegendKey val="0"/>
          <c:showVal val="0"/>
          <c:showCatName val="0"/>
          <c:showSerName val="0"/>
          <c:showPercent val="0"/>
          <c:showBubbleSize val="0"/>
        </c:dLbls>
        <c:gapWidth val="25"/>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b="1" dirty="0"/>
              <a:t>TOTAL</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4E51-47A6-B8DF-10C50991A71F}"/>
              </c:ext>
            </c:extLst>
          </c:dPt>
          <c:dPt>
            <c:idx val="2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4E51-47A6-B8DF-10C50991A71F}"/>
              </c:ext>
            </c:extLst>
          </c:dPt>
          <c:dPt>
            <c:idx val="42"/>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4-4264-4229-8042-D6082FD56650}"/>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EJ </c:v>
                </c:pt>
                <c:pt idx="1">
                  <c:v> EG </c:v>
                </c:pt>
                <c:pt idx="2">
                  <c:v> FF </c:v>
                </c:pt>
                <c:pt idx="3">
                  <c:v> SC </c:v>
                </c:pt>
                <c:pt idx="4">
                  <c:v> TN </c:v>
                </c:pt>
                <c:pt idx="5">
                  <c:v> AI </c:v>
                </c:pt>
                <c:pt idx="6">
                  <c:v> AK </c:v>
                </c:pt>
                <c:pt idx="7">
                  <c:v> AW </c:v>
                </c:pt>
                <c:pt idx="8">
                  <c:v> BV </c:v>
                </c:pt>
                <c:pt idx="9">
                  <c:v> DO </c:v>
                </c:pt>
                <c:pt idx="10">
                  <c:v> GC </c:v>
                </c:pt>
                <c:pt idx="11">
                  <c:v> OU </c:v>
                </c:pt>
                <c:pt idx="12">
                  <c:v> XR </c:v>
                </c:pt>
                <c:pt idx="13">
                  <c:v> YT </c:v>
                </c:pt>
                <c:pt idx="14">
                  <c:v> ZQ </c:v>
                </c:pt>
                <c:pt idx="15">
                  <c:v> BR </c:v>
                </c:pt>
                <c:pt idx="16">
                  <c:v> CL </c:v>
                </c:pt>
                <c:pt idx="17">
                  <c:v> DN </c:v>
                </c:pt>
                <c:pt idx="18">
                  <c:v> FA </c:v>
                </c:pt>
                <c:pt idx="19">
                  <c:v> FM </c:v>
                </c:pt>
                <c:pt idx="20">
                  <c:v> GJ </c:v>
                </c:pt>
                <c:pt idx="21">
                  <c:v> GK </c:v>
                </c:pt>
                <c:pt idx="22">
                  <c:v> HF </c:v>
                </c:pt>
                <c:pt idx="23">
                  <c:v> HI </c:v>
                </c:pt>
                <c:pt idx="24">
                  <c:v> NH </c:v>
                </c:pt>
                <c:pt idx="25">
                  <c:v> RU </c:v>
                </c:pt>
                <c:pt idx="26">
                  <c:v> ON </c:v>
                </c:pt>
                <c:pt idx="27">
                  <c:v> WX </c:v>
                </c:pt>
                <c:pt idx="28">
                  <c:v> UD </c:v>
                </c:pt>
                <c:pt idx="29">
                  <c:v> PE </c:v>
                </c:pt>
                <c:pt idx="30">
                  <c:v> MG </c:v>
                </c:pt>
                <c:pt idx="31">
                  <c:v> SB </c:v>
                </c:pt>
                <c:pt idx="32">
                  <c:v> RG </c:v>
                </c:pt>
                <c:pt idx="33">
                  <c:v> KZ </c:v>
                </c:pt>
                <c:pt idx="34">
                  <c:v> NL </c:v>
                </c:pt>
                <c:pt idx="35">
                  <c:v> IF </c:v>
                </c:pt>
                <c:pt idx="36">
                  <c:v> JA </c:v>
                </c:pt>
                <c:pt idx="37">
                  <c:v> NE </c:v>
                </c:pt>
                <c:pt idx="38">
                  <c:v> CF </c:v>
                </c:pt>
                <c:pt idx="39">
                  <c:v> XE </c:v>
                </c:pt>
                <c:pt idx="40">
                  <c:v> YM </c:v>
                </c:pt>
                <c:pt idx="41">
                  <c:v> JW </c:v>
                </c:pt>
                <c:pt idx="42">
                  <c:v> AMD </c:v>
                </c:pt>
                <c:pt idx="43">
                  <c:v> HH </c:v>
                </c:pt>
                <c:pt idx="44">
                  <c:v> ZH </c:v>
                </c:pt>
                <c:pt idx="45">
                  <c:v> TB </c:v>
                </c:pt>
                <c:pt idx="46">
                  <c:v> VP </c:v>
                </c:pt>
                <c:pt idx="47">
                  <c:v> CD </c:v>
                </c:pt>
                <c:pt idx="48">
                  <c:v> QO </c:v>
                </c:pt>
                <c:pt idx="49">
                  <c:v> EO </c:v>
                </c:pt>
                <c:pt idx="50">
                  <c:v> MD </c:v>
                </c:pt>
                <c:pt idx="51">
                  <c:v> UY </c:v>
                </c:pt>
                <c:pt idx="52">
                  <c:v> MJ </c:v>
                </c:pt>
                <c:pt idx="53">
                  <c:v> KS </c:v>
                </c:pt>
              </c:strCache>
            </c:strRef>
          </c:cat>
          <c:val>
            <c:numRef>
              <c:f>Sheet1!$B$2:$B$55</c:f>
              <c:numCache>
                <c:formatCode>General</c:formatCode>
                <c:ptCount val="54"/>
                <c:pt idx="0">
                  <c:v>177.7</c:v>
                </c:pt>
                <c:pt idx="1">
                  <c:v>152.9</c:v>
                </c:pt>
                <c:pt idx="2">
                  <c:v>152.9</c:v>
                </c:pt>
                <c:pt idx="3">
                  <c:v>152.9</c:v>
                </c:pt>
                <c:pt idx="4">
                  <c:v>148.5</c:v>
                </c:pt>
                <c:pt idx="5">
                  <c:v>119.4</c:v>
                </c:pt>
                <c:pt idx="6">
                  <c:v>119.4</c:v>
                </c:pt>
                <c:pt idx="7">
                  <c:v>119.4</c:v>
                </c:pt>
                <c:pt idx="8">
                  <c:v>119.4</c:v>
                </c:pt>
                <c:pt idx="9">
                  <c:v>119.4</c:v>
                </c:pt>
                <c:pt idx="10">
                  <c:v>119.4</c:v>
                </c:pt>
                <c:pt idx="11">
                  <c:v>119.4</c:v>
                </c:pt>
                <c:pt idx="12">
                  <c:v>119.4</c:v>
                </c:pt>
                <c:pt idx="13">
                  <c:v>119.4</c:v>
                </c:pt>
                <c:pt idx="14">
                  <c:v>119.4</c:v>
                </c:pt>
                <c:pt idx="15">
                  <c:v>102.9</c:v>
                </c:pt>
                <c:pt idx="16">
                  <c:v>102.9</c:v>
                </c:pt>
                <c:pt idx="17">
                  <c:v>102.9</c:v>
                </c:pt>
                <c:pt idx="18">
                  <c:v>102.9</c:v>
                </c:pt>
                <c:pt idx="19">
                  <c:v>102.9</c:v>
                </c:pt>
                <c:pt idx="20">
                  <c:v>102.9</c:v>
                </c:pt>
                <c:pt idx="21">
                  <c:v>102.9</c:v>
                </c:pt>
                <c:pt idx="22">
                  <c:v>102.9</c:v>
                </c:pt>
                <c:pt idx="23">
                  <c:v>102.9</c:v>
                </c:pt>
                <c:pt idx="24">
                  <c:v>102.9</c:v>
                </c:pt>
                <c:pt idx="25">
                  <c:v>102.9</c:v>
                </c:pt>
                <c:pt idx="26">
                  <c:v>102.9</c:v>
                </c:pt>
                <c:pt idx="27">
                  <c:v>102.9</c:v>
                </c:pt>
                <c:pt idx="28">
                  <c:v>102.9</c:v>
                </c:pt>
                <c:pt idx="29">
                  <c:v>102.9</c:v>
                </c:pt>
                <c:pt idx="30">
                  <c:v>102.9</c:v>
                </c:pt>
                <c:pt idx="31">
                  <c:v>102.9</c:v>
                </c:pt>
                <c:pt idx="32">
                  <c:v>102.9</c:v>
                </c:pt>
                <c:pt idx="33">
                  <c:v>102.9</c:v>
                </c:pt>
                <c:pt idx="34">
                  <c:v>102.9</c:v>
                </c:pt>
                <c:pt idx="35">
                  <c:v>102.9</c:v>
                </c:pt>
                <c:pt idx="36">
                  <c:v>102.9</c:v>
                </c:pt>
                <c:pt idx="37">
                  <c:v>102.6</c:v>
                </c:pt>
                <c:pt idx="38">
                  <c:v>100.3</c:v>
                </c:pt>
                <c:pt idx="39">
                  <c:v>99.8</c:v>
                </c:pt>
                <c:pt idx="40">
                  <c:v>99.8</c:v>
                </c:pt>
                <c:pt idx="41">
                  <c:v>99.8</c:v>
                </c:pt>
                <c:pt idx="42">
                  <c:v>#N/A</c:v>
                </c:pt>
                <c:pt idx="43">
                  <c:v>77.900000000000006</c:v>
                </c:pt>
                <c:pt idx="44">
                  <c:v>75.3</c:v>
                </c:pt>
                <c:pt idx="45">
                  <c:v>61.1</c:v>
                </c:pt>
                <c:pt idx="46">
                  <c:v>52.8</c:v>
                </c:pt>
                <c:pt idx="47">
                  <c:v>52.6</c:v>
                </c:pt>
                <c:pt idx="48">
                  <c:v>50.9</c:v>
                </c:pt>
                <c:pt idx="49">
                  <c:v>50.9</c:v>
                </c:pt>
                <c:pt idx="50">
                  <c:v>50.4</c:v>
                </c:pt>
                <c:pt idx="51">
                  <c:v>49.8</c:v>
                </c:pt>
                <c:pt idx="52">
                  <c:v>16.8</c:v>
                </c:pt>
                <c:pt idx="53">
                  <c:v>15.7</c:v>
                </c:pt>
              </c:numCache>
            </c:numRef>
          </c:val>
          <c:extLst>
            <c:ext xmlns:c16="http://schemas.microsoft.com/office/drawing/2014/chart" uri="{C3380CC4-5D6E-409C-BE32-E72D297353CC}">
              <c16:uniqueId val="{00000002-4E51-47A6-B8DF-10C50991A71F}"/>
            </c:ext>
          </c:extLst>
        </c:ser>
        <c:ser>
          <c:idx val="1"/>
          <c:order val="1"/>
          <c:tx>
            <c:strRef>
              <c:f>Sheet1!$C$1</c:f>
              <c:strCache>
                <c:ptCount val="1"/>
                <c:pt idx="0">
                  <c:v>Column1</c:v>
                </c:pt>
              </c:strCache>
            </c:strRef>
          </c:tx>
          <c:spPr>
            <a:solidFill>
              <a:schemeClr val="accent2"/>
            </a:solidFill>
            <a:ln>
              <a:noFill/>
            </a:ln>
            <a:effectLst/>
          </c:spPr>
          <c:invertIfNegative val="0"/>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99.8</c:v>
                </c:pt>
                <c:pt idx="43">
                  <c:v>#N/A</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6-A8B6-4126-8111-1AE06C294E2A}"/>
            </c:ext>
          </c:extLst>
        </c:ser>
        <c:dLbls>
          <c:showLegendKey val="0"/>
          <c:showVal val="0"/>
          <c:showCatName val="0"/>
          <c:showSerName val="0"/>
          <c:showPercent val="0"/>
          <c:showBubbleSize val="0"/>
        </c:dLbls>
        <c:gapWidth val="27"/>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PAID TIME OFF</c:v>
                </c:pt>
              </c:strCache>
            </c:strRef>
          </c:tx>
          <c:spPr>
            <a:solidFill>
              <a:schemeClr val="tx2">
                <a:lumMod val="40000"/>
                <a:lumOff val="60000"/>
              </a:schemeClr>
            </a:solidFill>
            <a:ln>
              <a:noFill/>
            </a:ln>
            <a:effectLst/>
          </c:spPr>
          <c:invertIfNegative val="0"/>
          <c:dPt>
            <c:idx val="17"/>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1-F742-4015-9AC5-9789F2E68D80}"/>
              </c:ext>
            </c:extLst>
          </c:dPt>
          <c:dPt>
            <c:idx val="43"/>
            <c:invertIfNegative val="0"/>
            <c:bubble3D val="0"/>
            <c:spPr>
              <a:solidFill>
                <a:schemeClr val="tx2">
                  <a:lumMod val="40000"/>
                  <a:lumOff val="60000"/>
                </a:schemeClr>
              </a:solidFill>
              <a:ln>
                <a:noFill/>
              </a:ln>
              <a:effectLst/>
            </c:spPr>
            <c:extLst>
              <c:ext xmlns:c16="http://schemas.microsoft.com/office/drawing/2014/chart" uri="{C3380CC4-5D6E-409C-BE32-E72D297353CC}">
                <c16:uniqueId val="{00000003-F742-4015-9AC5-9789F2E68D80}"/>
              </c:ext>
            </c:extLst>
          </c:dPt>
          <c:dLbls>
            <c:numFmt formatCode="0.0" sourceLinked="0"/>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Sheet1!$A$2:$A$55</c:f>
              <c:strCache>
                <c:ptCount val="54"/>
                <c:pt idx="0">
                  <c:v> SC </c:v>
                </c:pt>
                <c:pt idx="1">
                  <c:v> EG </c:v>
                </c:pt>
                <c:pt idx="2">
                  <c:v> AI </c:v>
                </c:pt>
                <c:pt idx="3">
                  <c:v> AK </c:v>
                </c:pt>
                <c:pt idx="4">
                  <c:v> FF </c:v>
                </c:pt>
                <c:pt idx="5">
                  <c:v> NE </c:v>
                </c:pt>
                <c:pt idx="6">
                  <c:v> WX </c:v>
                </c:pt>
                <c:pt idx="7">
                  <c:v> TB </c:v>
                </c:pt>
                <c:pt idx="8">
                  <c:v> RU </c:v>
                </c:pt>
                <c:pt idx="9">
                  <c:v> TN </c:v>
                </c:pt>
                <c:pt idx="10">
                  <c:v> ZQ </c:v>
                </c:pt>
                <c:pt idx="11">
                  <c:v> JA </c:v>
                </c:pt>
                <c:pt idx="12">
                  <c:v> FA </c:v>
                </c:pt>
                <c:pt idx="13">
                  <c:v> RG </c:v>
                </c:pt>
                <c:pt idx="14">
                  <c:v> VP </c:v>
                </c:pt>
                <c:pt idx="15">
                  <c:v> MJ </c:v>
                </c:pt>
                <c:pt idx="16">
                  <c:v> KS </c:v>
                </c:pt>
                <c:pt idx="17">
                  <c:v> DN </c:v>
                </c:pt>
                <c:pt idx="18">
                  <c:v> DO </c:v>
                </c:pt>
                <c:pt idx="19">
                  <c:v> PE </c:v>
                </c:pt>
                <c:pt idx="20">
                  <c:v> ON </c:v>
                </c:pt>
                <c:pt idx="21">
                  <c:v> XR </c:v>
                </c:pt>
                <c:pt idx="22">
                  <c:v> KZ </c:v>
                </c:pt>
                <c:pt idx="23">
                  <c:v> EJ </c:v>
                </c:pt>
                <c:pt idx="24">
                  <c:v> AW </c:v>
                </c:pt>
                <c:pt idx="25">
                  <c:v> GC </c:v>
                </c:pt>
                <c:pt idx="26">
                  <c:v> GJ </c:v>
                </c:pt>
                <c:pt idx="27">
                  <c:v> CD </c:v>
                </c:pt>
                <c:pt idx="28">
                  <c:v> QO </c:v>
                </c:pt>
                <c:pt idx="29">
                  <c:v> HH </c:v>
                </c:pt>
                <c:pt idx="30">
                  <c:v> CF </c:v>
                </c:pt>
                <c:pt idx="31">
                  <c:v> NH </c:v>
                </c:pt>
                <c:pt idx="32">
                  <c:v> YT </c:v>
                </c:pt>
                <c:pt idx="33">
                  <c:v> YM </c:v>
                </c:pt>
                <c:pt idx="34">
                  <c:v> HI </c:v>
                </c:pt>
                <c:pt idx="35">
                  <c:v> GK </c:v>
                </c:pt>
                <c:pt idx="36">
                  <c:v> MG </c:v>
                </c:pt>
                <c:pt idx="37">
                  <c:v> NL </c:v>
                </c:pt>
                <c:pt idx="38">
                  <c:v> XE </c:v>
                </c:pt>
                <c:pt idx="39">
                  <c:v> IF </c:v>
                </c:pt>
                <c:pt idx="40">
                  <c:v> OU </c:v>
                </c:pt>
                <c:pt idx="41">
                  <c:v> UD </c:v>
                </c:pt>
                <c:pt idx="42">
                  <c:v> BR </c:v>
                </c:pt>
                <c:pt idx="43">
                  <c:v> AMD </c:v>
                </c:pt>
                <c:pt idx="44">
                  <c:v> BV </c:v>
                </c:pt>
                <c:pt idx="45">
                  <c:v> MD </c:v>
                </c:pt>
                <c:pt idx="46">
                  <c:v> EO </c:v>
                </c:pt>
                <c:pt idx="47">
                  <c:v> HF </c:v>
                </c:pt>
                <c:pt idx="48">
                  <c:v> SB </c:v>
                </c:pt>
                <c:pt idx="49">
                  <c:v> ZH </c:v>
                </c:pt>
                <c:pt idx="50">
                  <c:v> FM </c:v>
                </c:pt>
                <c:pt idx="51">
                  <c:v> JW </c:v>
                </c:pt>
                <c:pt idx="52">
                  <c:v> CL </c:v>
                </c:pt>
                <c:pt idx="53">
                  <c:v> UY </c:v>
                </c:pt>
              </c:strCache>
            </c:strRef>
          </c:cat>
          <c:val>
            <c:numRef>
              <c:f>Sheet1!$B$2:$B$55</c:f>
              <c:numCache>
                <c:formatCode>General</c:formatCode>
                <c:ptCount val="54"/>
                <c:pt idx="0">
                  <c:v>130</c:v>
                </c:pt>
                <c:pt idx="1">
                  <c:v>117.4</c:v>
                </c:pt>
                <c:pt idx="2">
                  <c:v>114.2</c:v>
                </c:pt>
                <c:pt idx="3">
                  <c:v>114.2</c:v>
                </c:pt>
                <c:pt idx="4">
                  <c:v>111.1</c:v>
                </c:pt>
                <c:pt idx="5">
                  <c:v>111.1</c:v>
                </c:pt>
                <c:pt idx="6">
                  <c:v>111.1</c:v>
                </c:pt>
                <c:pt idx="7">
                  <c:v>111.1</c:v>
                </c:pt>
                <c:pt idx="8">
                  <c:v>111.1</c:v>
                </c:pt>
                <c:pt idx="9">
                  <c:v>111.1</c:v>
                </c:pt>
                <c:pt idx="10">
                  <c:v>111.1</c:v>
                </c:pt>
                <c:pt idx="11">
                  <c:v>110.4</c:v>
                </c:pt>
                <c:pt idx="12">
                  <c:v>110.2</c:v>
                </c:pt>
                <c:pt idx="13">
                  <c:v>109.9</c:v>
                </c:pt>
                <c:pt idx="14">
                  <c:v>109.5</c:v>
                </c:pt>
                <c:pt idx="15">
                  <c:v>107.9</c:v>
                </c:pt>
                <c:pt idx="16">
                  <c:v>107.9</c:v>
                </c:pt>
                <c:pt idx="17">
                  <c:v>107.9</c:v>
                </c:pt>
                <c:pt idx="18">
                  <c:v>107.9</c:v>
                </c:pt>
                <c:pt idx="19">
                  <c:v>107.9</c:v>
                </c:pt>
                <c:pt idx="20">
                  <c:v>107.9</c:v>
                </c:pt>
                <c:pt idx="21">
                  <c:v>107.9</c:v>
                </c:pt>
                <c:pt idx="22">
                  <c:v>107.9</c:v>
                </c:pt>
                <c:pt idx="23">
                  <c:v>107</c:v>
                </c:pt>
                <c:pt idx="24">
                  <c:v>106.8</c:v>
                </c:pt>
                <c:pt idx="25">
                  <c:v>104.6</c:v>
                </c:pt>
                <c:pt idx="26">
                  <c:v>102.3</c:v>
                </c:pt>
                <c:pt idx="27">
                  <c:v>100.7</c:v>
                </c:pt>
                <c:pt idx="28">
                  <c:v>100.6</c:v>
                </c:pt>
                <c:pt idx="29">
                  <c:v>100.1</c:v>
                </c:pt>
                <c:pt idx="30">
                  <c:v>99.2</c:v>
                </c:pt>
                <c:pt idx="31">
                  <c:v>98.4</c:v>
                </c:pt>
                <c:pt idx="32">
                  <c:v>97.8</c:v>
                </c:pt>
                <c:pt idx="33">
                  <c:v>94.7</c:v>
                </c:pt>
                <c:pt idx="34">
                  <c:v>94.6</c:v>
                </c:pt>
                <c:pt idx="35">
                  <c:v>93.2</c:v>
                </c:pt>
                <c:pt idx="36">
                  <c:v>91.8</c:v>
                </c:pt>
                <c:pt idx="37">
                  <c:v>91.6</c:v>
                </c:pt>
                <c:pt idx="38">
                  <c:v>91.6</c:v>
                </c:pt>
                <c:pt idx="39">
                  <c:v>91.6</c:v>
                </c:pt>
                <c:pt idx="40">
                  <c:v>91.4</c:v>
                </c:pt>
                <c:pt idx="41">
                  <c:v>90.6</c:v>
                </c:pt>
                <c:pt idx="42">
                  <c:v>88.4</c:v>
                </c:pt>
                <c:pt idx="43">
                  <c:v>#N/A</c:v>
                </c:pt>
                <c:pt idx="44">
                  <c:v>85.6</c:v>
                </c:pt>
                <c:pt idx="45">
                  <c:v>84.9</c:v>
                </c:pt>
                <c:pt idx="46">
                  <c:v>84.9</c:v>
                </c:pt>
                <c:pt idx="47">
                  <c:v>84.8</c:v>
                </c:pt>
                <c:pt idx="48">
                  <c:v>84.6</c:v>
                </c:pt>
                <c:pt idx="49">
                  <c:v>82.1</c:v>
                </c:pt>
                <c:pt idx="50">
                  <c:v>80.3</c:v>
                </c:pt>
                <c:pt idx="51">
                  <c:v>79.5</c:v>
                </c:pt>
                <c:pt idx="52">
                  <c:v>77.7</c:v>
                </c:pt>
                <c:pt idx="53">
                  <c:v>74</c:v>
                </c:pt>
              </c:numCache>
            </c:numRef>
          </c:val>
          <c:extLst>
            <c:ext xmlns:c16="http://schemas.microsoft.com/office/drawing/2014/chart" uri="{C3380CC4-5D6E-409C-BE32-E72D297353CC}">
              <c16:uniqueId val="{00000004-F742-4015-9AC5-9789F2E68D80}"/>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Sheet1!$C$2:$C$55</c:f>
              <c:numCache>
                <c:formatCode>General</c:formatCode>
                <c:ptCount val="5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87.5</c:v>
                </c:pt>
                <c:pt idx="44">
                  <c:v>#N/A</c:v>
                </c:pt>
                <c:pt idx="45">
                  <c:v>#N/A</c:v>
                </c:pt>
                <c:pt idx="46">
                  <c:v>#N/A</c:v>
                </c:pt>
                <c:pt idx="47">
                  <c:v>#N/A</c:v>
                </c:pt>
                <c:pt idx="48">
                  <c:v>#N/A</c:v>
                </c:pt>
                <c:pt idx="49">
                  <c:v>#N/A</c:v>
                </c:pt>
                <c:pt idx="50">
                  <c:v>#N/A</c:v>
                </c:pt>
                <c:pt idx="51">
                  <c:v>#N/A</c:v>
                </c:pt>
                <c:pt idx="52">
                  <c:v>#N/A</c:v>
                </c:pt>
                <c:pt idx="53">
                  <c:v>#N/A</c:v>
                </c:pt>
              </c:numCache>
            </c:numRef>
          </c:val>
          <c:extLst>
            <c:ext xmlns:c16="http://schemas.microsoft.com/office/drawing/2014/chart" uri="{C3380CC4-5D6E-409C-BE32-E72D297353CC}">
              <c16:uniqueId val="{00000004-9F06-4105-BA62-7EF3A486CDB3}"/>
            </c:ext>
          </c:extLst>
        </c:ser>
        <c:dLbls>
          <c:showLegendKey val="0"/>
          <c:showVal val="0"/>
          <c:showCatName val="0"/>
          <c:showSerName val="0"/>
          <c:showPercent val="0"/>
          <c:showBubbleSize val="0"/>
        </c:dLbls>
        <c:gapWidth val="30"/>
        <c:overlap val="100"/>
        <c:axId val="523857480"/>
        <c:axId val="523851576"/>
      </c:barChart>
      <c:catAx>
        <c:axId val="52385748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1576"/>
        <c:crosses val="autoZero"/>
        <c:auto val="1"/>
        <c:lblAlgn val="ctr"/>
        <c:lblOffset val="100"/>
        <c:noMultiLvlLbl val="0"/>
      </c:catAx>
      <c:valAx>
        <c:axId val="523851576"/>
        <c:scaling>
          <c:orientation val="minMax"/>
          <c:max val="20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23857480"/>
        <c:crosses val="autoZero"/>
        <c:crossBetween val="between"/>
        <c:majorUnit val="5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AMD</c:v>
                </c:pt>
              </c:strCache>
            </c:strRef>
          </c:tx>
          <c:spPr>
            <a:ln w="28575" cap="rnd">
              <a:solidFill>
                <a:schemeClr val="accent1"/>
              </a:solidFill>
              <a:round/>
            </a:ln>
            <a:effectLst/>
          </c:spPr>
          <c:marker>
            <c:symbol val="none"/>
          </c:marker>
          <c:cat>
            <c:strRef>
              <c:f>Sheet1!$A$2:$A$7</c:f>
              <c:strCache>
                <c:ptCount val="6"/>
                <c:pt idx="0">
                  <c:v>0 – 1 Years of Service</c:v>
                </c:pt>
                <c:pt idx="1">
                  <c:v>1 Year of Service</c:v>
                </c:pt>
                <c:pt idx="2">
                  <c:v>3 Years of Service</c:v>
                </c:pt>
                <c:pt idx="3">
                  <c:v>7 Years of Service</c:v>
                </c:pt>
                <c:pt idx="4">
                  <c:v>15 Years of Service</c:v>
                </c:pt>
                <c:pt idx="5">
                  <c:v>25 Years of Service</c:v>
                </c:pt>
              </c:strCache>
            </c:strRef>
          </c:cat>
          <c:val>
            <c:numRef>
              <c:f>Sheet1!$B$2:$B$7</c:f>
              <c:numCache>
                <c:formatCode>General</c:formatCode>
                <c:ptCount val="6"/>
                <c:pt idx="0">
                  <c:v>15</c:v>
                </c:pt>
                <c:pt idx="1">
                  <c:v>15</c:v>
                </c:pt>
                <c:pt idx="2">
                  <c:v>15</c:v>
                </c:pt>
                <c:pt idx="3">
                  <c:v>18</c:v>
                </c:pt>
                <c:pt idx="4">
                  <c:v>20</c:v>
                </c:pt>
                <c:pt idx="5">
                  <c:v>20</c:v>
                </c:pt>
              </c:numCache>
            </c:numRef>
          </c:val>
          <c:smooth val="0"/>
          <c:extLst>
            <c:ext xmlns:c16="http://schemas.microsoft.com/office/drawing/2014/chart" uri="{C3380CC4-5D6E-409C-BE32-E72D297353CC}">
              <c16:uniqueId val="{00000000-4FD3-4318-9037-CF2046DC13C9}"/>
            </c:ext>
          </c:extLst>
        </c:ser>
        <c:ser>
          <c:idx val="1"/>
          <c:order val="1"/>
          <c:tx>
            <c:strRef>
              <c:f>Sheet1!$C$1</c:f>
              <c:strCache>
                <c:ptCount val="1"/>
                <c:pt idx="0">
                  <c:v>Average</c:v>
                </c:pt>
              </c:strCache>
            </c:strRef>
          </c:tx>
          <c:spPr>
            <a:ln w="28575" cap="rnd">
              <a:solidFill>
                <a:schemeClr val="accent2"/>
              </a:solidFill>
              <a:round/>
            </a:ln>
            <a:effectLst/>
          </c:spPr>
          <c:marker>
            <c:symbol val="none"/>
          </c:marker>
          <c:cat>
            <c:strRef>
              <c:f>Sheet1!$A$2:$A$7</c:f>
              <c:strCache>
                <c:ptCount val="6"/>
                <c:pt idx="0">
                  <c:v>0 – 1 Years of Service</c:v>
                </c:pt>
                <c:pt idx="1">
                  <c:v>1 Year of Service</c:v>
                </c:pt>
                <c:pt idx="2">
                  <c:v>3 Years of Service</c:v>
                </c:pt>
                <c:pt idx="3">
                  <c:v>7 Years of Service</c:v>
                </c:pt>
                <c:pt idx="4">
                  <c:v>15 Years of Service</c:v>
                </c:pt>
                <c:pt idx="5">
                  <c:v>25 Years of Service</c:v>
                </c:pt>
              </c:strCache>
            </c:strRef>
          </c:cat>
          <c:val>
            <c:numRef>
              <c:f>Sheet1!$C$2:$C$7</c:f>
              <c:numCache>
                <c:formatCode>General</c:formatCode>
                <c:ptCount val="6"/>
                <c:pt idx="0">
                  <c:v>15</c:v>
                </c:pt>
                <c:pt idx="1">
                  <c:v>15</c:v>
                </c:pt>
                <c:pt idx="2">
                  <c:v>15</c:v>
                </c:pt>
                <c:pt idx="3">
                  <c:v>18</c:v>
                </c:pt>
                <c:pt idx="4">
                  <c:v>20</c:v>
                </c:pt>
                <c:pt idx="5">
                  <c:v>24</c:v>
                </c:pt>
              </c:numCache>
            </c:numRef>
          </c:val>
          <c:smooth val="0"/>
          <c:extLst>
            <c:ext xmlns:c16="http://schemas.microsoft.com/office/drawing/2014/chart" uri="{C3380CC4-5D6E-409C-BE32-E72D297353CC}">
              <c16:uniqueId val="{00000001-4FD3-4318-9037-CF2046DC13C9}"/>
            </c:ext>
          </c:extLst>
        </c:ser>
        <c:ser>
          <c:idx val="2"/>
          <c:order val="2"/>
          <c:tx>
            <c:strRef>
              <c:f>Sheet1!$D$1</c:f>
              <c:strCache>
                <c:ptCount val="1"/>
                <c:pt idx="0">
                  <c:v>10th Percentile</c:v>
                </c:pt>
              </c:strCache>
            </c:strRef>
          </c:tx>
          <c:spPr>
            <a:ln w="28575" cap="rnd">
              <a:solidFill>
                <a:schemeClr val="accent3"/>
              </a:solidFill>
              <a:prstDash val="dash"/>
              <a:round/>
            </a:ln>
            <a:effectLst/>
          </c:spPr>
          <c:marker>
            <c:symbol val="none"/>
          </c:marker>
          <c:cat>
            <c:strRef>
              <c:f>Sheet1!$A$2:$A$7</c:f>
              <c:strCache>
                <c:ptCount val="6"/>
                <c:pt idx="0">
                  <c:v>0 – 1 Years of Service</c:v>
                </c:pt>
                <c:pt idx="1">
                  <c:v>1 Year of Service</c:v>
                </c:pt>
                <c:pt idx="2">
                  <c:v>3 Years of Service</c:v>
                </c:pt>
                <c:pt idx="3">
                  <c:v>7 Years of Service</c:v>
                </c:pt>
                <c:pt idx="4">
                  <c:v>15 Years of Service</c:v>
                </c:pt>
                <c:pt idx="5">
                  <c:v>25 Years of Service</c:v>
                </c:pt>
              </c:strCache>
            </c:strRef>
          </c:cat>
          <c:val>
            <c:numRef>
              <c:f>Sheet1!$D$2:$D$7</c:f>
              <c:numCache>
                <c:formatCode>General</c:formatCode>
                <c:ptCount val="6"/>
                <c:pt idx="0">
                  <c:v>13</c:v>
                </c:pt>
                <c:pt idx="1">
                  <c:v>13</c:v>
                </c:pt>
                <c:pt idx="2">
                  <c:v>13</c:v>
                </c:pt>
                <c:pt idx="3">
                  <c:v>16</c:v>
                </c:pt>
                <c:pt idx="4">
                  <c:v>18</c:v>
                </c:pt>
                <c:pt idx="5">
                  <c:v>22</c:v>
                </c:pt>
              </c:numCache>
            </c:numRef>
          </c:val>
          <c:smooth val="0"/>
          <c:extLst>
            <c:ext xmlns:c16="http://schemas.microsoft.com/office/drawing/2014/chart" uri="{C3380CC4-5D6E-409C-BE32-E72D297353CC}">
              <c16:uniqueId val="{00000002-4FD3-4318-9037-CF2046DC13C9}"/>
            </c:ext>
          </c:extLst>
        </c:ser>
        <c:ser>
          <c:idx val="3"/>
          <c:order val="3"/>
          <c:tx>
            <c:strRef>
              <c:f>Sheet1!$E$1</c:f>
              <c:strCache>
                <c:ptCount val="1"/>
                <c:pt idx="0">
                  <c:v>90th Percentile</c:v>
                </c:pt>
              </c:strCache>
            </c:strRef>
          </c:tx>
          <c:spPr>
            <a:ln w="28575" cap="rnd">
              <a:solidFill>
                <a:schemeClr val="accent4"/>
              </a:solidFill>
              <a:prstDash val="dash"/>
              <a:round/>
            </a:ln>
            <a:effectLst/>
          </c:spPr>
          <c:marker>
            <c:symbol val="none"/>
          </c:marker>
          <c:cat>
            <c:strRef>
              <c:f>Sheet1!$A$2:$A$7</c:f>
              <c:strCache>
                <c:ptCount val="6"/>
                <c:pt idx="0">
                  <c:v>0 – 1 Years of Service</c:v>
                </c:pt>
                <c:pt idx="1">
                  <c:v>1 Year of Service</c:v>
                </c:pt>
                <c:pt idx="2">
                  <c:v>3 Years of Service</c:v>
                </c:pt>
                <c:pt idx="3">
                  <c:v>7 Years of Service</c:v>
                </c:pt>
                <c:pt idx="4">
                  <c:v>15 Years of Service</c:v>
                </c:pt>
                <c:pt idx="5">
                  <c:v>25 Years of Service</c:v>
                </c:pt>
              </c:strCache>
            </c:strRef>
          </c:cat>
          <c:val>
            <c:numRef>
              <c:f>Sheet1!$E$2:$E$7</c:f>
              <c:numCache>
                <c:formatCode>General</c:formatCode>
                <c:ptCount val="6"/>
                <c:pt idx="0">
                  <c:v>17</c:v>
                </c:pt>
                <c:pt idx="1">
                  <c:v>17</c:v>
                </c:pt>
                <c:pt idx="2">
                  <c:v>17</c:v>
                </c:pt>
                <c:pt idx="3">
                  <c:v>20</c:v>
                </c:pt>
                <c:pt idx="4">
                  <c:v>22</c:v>
                </c:pt>
                <c:pt idx="5">
                  <c:v>26</c:v>
                </c:pt>
              </c:numCache>
            </c:numRef>
          </c:val>
          <c:smooth val="0"/>
          <c:extLst>
            <c:ext xmlns:c16="http://schemas.microsoft.com/office/drawing/2014/chart" uri="{C3380CC4-5D6E-409C-BE32-E72D297353CC}">
              <c16:uniqueId val="{00000003-4FD3-4318-9037-CF2046DC13C9}"/>
            </c:ext>
          </c:extLst>
        </c:ser>
        <c:dLbls>
          <c:showLegendKey val="0"/>
          <c:showVal val="0"/>
          <c:showCatName val="0"/>
          <c:showSerName val="0"/>
          <c:showPercent val="0"/>
          <c:showBubbleSize val="0"/>
        </c:dLbls>
        <c:smooth val="0"/>
        <c:axId val="827166952"/>
        <c:axId val="827168264"/>
      </c:lineChart>
      <c:catAx>
        <c:axId val="827166952"/>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US" b="1"/>
                  <a:t>Years of Service</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27168264"/>
        <c:crosses val="autoZero"/>
        <c:auto val="1"/>
        <c:lblAlgn val="ctr"/>
        <c:lblOffset val="100"/>
        <c:noMultiLvlLbl val="0"/>
      </c:catAx>
      <c:valAx>
        <c:axId val="827168264"/>
        <c:scaling>
          <c:orientation val="minMax"/>
          <c:max val="40"/>
          <c:min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US" b="1"/>
                  <a:t>Days per Year</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827166952"/>
        <c:crosses val="autoZero"/>
        <c:crossBetween val="between"/>
        <c:majorUnit val="5"/>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0-09-23T15:50:36.310" idx="2">
    <p:pos x="10" y="10"/>
    <p:text>Need automation: higlighted in red</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09-23T15:51:03.831" idx="3">
    <p:pos x="10" y="10"/>
    <p:text>Need automation: higlighted in red</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09-23T15:47:59.475" idx="1">
    <p:pos x="10" y="10"/>
    <p:text>Need automation:
1. Highlight client name
2. Grey out / remove "X" for companies that are not in peer group
3. Footnote</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10-01T15:19:34.754" idx="13">
    <p:pos x="10" y="10"/>
    <p:text>no automation needed - this is a manual slide</p:text>
    <p:extLst>
      <p:ext uri="{C676402C-5697-4E1C-873F-D02D1690AC5C}">
        <p15:threadingInfo xmlns:p15="http://schemas.microsoft.com/office/powerpoint/2012/main" timeZoneBias="4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0-09-23T16:09:49.904" idx="4">
    <p:pos x="10" y="10"/>
    <p:text>Need automation: 
1. wordings higlighted in red
2. chart values and rankings</p:text>
    <p:extLst>
      <p:ext uri="{C676402C-5697-4E1C-873F-D02D1690AC5C}">
        <p15:threadingInfo xmlns:p15="http://schemas.microsoft.com/office/powerpoint/2012/main" timeZoneBias="4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0-10-01T14:57:05.127" idx="12">
    <p:pos x="10" y="10"/>
    <p:text>Need automation:
1. 2020 ranking and values in table</p:text>
    <p:extLst>
      <p:ext uri="{C676402C-5697-4E1C-873F-D02D1690AC5C}">
        <p15:threadingInfo xmlns:p15="http://schemas.microsoft.com/office/powerpoint/2012/main" timeZoneBias="42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0-09-23T16:30:32.747" idx="5">
    <p:pos x="10" y="10"/>
    <p:text>Need automation:
1. change confidential ticker to client name instead</p:text>
    <p:extLst>
      <p:ext uri="{C676402C-5697-4E1C-873F-D02D1690AC5C}">
        <p15:threadingInfo xmlns:p15="http://schemas.microsoft.com/office/powerpoint/2012/main" timeZoneBias="42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0-09-23T16:44:47.039" idx="6">
    <p:pos x="10" y="10"/>
    <p:text>Need automation:
1. words highlighted in red
2. values in table and pie charts</p:text>
    <p:extLst>
      <p:ext uri="{C676402C-5697-4E1C-873F-D02D1690AC5C}">
        <p15:threadingInfo xmlns:p15="http://schemas.microsoft.com/office/powerpoint/2012/main" timeZoneBias="42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p:text>
    <p:extLst>
      <p:ext uri="{C676402C-5697-4E1C-873F-D02D1690AC5C}">
        <p15:threadingInfo xmlns:p15="http://schemas.microsoft.com/office/powerpoint/2012/main" timeZoneBias="42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
2. pull plan design from cheat sheet / plan summaries</p:text>
    <p:extLst>
      <p:ext uri="{C676402C-5697-4E1C-873F-D02D1690AC5C}">
        <p15:threadingInfo xmlns:p15="http://schemas.microsoft.com/office/powerpoint/2012/main" timeZoneBias="42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0-09-24T10:53:17.037" idx="9">
    <p:pos x="10" y="10"/>
    <p:text>Need automation:
1. wordings in red
2. pull peer group spousal surcharges only in the chart and calculate average</p:text>
    <p:extLst>
      <p:ext uri="{C676402C-5697-4E1C-873F-D02D1690AC5C}">
        <p15:threadingInfo xmlns:p15="http://schemas.microsoft.com/office/powerpoint/2012/main" timeZoneBias="42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0-09-24T10:57:55.724" idx="10">
    <p:pos x="10" y="10"/>
    <p:text>Need automation:
1. wordings in red
2. pull peer group CDHP seed only in the chart and calculate average</p:text>
    <p:extLst>
      <p:ext uri="{C676402C-5697-4E1C-873F-D02D1690AC5C}">
        <p15:threadingInfo xmlns:p15="http://schemas.microsoft.com/office/powerpoint/2012/main" timeZoneBias="42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1" dt="2020-09-25T14:47:56.595" idx="11">
    <p:pos x="49" y="16"/>
    <p:text>Need automation:
1. wordings in red
2. pull peer group EE cont only in the chart and calculate average</p:text>
    <p:extLst>
      <p:ext uri="{C676402C-5697-4E1C-873F-D02D1690AC5C}">
        <p15:threadingInfo xmlns:p15="http://schemas.microsoft.com/office/powerpoint/2012/main" timeZoneBias="420"/>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1" dt="2020-09-25T14:47:56.595" idx="11">
    <p:pos x="49" y="16"/>
    <p:text>Need automation:
1. pull peer group EE cont only in the chart and calculate average</p:text>
    <p:extLst>
      <p:ext uri="{C676402C-5697-4E1C-873F-D02D1690AC5C}">
        <p15:threadingInfo xmlns:p15="http://schemas.microsoft.com/office/powerpoint/2012/main" timeZoneBias="420"/>
      </p:ext>
    </p:extLst>
  </p:cm>
</p:cmLst>
</file>

<file path=ppt/comments/comment15.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16.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
2. pull plan design from cheat sheet / plan summaries</p:text>
    <p:extLst>
      <p:ext uri="{C676402C-5697-4E1C-873F-D02D1690AC5C}">
        <p15:threadingInfo xmlns:p15="http://schemas.microsoft.com/office/powerpoint/2012/main" timeZoneBias="420"/>
      </p:ext>
    </p:extLst>
  </p:cm>
</p:cmLst>
</file>

<file path=ppt/comments/comment17.xml><?xml version="1.0" encoding="utf-8"?>
<p:cmLst xmlns:a="http://schemas.openxmlformats.org/drawingml/2006/main" xmlns:r="http://schemas.openxmlformats.org/officeDocument/2006/relationships" xmlns:p="http://schemas.openxmlformats.org/presentationml/2006/main">
  <p:cm authorId="1" dt="2020-09-25T14:47:56.595" idx="11">
    <p:pos x="49" y="16"/>
    <p:text>Need automation:
1. wordings in red
2. pull peer group EE cont only in the chart and calculate average</p:text>
    <p:extLst>
      <p:ext uri="{C676402C-5697-4E1C-873F-D02D1690AC5C}">
        <p15:threadingInfo xmlns:p15="http://schemas.microsoft.com/office/powerpoint/2012/main" timeZoneBias="420"/>
      </p:ext>
    </p:extLst>
  </p:cm>
</p:cmLst>
</file>

<file path=ppt/comments/comment18.xml><?xml version="1.0" encoding="utf-8"?>
<p:cmLst xmlns:a="http://schemas.openxmlformats.org/drawingml/2006/main" xmlns:r="http://schemas.openxmlformats.org/officeDocument/2006/relationships" xmlns:p="http://schemas.openxmlformats.org/presentationml/2006/main">
  <p:cm authorId="1" dt="2020-09-25T14:47:56.595" idx="11">
    <p:pos x="49" y="16"/>
    <p:text>Need automation:
1. pull peer group EE cont only in the chart and calculate average</p:text>
    <p:extLst>
      <p:ext uri="{C676402C-5697-4E1C-873F-D02D1690AC5C}">
        <p15:threadingInfo xmlns:p15="http://schemas.microsoft.com/office/powerpoint/2012/main" timeZoneBias="420"/>
      </p:ext>
    </p:extLst>
  </p:cm>
</p:cmLst>
</file>

<file path=ppt/comments/comment19.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20.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p:text>
    <p:extLst>
      <p:ext uri="{C676402C-5697-4E1C-873F-D02D1690AC5C}">
        <p15:threadingInfo xmlns:p15="http://schemas.microsoft.com/office/powerpoint/2012/main" timeZoneBias="420"/>
      </p:ext>
    </p:extLst>
  </p:cm>
</p:cmLst>
</file>

<file path=ppt/comments/comment21.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
2. pull plan design from cheat sheet / plan summaries</p:text>
    <p:extLst>
      <p:ext uri="{C676402C-5697-4E1C-873F-D02D1690AC5C}">
        <p15:threadingInfo xmlns:p15="http://schemas.microsoft.com/office/powerpoint/2012/main" timeZoneBias="420"/>
      </p:ext>
    </p:extLst>
  </p:cm>
</p:cmLst>
</file>

<file path=ppt/comments/comment22.xml><?xml version="1.0" encoding="utf-8"?>
<p:cmLst xmlns:a="http://schemas.openxmlformats.org/drawingml/2006/main" xmlns:r="http://schemas.openxmlformats.org/officeDocument/2006/relationships" xmlns:p="http://schemas.openxmlformats.org/presentationml/2006/main">
  <p:cm authorId="1" dt="2020-09-25T14:47:56.595" idx="11">
    <p:pos x="49" y="16"/>
    <p:text>Need automation:
1. wordings in red
2. pull peer group EE cont only in the chart and calculate average</p:text>
    <p:extLst>
      <p:ext uri="{C676402C-5697-4E1C-873F-D02D1690AC5C}">
        <p15:threadingInfo xmlns:p15="http://schemas.microsoft.com/office/powerpoint/2012/main" timeZoneBias="420"/>
      </p:ext>
    </p:extLst>
  </p:cm>
</p:cmLst>
</file>

<file path=ppt/comments/comment23.xml><?xml version="1.0" encoding="utf-8"?>
<p:cmLst xmlns:a="http://schemas.openxmlformats.org/drawingml/2006/main" xmlns:r="http://schemas.openxmlformats.org/officeDocument/2006/relationships" xmlns:p="http://schemas.openxmlformats.org/presentationml/2006/main">
  <p:cm authorId="1" dt="2020-09-25T14:47:56.595" idx="11">
    <p:pos x="49" y="16"/>
    <p:text>Need automation:
1. pull peer group EE cont only in the chart and calculate average</p:text>
    <p:extLst>
      <p:ext uri="{C676402C-5697-4E1C-873F-D02D1690AC5C}">
        <p15:threadingInfo xmlns:p15="http://schemas.microsoft.com/office/powerpoint/2012/main" timeZoneBias="420"/>
      </p:ext>
    </p:extLst>
  </p:cm>
</p:cmLst>
</file>

<file path=ppt/comments/comment24.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25.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
2. pull plan design from cheat sheet / plan summaries</p:text>
    <p:extLst>
      <p:ext uri="{C676402C-5697-4E1C-873F-D02D1690AC5C}">
        <p15:threadingInfo xmlns:p15="http://schemas.microsoft.com/office/powerpoint/2012/main" timeZoneBias="420"/>
      </p:ext>
    </p:extLst>
  </p:cm>
</p:cmLst>
</file>

<file path=ppt/comments/comment26.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27.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28.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p:text>
    <p:extLst>
      <p:ext uri="{C676402C-5697-4E1C-873F-D02D1690AC5C}">
        <p15:threadingInfo xmlns:p15="http://schemas.microsoft.com/office/powerpoint/2012/main" timeZoneBias="420"/>
      </p:ext>
    </p:extLst>
  </p:cm>
  <p:cm authorId="1" dt="2020-10-07T09:01:39.071" idx="14">
    <p:pos x="10" y="106"/>
    <p:text>place holder for other BenVals</p:text>
    <p:extLst>
      <p:ext uri="{C676402C-5697-4E1C-873F-D02D1690AC5C}">
        <p15:threadingInfo xmlns:p15="http://schemas.microsoft.com/office/powerpoint/2012/main" timeZoneBias="420">
          <p15:parentCm authorId="1" idx="7"/>
        </p15:threadingInfo>
      </p:ext>
    </p:extLst>
  </p:cm>
</p:cmLst>
</file>

<file path=ppt/comments/comment29.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p:text>
    <p:extLst>
      <p:ext uri="{C676402C-5697-4E1C-873F-D02D1690AC5C}">
        <p15:threadingInfo xmlns:p15="http://schemas.microsoft.com/office/powerpoint/2012/main" timeZoneBias="420"/>
      </p:ext>
    </p:extLst>
  </p:cm>
  <p:cm authorId="1" dt="2020-10-07T09:01:39.071" idx="14">
    <p:pos x="10" y="106"/>
    <p:text>place holder for other BenVals</p:text>
    <p:extLst>
      <p:ext uri="{C676402C-5697-4E1C-873F-D02D1690AC5C}">
        <p15:threadingInfo xmlns:p15="http://schemas.microsoft.com/office/powerpoint/2012/main" timeZoneBias="420">
          <p15:parentCm authorId="1" idx="7"/>
        </p15:threadingInfo>
      </p:ext>
    </p:extLst>
  </p:cm>
</p:cmLst>
</file>

<file path=ppt/comments/comment30.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31.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
2. pull plan design from cheat sheet / plan summaries</p:text>
    <p:extLst>
      <p:ext uri="{C676402C-5697-4E1C-873F-D02D1690AC5C}">
        <p15:threadingInfo xmlns:p15="http://schemas.microsoft.com/office/powerpoint/2012/main" timeZoneBias="420"/>
      </p:ext>
    </p:extLst>
  </p:cm>
</p:cmLst>
</file>

<file path=ppt/comments/comment32.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33.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34.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35.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
2. pull plan design from cheat sheet / plan summaries</p:text>
    <p:extLst>
      <p:ext uri="{C676402C-5697-4E1C-873F-D02D1690AC5C}">
        <p15:threadingInfo xmlns:p15="http://schemas.microsoft.com/office/powerpoint/2012/main" timeZoneBias="420"/>
      </p:ext>
    </p:extLst>
  </p:cm>
</p:cmLst>
</file>

<file path=ppt/comments/comment36.xml><?xml version="1.0" encoding="utf-8"?>
<p:cmLst xmlns:a="http://schemas.openxmlformats.org/drawingml/2006/main" xmlns:r="http://schemas.openxmlformats.org/officeDocument/2006/relationships" xmlns:p="http://schemas.openxmlformats.org/presentationml/2006/main">
  <p:cm authorId="1" dt="2020-09-23T16:52:22.974" idx="7">
    <p:pos x="10" y="10"/>
    <p:text>Need automation:
1. changing confidential code to client name
2. Highlight client bar purple
3. fixing the coloring of numbers when the bar is too small?</p:text>
    <p:extLst>
      <p:ext uri="{C676402C-5697-4E1C-873F-D02D1690AC5C}">
        <p15:threadingInfo xmlns:p15="http://schemas.microsoft.com/office/powerpoint/2012/main" timeZoneBias="420"/>
      </p:ext>
    </p:extLst>
  </p:cm>
</p:cmLst>
</file>

<file path=ppt/comments/comment37.xml><?xml version="1.0" encoding="utf-8"?>
<p:cmLst xmlns:a="http://schemas.openxmlformats.org/drawingml/2006/main" xmlns:r="http://schemas.openxmlformats.org/officeDocument/2006/relationships" xmlns:p="http://schemas.openxmlformats.org/presentationml/2006/main">
  <p:cm authorId="1" dt="2020-09-24T10:50:58.071" idx="8">
    <p:pos x="10" y="10"/>
    <p:text>Need automation:
1. wordings highlighted in red
2. pull plan design from cheat sheet / plan summaries</p:text>
    <p:extLst>
      <p:ext uri="{C676402C-5697-4E1C-873F-D02D1690AC5C}">
        <p15:threadingInfo xmlns:p15="http://schemas.microsoft.com/office/powerpoint/2012/main" timeZoneBias="42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drawing1.xml><?xml version="1.0" encoding="utf-8"?>
<c:userShapes xmlns:c="http://schemas.openxmlformats.org/drawingml/2006/chart">
  <cdr:relSizeAnchor xmlns:cdr="http://schemas.openxmlformats.org/drawingml/2006/chartDrawing">
    <cdr:from>
      <cdr:x>0.64286</cdr:x>
      <cdr:y>0.09267</cdr:y>
    </cdr:from>
    <cdr:to>
      <cdr:x>0.64286</cdr:x>
      <cdr:y>0.242</cdr:y>
    </cdr:to>
    <cdr:sp macro="" textlink="">
      <cdr:nvSpPr>
        <cdr:cNvPr id="2" name="Line 20">
          <a:extLst xmlns:a="http://schemas.openxmlformats.org/drawingml/2006/main">
            <a:ext uri="{FF2B5EF4-FFF2-40B4-BE49-F238E27FC236}">
              <a16:creationId xmlns:a16="http://schemas.microsoft.com/office/drawing/2014/main" id="{00000000-0008-0000-0A00-0000485C4000}"/>
            </a:ext>
          </a:extLst>
        </cdr:cNvPr>
        <cdr:cNvSpPr>
          <a:spLocks xmlns:a="http://schemas.openxmlformats.org/drawingml/2006/main" noChangeShapeType="1"/>
        </cdr:cNvSpPr>
      </cdr:nvSpPr>
      <cdr:spPr bwMode="auto">
        <a:xfrm xmlns:a="http://schemas.openxmlformats.org/drawingml/2006/main">
          <a:off x="5314950" y="200603"/>
          <a:ext cx="0" cy="323290"/>
        </a:xfrm>
        <a:prstGeom xmlns:a="http://schemas.openxmlformats.org/drawingml/2006/main" prst="line">
          <a:avLst/>
        </a:prstGeom>
        <a:noFill xmlns:a="http://schemas.openxmlformats.org/drawingml/2006/main"/>
        <a:ln xmlns:a="http://schemas.openxmlformats.org/drawingml/2006/main" w="9525">
          <a:solidFill>
            <a:srgbClr xmlns:mc="http://schemas.openxmlformats.org/markup-compatibility/2006" xmlns:a14="http://schemas.microsoft.com/office/drawing/2010/main" val="702082" mc:Ignorable="a14" a14:legacySpreadsheetColorIndex="60"/>
          </a:solidFill>
          <a:round/>
          <a:headEnd/>
          <a:tailEnd type="triangle" w="med" len="med"/>
        </a:ln>
        <a:extLst xmlns:a="http://schemas.openxmlformats.org/drawingml/2006/main">
          <a:ext uri="{909E8E84-426E-40DD-AFC4-6F175D3DCCD1}">
            <a14:hiddenFill xmlns:a14="http://schemas.microsoft.com/office/drawing/2010/main">
              <a:noFill/>
            </a14:hiddenFill>
          </a:ext>
        </a:extLst>
      </cdr:spPr>
      <cdr:txBody>
        <a:bodyPr xmlns:a="http://schemas.openxmlformats.org/drawingml/2006/main"/>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5797"/>
          </a:xfrm>
          <a:prstGeom prst="rect">
            <a:avLst/>
          </a:prstGeom>
        </p:spPr>
        <p:txBody>
          <a:bodyPr vert="horz" lIns="92958" tIns="46479" rIns="92958" bIns="46479" rtlCol="0"/>
          <a:lstStyle>
            <a:lvl1pPr algn="l">
              <a:defRPr sz="1200"/>
            </a:lvl1pPr>
          </a:lstStyle>
          <a:p>
            <a:endParaRPr lang="en-US" dirty="0"/>
          </a:p>
        </p:txBody>
      </p:sp>
      <p:sp>
        <p:nvSpPr>
          <p:cNvPr id="3" name="Date Placeholder 2"/>
          <p:cNvSpPr>
            <a:spLocks noGrp="1"/>
          </p:cNvSpPr>
          <p:nvPr>
            <p:ph type="dt" sz="quarter" idx="1"/>
          </p:nvPr>
        </p:nvSpPr>
        <p:spPr>
          <a:xfrm>
            <a:off x="3956550" y="0"/>
            <a:ext cx="3026833" cy="465797"/>
          </a:xfrm>
          <a:prstGeom prst="rect">
            <a:avLst/>
          </a:prstGeom>
        </p:spPr>
        <p:txBody>
          <a:bodyPr vert="horz" lIns="92958" tIns="46479" rIns="92958" bIns="46479" rtlCol="0"/>
          <a:lstStyle>
            <a:lvl1pPr algn="r">
              <a:defRPr sz="1200"/>
            </a:lvl1pPr>
          </a:lstStyle>
          <a:p>
            <a:fld id="{D301E1B6-3125-48A0-B39B-258A8C29552C}" type="datetimeFigureOut">
              <a:rPr lang="en-US" smtClean="0"/>
              <a:t>3/8/2021</a:t>
            </a:fld>
            <a:endParaRPr lang="en-US" dirty="0"/>
          </a:p>
        </p:txBody>
      </p:sp>
      <p:sp>
        <p:nvSpPr>
          <p:cNvPr id="4" name="Footer Placeholder 3"/>
          <p:cNvSpPr>
            <a:spLocks noGrp="1"/>
          </p:cNvSpPr>
          <p:nvPr>
            <p:ph type="ftr" sz="quarter" idx="2"/>
          </p:nvPr>
        </p:nvSpPr>
        <p:spPr>
          <a:xfrm>
            <a:off x="0" y="8817904"/>
            <a:ext cx="3026833" cy="465796"/>
          </a:xfrm>
          <a:prstGeom prst="rect">
            <a:avLst/>
          </a:prstGeom>
        </p:spPr>
        <p:txBody>
          <a:bodyPr vert="horz" lIns="92958" tIns="46479" rIns="92958" bIns="46479" rtlCol="0" anchor="b"/>
          <a:lstStyle>
            <a:lvl1pPr algn="l">
              <a:defRPr sz="1200"/>
            </a:lvl1pPr>
          </a:lstStyle>
          <a:p>
            <a:endParaRPr lang="en-US" dirty="0"/>
          </a:p>
        </p:txBody>
      </p:sp>
    </p:spTree>
    <p:extLst>
      <p:ext uri="{BB962C8B-B14F-4D97-AF65-F5344CB8AC3E}">
        <p14:creationId xmlns:p14="http://schemas.microsoft.com/office/powerpoint/2010/main" val="1299402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dirty="0"/>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B97DC975-A455-47BB-A68D-520EABF783D0}" type="datetimeFigureOut">
              <a:rPr lang="en-US" smtClean="0"/>
              <a:pPr/>
              <a:t>3/8/2021</a:t>
            </a:fld>
            <a:endParaRPr lang="en-US" dirty="0"/>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dirty="0"/>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499B0F9-5275-4FDD-BFE5-B9E6F2FD770F}" type="slidenum">
              <a:rPr lang="en-US" smtClean="0"/>
              <a:pPr/>
              <a:t>‹#›</a:t>
            </a:fld>
            <a:endParaRPr lang="en-US" dirty="0"/>
          </a:p>
        </p:txBody>
      </p:sp>
    </p:spTree>
    <p:extLst>
      <p:ext uri="{BB962C8B-B14F-4D97-AF65-F5344CB8AC3E}">
        <p14:creationId xmlns:p14="http://schemas.microsoft.com/office/powerpoint/2010/main" val="780051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A499B0F9-5275-4FDD-BFE5-B9E6F2FD770F}" type="slidenum">
              <a:rPr lang="en-US" smtClean="0"/>
              <a:pPr/>
              <a:t>2</a:t>
            </a:fld>
            <a:endParaRPr lang="en-US"/>
          </a:p>
        </p:txBody>
      </p:sp>
    </p:spTree>
    <p:extLst>
      <p:ext uri="{BB962C8B-B14F-4D97-AF65-F5344CB8AC3E}">
        <p14:creationId xmlns:p14="http://schemas.microsoft.com/office/powerpoint/2010/main" val="6800635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a:off x="228600" y="228600"/>
            <a:ext cx="5769864"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57200" y="457200"/>
            <a:ext cx="5257800" cy="612648"/>
          </a:xfrm>
        </p:spPr>
        <p:txBody>
          <a:bodyPr>
            <a:noAutofit/>
          </a:bodyPr>
          <a:lstStyle>
            <a:lvl1pPr>
              <a:lnSpc>
                <a:spcPts val="2300"/>
              </a:lnSpc>
              <a:defRPr baseline="0"/>
            </a:lvl1pPr>
          </a:lstStyle>
          <a:p>
            <a:r>
              <a:rPr lang="en-US" dirty="0"/>
              <a:t>Title image slide — click to edit</a:t>
            </a:r>
            <a:br>
              <a:rPr lang="en-US" dirty="0"/>
            </a:br>
            <a:r>
              <a:rPr lang="en-US" dirty="0"/>
              <a:t>second line if needed </a:t>
            </a:r>
          </a:p>
        </p:txBody>
      </p:sp>
      <p:sp>
        <p:nvSpPr>
          <p:cNvPr id="22" name="Text Placeholder 21"/>
          <p:cNvSpPr>
            <a:spLocks noGrp="1"/>
          </p:cNvSpPr>
          <p:nvPr>
            <p:ph type="body" sz="quarter" idx="15" hasCustomPrompt="1"/>
          </p:nvPr>
        </p:nvSpPr>
        <p:spPr>
          <a:xfrm>
            <a:off x="457200" y="1097280"/>
            <a:ext cx="5257800" cy="502920"/>
          </a:xfrm>
        </p:spPr>
        <p:txBody>
          <a:bodyPr/>
          <a:lstStyle>
            <a:lvl1pPr>
              <a:lnSpc>
                <a:spcPts val="2000"/>
              </a:lnSpc>
              <a:spcAft>
                <a:spcPts val="0"/>
              </a:spcAft>
              <a:defRPr sz="1800" b="0" baseline="0"/>
            </a:lvl1pPr>
          </a:lstStyle>
          <a:p>
            <a:pPr lvl="0"/>
            <a:r>
              <a:rPr lang="en-US" dirty="0"/>
              <a:t>Click to add subhead</a:t>
            </a:r>
          </a:p>
        </p:txBody>
      </p:sp>
      <p:sp>
        <p:nvSpPr>
          <p:cNvPr id="24" name="Text Placeholder 23"/>
          <p:cNvSpPr>
            <a:spLocks noGrp="1"/>
          </p:cNvSpPr>
          <p:nvPr>
            <p:ph type="body" sz="quarter" idx="16" hasCustomPrompt="1"/>
          </p:nvPr>
        </p:nvSpPr>
        <p:spPr>
          <a:xfrm>
            <a:off x="457200" y="2209669"/>
            <a:ext cx="2011680" cy="271081"/>
          </a:xfrm>
        </p:spPr>
        <p:txBody>
          <a:bodyPr/>
          <a:lstStyle>
            <a:lvl1pPr>
              <a:defRPr sz="1200" b="0" baseline="0"/>
            </a:lvl1pPr>
          </a:lstStyle>
          <a:p>
            <a:pPr lvl="0"/>
            <a:r>
              <a:rPr lang="en-US" dirty="0"/>
              <a:t>Insert date</a:t>
            </a:r>
          </a:p>
        </p:txBody>
      </p:sp>
      <p:sp>
        <p:nvSpPr>
          <p:cNvPr id="26" name="Text Placeholder 25"/>
          <p:cNvSpPr>
            <a:spLocks noGrp="1"/>
          </p:cNvSpPr>
          <p:nvPr>
            <p:ph type="body" sz="quarter" idx="17" hasCustomPrompt="1"/>
          </p:nvPr>
        </p:nvSpPr>
        <p:spPr>
          <a:xfrm>
            <a:off x="457200" y="1654457"/>
            <a:ext cx="5257800" cy="527386"/>
          </a:xfrm>
        </p:spPr>
        <p:txBody>
          <a:bodyPr/>
          <a:lstStyle>
            <a:lvl1pPr>
              <a:lnSpc>
                <a:spcPts val="1800"/>
              </a:lnSpc>
              <a:spcAft>
                <a:spcPts val="0"/>
              </a:spcAft>
              <a:defRPr sz="1600" b="0"/>
            </a:lvl1pPr>
          </a:lstStyle>
          <a:p>
            <a:pPr lvl="0"/>
            <a:r>
              <a:rPr lang="en-US" dirty="0"/>
              <a:t>Click to add text</a:t>
            </a:r>
          </a:p>
        </p:txBody>
      </p:sp>
      <p:pic>
        <p:nvPicPr>
          <p:cNvPr id="14" name="Picture 13"/>
          <p:cNvPicPr>
            <a:picLocks noChangeAspect="1"/>
          </p:cNvPicPr>
          <p:nvPr userDrawn="1"/>
        </p:nvPicPr>
        <p:blipFill>
          <a:blip r:embed="rId3" cstate="print"/>
          <a:stretch>
            <a:fillRect/>
          </a:stretch>
        </p:blipFill>
        <p:spPr>
          <a:xfrm>
            <a:off x="5877560" y="6273358"/>
            <a:ext cx="3022600" cy="584200"/>
          </a:xfrm>
          <a:prstGeom prst="rect">
            <a:avLst/>
          </a:prstGeom>
        </p:spPr>
      </p:pic>
      <p:sp>
        <p:nvSpPr>
          <p:cNvPr id="11" name="Footer Placeholder 4 Copyright"/>
          <p:cNvSpPr>
            <a:spLocks noGrp="1"/>
          </p:cNvSpPr>
          <p:nvPr>
            <p:ph type="ftr" sz="quarter" idx="3"/>
          </p:nvPr>
        </p:nvSpPr>
        <p:spPr>
          <a:xfrm>
            <a:off x="457199" y="6515096"/>
            <a:ext cx="2469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a:t>© [yyyy] Willis Towers Watson. All rights reserved.</a:t>
            </a:r>
            <a:endParaRPr lang="en-US" dirty="0"/>
          </a:p>
        </p:txBody>
      </p:sp>
    </p:spTree>
    <p:extLst>
      <p:ext uri="{BB962C8B-B14F-4D97-AF65-F5344CB8AC3E}">
        <p14:creationId xmlns:p14="http://schemas.microsoft.com/office/powerpoint/2010/main" val="3456336395"/>
      </p:ext>
    </p:extLst>
  </p:cSld>
  <p:clrMapOvr>
    <a:masterClrMapping/>
  </p:clrMapOvr>
  <p:hf hdr="0" dt="0"/>
  <p:extLst>
    <p:ext uri="{DCECCB84-F9BA-43D5-87BE-67443E8EF086}">
      <p15:sldGuideLst xmlns:p15="http://schemas.microsoft.com/office/powerpoint/2012/main">
        <p15:guide id="1" orient="horz" pos="4178"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brand 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0" name="Straight Connector 9"/>
          <p:cNvCxnSpPr/>
          <p:nvPr userDrawn="1"/>
        </p:nvCxnSpPr>
        <p:spPr>
          <a:xfrm>
            <a:off x="5890054" y="6359395"/>
            <a:ext cx="0" cy="320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9"/>
          <p:cNvSpPr>
            <a:spLocks noGrp="1"/>
          </p:cNvSpPr>
          <p:nvPr>
            <p:ph type="pic" sz="quarter" idx="14" hasCustomPrompt="1"/>
          </p:nvPr>
        </p:nvSpPr>
        <p:spPr>
          <a:xfrm>
            <a:off x="3247806" y="6354216"/>
            <a:ext cx="2466975" cy="390196"/>
          </a:xfrm>
        </p:spPr>
        <p:txBody>
          <a:bodyPr anchor="ctr" anchorCtr="0"/>
          <a:lstStyle>
            <a:lvl1pPr algn="ctr">
              <a:defRPr sz="1200"/>
            </a:lvl1pPr>
          </a:lstStyle>
          <a:p>
            <a:r>
              <a:rPr lang="en-US" dirty="0"/>
              <a:t>Click to insert cobrand logo</a:t>
            </a:r>
          </a:p>
        </p:txBody>
      </p:sp>
      <p:sp>
        <p:nvSpPr>
          <p:cNvPr id="15" name="Rectangle 14"/>
          <p:cNvSpPr/>
          <p:nvPr userDrawn="1"/>
        </p:nvSpPr>
        <p:spPr>
          <a:xfrm>
            <a:off x="228600" y="228600"/>
            <a:ext cx="5769864"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
          <p:cNvSpPr>
            <a:spLocks noGrp="1"/>
          </p:cNvSpPr>
          <p:nvPr>
            <p:ph type="title" hasCustomPrompt="1"/>
          </p:nvPr>
        </p:nvSpPr>
        <p:spPr>
          <a:xfrm>
            <a:off x="457200" y="457200"/>
            <a:ext cx="5257800" cy="612648"/>
          </a:xfrm>
        </p:spPr>
        <p:txBody>
          <a:bodyPr>
            <a:noAutofit/>
          </a:bodyPr>
          <a:lstStyle>
            <a:lvl1pPr>
              <a:lnSpc>
                <a:spcPts val="2300"/>
              </a:lnSpc>
              <a:defRPr baseline="0"/>
            </a:lvl1pPr>
          </a:lstStyle>
          <a:p>
            <a:r>
              <a:rPr lang="en-US" dirty="0"/>
              <a:t>Title cobrand image slide — click to edit</a:t>
            </a:r>
            <a:br>
              <a:rPr lang="en-US" dirty="0"/>
            </a:br>
            <a:r>
              <a:rPr lang="en-US" dirty="0"/>
              <a:t>second line if needed </a:t>
            </a:r>
          </a:p>
        </p:txBody>
      </p:sp>
      <p:sp>
        <p:nvSpPr>
          <p:cNvPr id="17" name="Text Placeholder 21"/>
          <p:cNvSpPr>
            <a:spLocks noGrp="1"/>
          </p:cNvSpPr>
          <p:nvPr>
            <p:ph type="body" sz="quarter" idx="15" hasCustomPrompt="1"/>
          </p:nvPr>
        </p:nvSpPr>
        <p:spPr>
          <a:xfrm>
            <a:off x="457200" y="1097280"/>
            <a:ext cx="5257800" cy="502920"/>
          </a:xfrm>
        </p:spPr>
        <p:txBody>
          <a:bodyPr/>
          <a:lstStyle>
            <a:lvl1pPr>
              <a:lnSpc>
                <a:spcPts val="2000"/>
              </a:lnSpc>
              <a:spcAft>
                <a:spcPts val="0"/>
              </a:spcAft>
              <a:defRPr sz="1800" b="0" baseline="0"/>
            </a:lvl1pPr>
          </a:lstStyle>
          <a:p>
            <a:pPr lvl="0"/>
            <a:r>
              <a:rPr lang="en-US" dirty="0"/>
              <a:t>Click to add subhead</a:t>
            </a:r>
          </a:p>
        </p:txBody>
      </p:sp>
      <p:sp>
        <p:nvSpPr>
          <p:cNvPr id="18" name="Text Placeholder 23"/>
          <p:cNvSpPr>
            <a:spLocks noGrp="1"/>
          </p:cNvSpPr>
          <p:nvPr>
            <p:ph type="body" sz="quarter" idx="16" hasCustomPrompt="1"/>
          </p:nvPr>
        </p:nvSpPr>
        <p:spPr>
          <a:xfrm>
            <a:off x="457200" y="2209669"/>
            <a:ext cx="2011680" cy="271081"/>
          </a:xfrm>
        </p:spPr>
        <p:txBody>
          <a:bodyPr/>
          <a:lstStyle>
            <a:lvl1pPr>
              <a:defRPr sz="1200" b="0" baseline="0"/>
            </a:lvl1pPr>
          </a:lstStyle>
          <a:p>
            <a:pPr lvl="0"/>
            <a:r>
              <a:rPr lang="en-US" dirty="0"/>
              <a:t>Insert date</a:t>
            </a:r>
          </a:p>
        </p:txBody>
      </p:sp>
      <p:sp>
        <p:nvSpPr>
          <p:cNvPr id="19" name="Text Placeholder 25"/>
          <p:cNvSpPr>
            <a:spLocks noGrp="1"/>
          </p:cNvSpPr>
          <p:nvPr>
            <p:ph type="body" sz="quarter" idx="17" hasCustomPrompt="1"/>
          </p:nvPr>
        </p:nvSpPr>
        <p:spPr>
          <a:xfrm>
            <a:off x="457200" y="1654457"/>
            <a:ext cx="5257800" cy="527386"/>
          </a:xfrm>
        </p:spPr>
        <p:txBody>
          <a:bodyPr/>
          <a:lstStyle>
            <a:lvl1pPr>
              <a:lnSpc>
                <a:spcPts val="1800"/>
              </a:lnSpc>
              <a:spcAft>
                <a:spcPts val="0"/>
              </a:spcAft>
              <a:defRPr sz="1600" b="0"/>
            </a:lvl1pPr>
          </a:lstStyle>
          <a:p>
            <a:pPr lvl="0"/>
            <a:r>
              <a:rPr lang="en-US" dirty="0"/>
              <a:t>Click to add text</a:t>
            </a:r>
          </a:p>
        </p:txBody>
      </p:sp>
      <p:pic>
        <p:nvPicPr>
          <p:cNvPr id="13" name="Picture 12"/>
          <p:cNvPicPr>
            <a:picLocks noChangeAspect="1"/>
          </p:cNvPicPr>
          <p:nvPr userDrawn="1"/>
        </p:nvPicPr>
        <p:blipFill>
          <a:blip r:embed="rId3" cstate="print"/>
          <a:stretch>
            <a:fillRect/>
          </a:stretch>
        </p:blipFill>
        <p:spPr>
          <a:xfrm>
            <a:off x="5877560" y="6273358"/>
            <a:ext cx="3022600" cy="584200"/>
          </a:xfrm>
          <a:prstGeom prst="rect">
            <a:avLst/>
          </a:prstGeom>
        </p:spPr>
      </p:pic>
      <p:sp>
        <p:nvSpPr>
          <p:cNvPr id="20" name="Footer Placeholder 4 Copyright"/>
          <p:cNvSpPr>
            <a:spLocks noGrp="1"/>
          </p:cNvSpPr>
          <p:nvPr>
            <p:ph type="ftr" sz="quarter" idx="3"/>
          </p:nvPr>
        </p:nvSpPr>
        <p:spPr>
          <a:xfrm>
            <a:off x="457199" y="6515096"/>
            <a:ext cx="2469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a:t>© [yyyy] Willis Towers Watson. All rights reserved.</a:t>
            </a:r>
            <a:endParaRPr lang="en-US" dirty="0"/>
          </a:p>
        </p:txBody>
      </p:sp>
    </p:spTree>
    <p:extLst>
      <p:ext uri="{BB962C8B-B14F-4D97-AF65-F5344CB8AC3E}">
        <p14:creationId xmlns:p14="http://schemas.microsoft.com/office/powerpoint/2010/main" val="1161387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lor">
    <p:bg>
      <p:bgPr>
        <a:solidFill>
          <a:srgbClr val="C8D7DF"/>
        </a:solidFill>
        <a:effectLst/>
      </p:bgPr>
    </p:bg>
    <p:spTree>
      <p:nvGrpSpPr>
        <p:cNvPr id="1" name=""/>
        <p:cNvGrpSpPr/>
        <p:nvPr/>
      </p:nvGrpSpPr>
      <p:grpSpPr>
        <a:xfrm>
          <a:off x="0" y="0"/>
          <a:ext cx="0" cy="0"/>
          <a:chOff x="0" y="0"/>
          <a:chExt cx="0" cy="0"/>
        </a:xfrm>
      </p:grpSpPr>
      <p:sp>
        <p:nvSpPr>
          <p:cNvPr id="9" name="Rectangle 8"/>
          <p:cNvSpPr/>
          <p:nvPr userDrawn="1"/>
        </p:nvSpPr>
        <p:spPr>
          <a:xfrm>
            <a:off x="228600" y="228600"/>
            <a:ext cx="5769864"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57200" y="457200"/>
            <a:ext cx="5257800" cy="612648"/>
          </a:xfrm>
        </p:spPr>
        <p:txBody>
          <a:bodyPr>
            <a:noAutofit/>
          </a:bodyPr>
          <a:lstStyle>
            <a:lvl1pPr>
              <a:lnSpc>
                <a:spcPts val="2300"/>
              </a:lnSpc>
              <a:defRPr baseline="0"/>
            </a:lvl1pPr>
          </a:lstStyle>
          <a:p>
            <a:r>
              <a:rPr lang="en-US" dirty="0"/>
              <a:t>Title color slide — click to edit</a:t>
            </a:r>
            <a:br>
              <a:rPr lang="en-US" dirty="0"/>
            </a:br>
            <a:r>
              <a:rPr lang="en-US" dirty="0"/>
              <a:t>second line if needed </a:t>
            </a:r>
          </a:p>
        </p:txBody>
      </p:sp>
      <p:sp>
        <p:nvSpPr>
          <p:cNvPr id="22" name="Text Placeholder 21"/>
          <p:cNvSpPr>
            <a:spLocks noGrp="1"/>
          </p:cNvSpPr>
          <p:nvPr>
            <p:ph type="body" sz="quarter" idx="15" hasCustomPrompt="1"/>
          </p:nvPr>
        </p:nvSpPr>
        <p:spPr>
          <a:xfrm>
            <a:off x="457200" y="1097280"/>
            <a:ext cx="5257800" cy="502920"/>
          </a:xfrm>
        </p:spPr>
        <p:txBody>
          <a:bodyPr/>
          <a:lstStyle>
            <a:lvl1pPr>
              <a:lnSpc>
                <a:spcPts val="2000"/>
              </a:lnSpc>
              <a:spcAft>
                <a:spcPts val="0"/>
              </a:spcAft>
              <a:defRPr sz="1800" b="0" baseline="0"/>
            </a:lvl1pPr>
          </a:lstStyle>
          <a:p>
            <a:pPr lvl="0"/>
            <a:r>
              <a:rPr lang="en-US" dirty="0"/>
              <a:t>Click to add subhead</a:t>
            </a:r>
          </a:p>
        </p:txBody>
      </p:sp>
      <p:sp>
        <p:nvSpPr>
          <p:cNvPr id="24" name="Text Placeholder 23"/>
          <p:cNvSpPr>
            <a:spLocks noGrp="1"/>
          </p:cNvSpPr>
          <p:nvPr>
            <p:ph type="body" sz="quarter" idx="16" hasCustomPrompt="1"/>
          </p:nvPr>
        </p:nvSpPr>
        <p:spPr>
          <a:xfrm>
            <a:off x="457200" y="2209669"/>
            <a:ext cx="2011680" cy="271081"/>
          </a:xfrm>
        </p:spPr>
        <p:txBody>
          <a:bodyPr/>
          <a:lstStyle>
            <a:lvl1pPr>
              <a:defRPr sz="1200" b="0" baseline="0"/>
            </a:lvl1pPr>
          </a:lstStyle>
          <a:p>
            <a:pPr lvl="0"/>
            <a:r>
              <a:rPr lang="en-US" dirty="0"/>
              <a:t>Insert date</a:t>
            </a:r>
          </a:p>
        </p:txBody>
      </p:sp>
      <p:sp>
        <p:nvSpPr>
          <p:cNvPr id="26" name="Text Placeholder 25"/>
          <p:cNvSpPr>
            <a:spLocks noGrp="1"/>
          </p:cNvSpPr>
          <p:nvPr>
            <p:ph type="body" sz="quarter" idx="17" hasCustomPrompt="1"/>
          </p:nvPr>
        </p:nvSpPr>
        <p:spPr>
          <a:xfrm>
            <a:off x="457200" y="1654457"/>
            <a:ext cx="5257800" cy="527386"/>
          </a:xfrm>
        </p:spPr>
        <p:txBody>
          <a:bodyPr/>
          <a:lstStyle>
            <a:lvl1pPr>
              <a:lnSpc>
                <a:spcPts val="1800"/>
              </a:lnSpc>
              <a:spcAft>
                <a:spcPts val="0"/>
              </a:spcAft>
              <a:defRPr sz="1600" b="0"/>
            </a:lvl1pPr>
          </a:lstStyle>
          <a:p>
            <a:pPr lvl="0"/>
            <a:r>
              <a:rPr lang="en-US" dirty="0"/>
              <a:t>Click to add text</a:t>
            </a:r>
          </a:p>
        </p:txBody>
      </p:sp>
      <p:sp>
        <p:nvSpPr>
          <p:cNvPr id="10" name="Rectangle 9"/>
          <p:cNvSpPr/>
          <p:nvPr userDrawn="1"/>
        </p:nvSpPr>
        <p:spPr>
          <a:xfrm>
            <a:off x="0" y="6280484"/>
            <a:ext cx="9144000" cy="577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1" name="Group 10"/>
          <p:cNvGrpSpPr/>
          <p:nvPr userDrawn="1"/>
        </p:nvGrpSpPr>
        <p:grpSpPr>
          <a:xfrm>
            <a:off x="457200" y="3583408"/>
            <a:ext cx="2047958" cy="2157709"/>
            <a:chOff x="457200" y="3682374"/>
            <a:chExt cx="1481138" cy="1560513"/>
          </a:xfrm>
        </p:grpSpPr>
        <p:sp>
          <p:nvSpPr>
            <p:cNvPr id="13" name="Rectangle 255"/>
            <p:cNvSpPr>
              <a:spLocks noChangeArrowheads="1"/>
            </p:cNvSpPr>
            <p:nvPr userDrawn="1"/>
          </p:nvSpPr>
          <p:spPr bwMode="auto">
            <a:xfrm>
              <a:off x="457200" y="3682374"/>
              <a:ext cx="269875" cy="78105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256"/>
            <p:cNvSpPr>
              <a:spLocks noChangeArrowheads="1"/>
            </p:cNvSpPr>
            <p:nvPr userDrawn="1"/>
          </p:nvSpPr>
          <p:spPr bwMode="auto">
            <a:xfrm>
              <a:off x="993775" y="4266574"/>
              <a:ext cx="406400" cy="5873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257"/>
            <p:cNvSpPr>
              <a:spLocks noChangeArrowheads="1"/>
            </p:cNvSpPr>
            <p:nvPr userDrawn="1"/>
          </p:nvSpPr>
          <p:spPr bwMode="auto">
            <a:xfrm>
              <a:off x="1536700" y="3877636"/>
              <a:ext cx="401638" cy="38893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258"/>
            <p:cNvSpPr>
              <a:spLocks noChangeArrowheads="1"/>
            </p:cNvSpPr>
            <p:nvPr userDrawn="1"/>
          </p:nvSpPr>
          <p:spPr bwMode="auto">
            <a:xfrm>
              <a:off x="592137" y="4658686"/>
              <a:ext cx="131763" cy="19208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259"/>
            <p:cNvSpPr>
              <a:spLocks noChangeArrowheads="1"/>
            </p:cNvSpPr>
            <p:nvPr userDrawn="1"/>
          </p:nvSpPr>
          <p:spPr bwMode="auto">
            <a:xfrm>
              <a:off x="1265237" y="5047624"/>
              <a:ext cx="541338" cy="195263"/>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19" name="Picture 18"/>
          <p:cNvPicPr>
            <a:picLocks noChangeAspect="1"/>
          </p:cNvPicPr>
          <p:nvPr userDrawn="1"/>
        </p:nvPicPr>
        <p:blipFill>
          <a:blip r:embed="rId2" cstate="print"/>
          <a:stretch>
            <a:fillRect/>
          </a:stretch>
        </p:blipFill>
        <p:spPr>
          <a:xfrm>
            <a:off x="5877560" y="6273358"/>
            <a:ext cx="3022600" cy="584200"/>
          </a:xfrm>
          <a:prstGeom prst="rect">
            <a:avLst/>
          </a:prstGeom>
        </p:spPr>
      </p:pic>
      <p:sp>
        <p:nvSpPr>
          <p:cNvPr id="27" name="Footer Placeholder 4 Copyright"/>
          <p:cNvSpPr>
            <a:spLocks noGrp="1"/>
          </p:cNvSpPr>
          <p:nvPr>
            <p:ph type="ftr" sz="quarter" idx="3"/>
          </p:nvPr>
        </p:nvSpPr>
        <p:spPr>
          <a:xfrm>
            <a:off x="457199" y="6515096"/>
            <a:ext cx="2469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a:t>
            </a:r>
            <a:endParaRPr lang="en-US" dirty="0"/>
          </a:p>
        </p:txBody>
      </p:sp>
      <p:sp>
        <p:nvSpPr>
          <p:cNvPr id="28" name="Rectangle 27"/>
          <p:cNvSpPr/>
          <p:nvPr userDrawn="1"/>
        </p:nvSpPr>
        <p:spPr>
          <a:xfrm>
            <a:off x="457199" y="6400800"/>
            <a:ext cx="878446" cy="92333"/>
          </a:xfrm>
          <a:prstGeom prst="rect">
            <a:avLst/>
          </a:prstGeom>
        </p:spPr>
        <p:txBody>
          <a:bodyPr wrap="none" lIns="0" tIns="0" rIns="0" bIns="0">
            <a:spAutoFit/>
          </a:bodyPr>
          <a:lstStyle/>
          <a:p>
            <a:pPr>
              <a:spcAft>
                <a:spcPts val="200"/>
              </a:spcAft>
            </a:pPr>
            <a:r>
              <a:rPr lang="en-GB" sz="600" b="1" dirty="0">
                <a:solidFill>
                  <a:schemeClr val="accent1"/>
                </a:solidFill>
              </a:rPr>
              <a:t>willistowerswatson.com</a:t>
            </a:r>
          </a:p>
        </p:txBody>
      </p:sp>
    </p:spTree>
    <p:extLst>
      <p:ext uri="{BB962C8B-B14F-4D97-AF65-F5344CB8AC3E}">
        <p14:creationId xmlns:p14="http://schemas.microsoft.com/office/powerpoint/2010/main" val="2082299848"/>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11"/>
          <p:cNvSpPr/>
          <p:nvPr userDrawn="1"/>
        </p:nvSpPr>
        <p:spPr>
          <a:xfrm>
            <a:off x="228600" y="1310177"/>
            <a:ext cx="5090532" cy="14194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16" name="Text Placeholder 12"/>
          <p:cNvSpPr>
            <a:spLocks noGrp="1"/>
          </p:cNvSpPr>
          <p:nvPr>
            <p:ph type="body" sz="quarter" idx="13" hasCustomPrompt="1"/>
          </p:nvPr>
        </p:nvSpPr>
        <p:spPr>
          <a:xfrm>
            <a:off x="457200" y="1938528"/>
            <a:ext cx="4636008" cy="337433"/>
          </a:xfrm>
        </p:spPr>
        <p:txBody>
          <a:bodyPr>
            <a:noAutofit/>
          </a:bodyPr>
          <a:lstStyle>
            <a:lvl1pPr>
              <a:defRPr sz="1800" b="0">
                <a:solidFill>
                  <a:schemeClr val="tx1"/>
                </a:solidFill>
              </a:defRPr>
            </a:lvl1pPr>
          </a:lstStyle>
          <a:p>
            <a:pPr lvl="0"/>
            <a:r>
              <a:rPr lang="en-US" dirty="0"/>
              <a:t>Click to add subheading</a:t>
            </a:r>
          </a:p>
        </p:txBody>
      </p:sp>
      <p:sp>
        <p:nvSpPr>
          <p:cNvPr id="17" name="Title 1"/>
          <p:cNvSpPr>
            <a:spLocks noGrp="1"/>
          </p:cNvSpPr>
          <p:nvPr>
            <p:ph type="title" hasCustomPrompt="1"/>
          </p:nvPr>
        </p:nvSpPr>
        <p:spPr>
          <a:xfrm>
            <a:off x="457200" y="1524001"/>
            <a:ext cx="4636008" cy="381000"/>
          </a:xfrm>
        </p:spPr>
        <p:txBody>
          <a:bodyPr>
            <a:noAutofit/>
          </a:bodyPr>
          <a:lstStyle>
            <a:lvl1pPr>
              <a:defRPr baseline="0"/>
            </a:lvl1pPr>
          </a:lstStyle>
          <a:p>
            <a:r>
              <a:rPr lang="en-US" dirty="0"/>
              <a:t>Divider image slide — click to edit text</a:t>
            </a:r>
          </a:p>
        </p:txBody>
      </p:sp>
      <p:pic>
        <p:nvPicPr>
          <p:cNvPr id="25" name="Picture 24"/>
          <p:cNvPicPr>
            <a:picLocks noChangeAspect="1"/>
          </p:cNvPicPr>
          <p:nvPr userDrawn="1"/>
        </p:nvPicPr>
        <p:blipFill>
          <a:blip r:embed="rId3" cstate="print"/>
          <a:stretch>
            <a:fillRect/>
          </a:stretch>
        </p:blipFill>
        <p:spPr>
          <a:xfrm>
            <a:off x="6675343" y="6300216"/>
            <a:ext cx="1782857" cy="347429"/>
          </a:xfrm>
          <a:prstGeom prst="rect">
            <a:avLst/>
          </a:prstGeom>
        </p:spPr>
      </p:pic>
      <p:sp>
        <p:nvSpPr>
          <p:cNvPr id="26"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4"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a:t>© [yyyy] Willis Towers Watson. All rights reserved. Proprietary and Confidential. For Willis Towers Watson and Willis Towers Watson client use only.</a:t>
            </a:r>
            <a:endParaRPr lang="en-US" dirty="0"/>
          </a:p>
        </p:txBody>
      </p:sp>
    </p:spTree>
    <p:extLst>
      <p:ext uri="{BB962C8B-B14F-4D97-AF65-F5344CB8AC3E}">
        <p14:creationId xmlns:p14="http://schemas.microsoft.com/office/powerpoint/2010/main" val="3301743665"/>
      </p:ext>
    </p:extLst>
  </p:cSld>
  <p:clrMapOvr>
    <a:masterClrMapping/>
  </p:clrMapOvr>
  <p:hf hdr="0" dt="0"/>
  <p:extLst>
    <p:ext uri="{DCECCB84-F9BA-43D5-87BE-67443E8EF086}">
      <p15:sldGuideLst xmlns:p15="http://schemas.microsoft.com/office/powerpoint/2012/main">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color">
    <p:bg>
      <p:bgPr>
        <a:solidFill>
          <a:srgbClr val="DDD0CF"/>
        </a:solidFill>
        <a:effectLst/>
      </p:bgPr>
    </p:bg>
    <p:spTree>
      <p:nvGrpSpPr>
        <p:cNvPr id="1" name=""/>
        <p:cNvGrpSpPr/>
        <p:nvPr/>
      </p:nvGrpSpPr>
      <p:grpSpPr>
        <a:xfrm>
          <a:off x="0" y="0"/>
          <a:ext cx="0" cy="0"/>
          <a:chOff x="0" y="0"/>
          <a:chExt cx="0" cy="0"/>
        </a:xfrm>
      </p:grpSpPr>
      <p:sp>
        <p:nvSpPr>
          <p:cNvPr id="22" name="Rectangle 21"/>
          <p:cNvSpPr/>
          <p:nvPr userDrawn="1"/>
        </p:nvSpPr>
        <p:spPr>
          <a:xfrm>
            <a:off x="228600" y="1310177"/>
            <a:ext cx="5090532" cy="14194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11" name="Rectangle 10"/>
          <p:cNvSpPr/>
          <p:nvPr userDrawn="1"/>
        </p:nvSpPr>
        <p:spPr>
          <a:xfrm>
            <a:off x="0" y="6280484"/>
            <a:ext cx="9144000" cy="577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Text Placeholder 12"/>
          <p:cNvSpPr>
            <a:spLocks noGrp="1"/>
          </p:cNvSpPr>
          <p:nvPr>
            <p:ph type="body" sz="quarter" idx="13" hasCustomPrompt="1"/>
          </p:nvPr>
        </p:nvSpPr>
        <p:spPr>
          <a:xfrm>
            <a:off x="457200" y="1938528"/>
            <a:ext cx="4636008" cy="337433"/>
          </a:xfrm>
        </p:spPr>
        <p:txBody>
          <a:bodyPr>
            <a:noAutofit/>
          </a:bodyPr>
          <a:lstStyle>
            <a:lvl1pPr>
              <a:defRPr sz="1800" b="0">
                <a:solidFill>
                  <a:schemeClr val="tx1"/>
                </a:solidFill>
              </a:defRPr>
            </a:lvl1pPr>
          </a:lstStyle>
          <a:p>
            <a:pPr lvl="0"/>
            <a:r>
              <a:rPr lang="en-US" dirty="0"/>
              <a:t>Click to add subheading</a:t>
            </a:r>
          </a:p>
        </p:txBody>
      </p:sp>
      <p:sp>
        <p:nvSpPr>
          <p:cNvPr id="13" name="Title 1"/>
          <p:cNvSpPr>
            <a:spLocks noGrp="1"/>
          </p:cNvSpPr>
          <p:nvPr>
            <p:ph type="title" hasCustomPrompt="1"/>
          </p:nvPr>
        </p:nvSpPr>
        <p:spPr>
          <a:xfrm>
            <a:off x="457200" y="1524001"/>
            <a:ext cx="4636008" cy="381000"/>
          </a:xfrm>
        </p:spPr>
        <p:txBody>
          <a:bodyPr>
            <a:noAutofit/>
          </a:bodyPr>
          <a:lstStyle>
            <a:lvl1pPr>
              <a:defRPr baseline="0"/>
            </a:lvl1pPr>
          </a:lstStyle>
          <a:p>
            <a:r>
              <a:rPr lang="en-US" dirty="0"/>
              <a:t>Divider color slide — click to edit text</a:t>
            </a:r>
          </a:p>
        </p:txBody>
      </p:sp>
      <p:grpSp>
        <p:nvGrpSpPr>
          <p:cNvPr id="14" name="Group 13"/>
          <p:cNvGrpSpPr/>
          <p:nvPr userDrawn="1"/>
        </p:nvGrpSpPr>
        <p:grpSpPr>
          <a:xfrm>
            <a:off x="457200" y="3829699"/>
            <a:ext cx="1855788" cy="2051050"/>
            <a:chOff x="457200" y="3522663"/>
            <a:chExt cx="1855788" cy="2051050"/>
          </a:xfrm>
        </p:grpSpPr>
        <p:sp>
          <p:nvSpPr>
            <p:cNvPr id="18" name="AutoShape 3"/>
            <p:cNvSpPr>
              <a:spLocks noChangeAspect="1" noChangeArrowheads="1" noTextEdit="1"/>
            </p:cNvSpPr>
            <p:nvPr userDrawn="1"/>
          </p:nvSpPr>
          <p:spPr bwMode="auto">
            <a:xfrm>
              <a:off x="457200" y="3522663"/>
              <a:ext cx="1855788"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5"/>
            <p:cNvSpPr>
              <a:spLocks noChangeArrowheads="1"/>
            </p:cNvSpPr>
            <p:nvPr userDrawn="1"/>
          </p:nvSpPr>
          <p:spPr bwMode="auto">
            <a:xfrm>
              <a:off x="1879600" y="4954588"/>
              <a:ext cx="285750" cy="203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6"/>
            <p:cNvSpPr>
              <a:spLocks noChangeArrowheads="1"/>
            </p:cNvSpPr>
            <p:nvPr userDrawn="1"/>
          </p:nvSpPr>
          <p:spPr bwMode="auto">
            <a:xfrm>
              <a:off x="1597025" y="3522663"/>
              <a:ext cx="712788" cy="1028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7"/>
            <p:cNvSpPr>
              <a:spLocks noChangeArrowheads="1"/>
            </p:cNvSpPr>
            <p:nvPr userDrawn="1"/>
          </p:nvSpPr>
          <p:spPr bwMode="auto">
            <a:xfrm>
              <a:off x="1177925" y="3730625"/>
              <a:ext cx="142875" cy="6175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8"/>
            <p:cNvSpPr>
              <a:spLocks noChangeArrowheads="1"/>
            </p:cNvSpPr>
            <p:nvPr userDrawn="1"/>
          </p:nvSpPr>
          <p:spPr bwMode="auto">
            <a:xfrm>
              <a:off x="1309688" y="4543425"/>
              <a:ext cx="147638" cy="4159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26"/>
            <p:cNvSpPr>
              <a:spLocks noChangeArrowheads="1"/>
            </p:cNvSpPr>
            <p:nvPr userDrawn="1"/>
          </p:nvSpPr>
          <p:spPr bwMode="auto">
            <a:xfrm>
              <a:off x="460375" y="4751388"/>
              <a:ext cx="569913" cy="822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28" name="Picture 27"/>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29"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6"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
        <p:nvSpPr>
          <p:cNvPr id="20" name="Rectangle 19"/>
          <p:cNvSpPr/>
          <p:nvPr userDrawn="1"/>
        </p:nvSpPr>
        <p:spPr>
          <a:xfrm>
            <a:off x="457199" y="6400800"/>
            <a:ext cx="878446" cy="92333"/>
          </a:xfrm>
          <a:prstGeom prst="rect">
            <a:avLst/>
          </a:prstGeom>
        </p:spPr>
        <p:txBody>
          <a:bodyPr wrap="none" lIns="0" tIns="0" rIns="0" bIns="0">
            <a:spAutoFit/>
          </a:bodyPr>
          <a:lstStyle/>
          <a:p>
            <a:pPr>
              <a:spcAft>
                <a:spcPts val="200"/>
              </a:spcAft>
            </a:pPr>
            <a:r>
              <a:rPr lang="en-GB" sz="600" b="1" dirty="0">
                <a:solidFill>
                  <a:schemeClr val="accent1"/>
                </a:solidFill>
              </a:rPr>
              <a:t>willistowerswatson.com</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US" dirty="0"/>
          </a:p>
        </p:txBody>
      </p:sp>
      <p:sp>
        <p:nvSpPr>
          <p:cNvPr id="8" name="Text Placeholder 12"/>
          <p:cNvSpPr>
            <a:spLocks noGrp="1"/>
          </p:cNvSpPr>
          <p:nvPr>
            <p:ph type="body" sz="quarter" idx="13" hasCustomPrompt="1"/>
          </p:nvPr>
        </p:nvSpPr>
        <p:spPr>
          <a:xfrm>
            <a:off x="457200" y="800239"/>
            <a:ext cx="8229600" cy="276999"/>
          </a:xfrm>
        </p:spPr>
        <p:txBody>
          <a:bodyPr/>
          <a:lstStyle>
            <a:lvl1pPr>
              <a:defRPr sz="1800" b="0" baseline="0">
                <a:solidFill>
                  <a:schemeClr val="tx1"/>
                </a:solidFill>
              </a:defRPr>
            </a:lvl1pPr>
          </a:lstStyle>
          <a:p>
            <a:pPr lvl="0"/>
            <a:r>
              <a:rPr lang="en-US" dirty="0"/>
              <a:t>Subheading here</a:t>
            </a:r>
          </a:p>
        </p:txBody>
      </p:sp>
      <p:cxnSp>
        <p:nvCxnSpPr>
          <p:cNvPr id="12" name="Straight Connector 11"/>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2"/>
          <p:cNvSpPr>
            <a:spLocks noGrp="1"/>
          </p:cNvSpPr>
          <p:nvPr>
            <p:ph idx="1"/>
          </p:nvPr>
        </p:nvSpPr>
        <p:spPr>
          <a:xfrm>
            <a:off x="457200" y="1524000"/>
            <a:ext cx="8229600" cy="4389120"/>
          </a:xfrm>
        </p:spPr>
        <p:txBody>
          <a:bodyPr/>
          <a:lstStyle>
            <a:lvl1pPr>
              <a:defRPr sz="1800"/>
            </a:lvl1pPr>
            <a:lvl2pPr>
              <a:defRPr sz="1600"/>
            </a:lvl2pPr>
            <a:lvl3pPr>
              <a:buSzPct val="125000"/>
              <a:defRPr/>
            </a:lvl3pPr>
            <a:lvl4pPr>
              <a:buSzPct val="125000"/>
              <a:defRPr/>
            </a:lvl4pPr>
            <a:lvl5pPr>
              <a:buSzPct val="125000"/>
              <a:defRPr baseline="0"/>
            </a:lvl5pPr>
            <a:lvl6pPr>
              <a:defRPr baseline="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20"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9"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extLst>
    <p:ext uri="{DCECCB84-F9BA-43D5-87BE-67443E8EF086}">
      <p15:sldGuideLst xmlns:p15="http://schemas.microsoft.com/office/powerpoint/2012/main">
        <p15:guide id="1" orient="horz" pos="4104"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Number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Text Placeholder 12"/>
          <p:cNvSpPr>
            <a:spLocks noGrp="1"/>
          </p:cNvSpPr>
          <p:nvPr>
            <p:ph type="body" sz="quarter" idx="13" hasCustomPrompt="1"/>
          </p:nvPr>
        </p:nvSpPr>
        <p:spPr>
          <a:xfrm>
            <a:off x="457200" y="800239"/>
            <a:ext cx="8229600" cy="276999"/>
          </a:xfrm>
        </p:spPr>
        <p:txBody>
          <a:bodyPr/>
          <a:lstStyle>
            <a:lvl1pPr>
              <a:defRPr sz="1800" b="0" baseline="0">
                <a:solidFill>
                  <a:schemeClr val="tx1"/>
                </a:solidFill>
              </a:defRPr>
            </a:lvl1pPr>
          </a:lstStyle>
          <a:p>
            <a:pPr lvl="0"/>
            <a:r>
              <a:rPr lang="en-US" dirty="0"/>
              <a:t>Subheading here</a:t>
            </a:r>
          </a:p>
        </p:txBody>
      </p:sp>
      <p:sp>
        <p:nvSpPr>
          <p:cNvPr id="8" name="Content Placeholder 2"/>
          <p:cNvSpPr>
            <a:spLocks noGrp="1"/>
          </p:cNvSpPr>
          <p:nvPr>
            <p:ph idx="1"/>
          </p:nvPr>
        </p:nvSpPr>
        <p:spPr>
          <a:xfrm>
            <a:off x="457200" y="1524000"/>
            <a:ext cx="8229600" cy="4389120"/>
          </a:xfrm>
        </p:spPr>
        <p:txBody>
          <a:bodyPr/>
          <a:lstStyle>
            <a:lvl1pPr>
              <a:defRPr sz="1800"/>
            </a:lvl1pPr>
            <a:lvl2pPr>
              <a:defRPr sz="1600"/>
            </a:lvl2pPr>
            <a:lvl3pPr marL="233363" indent="-233363">
              <a:buSzPct val="100000"/>
              <a:buFont typeface="+mj-lt"/>
              <a:buAutoNum type="arabicPeriod"/>
              <a:defRPr/>
            </a:lvl3pPr>
            <a:lvl4pPr>
              <a:buSzPct val="125000"/>
              <a:defRPr/>
            </a:lvl4pPr>
            <a:lvl5pPr>
              <a:buSzPct val="125000"/>
              <a:defRPr baseline="0"/>
            </a:lvl5pPr>
            <a:lvl6pPr>
              <a:defRPr baseline="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14"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2"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dcrum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US" dirty="0"/>
          </a:p>
        </p:txBody>
      </p:sp>
      <p:sp>
        <p:nvSpPr>
          <p:cNvPr id="8" name="Text Placeholder 12"/>
          <p:cNvSpPr>
            <a:spLocks noGrp="1"/>
          </p:cNvSpPr>
          <p:nvPr>
            <p:ph type="body" sz="quarter" idx="13" hasCustomPrompt="1"/>
          </p:nvPr>
        </p:nvSpPr>
        <p:spPr>
          <a:xfrm>
            <a:off x="457200" y="800239"/>
            <a:ext cx="8229600" cy="276999"/>
          </a:xfrm>
        </p:spPr>
        <p:txBody>
          <a:bodyPr/>
          <a:lstStyle>
            <a:lvl1pPr>
              <a:defRPr sz="1800" b="0" baseline="0">
                <a:solidFill>
                  <a:schemeClr val="tx1"/>
                </a:solidFill>
              </a:defRPr>
            </a:lvl1pPr>
          </a:lstStyle>
          <a:p>
            <a:pPr lvl="0"/>
            <a:r>
              <a:rPr lang="en-US" dirty="0"/>
              <a:t>Subheading here</a:t>
            </a:r>
          </a:p>
        </p:txBody>
      </p:sp>
      <p:sp>
        <p:nvSpPr>
          <p:cNvPr id="10" name="Content Placeholder 2"/>
          <p:cNvSpPr>
            <a:spLocks noGrp="1"/>
          </p:cNvSpPr>
          <p:nvPr>
            <p:ph idx="1"/>
          </p:nvPr>
        </p:nvSpPr>
        <p:spPr>
          <a:xfrm>
            <a:off x="457200" y="1524000"/>
            <a:ext cx="8229600" cy="4389120"/>
          </a:xfrm>
        </p:spPr>
        <p:txBody>
          <a:bodyPr/>
          <a:lstStyle>
            <a:lvl1pPr>
              <a:defRPr sz="1800"/>
            </a:lvl1pPr>
            <a:lvl2pPr>
              <a:defRPr sz="1600"/>
            </a:lvl2pPr>
            <a:lvl3pPr>
              <a:buSzPct val="125000"/>
              <a:defRPr/>
            </a:lvl3pPr>
            <a:lvl4pPr>
              <a:buSzPct val="125000"/>
              <a:defRPr/>
            </a:lvl4pPr>
            <a:lvl5pPr>
              <a:buSzPct val="125000"/>
              <a:defRPr baseline="0"/>
            </a:lvl5pPr>
            <a:lvl6pPr>
              <a:defRPr baseline="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4" hasCustomPrompt="1"/>
          </p:nvPr>
        </p:nvSpPr>
        <p:spPr>
          <a:xfrm>
            <a:off x="6572865" y="-977"/>
            <a:ext cx="2106186" cy="230400"/>
          </a:xfrm>
          <a:solidFill>
            <a:schemeClr val="accent1"/>
          </a:solidFill>
        </p:spPr>
        <p:txBody>
          <a:bodyPr anchor="ctr" anchorCtr="0"/>
          <a:lstStyle>
            <a:lvl1pPr algn="ctr">
              <a:defRPr sz="1000" cap="all" baseline="0">
                <a:solidFill>
                  <a:schemeClr val="bg1"/>
                </a:solidFill>
              </a:defRPr>
            </a:lvl1pPr>
          </a:lstStyle>
          <a:p>
            <a:pPr lvl="0"/>
            <a:r>
              <a:rPr lang="en-US" dirty="0"/>
              <a:t>Click to edit text</a:t>
            </a:r>
          </a:p>
        </p:txBody>
      </p:sp>
      <p:cxnSp>
        <p:nvCxnSpPr>
          <p:cNvPr id="14" name="Straight Connector 13"/>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18"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1"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extLst>
      <p:ext uri="{BB962C8B-B14F-4D97-AF65-F5344CB8AC3E}">
        <p14:creationId xmlns:p14="http://schemas.microsoft.com/office/powerpoint/2010/main" val="238890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ograp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3" name="Text Placeholder 12"/>
          <p:cNvSpPr>
            <a:spLocks noGrp="1"/>
          </p:cNvSpPr>
          <p:nvPr>
            <p:ph type="body" sz="quarter" idx="13" hasCustomPrompt="1"/>
          </p:nvPr>
        </p:nvSpPr>
        <p:spPr>
          <a:xfrm>
            <a:off x="457200" y="800239"/>
            <a:ext cx="8229600" cy="276999"/>
          </a:xfrm>
        </p:spPr>
        <p:txBody>
          <a:bodyPr/>
          <a:lstStyle>
            <a:lvl1pPr>
              <a:defRPr sz="1800" b="0" baseline="0">
                <a:solidFill>
                  <a:schemeClr val="tx1"/>
                </a:solidFill>
              </a:defRPr>
            </a:lvl1pPr>
          </a:lstStyle>
          <a:p>
            <a:pPr lvl="0"/>
            <a:r>
              <a:rPr lang="en-US" dirty="0"/>
              <a:t>Subheading here</a:t>
            </a:r>
          </a:p>
        </p:txBody>
      </p:sp>
      <p:sp>
        <p:nvSpPr>
          <p:cNvPr id="9" name="Content Placeholder 8"/>
          <p:cNvSpPr>
            <a:spLocks noGrp="1"/>
          </p:cNvSpPr>
          <p:nvPr>
            <p:ph sz="quarter" idx="14"/>
          </p:nvPr>
        </p:nvSpPr>
        <p:spPr>
          <a:xfrm>
            <a:off x="457200" y="1524000"/>
            <a:ext cx="1524000" cy="1905000"/>
          </a:xfrm>
          <a:solidFill>
            <a:srgbClr val="D8D7DF"/>
          </a:solidFill>
        </p:spPr>
        <p:txBody>
          <a:bodyPr/>
          <a:lstStyle>
            <a:lvl3pPr>
              <a:buSzPct val="125000"/>
              <a:defRPr/>
            </a:lvl3pPr>
            <a:lvl4pPr>
              <a:buSzPct val="125000"/>
              <a:defRPr/>
            </a:lvl4pPr>
            <a:lvl5pPr>
              <a:buSzPct val="12500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5"/>
          </p:nvPr>
        </p:nvSpPr>
        <p:spPr>
          <a:xfrm>
            <a:off x="2133600" y="1523999"/>
            <a:ext cx="6553200" cy="4388603"/>
          </a:xfrm>
        </p:spPr>
        <p:txBody>
          <a:bodyPr/>
          <a:lstStyle>
            <a:lvl1pPr marL="0" marR="0" indent="0" algn="l" defTabSz="914400" rtl="0" eaLnBrk="1" fontAlgn="auto" latinLnBrk="0" hangingPunct="1">
              <a:lnSpc>
                <a:spcPct val="100000"/>
              </a:lnSpc>
              <a:spcBef>
                <a:spcPts val="0"/>
              </a:spcBef>
              <a:spcAft>
                <a:spcPts val="350"/>
              </a:spcAft>
              <a:buClrTx/>
              <a:buSzTx/>
              <a:buFontTx/>
              <a:buNone/>
              <a:tabLst/>
              <a:defRPr lang="en-US" sz="1800" dirty="0" smtClean="0"/>
            </a:lvl1pPr>
            <a:lvl2pPr>
              <a:spcBef>
                <a:spcPts val="0"/>
              </a:spcBef>
              <a:spcAft>
                <a:spcPts val="350"/>
              </a:spcAft>
              <a:defRPr lang="en-US" sz="1600" dirty="0" smtClean="0"/>
            </a:lvl2pPr>
            <a:lvl3pPr>
              <a:spcBef>
                <a:spcPts val="0"/>
              </a:spcBef>
              <a:spcAft>
                <a:spcPts val="400"/>
              </a:spcAft>
              <a:buSzPct val="125000"/>
              <a:buFont typeface="Wingdings" pitchFamily="2" charset="2"/>
              <a:buChar char="§"/>
              <a:defRPr lang="en-US" dirty="0" smtClean="0"/>
            </a:lvl3pPr>
            <a:lvl4pPr marL="457200" indent="-228600">
              <a:buClr>
                <a:schemeClr val="tx2"/>
              </a:buClr>
              <a:buSzPct val="125000"/>
              <a:buFont typeface="Wingdings" panose="05000000000000000000" pitchFamily="2" charset="2"/>
              <a:buChar char=""/>
              <a:defRPr/>
            </a:lvl4pPr>
            <a:lvl5pPr>
              <a:buSzPct val="125000"/>
              <a:buFont typeface="Arial" panose="020B0604020202020204" pitchFamily="34" charset="0"/>
              <a:buChar char="˗"/>
              <a:defRPr/>
            </a:lvl5pPr>
            <a:lvl6pPr>
              <a:buSzPct val="125000"/>
              <a:defRPr/>
            </a:lvl6pPr>
            <a:lvl7pPr>
              <a:buSzPct val="125000"/>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19"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4"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13"/>
          </p:nvPr>
        </p:nvSpPr>
        <p:spPr>
          <a:xfrm>
            <a:off x="457200" y="1524000"/>
            <a:ext cx="4876800" cy="4389120"/>
          </a:xfrm>
        </p:spPr>
        <p:txBody>
          <a:bodyPr/>
          <a:lstStyle>
            <a:lvl1pPr>
              <a:defRPr sz="1800"/>
            </a:lvl1pPr>
            <a:lvl2pPr>
              <a:defRPr sz="1600"/>
            </a:lvl2pPr>
            <a:lvl3pPr>
              <a:buSzPct val="125000"/>
              <a:defRPr/>
            </a:lvl3pPr>
            <a:lvl4pPr>
              <a:buSzPct val="125000"/>
              <a:defRPr/>
            </a:lvl4pPr>
            <a:lvl5pPr>
              <a:buSzPct val="125000"/>
              <a:defRPr/>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p:cNvSpPr>
            <a:spLocks noGrp="1"/>
          </p:cNvSpPr>
          <p:nvPr>
            <p:ph sz="quarter" idx="16"/>
          </p:nvPr>
        </p:nvSpPr>
        <p:spPr>
          <a:xfrm>
            <a:off x="5486400" y="1527048"/>
            <a:ext cx="3200400" cy="4038600"/>
          </a:xfrm>
          <a:solidFill>
            <a:srgbClr val="D8D7DF"/>
          </a:solidFill>
        </p:spPr>
        <p:txBody>
          <a:bodyPr/>
          <a:lstStyle/>
          <a:p>
            <a:pPr lvl="0"/>
            <a:r>
              <a:rPr lang="en-US"/>
              <a:t>Edit Master text styles</a:t>
            </a:r>
          </a:p>
        </p:txBody>
      </p:sp>
      <p:sp>
        <p:nvSpPr>
          <p:cNvPr id="14" name="Text Placeholder 13"/>
          <p:cNvSpPr>
            <a:spLocks noGrp="1"/>
          </p:cNvSpPr>
          <p:nvPr>
            <p:ph type="body" sz="quarter" idx="17"/>
          </p:nvPr>
        </p:nvSpPr>
        <p:spPr>
          <a:xfrm>
            <a:off x="5791200" y="2221992"/>
            <a:ext cx="2590800" cy="2731008"/>
          </a:xfrm>
        </p:spPr>
        <p:txBody>
          <a:bodyPr/>
          <a:lstStyle>
            <a:lvl1pPr>
              <a:spcBef>
                <a:spcPts val="0"/>
              </a:spcBef>
              <a:spcAft>
                <a:spcPts val="1000"/>
              </a:spcAft>
              <a:defRPr baseline="0">
                <a:solidFill>
                  <a:schemeClr val="accent1"/>
                </a:solidFill>
                <a:latin typeface="Arial" pitchFamily="34" charset="0"/>
              </a:defRPr>
            </a:lvl1pPr>
            <a:lvl2pPr>
              <a:spcAft>
                <a:spcPts val="400"/>
              </a:spcAft>
              <a:defRPr sz="1600"/>
            </a:lvl2pPr>
          </a:lstStyle>
          <a:p>
            <a:pPr lvl="0"/>
            <a:r>
              <a:rPr lang="en-US"/>
              <a:t>Edit Master text styles</a:t>
            </a:r>
          </a:p>
          <a:p>
            <a:pPr lvl="1"/>
            <a:r>
              <a:rPr lang="en-US"/>
              <a:t>Second level</a:t>
            </a:r>
          </a:p>
        </p:txBody>
      </p:sp>
      <p:sp>
        <p:nvSpPr>
          <p:cNvPr id="11" name="Text Placeholder 12"/>
          <p:cNvSpPr>
            <a:spLocks noGrp="1"/>
          </p:cNvSpPr>
          <p:nvPr>
            <p:ph type="body" sz="quarter" idx="18" hasCustomPrompt="1"/>
          </p:nvPr>
        </p:nvSpPr>
        <p:spPr>
          <a:xfrm>
            <a:off x="457200" y="800239"/>
            <a:ext cx="8229600" cy="276999"/>
          </a:xfrm>
        </p:spPr>
        <p:txBody>
          <a:bodyPr/>
          <a:lstStyle>
            <a:lvl1pPr>
              <a:defRPr sz="1800" b="0" baseline="0">
                <a:solidFill>
                  <a:schemeClr val="tx1"/>
                </a:solidFill>
              </a:defRPr>
            </a:lvl1pPr>
          </a:lstStyle>
          <a:p>
            <a:pPr lvl="0"/>
            <a:r>
              <a:rPr lang="en-US" dirty="0"/>
              <a:t>Subheading here</a:t>
            </a:r>
          </a:p>
        </p:txBody>
      </p:sp>
      <p:cxnSp>
        <p:nvCxnSpPr>
          <p:cNvPr id="13" name="Straight Connector 12"/>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21"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5"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13"/>
          </p:nvPr>
        </p:nvSpPr>
        <p:spPr>
          <a:xfrm>
            <a:off x="457200" y="1524000"/>
            <a:ext cx="3962400" cy="4389120"/>
          </a:xfrm>
        </p:spPr>
        <p:txBody>
          <a:bodyPr/>
          <a:lstStyle>
            <a:lvl1pPr>
              <a:defRPr sz="1800"/>
            </a:lvl1pPr>
            <a:lvl2pPr>
              <a:defRPr sz="1600"/>
            </a:lvl2pPr>
            <a:lvl5pPr>
              <a:defRPr/>
            </a:lvl5pPr>
            <a:lvl6pPr>
              <a:defRPr baseline="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4"/>
          </p:nvPr>
        </p:nvSpPr>
        <p:spPr>
          <a:xfrm>
            <a:off x="4648200" y="1524000"/>
            <a:ext cx="4038600" cy="4389120"/>
          </a:xfrm>
        </p:spPr>
        <p:txBody>
          <a:bodyPr/>
          <a:lstStyle>
            <a:lvl1pPr>
              <a:defRPr sz="1800"/>
            </a:lvl1pPr>
            <a:lvl2pPr>
              <a:defRPr sz="16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2"/>
          <p:cNvSpPr>
            <a:spLocks noGrp="1"/>
          </p:cNvSpPr>
          <p:nvPr>
            <p:ph type="body" sz="quarter" idx="15" hasCustomPrompt="1"/>
          </p:nvPr>
        </p:nvSpPr>
        <p:spPr>
          <a:xfrm>
            <a:off x="457200" y="800239"/>
            <a:ext cx="8229600" cy="276999"/>
          </a:xfrm>
        </p:spPr>
        <p:txBody>
          <a:bodyPr/>
          <a:lstStyle>
            <a:lvl1pPr>
              <a:defRPr sz="1800" b="0" baseline="0">
                <a:solidFill>
                  <a:schemeClr val="tx1"/>
                </a:solidFill>
              </a:defRPr>
            </a:lvl1pPr>
          </a:lstStyle>
          <a:p>
            <a:pPr lvl="0"/>
            <a:r>
              <a:rPr lang="en-US" dirty="0"/>
              <a:t>Subheading here</a:t>
            </a:r>
          </a:p>
        </p:txBody>
      </p:sp>
      <p:cxnSp>
        <p:nvCxnSpPr>
          <p:cNvPr id="10" name="Straight Connector 9"/>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18"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3"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Text Placeholder 12"/>
          <p:cNvSpPr>
            <a:spLocks noGrp="1"/>
          </p:cNvSpPr>
          <p:nvPr>
            <p:ph type="body" sz="quarter" idx="13" hasCustomPrompt="1"/>
          </p:nvPr>
        </p:nvSpPr>
        <p:spPr>
          <a:xfrm>
            <a:off x="457200" y="800239"/>
            <a:ext cx="8229600" cy="276999"/>
          </a:xfrm>
        </p:spPr>
        <p:txBody>
          <a:bodyPr/>
          <a:lstStyle>
            <a:lvl1pPr>
              <a:defRPr sz="1800" b="0" baseline="0">
                <a:solidFill>
                  <a:schemeClr val="tx1"/>
                </a:solidFill>
              </a:defRPr>
            </a:lvl1pPr>
          </a:lstStyle>
          <a:p>
            <a:pPr lvl="0"/>
            <a:r>
              <a:rPr lang="en-US" dirty="0"/>
              <a:t>Subheading here</a:t>
            </a:r>
          </a:p>
        </p:txBody>
      </p:sp>
      <p:cxnSp>
        <p:nvCxnSpPr>
          <p:cNvPr id="8" name="Straight Connector 7"/>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15"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10"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6" name="Straight Connector 5"/>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14"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9" name="Footer Placeholder 4 Copyright"/>
          <p:cNvSpPr>
            <a:spLocks noGrp="1"/>
          </p:cNvSpPr>
          <p:nvPr>
            <p:ph type="ftr" sz="quarter" idx="3"/>
          </p:nvPr>
        </p:nvSpPr>
        <p:spPr>
          <a:xfrm>
            <a:off x="457199" y="6515096"/>
            <a:ext cx="5277600"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55613"/>
            <a:ext cx="4495800" cy="304800"/>
          </a:xfrm>
        </p:spPr>
        <p:txBody>
          <a:bodyPr/>
          <a:lstStyle>
            <a:lvl1pPr>
              <a:defRPr baseline="0"/>
            </a:lvl1pPr>
          </a:lstStyle>
          <a:p>
            <a:r>
              <a:rPr lang="en-US" dirty="0"/>
              <a:t>Thank you — Click to edit text</a:t>
            </a:r>
          </a:p>
        </p:txBody>
      </p:sp>
      <p:cxnSp>
        <p:nvCxnSpPr>
          <p:cNvPr id="12" name="Straight Connector 11"/>
          <p:cNvCxnSpPr/>
          <p:nvPr userDrawn="1"/>
        </p:nvCxnSpPr>
        <p:spPr>
          <a:xfrm>
            <a:off x="457200" y="6279396"/>
            <a:ext cx="8229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p:cNvGrpSpPr/>
          <p:nvPr userDrawn="1"/>
        </p:nvGrpSpPr>
        <p:grpSpPr>
          <a:xfrm>
            <a:off x="6635794" y="3462205"/>
            <a:ext cx="2047958" cy="2157709"/>
            <a:chOff x="457200" y="3682374"/>
            <a:chExt cx="1481138" cy="1560513"/>
          </a:xfrm>
        </p:grpSpPr>
        <p:sp>
          <p:nvSpPr>
            <p:cNvPr id="14" name="Rectangle 255"/>
            <p:cNvSpPr>
              <a:spLocks noChangeArrowheads="1"/>
            </p:cNvSpPr>
            <p:nvPr userDrawn="1"/>
          </p:nvSpPr>
          <p:spPr bwMode="auto">
            <a:xfrm>
              <a:off x="457200" y="3682374"/>
              <a:ext cx="269875" cy="78105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256"/>
            <p:cNvSpPr>
              <a:spLocks noChangeArrowheads="1"/>
            </p:cNvSpPr>
            <p:nvPr userDrawn="1"/>
          </p:nvSpPr>
          <p:spPr bwMode="auto">
            <a:xfrm>
              <a:off x="993775" y="4266574"/>
              <a:ext cx="406400" cy="5873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257"/>
            <p:cNvSpPr>
              <a:spLocks noChangeArrowheads="1"/>
            </p:cNvSpPr>
            <p:nvPr userDrawn="1"/>
          </p:nvSpPr>
          <p:spPr bwMode="auto">
            <a:xfrm>
              <a:off x="1536700" y="3877636"/>
              <a:ext cx="401638" cy="38893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258"/>
            <p:cNvSpPr>
              <a:spLocks noChangeArrowheads="1"/>
            </p:cNvSpPr>
            <p:nvPr userDrawn="1"/>
          </p:nvSpPr>
          <p:spPr bwMode="auto">
            <a:xfrm>
              <a:off x="592137" y="4658686"/>
              <a:ext cx="131763" cy="19208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259"/>
            <p:cNvSpPr>
              <a:spLocks noChangeArrowheads="1"/>
            </p:cNvSpPr>
            <p:nvPr userDrawn="1"/>
          </p:nvSpPr>
          <p:spPr bwMode="auto">
            <a:xfrm>
              <a:off x="1265237" y="5047624"/>
              <a:ext cx="541338" cy="195263"/>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24" name="Picture 23"/>
          <p:cNvPicPr>
            <a:picLocks noChangeAspect="1"/>
          </p:cNvPicPr>
          <p:nvPr userDrawn="1"/>
        </p:nvPicPr>
        <p:blipFill>
          <a:blip r:embed="rId2" cstate="print"/>
          <a:stretch>
            <a:fillRect/>
          </a:stretch>
        </p:blipFill>
        <p:spPr>
          <a:xfrm>
            <a:off x="6675343" y="6300216"/>
            <a:ext cx="1782857" cy="347429"/>
          </a:xfrm>
          <a:prstGeom prst="rect">
            <a:avLst/>
          </a:prstGeom>
        </p:spPr>
      </p:pic>
      <p:sp>
        <p:nvSpPr>
          <p:cNvPr id="25"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20" name="Footer Placeholder 3 Copyright"/>
          <p:cNvSpPr>
            <a:spLocks noGrp="1"/>
          </p:cNvSpPr>
          <p:nvPr>
            <p:ph type="ftr" sz="quarter" idx="11"/>
          </p:nvPr>
        </p:nvSpPr>
        <p:spPr>
          <a:xfrm>
            <a:off x="457199" y="6515096"/>
            <a:ext cx="5277853" cy="92333"/>
          </a:xfrm>
        </p:spPr>
        <p:txBody>
          <a:bodyPr/>
          <a:lstStyle>
            <a:lvl1pPr>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vmlDrawing" Target="../drawings/vmlDrawing1.v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415BDDE-1ABC-4EA2-9259-24F2DADFF16E}"/>
              </a:ext>
            </a:extLst>
          </p:cNvPr>
          <p:cNvGraphicFramePr>
            <a:graphicFrameLocks noChangeAspect="1"/>
          </p:cNvGraphicFramePr>
          <p:nvPr userDrawn="1">
            <p:custDataLst>
              <p:tags r:id="rId17"/>
            </p:custDataLst>
            <p:extLst>
              <p:ext uri="{D42A27DB-BD31-4B8C-83A1-F6EECF244321}">
                <p14:modId xmlns:p14="http://schemas.microsoft.com/office/powerpoint/2010/main" val="17434839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55" name="think-cell Slide" r:id="rId19" imgW="347" imgH="348" progId="TCLayout.ActiveDocument.1">
                  <p:embed/>
                </p:oleObj>
              </mc:Choice>
              <mc:Fallback>
                <p:oleObj name="think-cell Slide" r:id="rId19" imgW="347" imgH="348" progId="TCLayout.ActiveDocument.1">
                  <p:embed/>
                  <p:pic>
                    <p:nvPicPr>
                      <p:cNvPr id="5" name="Object 4" hidden="1">
                        <a:extLst>
                          <a:ext uri="{FF2B5EF4-FFF2-40B4-BE49-F238E27FC236}">
                            <a16:creationId xmlns:a16="http://schemas.microsoft.com/office/drawing/2014/main" id="{7415BDDE-1ABC-4EA2-9259-24F2DADFF16E}"/>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8" name="TextBox 7"/>
          <p:cNvSpPr txBox="1"/>
          <p:nvPr userDrawn="1">
            <p:custDataLst>
              <p:tags r:id="rId18"/>
            </p:custDataLst>
          </p:nvPr>
        </p:nvSpPr>
        <p:spPr>
          <a:xfrm rot="19906914">
            <a:off x="243577" y="3029257"/>
            <a:ext cx="8514068" cy="1107996"/>
          </a:xfrm>
          <a:prstGeom prst="rect">
            <a:avLst/>
          </a:prstGeom>
          <a:noFill/>
        </p:spPr>
        <p:txBody>
          <a:bodyPr wrap="square" rtlCol="0" anchor="ctr" anchorCtr="0">
            <a:spAutoFit/>
          </a:bodyPr>
          <a:lstStyle/>
          <a:p>
            <a:pPr algn="ctr"/>
            <a:r>
              <a:rPr lang="en-GB" sz="6600" b="1" baseline="0">
                <a:solidFill>
                  <a:srgbClr val="C0C0C0"/>
                </a:solidFill>
              </a:rPr>
              <a:t> </a:t>
            </a:r>
            <a:endParaRPr lang="en-GB" b="1" dirty="0">
              <a:solidFill>
                <a:srgbClr val="C0C0C0"/>
              </a:solidFill>
            </a:endParaRPr>
          </a:p>
        </p:txBody>
      </p:sp>
      <p:sp>
        <p:nvSpPr>
          <p:cNvPr id="2" name="Title Placeholder 1"/>
          <p:cNvSpPr>
            <a:spLocks noGrp="1"/>
          </p:cNvSpPr>
          <p:nvPr>
            <p:ph type="title"/>
          </p:nvPr>
        </p:nvSpPr>
        <p:spPr>
          <a:xfrm>
            <a:off x="457200" y="457200"/>
            <a:ext cx="8229600" cy="30777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524000"/>
            <a:ext cx="8229600" cy="45720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305800" y="6400800"/>
            <a:ext cx="381000" cy="137160"/>
          </a:xfrm>
          <a:prstGeom prst="rect">
            <a:avLst/>
          </a:prstGeom>
        </p:spPr>
        <p:txBody>
          <a:bodyPr vert="horz" wrap="square" lIns="0" tIns="0" rIns="0" bIns="0" rtlCol="0" anchor="b" anchorCtr="0">
            <a:spAutoFit/>
          </a:bodyPr>
          <a:lstStyle>
            <a:lvl1pPr algn="r">
              <a:defRPr sz="900">
                <a:solidFill>
                  <a:schemeClr val="tx1"/>
                </a:solidFill>
              </a:defRPr>
            </a:lvl1pPr>
          </a:lstStyle>
          <a:p>
            <a:fld id="{2083E393-C0BF-4ED8-8545-7E4C90AFF831}" type="slidenum">
              <a:rPr lang="en-US" smtClean="0"/>
              <a:pPr/>
              <a:t>‹#›</a:t>
            </a:fld>
            <a:endParaRPr lang="en-US" dirty="0"/>
          </a:p>
        </p:txBody>
      </p:sp>
      <p:sp>
        <p:nvSpPr>
          <p:cNvPr id="7" name="Footer Placeholder 4 Copyright"/>
          <p:cNvSpPr>
            <a:spLocks noGrp="1"/>
          </p:cNvSpPr>
          <p:nvPr>
            <p:ph type="ftr" sz="quarter" idx="3"/>
          </p:nvPr>
        </p:nvSpPr>
        <p:spPr>
          <a:xfrm>
            <a:off x="457199" y="6515096"/>
            <a:ext cx="5277853" cy="92333"/>
          </a:xfrm>
          <a:prstGeom prst="rect">
            <a:avLst/>
          </a:prstGeom>
        </p:spPr>
        <p:txBody>
          <a:bodyPr vert="horz" wrap="square" lIns="0" tIns="0" rIns="0" bIns="0" rtlCol="0" anchor="t" anchorCtr="0">
            <a:spAutoFit/>
          </a:bodyPr>
          <a:lstStyle>
            <a:lvl1pPr algn="l">
              <a:defRPr sz="600">
                <a:solidFill>
                  <a:schemeClr val="tx1"/>
                </a:solidFill>
              </a:defRPr>
            </a:lvl1pPr>
          </a:lstStyle>
          <a:p>
            <a:r>
              <a:rPr lang="en-GB" dirty="0"/>
              <a:t>© [</a:t>
            </a:r>
            <a:r>
              <a:rPr lang="en-GB" dirty="0" err="1"/>
              <a:t>yyyy</a:t>
            </a:r>
            <a:r>
              <a:rPr lang="en-GB" dirty="0"/>
              <a:t>] Willis Towers Watson. All rights reserved. Proprietary and Confidential. For Willis Towers Watson and Willis Towers Watson client use only.</a:t>
            </a:r>
            <a:endParaRPr lang="en-US" dirty="0"/>
          </a:p>
        </p:txBody>
      </p:sp>
      <p:sp>
        <p:nvSpPr>
          <p:cNvPr id="9" name="Rectangle 8"/>
          <p:cNvSpPr/>
          <p:nvPr userDrawn="1"/>
        </p:nvSpPr>
        <p:spPr>
          <a:xfrm>
            <a:off x="457199" y="6400800"/>
            <a:ext cx="878446" cy="92333"/>
          </a:xfrm>
          <a:prstGeom prst="rect">
            <a:avLst/>
          </a:prstGeom>
        </p:spPr>
        <p:txBody>
          <a:bodyPr wrap="none" lIns="0" tIns="0" rIns="0" bIns="0">
            <a:spAutoFit/>
          </a:bodyPr>
          <a:lstStyle/>
          <a:p>
            <a:pPr>
              <a:spcAft>
                <a:spcPts val="200"/>
              </a:spcAft>
            </a:pPr>
            <a:r>
              <a:rPr lang="en-GB" sz="600" b="1" dirty="0">
                <a:solidFill>
                  <a:schemeClr val="accent1"/>
                </a:solidFill>
              </a:rPr>
              <a:t>willistowerswatson.com</a:t>
            </a:r>
          </a:p>
        </p:txBody>
      </p:sp>
    </p:spTree>
  </p:cSld>
  <p:clrMap bg1="lt1" tx1="dk1" bg2="lt2" tx2="dk2" accent1="accent1" accent2="accent2" accent3="accent3" accent4="accent4" accent5="accent5" accent6="accent6" hlink="hlink" folHlink="folHlink"/>
  <p:sldLayoutIdLst>
    <p:sldLayoutId id="2147483701" r:id="rId1"/>
    <p:sldLayoutId id="2147483723" r:id="rId2"/>
    <p:sldLayoutId id="2147483729" r:id="rId3"/>
    <p:sldLayoutId id="2147483726" r:id="rId4"/>
    <p:sldLayoutId id="2147483686" r:id="rId5"/>
    <p:sldLayoutId id="2147483696" r:id="rId6"/>
    <p:sldLayoutId id="2147483695" r:id="rId7"/>
    <p:sldLayoutId id="2147483721" r:id="rId8"/>
    <p:sldLayoutId id="2147483688" r:id="rId9"/>
    <p:sldLayoutId id="2147483672" r:id="rId10"/>
    <p:sldLayoutId id="2147483689" r:id="rId11"/>
    <p:sldLayoutId id="2147483690" r:id="rId12"/>
    <p:sldLayoutId id="2147483667" r:id="rId13"/>
    <p:sldLayoutId id="2147483697" r:id="rId14"/>
  </p:sldLayoutIdLst>
  <p:hf hdr="0" dt="0"/>
  <p:txStyles>
    <p:titleStyle>
      <a:lvl1pPr algn="l" defTabSz="914400" rtl="0" eaLnBrk="1" latinLnBrk="0" hangingPunct="1">
        <a:spcBef>
          <a:spcPct val="0"/>
        </a:spcBef>
        <a:buNone/>
        <a:defRPr sz="2000" b="1" kern="1200" baseline="0">
          <a:solidFill>
            <a:srgbClr val="70208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400" rtl="0" eaLnBrk="1" latinLnBrk="0" hangingPunct="1">
        <a:spcBef>
          <a:spcPts val="0"/>
        </a:spcBef>
        <a:spcAft>
          <a:spcPts val="350"/>
        </a:spcAft>
        <a:buFontTx/>
        <a:buNone/>
        <a:defRPr sz="1800" b="1" kern="1200">
          <a:solidFill>
            <a:schemeClr val="tx1"/>
          </a:solidFill>
          <a:latin typeface="+mn-lt"/>
          <a:ea typeface="+mn-ea"/>
          <a:cs typeface="+mn-cs"/>
        </a:defRPr>
      </a:lvl1pPr>
      <a:lvl2pPr marL="0" indent="0" algn="l" defTabSz="914400" rtl="0" eaLnBrk="1" latinLnBrk="0" hangingPunct="1">
        <a:spcBef>
          <a:spcPts val="0"/>
        </a:spcBef>
        <a:spcAft>
          <a:spcPts val="350"/>
        </a:spcAft>
        <a:buFontTx/>
        <a:buNone/>
        <a:defRPr sz="1600" kern="1200">
          <a:solidFill>
            <a:schemeClr val="tx1"/>
          </a:solidFill>
          <a:latin typeface="+mn-lt"/>
          <a:ea typeface="+mn-ea"/>
          <a:cs typeface="+mn-cs"/>
        </a:defRPr>
      </a:lvl2pPr>
      <a:lvl3pPr marL="228600" indent="-228600" algn="l" defTabSz="914400" rtl="0" eaLnBrk="1" latinLnBrk="0" hangingPunct="1">
        <a:spcBef>
          <a:spcPts val="0"/>
        </a:spcBef>
        <a:spcAft>
          <a:spcPts val="350"/>
        </a:spcAft>
        <a:buClr>
          <a:srgbClr val="702082"/>
        </a:buClr>
        <a:buSzPct val="125000"/>
        <a:buFont typeface="Wingdings" pitchFamily="2" charset="2"/>
        <a:buChar char="§"/>
        <a:defRPr sz="1600" kern="1200" baseline="0">
          <a:solidFill>
            <a:schemeClr val="tx1"/>
          </a:solidFill>
          <a:latin typeface="+mn-lt"/>
          <a:ea typeface="+mn-ea"/>
          <a:cs typeface="+mn-cs"/>
        </a:defRPr>
      </a:lvl3pPr>
      <a:lvl4pPr marL="457200" indent="-228600" algn="l" defTabSz="914400" rtl="0" eaLnBrk="1" latinLnBrk="0" hangingPunct="1">
        <a:spcBef>
          <a:spcPts val="0"/>
        </a:spcBef>
        <a:spcAft>
          <a:spcPts val="280"/>
        </a:spcAft>
        <a:buClr>
          <a:schemeClr val="accent6"/>
        </a:buClr>
        <a:buSzPct val="125000"/>
        <a:buFont typeface="Wingdings" pitchFamily="2" charset="2"/>
        <a:buChar char="§"/>
        <a:defRPr sz="1400" kern="1200">
          <a:solidFill>
            <a:schemeClr val="tx1"/>
          </a:solidFill>
          <a:latin typeface="+mn-lt"/>
          <a:ea typeface="+mn-ea"/>
          <a:cs typeface="+mn-cs"/>
        </a:defRPr>
      </a:lvl4pPr>
      <a:lvl5pPr marL="731520" indent="-228600" algn="l" defTabSz="914400" rtl="0" eaLnBrk="1" latinLnBrk="0" hangingPunct="1">
        <a:spcBef>
          <a:spcPts val="0"/>
        </a:spcBef>
        <a:spcAft>
          <a:spcPts val="280"/>
        </a:spcAft>
        <a:buClr>
          <a:srgbClr val="000000"/>
        </a:buClr>
        <a:buSzPct val="125000"/>
        <a:buFont typeface="Arial" pitchFamily="34" charset="0"/>
        <a:buChar char="̵"/>
        <a:defRPr sz="1200" kern="1200" baseline="0">
          <a:solidFill>
            <a:schemeClr val="tx1"/>
          </a:solidFill>
          <a:latin typeface="+mn-lt"/>
          <a:ea typeface="+mn-ea"/>
          <a:cs typeface="+mn-cs"/>
        </a:defRPr>
      </a:lvl5pPr>
      <a:lvl6pPr marL="1005840" indent="-228600" algn="l" defTabSz="914400" rtl="0" eaLnBrk="1" latinLnBrk="0" hangingPunct="1">
        <a:spcBef>
          <a:spcPts val="0"/>
        </a:spcBef>
        <a:spcAft>
          <a:spcPts val="240"/>
        </a:spcAft>
        <a:buClr>
          <a:srgbClr val="000000"/>
        </a:buClr>
        <a:buFont typeface="Arial" pitchFamily="34" charset="0"/>
        <a:buChar char="̵"/>
        <a:defRPr sz="1100" kern="1200" baseline="0">
          <a:solidFill>
            <a:schemeClr val="tx1"/>
          </a:solidFill>
          <a:latin typeface="+mn-lt"/>
          <a:ea typeface="+mn-ea"/>
          <a:cs typeface="+mn-cs"/>
        </a:defRPr>
      </a:lvl6pPr>
      <a:lvl7pPr marL="1280160" indent="-228600" algn="l" defTabSz="914400" rtl="0" eaLnBrk="1" latinLnBrk="0" hangingPunct="1">
        <a:spcBef>
          <a:spcPts val="0"/>
        </a:spcBef>
        <a:spcAft>
          <a:spcPts val="240"/>
        </a:spcAft>
        <a:buClr>
          <a:srgbClr val="000000"/>
        </a:buClr>
        <a:buFont typeface="Arial" pitchFamily="34" charset="0"/>
        <a:buChar char="̵"/>
        <a:defRPr sz="11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04"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6.jp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1.xml"/><Relationship Id="rId5" Type="http://schemas.openxmlformats.org/officeDocument/2006/relationships/tags" Target="../tags/tag8.xml"/><Relationship Id="rId4"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tags" Target="../tags/tag11.xml"/><Relationship Id="rId7" Type="http://schemas.openxmlformats.org/officeDocument/2006/relationships/notesSlide" Target="../notesSlides/notesSlide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Layout" Target="../slideLayouts/slideLayout11.xml"/><Relationship Id="rId5" Type="http://schemas.openxmlformats.org/officeDocument/2006/relationships/tags" Target="../tags/tag13.xml"/><Relationship Id="rId4" Type="http://schemas.openxmlformats.org/officeDocument/2006/relationships/tags" Target="../tags/tag12.xml"/></Relationships>
</file>

<file path=ppt/slides/_rels/slide3.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comments" Target="../comments/comment2.xml"/><Relationship Id="rId5" Type="http://schemas.openxmlformats.org/officeDocument/2006/relationships/slideLayout" Target="../slideLayouts/slideLayout6.xml"/><Relationship Id="rId4" Type="http://schemas.openxmlformats.org/officeDocument/2006/relationships/tags" Target="../tags/tag17.xml"/></Relationships>
</file>

<file path=ppt/slides/_rels/slide4.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chart" Target="../charts/chart2.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chart" Target="../charts/chart1.xml"/><Relationship Id="rId5" Type="http://schemas.openxmlformats.org/officeDocument/2006/relationships/slideLayout" Target="../slideLayouts/slideLayout6.xml"/><Relationship Id="rId4" Type="http://schemas.openxmlformats.org/officeDocument/2006/relationships/tags" Target="../tags/tag2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comments" Target="../comments/comment5.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chart" Target="../charts/chart3.xml"/><Relationship Id="rId5" Type="http://schemas.openxmlformats.org/officeDocument/2006/relationships/slideLayout" Target="../slideLayouts/slideLayout6.xml"/><Relationship Id="rId4" Type="http://schemas.openxmlformats.org/officeDocument/2006/relationships/tags" Target="../tags/tag27.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comments" Target="../comments/comment7.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2.xml"/><Relationship Id="rId4" Type="http://schemas.openxmlformats.org/officeDocument/2006/relationships/comments" Target="../comments/comment8.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2.xml"/><Relationship Id="rId4" Type="http://schemas.openxmlformats.org/officeDocument/2006/relationships/comments" Target="../comments/comment9.xml"/></Relationships>
</file>

<file path=ppt/slides/_rels/slide12.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comments" Target="../comments/comment10.xml"/><Relationship Id="rId5" Type="http://schemas.openxmlformats.org/officeDocument/2006/relationships/slideLayout" Target="../slideLayouts/slideLayout6.xml"/><Relationship Id="rId4" Type="http://schemas.openxmlformats.org/officeDocument/2006/relationships/tags" Target="../tags/tag33.xml"/></Relationships>
</file>

<file path=ppt/slides/_rels/slide13.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comments" Target="../comments/comment11.xml"/><Relationship Id="rId5" Type="http://schemas.openxmlformats.org/officeDocument/2006/relationships/slideLayout" Target="../slideLayouts/slideLayout6.xml"/><Relationship Id="rId4" Type="http://schemas.openxmlformats.org/officeDocument/2006/relationships/tags" Target="../tags/tag37.xml"/></Relationships>
</file>

<file path=ppt/slides/_rels/slide14.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comments" Target="../comments/comment12.xml"/><Relationship Id="rId5" Type="http://schemas.openxmlformats.org/officeDocument/2006/relationships/slideLayout" Target="../slideLayouts/slideLayout6.xml"/><Relationship Id="rId4" Type="http://schemas.openxmlformats.org/officeDocument/2006/relationships/tags" Target="../tags/tag41.xml"/></Relationships>
</file>

<file path=ppt/slides/_rels/slide15.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comments" Target="../comments/comment13.xml"/><Relationship Id="rId5" Type="http://schemas.openxmlformats.org/officeDocument/2006/relationships/slideLayout" Target="../slideLayouts/slideLayout6.xml"/><Relationship Id="rId4" Type="http://schemas.openxmlformats.org/officeDocument/2006/relationships/tags" Target="../tags/tag4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comments" Target="../comments/comment14.xml"/></Relationships>
</file>

<file path=ppt/slides/_rels/slide1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12.xml"/><Relationship Id="rId4" Type="http://schemas.openxmlformats.org/officeDocument/2006/relationships/comments" Target="../comments/comment15.xml"/></Relationships>
</file>

<file path=ppt/slides/_rels/slide18.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comments" Target="../comments/comment16.xml"/><Relationship Id="rId5" Type="http://schemas.openxmlformats.org/officeDocument/2006/relationships/slideLayout" Target="../slideLayouts/slideLayout6.xml"/><Relationship Id="rId4" Type="http://schemas.openxmlformats.org/officeDocument/2006/relationships/tags" Target="../tags/tag51.xml"/></Relationships>
</file>

<file path=ppt/slides/_rels/slide1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comments" Target="../comments/comment17.xml"/><Relationship Id="rId5" Type="http://schemas.openxmlformats.org/officeDocument/2006/relationships/slideLayout" Target="../slideLayouts/slideLayout6.xml"/><Relationship Id="rId4" Type="http://schemas.openxmlformats.org/officeDocument/2006/relationships/tags" Target="../tags/tag5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comments" Target="../comments/comment18.xml"/></Relationships>
</file>

<file path=ppt/slides/_rels/slide2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12.xml"/><Relationship Id="rId4" Type="http://schemas.openxmlformats.org/officeDocument/2006/relationships/comments" Target="../comments/comment19.xml"/></Relationships>
</file>

<file path=ppt/slides/_rels/slide22.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comments" Target="../comments/comment20.xml"/><Relationship Id="rId5" Type="http://schemas.openxmlformats.org/officeDocument/2006/relationships/slideLayout" Target="../slideLayouts/slideLayout6.xml"/><Relationship Id="rId4" Type="http://schemas.openxmlformats.org/officeDocument/2006/relationships/tags" Target="../tags/tag61.xml"/></Relationships>
</file>

<file path=ppt/slides/_rels/slide23.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comments" Target="../comments/comment21.xml"/><Relationship Id="rId5" Type="http://schemas.openxmlformats.org/officeDocument/2006/relationships/slideLayout" Target="../slideLayouts/slideLayout6.xml"/><Relationship Id="rId4" Type="http://schemas.openxmlformats.org/officeDocument/2006/relationships/tags" Target="../tags/tag65.xml"/></Relationships>
</file>

<file path=ppt/slides/_rels/slide24.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comments" Target="../comments/comment22.xml"/><Relationship Id="rId5" Type="http://schemas.openxmlformats.org/officeDocument/2006/relationships/slideLayout" Target="../slideLayouts/slideLayout6.xml"/><Relationship Id="rId4" Type="http://schemas.openxmlformats.org/officeDocument/2006/relationships/tags" Target="../tags/tag6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comments" Target="../comments/comment23.xml"/></Relationships>
</file>

<file path=ppt/slides/_rels/slide2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12.xml"/><Relationship Id="rId4" Type="http://schemas.openxmlformats.org/officeDocument/2006/relationships/comments" Target="../comments/comment24.xml"/></Relationships>
</file>

<file path=ppt/slides/_rels/slide27.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comments" Target="../comments/comment25.xml"/><Relationship Id="rId5" Type="http://schemas.openxmlformats.org/officeDocument/2006/relationships/slideLayout" Target="../slideLayouts/slideLayout6.xml"/><Relationship Id="rId4" Type="http://schemas.openxmlformats.org/officeDocument/2006/relationships/tags" Target="../tags/tag75.xml"/></Relationships>
</file>

<file path=ppt/slides/_rels/slide28.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12.xml"/><Relationship Id="rId4" Type="http://schemas.openxmlformats.org/officeDocument/2006/relationships/comments" Target="../comments/comment26.xml"/></Relationships>
</file>

<file path=ppt/slides/_rels/slide2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12.xml"/><Relationship Id="rId4" Type="http://schemas.openxmlformats.org/officeDocument/2006/relationships/comments" Target="../comments/comment27.xml"/></Relationships>
</file>

<file path=ppt/slides/_rels/slide3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12.xml"/><Relationship Id="rId4" Type="http://schemas.openxmlformats.org/officeDocument/2006/relationships/comments" Target="../comments/comment28.xml"/></Relationships>
</file>

<file path=ppt/slides/_rels/slide31.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chart" Target="../charts/chart22.xml"/><Relationship Id="rId1" Type="http://schemas.openxmlformats.org/officeDocument/2006/relationships/slideLayout" Target="../slideLayouts/slideLayout12.xml"/><Relationship Id="rId4" Type="http://schemas.openxmlformats.org/officeDocument/2006/relationships/comments" Target="../comments/comment29.xml"/></Relationships>
</file>

<file path=ppt/slides/_rels/slide32.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12.xml"/><Relationship Id="rId4" Type="http://schemas.openxmlformats.org/officeDocument/2006/relationships/comments" Target="../comments/comment30.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77.xml"/><Relationship Id="rId7" Type="http://schemas.openxmlformats.org/officeDocument/2006/relationships/slideLayout" Target="../slideLayouts/slideLayout6.xml"/><Relationship Id="rId2" Type="http://schemas.openxmlformats.org/officeDocument/2006/relationships/tags" Target="../tags/tag76.xml"/><Relationship Id="rId1" Type="http://schemas.openxmlformats.org/officeDocument/2006/relationships/vmlDrawing" Target="../drawings/vmlDrawing2.v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9" Type="http://schemas.openxmlformats.org/officeDocument/2006/relationships/image" Target="../media/image1.emf"/></Relationships>
</file>

<file path=ppt/slides/_rels/slide34.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comments" Target="../comments/comment31.xml"/><Relationship Id="rId5" Type="http://schemas.openxmlformats.org/officeDocument/2006/relationships/slideLayout" Target="../slideLayouts/slideLayout6.xml"/><Relationship Id="rId4" Type="http://schemas.openxmlformats.org/officeDocument/2006/relationships/tags" Target="../tags/tag84.xml"/></Relationships>
</file>

<file path=ppt/slides/_rels/slide35.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12.xml"/><Relationship Id="rId4" Type="http://schemas.openxmlformats.org/officeDocument/2006/relationships/comments" Target="../comments/comment32.xml"/></Relationships>
</file>

<file path=ppt/slides/_rels/slide36.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chart" Target="../charts/chart28.xml"/><Relationship Id="rId1" Type="http://schemas.openxmlformats.org/officeDocument/2006/relationships/slideLayout" Target="../slideLayouts/slideLayout12.xml"/><Relationship Id="rId4" Type="http://schemas.openxmlformats.org/officeDocument/2006/relationships/comments" Target="../comments/comment33.xml"/></Relationships>
</file>

<file path=ppt/slides/_rels/slide37.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12.xml"/><Relationship Id="rId4" Type="http://schemas.openxmlformats.org/officeDocument/2006/relationships/comments" Target="../comments/comment34.xml"/></Relationships>
</file>

<file path=ppt/slides/_rels/slide38.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comments" Target="../comments/comment35.xml"/><Relationship Id="rId5" Type="http://schemas.openxmlformats.org/officeDocument/2006/relationships/slideLayout" Target="../slideLayouts/slideLayout6.xml"/><Relationship Id="rId4" Type="http://schemas.openxmlformats.org/officeDocument/2006/relationships/tags" Target="../tags/tag88.xml"/></Relationships>
</file>

<file path=ppt/slides/_rels/slide39.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chart" Target="../charts/chart32.xml"/><Relationship Id="rId1" Type="http://schemas.openxmlformats.org/officeDocument/2006/relationships/slideLayout" Target="../slideLayouts/slideLayout6.xml"/><Relationship Id="rId4" Type="http://schemas.openxmlformats.org/officeDocument/2006/relationships/comments" Target="../comments/comment36.xml"/></Relationships>
</file>

<file path=ppt/slides/_rels/slide4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comments" Target="../comments/comment37.xml"/><Relationship Id="rId5" Type="http://schemas.openxmlformats.org/officeDocument/2006/relationships/slideLayout" Target="../slideLayouts/slideLayout6.xml"/><Relationship Id="rId4" Type="http://schemas.openxmlformats.org/officeDocument/2006/relationships/tags" Target="../tags/tag9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4.xml"/><Relationship Id="rId1" Type="http://schemas.openxmlformats.org/officeDocument/2006/relationships/tags" Target="../tags/tag93.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6.xml"/><Relationship Id="rId1" Type="http://schemas.openxmlformats.org/officeDocument/2006/relationships/tags" Target="../tags/tag95.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blipFill dpi="0" rotWithShape="1">
          <a:blip r:embed="rId7"/>
          <a:srcRect/>
          <a:stretch>
            <a:fillRect/>
          </a:stretch>
        </a:blipFill>
        <a:effectLst/>
      </p:bgPr>
    </p:bg>
    <p:spTree>
      <p:nvGrpSpPr>
        <p:cNvPr id="1" name=""/>
        <p:cNvGrpSpPr/>
        <p:nvPr/>
      </p:nvGrpSpPr>
      <p:grpSpPr>
        <a:xfrm>
          <a:off x="0" y="0"/>
          <a:ext cx="0" cy="0"/>
          <a:chOff x="0" y="0"/>
          <a:chExt cx="0" cy="0"/>
        </a:xfrm>
      </p:grpSpPr>
      <p:sp>
        <p:nvSpPr>
          <p:cNvPr id="3" name="Client_Name"/>
          <p:cNvSpPr>
            <a:spLocks noGrp="1"/>
          </p:cNvSpPr>
          <p:nvPr>
            <p:ph type="title"/>
            <p:custDataLst>
              <p:tags r:id="rId2"/>
            </p:custDataLst>
          </p:nvPr>
        </p:nvSpPr>
        <p:spPr/>
        <p:txBody>
          <a:bodyPr/>
          <a:lstStyle/>
          <a:p>
            <a:r>
              <a:rPr lang="en-GB"/>
              <a:t>Airbnb</a:t>
            </a:r>
            <a:endParaRPr lang="en-GB" dirty="0"/>
          </a:p>
        </p:txBody>
      </p:sp>
      <p:sp>
        <p:nvSpPr>
          <p:cNvPr id="4" name="Text Placeholder 3"/>
          <p:cNvSpPr>
            <a:spLocks noGrp="1"/>
          </p:cNvSpPr>
          <p:nvPr>
            <p:ph type="body" sz="quarter" idx="15"/>
            <p:custDataLst>
              <p:tags r:id="rId3"/>
            </p:custDataLst>
          </p:nvPr>
        </p:nvSpPr>
        <p:spPr/>
        <p:txBody>
          <a:bodyPr/>
          <a:lstStyle/>
          <a:p>
            <a:r>
              <a:rPr lang="en-GB" b="1" dirty="0"/>
              <a:t>2020 High Tech </a:t>
            </a:r>
            <a:r>
              <a:rPr lang="en-GB" b="1" dirty="0" err="1"/>
              <a:t>BenVal</a:t>
            </a:r>
            <a:r>
              <a:rPr lang="en-GB" b="1" dirty="0"/>
              <a:t> Results and Analysis</a:t>
            </a:r>
          </a:p>
        </p:txBody>
      </p:sp>
      <p:sp>
        <p:nvSpPr>
          <p:cNvPr id="5" name="Text Placeholder 4"/>
          <p:cNvSpPr>
            <a:spLocks noGrp="1"/>
          </p:cNvSpPr>
          <p:nvPr>
            <p:ph type="body" sz="quarter" idx="16"/>
            <p:custDataLst>
              <p:tags r:id="rId4"/>
            </p:custDataLst>
          </p:nvPr>
        </p:nvSpPr>
        <p:spPr/>
        <p:txBody>
          <a:bodyPr/>
          <a:lstStyle/>
          <a:p>
            <a:r>
              <a:rPr lang="en-GB" dirty="0"/>
              <a:t>September 2020</a:t>
            </a:r>
          </a:p>
        </p:txBody>
      </p:sp>
      <p:sp>
        <p:nvSpPr>
          <p:cNvPr id="11" name="Text Placeholder 10"/>
          <p:cNvSpPr>
            <a:spLocks noGrp="1"/>
          </p:cNvSpPr>
          <p:nvPr>
            <p:ph type="body" sz="quarter" idx="17"/>
            <p:custDataLst>
              <p:tags r:id="rId5"/>
            </p:custDataLst>
          </p:nvPr>
        </p:nvSpPr>
        <p:spPr/>
        <p:txBody>
          <a:bodyPr/>
          <a:lstStyle/>
          <a:p>
            <a:endParaRPr lang="en-GB" dirty="0"/>
          </a:p>
        </p:txBody>
      </p:sp>
      <p:sp>
        <p:nvSpPr>
          <p:cNvPr id="6" name="Footer Placeholder 5"/>
          <p:cNvSpPr>
            <a:spLocks noGrp="1"/>
          </p:cNvSpPr>
          <p:nvPr>
            <p:ph type="ftr" sz="quarter" idx="3"/>
          </p:nvPr>
        </p:nvSpPr>
        <p:spPr/>
        <p:txBody>
          <a:bodyPr/>
          <a:lstStyle/>
          <a:p>
            <a:r>
              <a:rPr lang="en-US"/>
              <a:t>© 2020 Willis Towers Watson. All rights reserved.</a:t>
            </a:r>
            <a:endParaRPr lang="en-GB" dirty="0"/>
          </a:p>
        </p:txBody>
      </p:sp>
    </p:spTree>
    <p:custDataLst>
      <p:tags r:id="rId1"/>
    </p:custDataLst>
    <p:extLst>
      <p:ext uri="{BB962C8B-B14F-4D97-AF65-F5344CB8AC3E}">
        <p14:creationId xmlns:p14="http://schemas.microsoft.com/office/powerpoint/2010/main" val="3884411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able of Contents">
    <p:spTree>
      <p:nvGrpSpPr>
        <p:cNvPr id="1" name=""/>
        <p:cNvGrpSpPr/>
        <p:nvPr/>
      </p:nvGrpSpPr>
      <p:grpSpPr>
        <a:xfrm>
          <a:off x="0" y="0"/>
          <a:ext cx="0" cy="0"/>
          <a:chOff x="0" y="0"/>
          <a:chExt cx="0" cy="0"/>
        </a:xfrm>
      </p:grpSpPr>
      <p:sp>
        <p:nvSpPr>
          <p:cNvPr id="7" name="Title 6"/>
          <p:cNvSpPr>
            <a:spLocks noGrp="1"/>
          </p:cNvSpPr>
          <p:nvPr>
            <p:ph type="title"/>
            <p:custDataLst>
              <p:tags r:id="rId2"/>
            </p:custDataLst>
          </p:nvPr>
        </p:nvSpPr>
        <p:spPr/>
        <p:txBody>
          <a:bodyPr/>
          <a:lstStyle/>
          <a:p>
            <a:r>
              <a:rPr lang="en-US" dirty="0"/>
              <a:t>Table of Contents</a:t>
            </a:r>
          </a:p>
        </p:txBody>
      </p:sp>
      <p:sp>
        <p:nvSpPr>
          <p:cNvPr id="8" name="Text Placeholder 7"/>
          <p:cNvSpPr>
            <a:spLocks noGrp="1"/>
          </p:cNvSpPr>
          <p:nvPr>
            <p:ph sz="quarter" idx="13"/>
            <p:custDataLst>
              <p:tags r:id="rId3"/>
            </p:custDataLst>
          </p:nvPr>
        </p:nvSpPr>
        <p:spPr>
          <a:xfrm>
            <a:off x="457200" y="1314990"/>
            <a:ext cx="3962400" cy="4389120"/>
          </a:xfrm>
        </p:spPr>
        <p:txBody>
          <a:bodyPr/>
          <a:lstStyle/>
          <a:p>
            <a:pPr lvl="2"/>
            <a:r>
              <a:rPr lang="en-US" dirty="0"/>
              <a:t>Introduction</a:t>
            </a:r>
          </a:p>
          <a:p>
            <a:pPr lvl="2"/>
            <a:r>
              <a:rPr lang="en-US" dirty="0"/>
              <a:t>Peer Group</a:t>
            </a:r>
          </a:p>
          <a:p>
            <a:pPr lvl="2"/>
            <a:r>
              <a:rPr lang="en-US" dirty="0"/>
              <a:t>Summary of Benefit Changes</a:t>
            </a:r>
          </a:p>
          <a:p>
            <a:pPr lvl="2"/>
            <a:r>
              <a:rPr lang="en-US" dirty="0"/>
              <a:t>{{YEAR}} High Tech </a:t>
            </a:r>
            <a:r>
              <a:rPr lang="en-US" dirty="0" err="1"/>
              <a:t>BenVal</a:t>
            </a:r>
            <a:r>
              <a:rPr lang="en-US" dirty="0"/>
              <a:t> Results</a:t>
            </a:r>
          </a:p>
          <a:p>
            <a:pPr lvl="3"/>
            <a:r>
              <a:rPr lang="en-US" dirty="0"/>
              <a:t>Executive Summary </a:t>
            </a:r>
          </a:p>
          <a:p>
            <a:pPr lvl="3"/>
            <a:r>
              <a:rPr lang="en-US" dirty="0"/>
              <a:t>Entire Benefit Program</a:t>
            </a:r>
          </a:p>
          <a:p>
            <a:pPr lvl="3"/>
            <a:r>
              <a:rPr lang="en-US" dirty="0"/>
              <a:t>Active Medical</a:t>
            </a:r>
          </a:p>
          <a:p>
            <a:pPr lvl="3"/>
            <a:r>
              <a:rPr lang="en-US" dirty="0"/>
              <a:t>Active Dental</a:t>
            </a:r>
          </a:p>
          <a:p>
            <a:pPr lvl="3"/>
            <a:r>
              <a:rPr lang="en-US" dirty="0"/>
              <a:t>Active Health Care</a:t>
            </a:r>
          </a:p>
          <a:p>
            <a:pPr lvl="3"/>
            <a:r>
              <a:rPr lang="en-US" dirty="0"/>
              <a:t>Vision</a:t>
            </a:r>
          </a:p>
          <a:p>
            <a:pPr lvl="3"/>
            <a:r>
              <a:rPr lang="en-US" dirty="0"/>
              <a:t>Retirement</a:t>
            </a:r>
          </a:p>
          <a:p>
            <a:pPr lvl="3"/>
            <a:r>
              <a:rPr lang="en-US" dirty="0"/>
              <a:t>Disability</a:t>
            </a:r>
          </a:p>
          <a:p>
            <a:pPr lvl="3"/>
            <a:r>
              <a:rPr lang="en-US" dirty="0"/>
              <a:t>Active Life</a:t>
            </a:r>
          </a:p>
          <a:p>
            <a:pPr lvl="3"/>
            <a:r>
              <a:rPr lang="en-US" dirty="0"/>
              <a:t>Paid Time Off</a:t>
            </a:r>
          </a:p>
          <a:p>
            <a:pPr lvl="3"/>
            <a:r>
              <a:rPr lang="en-US" dirty="0"/>
              <a:t>Lifestyle Benefits</a:t>
            </a:r>
          </a:p>
          <a:p>
            <a:pPr lvl="3"/>
            <a:r>
              <a:rPr lang="en-US" dirty="0"/>
              <a:t>Rankings Summary</a:t>
            </a:r>
          </a:p>
          <a:p>
            <a:pPr lvl="3"/>
            <a:endParaRPr lang="en-US" dirty="0"/>
          </a:p>
          <a:p>
            <a:pPr lvl="2"/>
            <a:endParaRPr lang="en-US" dirty="0"/>
          </a:p>
        </p:txBody>
      </p:sp>
      <p:sp>
        <p:nvSpPr>
          <p:cNvPr id="9" name="Text Placeholder 8"/>
          <p:cNvSpPr>
            <a:spLocks noGrp="1"/>
          </p:cNvSpPr>
          <p:nvPr>
            <p:ph type="body" sz="quarter" idx="14"/>
            <p:custDataLst>
              <p:tags r:id="rId4"/>
            </p:custDataLst>
          </p:nvPr>
        </p:nvSpPr>
        <p:spPr>
          <a:xfrm>
            <a:off x="4648200" y="1314990"/>
            <a:ext cx="4038600" cy="4389120"/>
          </a:xfrm>
        </p:spPr>
        <p:txBody>
          <a:bodyPr/>
          <a:lstStyle/>
          <a:p>
            <a:pPr lvl="2"/>
            <a:r>
              <a:rPr lang="en-US" dirty="0"/>
              <a:t>Appendix </a:t>
            </a:r>
          </a:p>
          <a:p>
            <a:pPr lvl="3"/>
            <a:r>
              <a:rPr lang="en-US" dirty="0"/>
              <a:t>Methodology</a:t>
            </a:r>
          </a:p>
          <a:p>
            <a:pPr lvl="3"/>
            <a:endParaRPr lang="en-US" dirty="0"/>
          </a:p>
        </p:txBody>
      </p:sp>
      <p:sp>
        <p:nvSpPr>
          <p:cNvPr id="10" name="Text Placeholder 9"/>
          <p:cNvSpPr>
            <a:spLocks noGrp="1"/>
          </p:cNvSpPr>
          <p:nvPr>
            <p:ph type="body" sz="quarter" idx="15"/>
            <p:custDataLst>
              <p:tags r:id="rId5"/>
            </p:custDataLst>
          </p:nvPr>
        </p:nvSpPr>
        <p:spPr/>
        <p:txBody>
          <a:bodyPr/>
          <a:lstStyle/>
          <a:p>
            <a:endParaRPr lang="en-US"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2</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12"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sp>
        <p:nvSpPr>
          <p:cNvPr id="5" name="Rectangle 4">
            <a:extLst>
              <a:ext uri="{FF2B5EF4-FFF2-40B4-BE49-F238E27FC236}">
                <a16:creationId xmlns:a16="http://schemas.microsoft.com/office/drawing/2014/main" id="{621FE435-AD0A-4E25-A487-7C0E7BC5565E}"/>
              </a:ext>
            </a:extLst>
          </p:cNvPr>
          <p:cNvSpPr/>
          <p:nvPr/>
        </p:nvSpPr>
        <p:spPr>
          <a:xfrm>
            <a:off x="449263" y="5614128"/>
            <a:ext cx="8229600" cy="707886"/>
          </a:xfrm>
          <a:prstGeom prst="rect">
            <a:avLst/>
          </a:prstGeom>
        </p:spPr>
        <p:txBody>
          <a:bodyPr wrap="square">
            <a:spAutoFit/>
          </a:bodyPr>
          <a:lstStyle/>
          <a:p>
            <a:r>
              <a:rPr lang="en-US" sz="800" i="1" dirty="0"/>
              <a:t>This report was prepared for you to use in the context of benchmarking your benefits against your peers under the terms of our engagement with you. It may not be suitable for use in any other context or for any other purpose and we accept no responsibility for any such use. Please be aware that this report was prepared for your sole and exclusive use and on the basis agreed with you. It was not prepared for use by any other party and may not address their needs, concerns or objectives. This report should not be disclosed or distributed to any third party other than as agreed with you in writing. We do not assume any responsibility, or accept any duty of care or liability to any third party who may obtain a copy of this report and any reliance placed by such party on it is entirely at their own risk.</a:t>
            </a:r>
          </a:p>
        </p:txBody>
      </p:sp>
    </p:spTree>
    <p:custDataLst>
      <p:tags r:id="rId1"/>
    </p:custDataLst>
    <p:extLst>
      <p:ext uri="{BB962C8B-B14F-4D97-AF65-F5344CB8AC3E}">
        <p14:creationId xmlns:p14="http://schemas.microsoft.com/office/powerpoint/2010/main" val="3623320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Introduction1">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Introduction</a:t>
            </a:r>
          </a:p>
        </p:txBody>
      </p:sp>
      <p:sp>
        <p:nvSpPr>
          <p:cNvPr id="5" name="Text Placeholder 4"/>
          <p:cNvSpPr>
            <a:spLocks noGrp="1"/>
          </p:cNvSpPr>
          <p:nvPr>
            <p:ph type="body" sz="quarter" idx="13"/>
            <p:custDataLst>
              <p:tags r:id="rId3"/>
            </p:custDataLst>
          </p:nvPr>
        </p:nvSpPr>
        <p:spPr/>
        <p:txBody>
          <a:bodyPr/>
          <a:lstStyle/>
          <a:p>
            <a:endParaRPr lang="en-US" dirty="0"/>
          </a:p>
        </p:txBody>
      </p:sp>
      <p:sp>
        <p:nvSpPr>
          <p:cNvPr id="6" name="Text Placeholder 5"/>
          <p:cNvSpPr>
            <a:spLocks noGrp="1"/>
          </p:cNvSpPr>
          <p:nvPr>
            <p:ph idx="1"/>
            <p:custDataLst>
              <p:tags r:id="rId4"/>
            </p:custDataLst>
          </p:nvPr>
        </p:nvSpPr>
        <p:spPr>
          <a:xfrm>
            <a:off x="457200" y="1523987"/>
            <a:ext cx="8229600" cy="4389120"/>
          </a:xfrm>
        </p:spPr>
        <p:txBody>
          <a:bodyPr/>
          <a:lstStyle/>
          <a:p>
            <a:pPr lvl="2"/>
            <a:r>
              <a:rPr lang="en-US" sz="1200" dirty="0"/>
              <a:t>We conducted a competitive analysis of {{COMPANY1}} U.S. benefits using Willis Towers Watson’s {{YEAR}} </a:t>
            </a:r>
            <a:r>
              <a:rPr lang="en-US" sz="1200" dirty="0" err="1"/>
              <a:t>BenVal</a:t>
            </a:r>
            <a:endParaRPr lang="en-US" sz="1200" dirty="0"/>
          </a:p>
          <a:p>
            <a:pPr lvl="2"/>
            <a:r>
              <a:rPr lang="en-US" sz="1200" dirty="0"/>
              <a:t>The </a:t>
            </a:r>
            <a:r>
              <a:rPr lang="en-US" sz="1200" dirty="0" err="1"/>
              <a:t>BenVal</a:t>
            </a:r>
            <a:r>
              <a:rPr lang="en-US" sz="1200" dirty="0"/>
              <a:t> study benchmarks the relative value of</a:t>
            </a:r>
            <a:r>
              <a:rPr lang="en-US" sz="1200" dirty="0">
                <a:solidFill>
                  <a:srgbClr val="FF0000"/>
                </a:solidFill>
              </a:rPr>
              <a:t> </a:t>
            </a:r>
            <a:r>
              <a:rPr lang="en-US" sz="1200" dirty="0"/>
              <a:t>{{COMPANY1}} employee benefit programs relative to {{PEERCOUNT}} selected peer companies</a:t>
            </a:r>
          </a:p>
          <a:p>
            <a:pPr lvl="2"/>
            <a:r>
              <a:rPr lang="en-US" sz="1200" dirty="0"/>
              <a:t>The </a:t>
            </a:r>
            <a:r>
              <a:rPr lang="en-US" sz="1200" dirty="0" err="1"/>
              <a:t>BenVal</a:t>
            </a:r>
            <a:r>
              <a:rPr lang="en-US" sz="1200" dirty="0"/>
              <a:t> study values and compares the following {{COMPANY2}} benefit plans:</a:t>
            </a:r>
          </a:p>
          <a:p>
            <a:pPr marL="0" lvl="2" indent="0">
              <a:buNone/>
            </a:pPr>
            <a:endParaRPr lang="en-US" sz="1200" dirty="0"/>
          </a:p>
          <a:p>
            <a:pPr lvl="2"/>
            <a:endParaRPr lang="en-US" sz="1200" dirty="0"/>
          </a:p>
          <a:p>
            <a:pPr lvl="2"/>
            <a:r>
              <a:rPr lang="en-US" sz="1200" dirty="0"/>
              <a:t>The values reported in the </a:t>
            </a:r>
            <a:r>
              <a:rPr lang="en-US" sz="1200" dirty="0" err="1"/>
              <a:t>BenVal</a:t>
            </a:r>
            <a:r>
              <a:rPr lang="en-US" sz="1200" dirty="0"/>
              <a:t> study reflect actuarially determined benefit values – not actual cost</a:t>
            </a:r>
          </a:p>
          <a:p>
            <a:pPr lvl="2"/>
            <a:r>
              <a:rPr lang="en-US" sz="1200" dirty="0"/>
              <a:t>These values are based on a typical high tech employee population and are calculated using uniform assumptions and methodology</a:t>
            </a:r>
          </a:p>
          <a:p>
            <a:pPr lvl="2"/>
            <a:r>
              <a:rPr lang="en-US" sz="1200" dirty="0" err="1"/>
              <a:t>BenVal</a:t>
            </a:r>
            <a:r>
              <a:rPr lang="en-US" sz="1200" dirty="0"/>
              <a:t> compares both employer-provided values and total values of plans:</a:t>
            </a:r>
          </a:p>
          <a:p>
            <a:pPr lvl="3"/>
            <a:r>
              <a:rPr lang="en-US" sz="1200" dirty="0"/>
              <a:t>Total Value = Actuarial value of plan design</a:t>
            </a:r>
          </a:p>
          <a:p>
            <a:pPr lvl="3"/>
            <a:r>
              <a:rPr lang="en-US" sz="1200" dirty="0"/>
              <a:t>Employer Value = Value of portion subsidized by the employer</a:t>
            </a:r>
          </a:p>
          <a:p>
            <a:pPr lvl="2"/>
            <a:r>
              <a:rPr lang="en-US" sz="1200" dirty="0"/>
              <a:t>The values reflect {{YEAR}} benefit programs except where otherwise indicated on the peer group page</a:t>
            </a:r>
          </a:p>
          <a:p>
            <a:pPr lvl="2"/>
            <a:r>
              <a:rPr lang="en-US" sz="1200" dirty="0"/>
              <a:t>For programs that have more than one plan offering (e.g., medical), the plan type with the highest employee enrollment is valued – this plan is referred to as the "primary" plan for such benefit plans</a:t>
            </a:r>
          </a:p>
          <a:p>
            <a:pPr lvl="2"/>
            <a:r>
              <a:rPr lang="en-US" sz="1200" dirty="0"/>
              <a:t>Values for HMOs are adjusted by a factor of 0.98 to reflect restrictions on provider choice. PPO, POS, CDHP and comprehensive plan values are not adjusted</a:t>
            </a:r>
          </a:p>
          <a:p>
            <a:pPr lvl="2"/>
            <a:r>
              <a:rPr lang="en-US" sz="1200" dirty="0"/>
              <a:t>For CDHPs, the amount provided by the employer as an HRA or HSA contribution is added to the total value of the plan and the model assumes 100 percent utilization of the account during the year</a:t>
            </a:r>
          </a:p>
          <a:p>
            <a:pPr lvl="2"/>
            <a:r>
              <a:rPr lang="en-US" sz="1200" dirty="0"/>
              <a:t>Out-of-network benefits are not reflected in the values</a:t>
            </a:r>
          </a:p>
          <a:p>
            <a:pPr lvl="2"/>
            <a:endParaRPr lang="en-US" sz="1200" dirty="0"/>
          </a:p>
        </p:txBody>
      </p:sp>
      <p:sp>
        <p:nvSpPr>
          <p:cNvPr id="4" name="Slide Number Placeholder 3"/>
          <p:cNvSpPr>
            <a:spLocks noGrp="1"/>
          </p:cNvSpPr>
          <p:nvPr>
            <p:ph type="sldNum" sz="quarter" idx="4"/>
          </p:nvPr>
        </p:nvSpPr>
        <p:spPr/>
        <p:txBody>
          <a:bodyPr/>
          <a:lstStyle/>
          <a:p>
            <a:fld id="{2083E393-C0BF-4ED8-8545-7E4C90AFF831}" type="slidenum">
              <a:rPr lang="en-US" smtClean="0"/>
              <a:pPr/>
              <a:t>3</a:t>
            </a:fld>
            <a:endParaRPr lang="en-US"/>
          </a:p>
        </p:txBody>
      </p:sp>
      <p:sp>
        <p:nvSpPr>
          <p:cNvPr id="3" name="Footer Placeholder 2"/>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sp>
        <p:nvSpPr>
          <p:cNvPr id="9" name="TextBox 8">
            <a:extLst>
              <a:ext uri="{FF2B5EF4-FFF2-40B4-BE49-F238E27FC236}">
                <a16:creationId xmlns:a16="http://schemas.microsoft.com/office/drawing/2014/main" id="{3033CA3C-143E-4CC9-9832-C501EDA68628}"/>
              </a:ext>
            </a:extLst>
          </p:cNvPr>
          <p:cNvSpPr txBox="1"/>
          <p:nvPr/>
        </p:nvSpPr>
        <p:spPr>
          <a:xfrm>
            <a:off x="362176" y="2369968"/>
            <a:ext cx="8494440" cy="536044"/>
          </a:xfrm>
          <a:prstGeom prst="rect">
            <a:avLst/>
          </a:prstGeom>
          <a:noFill/>
        </p:spPr>
        <p:txBody>
          <a:bodyPr wrap="square" numCol="3" rtlCol="0">
            <a:spAutoFit/>
          </a:bodyPr>
          <a:lstStyle/>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Active Health Care</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Retirement</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Disability</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Active Life</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Paid Time Off</a:t>
            </a:r>
          </a:p>
          <a:p>
            <a:pPr marL="285750" lvl="2" indent="-285750">
              <a:spcAft>
                <a:spcPts val="350"/>
              </a:spcAft>
              <a:buClr>
                <a:srgbClr val="702082"/>
              </a:buClr>
              <a:buSzPct val="125000"/>
              <a:buFont typeface="Wingdings" panose="05000000000000000000" pitchFamily="2" charset="2"/>
              <a:buChar char="§"/>
            </a:pPr>
            <a:endParaRPr lang="en-US" sz="1100" dirty="0"/>
          </a:p>
        </p:txBody>
      </p:sp>
    </p:spTree>
    <p:custDataLst>
      <p:tags r:id="rId1"/>
    </p:custDataLst>
    <p:extLst>
      <p:ext uri="{BB962C8B-B14F-4D97-AF65-F5344CB8AC3E}">
        <p14:creationId xmlns:p14="http://schemas.microsoft.com/office/powerpoint/2010/main" val="1784905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Introduction</a:t>
            </a:r>
          </a:p>
        </p:txBody>
      </p:sp>
      <p:sp>
        <p:nvSpPr>
          <p:cNvPr id="6" name="Text Placeholder 5"/>
          <p:cNvSpPr>
            <a:spLocks noGrp="1"/>
          </p:cNvSpPr>
          <p:nvPr>
            <p:ph type="body" sz="quarter" idx="13"/>
            <p:custDataLst>
              <p:tags r:id="rId3"/>
            </p:custDataLst>
          </p:nvPr>
        </p:nvSpPr>
        <p:spPr/>
        <p:txBody>
          <a:bodyPr/>
          <a:lstStyle/>
          <a:p>
            <a:r>
              <a:rPr lang="en-US" dirty="0"/>
              <a:t>How to Read the </a:t>
            </a:r>
            <a:r>
              <a:rPr lang="en-US" dirty="0" err="1"/>
              <a:t>BenVal</a:t>
            </a:r>
            <a:r>
              <a:rPr lang="en-US" dirty="0"/>
              <a:t> Graphs</a:t>
            </a:r>
          </a:p>
        </p:txBody>
      </p:sp>
      <p:sp>
        <p:nvSpPr>
          <p:cNvPr id="5" name="Text Placeholder 4"/>
          <p:cNvSpPr>
            <a:spLocks noGrp="1"/>
          </p:cNvSpPr>
          <p:nvPr>
            <p:ph type="body" sz="quarter" idx="1"/>
            <p:custDataLst>
              <p:tags r:id="rId4"/>
            </p:custDataLst>
          </p:nvPr>
        </p:nvSpPr>
        <p:spPr>
          <a:xfrm>
            <a:off x="457200" y="4833259"/>
            <a:ext cx="8229600" cy="1262743"/>
          </a:xfrm>
        </p:spPr>
        <p:txBody>
          <a:bodyPr/>
          <a:lstStyle/>
          <a:p>
            <a:pPr lvl="2"/>
            <a:r>
              <a:rPr lang="en-US" sz="1200" dirty="0"/>
              <a:t>Each company is represented by a designated identifier</a:t>
            </a:r>
          </a:p>
          <a:p>
            <a:pPr lvl="2"/>
            <a:r>
              <a:rPr lang="en-US" sz="1200" dirty="0"/>
              <a:t>100% represents the average value for all companies</a:t>
            </a:r>
          </a:p>
          <a:p>
            <a:pPr lvl="2"/>
            <a:r>
              <a:rPr lang="en-US" sz="1200" dirty="0"/>
              <a:t>Companies with values above 100% have richer programs; companies with values below 100% offer less rich programs</a:t>
            </a:r>
          </a:p>
          <a:p>
            <a:pPr lvl="2"/>
            <a:r>
              <a:rPr lang="en-US" sz="1200" dirty="0"/>
              <a:t>The Employer Value graph represents the value of the plan that the employer subsidizes; the Total Value graph represents the value of the total plan design (including the portion that the employees pay)</a:t>
            </a:r>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4</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14" name="Chart 13">
            <a:extLst>
              <a:ext uri="{FF2B5EF4-FFF2-40B4-BE49-F238E27FC236}">
                <a16:creationId xmlns:a16="http://schemas.microsoft.com/office/drawing/2014/main" id="{2103FCEF-D2F4-4E7E-9AE7-9018BDE50DB4}"/>
              </a:ext>
            </a:extLst>
          </p:cNvPr>
          <p:cNvGraphicFramePr/>
          <p:nvPr>
            <p:extLst>
              <p:ext uri="{D42A27DB-BD31-4B8C-83A1-F6EECF244321}">
                <p14:modId xmlns:p14="http://schemas.microsoft.com/office/powerpoint/2010/main" val="3582854029"/>
              </p:ext>
            </p:extLst>
          </p:nvPr>
        </p:nvGraphicFramePr>
        <p:xfrm>
          <a:off x="431799" y="990449"/>
          <a:ext cx="8255001" cy="179312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0" name="Chart 9">
            <a:extLst>
              <a:ext uri="{FF2B5EF4-FFF2-40B4-BE49-F238E27FC236}">
                <a16:creationId xmlns:a16="http://schemas.microsoft.com/office/drawing/2014/main" id="{0FC84310-96D8-469A-89DB-D864F8A445C2}"/>
              </a:ext>
            </a:extLst>
          </p:cNvPr>
          <p:cNvGraphicFramePr/>
          <p:nvPr>
            <p:extLst>
              <p:ext uri="{D42A27DB-BD31-4B8C-83A1-F6EECF244321}">
                <p14:modId xmlns:p14="http://schemas.microsoft.com/office/powerpoint/2010/main" val="2749982196"/>
              </p:ext>
            </p:extLst>
          </p:nvPr>
        </p:nvGraphicFramePr>
        <p:xfrm>
          <a:off x="431798" y="2548513"/>
          <a:ext cx="8255001" cy="1793123"/>
        </p:xfrm>
        <a:graphic>
          <a:graphicData uri="http://schemas.openxmlformats.org/drawingml/2006/chart">
            <c:chart xmlns:c="http://schemas.openxmlformats.org/drawingml/2006/chart" xmlns:r="http://schemas.openxmlformats.org/officeDocument/2006/relationships" r:id="rId7"/>
          </a:graphicData>
        </a:graphic>
      </p:graphicFrame>
      <p:sp>
        <p:nvSpPr>
          <p:cNvPr id="11" name="Rectangle 10">
            <a:extLst>
              <a:ext uri="{FF2B5EF4-FFF2-40B4-BE49-F238E27FC236}">
                <a16:creationId xmlns:a16="http://schemas.microsoft.com/office/drawing/2014/main" id="{14A4E7BD-FF71-426D-ACCE-35C332A705BC}"/>
              </a:ext>
            </a:extLst>
          </p:cNvPr>
          <p:cNvSpPr/>
          <p:nvPr/>
        </p:nvSpPr>
        <p:spPr>
          <a:xfrm>
            <a:off x="3095625" y="4180475"/>
            <a:ext cx="2886891" cy="461665"/>
          </a:xfrm>
          <a:prstGeom prst="rect">
            <a:avLst/>
          </a:prstGeom>
          <a:ln>
            <a:solidFill>
              <a:schemeClr val="tx1"/>
            </a:solidFill>
          </a:ln>
        </p:spPr>
        <p:txBody>
          <a:bodyPr wrap="square">
            <a:spAutoFit/>
          </a:bodyPr>
          <a:lstStyle/>
          <a:p>
            <a:pPr algn="ctr"/>
            <a:r>
              <a:rPr lang="en-US" sz="800" b="1" dirty="0">
                <a:solidFill>
                  <a:schemeClr val="accent5"/>
                </a:solidFill>
                <a:latin typeface="Arial" panose="020B0604020202020204" pitchFamily="34" charset="0"/>
              </a:rPr>
              <a:t>RICH</a:t>
            </a:r>
            <a:r>
              <a:rPr lang="en-US" sz="800" dirty="0">
                <a:latin typeface="Arial" panose="020B0604020202020204" pitchFamily="34" charset="0"/>
              </a:rPr>
              <a:t> = rich plan design with low EE contributions</a:t>
            </a:r>
            <a:br>
              <a:rPr lang="en-US" sz="800" dirty="0">
                <a:latin typeface="Arial" panose="020B0604020202020204" pitchFamily="34" charset="0"/>
              </a:rPr>
            </a:br>
            <a:r>
              <a:rPr lang="en-US" sz="800" b="1" dirty="0">
                <a:solidFill>
                  <a:schemeClr val="accent1"/>
                </a:solidFill>
                <a:latin typeface="Arial" panose="020B0604020202020204" pitchFamily="34" charset="0"/>
              </a:rPr>
              <a:t>$$$$</a:t>
            </a:r>
            <a:r>
              <a:rPr lang="en-US" sz="800" dirty="0">
                <a:latin typeface="Arial" panose="020B0604020202020204" pitchFamily="34" charset="0"/>
              </a:rPr>
              <a:t> = rich plan design with high EE contributions</a:t>
            </a:r>
          </a:p>
          <a:p>
            <a:pPr algn="ctr"/>
            <a:r>
              <a:rPr lang="en-US" sz="800" b="1" dirty="0">
                <a:solidFill>
                  <a:schemeClr val="accent3"/>
                </a:solidFill>
                <a:latin typeface="Arial" panose="020B0604020202020204" pitchFamily="34" charset="0"/>
              </a:rPr>
              <a:t>POOR</a:t>
            </a:r>
            <a:r>
              <a:rPr lang="en-US" sz="800" dirty="0">
                <a:latin typeface="Arial" panose="020B0604020202020204" pitchFamily="34" charset="0"/>
              </a:rPr>
              <a:t> = poor plan design with high EE contributions </a:t>
            </a:r>
          </a:p>
        </p:txBody>
      </p:sp>
    </p:spTree>
    <p:custDataLst>
      <p:tags r:id="rId1"/>
    </p:custDataLst>
    <p:extLst>
      <p:ext uri="{BB962C8B-B14F-4D97-AF65-F5344CB8AC3E}">
        <p14:creationId xmlns:p14="http://schemas.microsoft.com/office/powerpoint/2010/main" val="3681023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eer Group">
    <p:spTree>
      <p:nvGrpSpPr>
        <p:cNvPr id="1" name=""/>
        <p:cNvGrpSpPr/>
        <p:nvPr/>
      </p:nvGrpSpPr>
      <p:grpSpPr>
        <a:xfrm>
          <a:off x="0" y="0"/>
          <a:ext cx="0" cy="0"/>
          <a:chOff x="0" y="0"/>
          <a:chExt cx="0" cy="0"/>
        </a:xfrm>
      </p:grpSpPr>
      <p:sp>
        <p:nvSpPr>
          <p:cNvPr id="7" name="Title 6"/>
          <p:cNvSpPr>
            <a:spLocks noGrp="1"/>
          </p:cNvSpPr>
          <p:nvPr>
            <p:ph type="title"/>
            <p:custDataLst>
              <p:tags r:id="rId2"/>
            </p:custDataLst>
          </p:nvPr>
        </p:nvSpPr>
        <p:spPr/>
        <p:txBody>
          <a:bodyPr/>
          <a:lstStyle/>
          <a:p>
            <a:r>
              <a:rPr lang="en-US" dirty="0"/>
              <a:t>2020 High Tech </a:t>
            </a:r>
            <a:r>
              <a:rPr lang="en-US" dirty="0" err="1"/>
              <a:t>BenVal</a:t>
            </a:r>
            <a:r>
              <a:rPr lang="en-US" dirty="0"/>
              <a:t> Peer Group</a:t>
            </a:r>
            <a:endParaRPr lang="en-GB" dirty="0"/>
          </a:p>
        </p:txBody>
      </p:sp>
      <p:sp>
        <p:nvSpPr>
          <p:cNvPr id="9" name="Text Placeholder 8"/>
          <p:cNvSpPr>
            <a:spLocks noGrp="1"/>
          </p:cNvSpPr>
          <p:nvPr>
            <p:ph type="body" sz="quarter" idx="13"/>
          </p:nvPr>
        </p:nvSpPr>
        <p:spPr/>
        <p:txBody>
          <a:bodyPr/>
          <a:lstStyle/>
          <a:p>
            <a:endParaRPr lang="en-GB"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5</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11"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5" name="PeerGrp_Table1">
            <a:extLst>
              <a:ext uri="{FF2B5EF4-FFF2-40B4-BE49-F238E27FC236}">
                <a16:creationId xmlns:a16="http://schemas.microsoft.com/office/drawing/2014/main" id="{C226362A-CB8D-434E-B4E7-305318C2CAAB}"/>
              </a:ext>
            </a:extLst>
          </p:cNvPr>
          <p:cNvGraphicFramePr>
            <a:graphicFrameLocks noGrp="1"/>
          </p:cNvGraphicFramePr>
          <p:nvPr>
            <p:extLst>
              <p:ext uri="{D42A27DB-BD31-4B8C-83A1-F6EECF244321}">
                <p14:modId xmlns:p14="http://schemas.microsoft.com/office/powerpoint/2010/main" val="4074436988"/>
              </p:ext>
            </p:extLst>
          </p:nvPr>
        </p:nvGraphicFramePr>
        <p:xfrm>
          <a:off x="431800" y="1232747"/>
          <a:ext cx="8255000" cy="4592125"/>
        </p:xfrm>
        <a:graphic>
          <a:graphicData uri="http://schemas.openxmlformats.org/drawingml/2006/table">
            <a:tbl>
              <a:tblPr/>
              <a:tblGrid>
                <a:gridCol w="2369429">
                  <a:extLst>
                    <a:ext uri="{9D8B030D-6E8A-4147-A177-3AD203B41FA5}">
                      <a16:colId xmlns:a16="http://schemas.microsoft.com/office/drawing/2014/main" val="1317493743"/>
                    </a:ext>
                  </a:extLst>
                </a:gridCol>
                <a:gridCol w="819552">
                  <a:extLst>
                    <a:ext uri="{9D8B030D-6E8A-4147-A177-3AD203B41FA5}">
                      <a16:colId xmlns:a16="http://schemas.microsoft.com/office/drawing/2014/main" val="1423616482"/>
                    </a:ext>
                  </a:extLst>
                </a:gridCol>
                <a:gridCol w="845989">
                  <a:extLst>
                    <a:ext uri="{9D8B030D-6E8A-4147-A177-3AD203B41FA5}">
                      <a16:colId xmlns:a16="http://schemas.microsoft.com/office/drawing/2014/main" val="1178932477"/>
                    </a:ext>
                  </a:extLst>
                </a:gridCol>
                <a:gridCol w="185060">
                  <a:extLst>
                    <a:ext uri="{9D8B030D-6E8A-4147-A177-3AD203B41FA5}">
                      <a16:colId xmlns:a16="http://schemas.microsoft.com/office/drawing/2014/main" val="417520415"/>
                    </a:ext>
                  </a:extLst>
                </a:gridCol>
                <a:gridCol w="2369429">
                  <a:extLst>
                    <a:ext uri="{9D8B030D-6E8A-4147-A177-3AD203B41FA5}">
                      <a16:colId xmlns:a16="http://schemas.microsoft.com/office/drawing/2014/main" val="952683338"/>
                    </a:ext>
                  </a:extLst>
                </a:gridCol>
                <a:gridCol w="819552">
                  <a:extLst>
                    <a:ext uri="{9D8B030D-6E8A-4147-A177-3AD203B41FA5}">
                      <a16:colId xmlns:a16="http://schemas.microsoft.com/office/drawing/2014/main" val="3782131109"/>
                    </a:ext>
                  </a:extLst>
                </a:gridCol>
                <a:gridCol w="845989">
                  <a:extLst>
                    <a:ext uri="{9D8B030D-6E8A-4147-A177-3AD203B41FA5}">
                      <a16:colId xmlns:a16="http://schemas.microsoft.com/office/drawing/2014/main" val="3420625051"/>
                    </a:ext>
                  </a:extLst>
                </a:gridCol>
              </a:tblGrid>
              <a:tr h="477325">
                <a:tc>
                  <a:txBody>
                    <a:bodyPr/>
                    <a:lstStyle/>
                    <a:p>
                      <a:pPr algn="l" fontAlgn="ctr"/>
                      <a:r>
                        <a:rPr lang="en-US" sz="1000" b="1" i="0" u="none" strike="noStrike" dirty="0">
                          <a:solidFill>
                            <a:srgbClr val="FFFFFF"/>
                          </a:solidFill>
                          <a:effectLst/>
                          <a:latin typeface="Arial" panose="020B0604020202020204" pitchFamily="34" charset="0"/>
                        </a:rPr>
                        <a:t>Company</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Plan Design</a:t>
                      </a:r>
                      <a:br>
                        <a:rPr lang="en-US" sz="1000" b="1" i="0" u="none" strike="noStrike" dirty="0">
                          <a:solidFill>
                            <a:srgbClr val="FFFFFF"/>
                          </a:solidFill>
                          <a:effectLst/>
                          <a:latin typeface="Arial" panose="020B0604020202020204" pitchFamily="34" charset="0"/>
                        </a:rPr>
                      </a:br>
                      <a:r>
                        <a:rPr lang="en-US" sz="1000" b="1" i="0" u="none" strike="noStrike" dirty="0">
                          <a:solidFill>
                            <a:srgbClr val="FFFFFF"/>
                          </a:solidFill>
                          <a:effectLst/>
                          <a:latin typeface="Arial" panose="020B0604020202020204" pitchFamily="34" charset="0"/>
                        </a:rPr>
                        <a:t> as of: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Included in Your Peer Group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l" fontAlgn="b"/>
                      <a:endParaRPr lang="en-US" sz="1000" b="0" i="0" u="none" strike="noStrike">
                        <a:effectLst/>
                        <a:latin typeface="Arial" panose="020B0604020202020204" pitchFamily="34" charset="0"/>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1" i="0" u="none" strike="noStrike" dirty="0">
                          <a:solidFill>
                            <a:srgbClr val="FFFFFF"/>
                          </a:solidFill>
                          <a:effectLst/>
                          <a:latin typeface="Arial" panose="020B0604020202020204" pitchFamily="34" charset="0"/>
                        </a:rPr>
                        <a:t>Company</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Plan Design</a:t>
                      </a:r>
                      <a:br>
                        <a:rPr lang="en-US" sz="1000" b="1" i="0" u="none" strike="noStrike" dirty="0">
                          <a:solidFill>
                            <a:srgbClr val="FFFFFF"/>
                          </a:solidFill>
                          <a:effectLst/>
                          <a:latin typeface="Arial" panose="020B0604020202020204" pitchFamily="34" charset="0"/>
                        </a:rPr>
                      </a:br>
                      <a:r>
                        <a:rPr lang="en-US" sz="1000" b="1" i="0" u="none" strike="noStrike" dirty="0">
                          <a:solidFill>
                            <a:srgbClr val="FFFFFF"/>
                          </a:solidFill>
                          <a:effectLst/>
                          <a:latin typeface="Arial" panose="020B0604020202020204" pitchFamily="34" charset="0"/>
                        </a:rPr>
                        <a:t> as of: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Included in Your Peer Group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974165409"/>
                  </a:ext>
                </a:extLst>
              </a:tr>
              <a:tr h="151153">
                <a:tc>
                  <a:txBody>
                    <a:bodyPr/>
                    <a:lstStyle/>
                    <a:p>
                      <a:pPr algn="l" fontAlgn="ctr"/>
                      <a:r>
                        <a:rPr lang="en-US" sz="1000" b="0" i="0" u="none" strike="noStrike" dirty="0">
                          <a:effectLst/>
                          <a:latin typeface="Arial" panose="020B0604020202020204" pitchFamily="34" charset="0"/>
                        </a:rPr>
                        <a:t>Advanced Micro </a:t>
                      </a:r>
                      <a:r>
                        <a:rPr lang="en-US" sz="1000" b="0" i="0" u="none" strike="noStrike" dirty="0" err="1">
                          <a:effectLst/>
                          <a:latin typeface="Arial" panose="020B0604020202020204" pitchFamily="34" charset="0"/>
                        </a:rPr>
                        <a:t>DERices</a:t>
                      </a:r>
                      <a:r>
                        <a:rPr lang="en-US" sz="1000" b="0" i="0" u="none" strike="noStrike" dirty="0">
                          <a:effectLst/>
                          <a:latin typeface="Arial" panose="020B0604020202020204" pitchFamily="34" charset="0"/>
                        </a:rPr>
                        <a:t>,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err="1">
                          <a:effectLst/>
                          <a:latin typeface="Arial" panose="020B0604020202020204" pitchFamily="34" charset="0"/>
                        </a:rPr>
                        <a:t>Lumentum</a:t>
                      </a:r>
                      <a:r>
                        <a:rPr lang="en-US" sz="1000" b="0" i="0" u="none" strike="noStrike" dirty="0">
                          <a:effectLst/>
                          <a:latin typeface="Arial" panose="020B0604020202020204" pitchFamily="34" charset="0"/>
                        </a:rPr>
                        <a:t> Inc</a:t>
                      </a:r>
                      <a:r>
                        <a:rPr lang="en-US" sz="1000" b="0" i="0" u="none" strike="noStrike" baseline="30000" dirty="0">
                          <a:effectLst/>
                          <a:latin typeface="Arial" panose="020B0604020202020204" pitchFamily="34" charset="0"/>
                        </a:rPr>
                        <a:t>1</a:t>
                      </a:r>
                      <a:endParaRPr lang="en-US" sz="1000" b="0" i="0" u="none" strike="noStrike" dirty="0">
                        <a:effectLst/>
                        <a:latin typeface="Arial" panose="020B0604020202020204" pitchFamily="34" charset="0"/>
                      </a:endParaRP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45975734"/>
                  </a:ext>
                </a:extLst>
              </a:tr>
              <a:tr h="151153">
                <a:tc>
                  <a:txBody>
                    <a:bodyPr/>
                    <a:lstStyle/>
                    <a:p>
                      <a:pPr algn="l" fontAlgn="ctr"/>
                      <a:r>
                        <a:rPr lang="en-US" sz="1000" b="0" i="0" u="none" strike="noStrike" dirty="0">
                          <a:effectLst/>
                          <a:latin typeface="Arial" panose="020B0604020202020204" pitchFamily="34" charset="0"/>
                        </a:rPr>
                        <a:t>Agilent Technologies,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Maxim Integrated</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96946051"/>
                  </a:ext>
                </a:extLst>
              </a:tr>
              <a:tr h="151153">
                <a:tc>
                  <a:txBody>
                    <a:bodyPr/>
                    <a:lstStyle/>
                    <a:p>
                      <a:pPr algn="l" fontAlgn="ctr"/>
                      <a:r>
                        <a:rPr lang="en-US" sz="1000" b="0" i="0" u="none" strike="noStrike" dirty="0">
                          <a:effectLst/>
                          <a:latin typeface="Arial" panose="020B0604020202020204" pitchFamily="34" charset="0"/>
                        </a:rPr>
                        <a:t>Airbnb</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Microsoft Corporation</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32306263"/>
                  </a:ext>
                </a:extLst>
              </a:tr>
              <a:tr h="151153">
                <a:tc>
                  <a:txBody>
                    <a:bodyPr/>
                    <a:lstStyle/>
                    <a:p>
                      <a:pPr algn="l" fontAlgn="ctr"/>
                      <a:r>
                        <a:rPr lang="en-US" sz="1000" b="0" i="0" u="none" strike="noStrike" dirty="0">
                          <a:effectLst/>
                          <a:latin typeface="Arial" panose="020B0604020202020204" pitchFamily="34" charset="0"/>
                        </a:rPr>
                        <a:t>Apple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NetApp</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22024000"/>
                  </a:ext>
                </a:extLst>
              </a:tr>
              <a:tr h="151153">
                <a:tc>
                  <a:txBody>
                    <a:bodyPr/>
                    <a:lstStyle/>
                    <a:p>
                      <a:pPr algn="l" fontAlgn="ctr"/>
                      <a:r>
                        <a:rPr lang="en-US" sz="1000" b="0" i="0" u="none" strike="noStrike" dirty="0">
                          <a:effectLst/>
                          <a:latin typeface="Arial" panose="020B0604020202020204" pitchFamily="34" charset="0"/>
                        </a:rPr>
                        <a:t>Applied Materials</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NVIDIA</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9126645"/>
                  </a:ext>
                </a:extLst>
              </a:tr>
              <a:tr h="151153">
                <a:tc>
                  <a:txBody>
                    <a:bodyPr/>
                    <a:lstStyle/>
                    <a:p>
                      <a:pPr algn="l" fontAlgn="ctr"/>
                      <a:r>
                        <a:rPr lang="en-US" sz="1000" b="0" i="0" u="none" strike="noStrike" dirty="0">
                          <a:effectLst/>
                          <a:latin typeface="Arial" panose="020B0604020202020204" pitchFamily="34" charset="0"/>
                        </a:rPr>
                        <a:t>AT&amp;T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Oath</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78319229"/>
                  </a:ext>
                </a:extLst>
              </a:tr>
              <a:tr h="151153">
                <a:tc>
                  <a:txBody>
                    <a:bodyPr/>
                    <a:lstStyle/>
                    <a:p>
                      <a:pPr algn="l" fontAlgn="ctr"/>
                      <a:r>
                        <a:rPr lang="en-US" sz="1000" b="0" i="0" u="none" strike="noStrike" dirty="0">
                          <a:effectLst/>
                          <a:latin typeface="Arial" panose="020B0604020202020204" pitchFamily="34" charset="0"/>
                        </a:rPr>
                        <a:t>Atlassian</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Oracle America,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71182598"/>
                  </a:ext>
                </a:extLst>
              </a:tr>
              <a:tr h="151153">
                <a:tc>
                  <a:txBody>
                    <a:bodyPr/>
                    <a:lstStyle/>
                    <a:p>
                      <a:pPr algn="l" fontAlgn="ctr"/>
                      <a:r>
                        <a:rPr lang="en-US" sz="1000" b="0" i="0" u="none" strike="noStrike" dirty="0">
                          <a:effectLst/>
                          <a:latin typeface="Arial" panose="020B0604020202020204" pitchFamily="34" charset="0"/>
                        </a:rPr>
                        <a:t>Avaya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Palo Alto Networks,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39044959"/>
                  </a:ext>
                </a:extLst>
              </a:tr>
              <a:tr h="151153">
                <a:tc>
                  <a:txBody>
                    <a:bodyPr/>
                    <a:lstStyle/>
                    <a:p>
                      <a:pPr algn="l" fontAlgn="ctr"/>
                      <a:r>
                        <a:rPr lang="en-US" sz="1000" b="0" i="0" u="none" strike="noStrike" dirty="0">
                          <a:effectLst/>
                          <a:latin typeface="Arial" panose="020B0604020202020204" pitchFamily="34" charset="0"/>
                        </a:rPr>
                        <a:t>BMC Software,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Pure Storage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09243333"/>
                  </a:ext>
                </a:extLst>
              </a:tr>
              <a:tr h="151153">
                <a:tc>
                  <a:txBody>
                    <a:bodyPr/>
                    <a:lstStyle/>
                    <a:p>
                      <a:pPr algn="l" fontAlgn="ctr"/>
                      <a:r>
                        <a:rPr lang="en-US" sz="1000" b="0" i="0" u="none" strike="noStrike" dirty="0">
                          <a:solidFill>
                            <a:srgbClr val="BFBFBF"/>
                          </a:solidFill>
                          <a:effectLst/>
                          <a:latin typeface="Arial" panose="020B0604020202020204" pitchFamily="34" charset="0"/>
                        </a:rPr>
                        <a:t>Box</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BFBFBF"/>
                          </a:solidFill>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BFBFBF"/>
                          </a:solidFill>
                          <a:effectLst/>
                          <a:latin typeface="Arial" panose="020B0604020202020204" pitchFamily="34" charset="0"/>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QUALCOMM Incorporated</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92471459"/>
                  </a:ext>
                </a:extLst>
              </a:tr>
              <a:tr h="151153">
                <a:tc>
                  <a:txBody>
                    <a:bodyPr/>
                    <a:lstStyle/>
                    <a:p>
                      <a:pPr algn="l" fontAlgn="ctr"/>
                      <a:r>
                        <a:rPr lang="en-US" sz="1000" b="0" i="0" u="none" strike="noStrike" dirty="0">
                          <a:effectLst/>
                          <a:latin typeface="Arial" panose="020B0604020202020204" pitchFamily="34" charset="0"/>
                        </a:rPr>
                        <a:t>Broadcom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Rackspace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14400785"/>
                  </a:ext>
                </a:extLst>
              </a:tr>
              <a:tr h="151153">
                <a:tc>
                  <a:txBody>
                    <a:bodyPr/>
                    <a:lstStyle/>
                    <a:p>
                      <a:pPr algn="l" fontAlgn="ctr"/>
                      <a:r>
                        <a:rPr lang="en-US" sz="1000" b="0" i="0" u="none" strike="noStrike" dirty="0">
                          <a:effectLst/>
                          <a:latin typeface="Arial" panose="020B0604020202020204" pitchFamily="34" charset="0"/>
                        </a:rPr>
                        <a:t>Cisco Systems,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Salesforce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59565172"/>
                  </a:ext>
                </a:extLst>
              </a:tr>
              <a:tr h="151153">
                <a:tc>
                  <a:txBody>
                    <a:bodyPr/>
                    <a:lstStyle/>
                    <a:p>
                      <a:pPr algn="l" fontAlgn="ctr"/>
                      <a:r>
                        <a:rPr lang="en-US" sz="1000" b="0" i="0" u="none" strike="noStrike" dirty="0">
                          <a:effectLst/>
                          <a:latin typeface="Arial" panose="020B0604020202020204" pitchFamily="34" charset="0"/>
                        </a:rPr>
                        <a:t>Dell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Seagate Technology, US LLC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82004158"/>
                  </a:ext>
                </a:extLst>
              </a:tr>
              <a:tr h="151153">
                <a:tc>
                  <a:txBody>
                    <a:bodyPr/>
                    <a:lstStyle/>
                    <a:p>
                      <a:pPr algn="l" fontAlgn="ctr"/>
                      <a:r>
                        <a:rPr lang="en-US" sz="1000" b="0" i="0" u="none" strike="noStrike" dirty="0">
                          <a:effectLst/>
                          <a:latin typeface="Arial" panose="020B0604020202020204" pitchFamily="34" charset="0"/>
                        </a:rPr>
                        <a:t>eBay,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C00"/>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C00"/>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C00"/>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Slack</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89165647"/>
                  </a:ext>
                </a:extLst>
              </a:tr>
              <a:tr h="151153">
                <a:tc>
                  <a:txBody>
                    <a:bodyPr/>
                    <a:lstStyle/>
                    <a:p>
                      <a:pPr algn="l" fontAlgn="ctr"/>
                      <a:r>
                        <a:rPr lang="en-US" sz="1000" b="0" i="0" u="none" strike="noStrike" dirty="0">
                          <a:effectLst/>
                          <a:latin typeface="Arial" panose="020B0604020202020204" pitchFamily="34" charset="0"/>
                        </a:rPr>
                        <a:t>Ericsson</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Sony Interactive Entertainment (SIE)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71939498"/>
                  </a:ext>
                </a:extLst>
              </a:tr>
              <a:tr h="151153">
                <a:tc>
                  <a:txBody>
                    <a:bodyPr/>
                    <a:lstStyle/>
                    <a:p>
                      <a:pPr algn="l" fontAlgn="ctr"/>
                      <a:r>
                        <a:rPr lang="en-US" sz="1000" b="0" i="0" u="none" strike="noStrike" dirty="0">
                          <a:effectLst/>
                          <a:latin typeface="Arial" panose="020B0604020202020204" pitchFamily="34" charset="0"/>
                        </a:rPr>
                        <a:t>Expedia,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Splunk</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54641523"/>
                  </a:ext>
                </a:extLst>
              </a:tr>
              <a:tr h="151153">
                <a:tc>
                  <a:txBody>
                    <a:bodyPr/>
                    <a:lstStyle/>
                    <a:p>
                      <a:pPr algn="l" fontAlgn="ctr"/>
                      <a:r>
                        <a:rPr lang="en-US" sz="1000" b="0" i="0" u="none" strike="noStrike" dirty="0">
                          <a:effectLst/>
                          <a:latin typeface="Arial" panose="020B0604020202020204" pitchFamily="34" charset="0"/>
                        </a:rPr>
                        <a:t>Facebook,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SRI International</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37363916"/>
                  </a:ext>
                </a:extLst>
              </a:tr>
              <a:tr h="151153">
                <a:tc>
                  <a:txBody>
                    <a:bodyPr/>
                    <a:lstStyle/>
                    <a:p>
                      <a:pPr algn="l" fontAlgn="ctr"/>
                      <a:r>
                        <a:rPr lang="en-US" sz="1000" b="0" i="0" u="none" strike="noStrike" dirty="0">
                          <a:effectLst/>
                          <a:latin typeface="Arial" panose="020B0604020202020204" pitchFamily="34" charset="0"/>
                        </a:rPr>
                        <a:t>GLOBALFOUNDRIES</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Stripe</a:t>
                      </a:r>
                      <a:r>
                        <a:rPr lang="en-US" sz="1000" b="0" i="0" u="none" strike="noStrike" baseline="30000" dirty="0">
                          <a:effectLst/>
                          <a:latin typeface="Arial" panose="020B0604020202020204" pitchFamily="34" charset="0"/>
                        </a:rPr>
                        <a:t>1</a:t>
                      </a:r>
                      <a:endParaRPr lang="en-US" sz="1000" b="0" i="0" u="none" strike="noStrike" dirty="0">
                        <a:effectLst/>
                        <a:latin typeface="Arial" panose="020B0604020202020204" pitchFamily="34" charset="0"/>
                      </a:endParaRP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5628495"/>
                  </a:ext>
                </a:extLst>
              </a:tr>
              <a:tr h="151153">
                <a:tc>
                  <a:txBody>
                    <a:bodyPr/>
                    <a:lstStyle/>
                    <a:p>
                      <a:pPr algn="l" fontAlgn="ctr"/>
                      <a:r>
                        <a:rPr lang="en-US" sz="1000" b="0" i="0" u="none" strike="noStrike" dirty="0">
                          <a:effectLst/>
                          <a:latin typeface="Arial" panose="020B0604020202020204" pitchFamily="34" charset="0"/>
                        </a:rPr>
                        <a:t>GoDaddy</a:t>
                      </a:r>
                      <a:r>
                        <a:rPr lang="en-US" sz="1000" b="0" i="0" u="none" strike="noStrike" baseline="30000" dirty="0">
                          <a:effectLst/>
                          <a:latin typeface="Arial" panose="020B0604020202020204" pitchFamily="34" charset="0"/>
                        </a:rPr>
                        <a:t>1</a:t>
                      </a:r>
                      <a:endParaRPr lang="en-US" sz="1000" b="0" i="0" u="none" strike="noStrike" dirty="0">
                        <a:effectLst/>
                        <a:latin typeface="Arial" panose="020B0604020202020204" pitchFamily="34" charset="0"/>
                      </a:endParaRP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err="1">
                          <a:effectLst/>
                          <a:latin typeface="Arial" panose="020B0604020202020204" pitchFamily="34" charset="0"/>
                        </a:rPr>
                        <a:t>Synaptics</a:t>
                      </a:r>
                      <a:endParaRPr lang="en-US" sz="1000" b="0" i="0" u="none" strike="noStrike" dirty="0">
                        <a:effectLst/>
                        <a:latin typeface="Arial" panose="020B0604020202020204" pitchFamily="34" charset="0"/>
                      </a:endParaRP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57013473"/>
                  </a:ext>
                </a:extLst>
              </a:tr>
              <a:tr h="151153">
                <a:tc>
                  <a:txBody>
                    <a:bodyPr/>
                    <a:lstStyle/>
                    <a:p>
                      <a:pPr algn="l" fontAlgn="ctr"/>
                      <a:r>
                        <a:rPr lang="en-US" sz="1000" b="0" i="0" u="none" strike="noStrike" dirty="0">
                          <a:effectLst/>
                          <a:latin typeface="Arial" panose="020B0604020202020204" pitchFamily="34" charset="0"/>
                        </a:rPr>
                        <a:t>Intel Corporation</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Tableau</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47194406"/>
                  </a:ext>
                </a:extLst>
              </a:tr>
              <a:tr h="151153">
                <a:tc>
                  <a:txBody>
                    <a:bodyPr/>
                    <a:lstStyle/>
                    <a:p>
                      <a:pPr algn="l" fontAlgn="ctr"/>
                      <a:r>
                        <a:rPr lang="en-US" sz="1000" b="0" i="0" u="none" strike="noStrike" dirty="0">
                          <a:effectLst/>
                          <a:latin typeface="Arial" panose="020B0604020202020204" pitchFamily="34" charset="0"/>
                        </a:rPr>
                        <a:t>Intuit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Texas Instruments</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37637111"/>
                  </a:ext>
                </a:extLst>
              </a:tr>
              <a:tr h="151153">
                <a:tc>
                  <a:txBody>
                    <a:bodyPr/>
                    <a:lstStyle/>
                    <a:p>
                      <a:pPr algn="l" fontAlgn="ctr"/>
                      <a:r>
                        <a:rPr lang="en-US" sz="1000" b="0" i="0" u="none" strike="noStrike" dirty="0" err="1">
                          <a:effectLst/>
                          <a:latin typeface="Arial" panose="020B0604020202020204" pitchFamily="34" charset="0"/>
                        </a:rPr>
                        <a:t>Itron</a:t>
                      </a:r>
                      <a:r>
                        <a:rPr lang="en-US" sz="1000" b="0" i="0" u="none" strike="noStrike" dirty="0">
                          <a:effectLst/>
                          <a:latin typeface="Arial" panose="020B0604020202020204" pitchFamily="34" charset="0"/>
                        </a:rPr>
                        <a:t>, Inc.</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The Boeing Company</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19229106"/>
                  </a:ext>
                </a:extLst>
              </a:tr>
              <a:tr h="151153">
                <a:tc>
                  <a:txBody>
                    <a:bodyPr/>
                    <a:lstStyle/>
                    <a:p>
                      <a:pPr algn="l" fontAlgn="ctr"/>
                      <a:r>
                        <a:rPr lang="en-US" sz="1000" b="0" i="0" u="none" strike="noStrike" dirty="0">
                          <a:effectLst/>
                          <a:latin typeface="Arial" panose="020B0604020202020204" pitchFamily="34" charset="0"/>
                        </a:rPr>
                        <a:t>Keysight</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Trimble Navigation Limited</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98137056"/>
                  </a:ext>
                </a:extLst>
              </a:tr>
              <a:tr h="151153">
                <a:tc>
                  <a:txBody>
                    <a:bodyPr/>
                    <a:lstStyle/>
                    <a:p>
                      <a:pPr algn="l" fontAlgn="ctr"/>
                      <a:r>
                        <a:rPr lang="en-US" sz="1000" b="0" i="0" u="none" strike="noStrike" dirty="0">
                          <a:effectLst/>
                          <a:latin typeface="Arial" panose="020B0604020202020204" pitchFamily="34" charset="0"/>
                        </a:rPr>
                        <a:t>KLA</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err="1">
                          <a:effectLst/>
                          <a:latin typeface="Arial" panose="020B0604020202020204" pitchFamily="34" charset="0"/>
                        </a:rPr>
                        <a:t>VMware,Inc</a:t>
                      </a:r>
                      <a:r>
                        <a:rPr lang="en-US" sz="1000" b="0" i="0" u="none" strike="noStrike" dirty="0">
                          <a:effectLst/>
                          <a:latin typeface="Arial" panose="020B0604020202020204" pitchFamily="34" charset="0"/>
                        </a:rPr>
                        <a:t>.</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753794770"/>
                  </a:ext>
                </a:extLst>
              </a:tr>
              <a:tr h="151153">
                <a:tc>
                  <a:txBody>
                    <a:bodyPr/>
                    <a:lstStyle/>
                    <a:p>
                      <a:pPr algn="l" fontAlgn="ctr"/>
                      <a:r>
                        <a:rPr lang="en-US" sz="1000" b="0" i="0" u="none" strike="noStrike" dirty="0">
                          <a:effectLst/>
                          <a:latin typeface="Arial" panose="020B0604020202020204" pitchFamily="34" charset="0"/>
                        </a:rPr>
                        <a:t>Lenovo</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Walmart eCommerce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44812391"/>
                  </a:ext>
                </a:extLst>
              </a:tr>
              <a:tr h="151153">
                <a:tc>
                  <a:txBody>
                    <a:bodyPr/>
                    <a:lstStyle/>
                    <a:p>
                      <a:pPr algn="l" fontAlgn="ctr"/>
                      <a:r>
                        <a:rPr lang="en-US" sz="1000" b="0" i="0" u="none" strike="noStrike" dirty="0">
                          <a:effectLst/>
                          <a:latin typeface="Arial" panose="020B0604020202020204" pitchFamily="34" charset="0"/>
                        </a:rPr>
                        <a:t>LinkedIn Corporation</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ctr"/>
                      <a:endParaRPr lang="en-US" sz="1000" b="0" i="0" u="none" strike="noStrike">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Yazaki</a:t>
                      </a:r>
                      <a:r>
                        <a:rPr lang="en-US" sz="1000" b="0" i="0" u="none" strike="noStrike" baseline="30000" dirty="0">
                          <a:effectLst/>
                          <a:latin typeface="Arial" panose="020B0604020202020204" pitchFamily="34" charset="0"/>
                        </a:rPr>
                        <a:t>1</a:t>
                      </a:r>
                      <a:endParaRPr lang="en-US" sz="1000" b="0" i="0" u="none" strike="noStrike" dirty="0">
                        <a:effectLst/>
                        <a:latin typeface="Arial" panose="020B0604020202020204" pitchFamily="34" charset="0"/>
                      </a:endParaRP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62667201"/>
                  </a:ext>
                </a:extLst>
              </a:tr>
              <a:tr h="151153">
                <a:tc>
                  <a:txBody>
                    <a:bodyPr/>
                    <a:lstStyle/>
                    <a:p>
                      <a:pPr algn="l" fontAlgn="ctr"/>
                      <a:r>
                        <a:rPr lang="en-US" sz="1000" b="0" i="0" u="none" strike="noStrike" dirty="0">
                          <a:effectLst/>
                          <a:latin typeface="Arial" panose="020B0604020202020204" pitchFamily="34" charset="0"/>
                        </a:rPr>
                        <a:t>Logitech</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l" fontAlgn="b"/>
                      <a:endParaRPr lang="en-US" sz="1000" b="0" i="0" u="none" strike="noStrike">
                        <a:effectLst/>
                        <a:latin typeface="Arial" panose="020B0604020202020204" pitchFamily="34" charset="0"/>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l" fontAlgn="ctr"/>
                      <a:r>
                        <a:rPr lang="en-US" sz="1000" b="0" i="0" u="none" strike="noStrike" dirty="0">
                          <a:effectLst/>
                          <a:latin typeface="Arial" panose="020B0604020202020204" pitchFamily="34" charset="0"/>
                        </a:rPr>
                        <a:t>Zendesk</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87956003"/>
                  </a:ext>
                </a:extLst>
              </a:tr>
            </a:tbl>
          </a:graphicData>
        </a:graphic>
      </p:graphicFrame>
      <p:sp>
        <p:nvSpPr>
          <p:cNvPr id="8" name="PG_FootNotes">
            <a:extLst>
              <a:ext uri="{FF2B5EF4-FFF2-40B4-BE49-F238E27FC236}">
                <a16:creationId xmlns:a16="http://schemas.microsoft.com/office/drawing/2014/main" id="{8FE8258C-D9CD-4F5D-B214-1B62AC01B8C8}"/>
              </a:ext>
            </a:extLst>
          </p:cNvPr>
          <p:cNvSpPr/>
          <p:nvPr/>
        </p:nvSpPr>
        <p:spPr>
          <a:xfrm>
            <a:off x="431800" y="5840909"/>
            <a:ext cx="8255000" cy="400110"/>
          </a:xfrm>
          <a:prstGeom prst="rect">
            <a:avLst/>
          </a:prstGeom>
        </p:spPr>
        <p:txBody>
          <a:bodyPr wrap="square">
            <a:spAutoFit/>
          </a:bodyPr>
          <a:lstStyle/>
          <a:p>
            <a:r>
              <a:rPr lang="en-US" sz="1000" baseline="30000" dirty="0">
                <a:latin typeface="Arial" panose="020B0604020202020204" pitchFamily="34" charset="0"/>
              </a:rPr>
              <a:t>1 </a:t>
            </a:r>
            <a:r>
              <a:rPr lang="en-US" sz="1000" dirty="0">
                <a:latin typeface="Arial" panose="020B0604020202020204" pitchFamily="34" charset="0"/>
              </a:rPr>
              <a:t>{{FOOTNOTE1}}</a:t>
            </a:r>
            <a:endParaRPr lang="en-US" sz="1000" dirty="0"/>
          </a:p>
          <a:p>
            <a:r>
              <a:rPr lang="en-US" sz="1000" dirty="0"/>
              <a:t>Note: {{FOOTNOTE2}}</a:t>
            </a:r>
          </a:p>
        </p:txBody>
      </p:sp>
    </p:spTree>
    <p:custDataLst>
      <p:tags r:id="rId1"/>
    </p:custDataLst>
    <p:extLst>
      <p:ext uri="{BB962C8B-B14F-4D97-AF65-F5344CB8AC3E}">
        <p14:creationId xmlns:p14="http://schemas.microsoft.com/office/powerpoint/2010/main" val="1049858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84A48-2D8D-400F-8C73-0EDC8353B517}"/>
              </a:ext>
            </a:extLst>
          </p:cNvPr>
          <p:cNvSpPr>
            <a:spLocks noGrp="1"/>
          </p:cNvSpPr>
          <p:nvPr>
            <p:ph type="title"/>
          </p:nvPr>
        </p:nvSpPr>
        <p:spPr/>
        <p:txBody>
          <a:bodyPr/>
          <a:lstStyle/>
          <a:p>
            <a:r>
              <a:rPr lang="en-US" dirty="0"/>
              <a:t>Summary of Benefit Changes for 2020</a:t>
            </a:r>
          </a:p>
        </p:txBody>
      </p:sp>
      <p:sp>
        <p:nvSpPr>
          <p:cNvPr id="3" name="Text Placeholder 2">
            <a:extLst>
              <a:ext uri="{FF2B5EF4-FFF2-40B4-BE49-F238E27FC236}">
                <a16:creationId xmlns:a16="http://schemas.microsoft.com/office/drawing/2014/main" id="{E5080FCB-3587-428C-9FA1-282FC5287365}"/>
              </a:ext>
            </a:extLst>
          </p:cNvPr>
          <p:cNvSpPr>
            <a:spLocks noGrp="1"/>
          </p:cNvSpPr>
          <p:nvPr>
            <p:ph type="body" sz="quarter" idx="13"/>
          </p:nvPr>
        </p:nvSpPr>
        <p:spPr/>
        <p:txBody>
          <a:bodyPr/>
          <a:lstStyle/>
          <a:p>
            <a:endParaRPr lang="en-US"/>
          </a:p>
        </p:txBody>
      </p:sp>
      <p:sp>
        <p:nvSpPr>
          <p:cNvPr id="4" name="Content Placeholder 3">
            <a:extLst>
              <a:ext uri="{FF2B5EF4-FFF2-40B4-BE49-F238E27FC236}">
                <a16:creationId xmlns:a16="http://schemas.microsoft.com/office/drawing/2014/main" id="{C275757E-8B40-46F0-B683-F768A1323B6C}"/>
              </a:ext>
            </a:extLst>
          </p:cNvPr>
          <p:cNvSpPr>
            <a:spLocks noGrp="1"/>
          </p:cNvSpPr>
          <p:nvPr>
            <p:ph idx="1"/>
          </p:nvPr>
        </p:nvSpPr>
        <p:spPr/>
        <p:txBody>
          <a:bodyPr/>
          <a:lstStyle/>
          <a:p>
            <a:pPr marL="0" lvl="2" indent="0">
              <a:buNone/>
            </a:pPr>
            <a:r>
              <a:rPr lang="en-US" sz="1200" i="1" u="sng" dirty="0"/>
              <a:t>Changes impacting the </a:t>
            </a:r>
            <a:r>
              <a:rPr lang="en-US" sz="1200" i="1" u="sng" dirty="0" err="1"/>
              <a:t>BenVal</a:t>
            </a:r>
            <a:r>
              <a:rPr lang="en-US" sz="1200" i="1" u="sng" dirty="0"/>
              <a:t> study results</a:t>
            </a:r>
          </a:p>
          <a:p>
            <a:pPr lvl="2"/>
            <a:r>
              <a:rPr lang="en-US" sz="1200" dirty="0"/>
              <a:t>Medical</a:t>
            </a:r>
          </a:p>
          <a:p>
            <a:pPr lvl="3"/>
            <a:r>
              <a:rPr lang="en-US" sz="1200" dirty="0"/>
              <a:t>PPO</a:t>
            </a:r>
          </a:p>
          <a:p>
            <a:pPr lvl="4"/>
            <a:r>
              <a:rPr lang="en-US" dirty="0"/>
              <a:t>Increase Rx copays from $10/$20/$40 to $10/$25/$50</a:t>
            </a:r>
          </a:p>
          <a:p>
            <a:pPr lvl="3"/>
            <a:r>
              <a:rPr lang="en-US" sz="1200" dirty="0"/>
              <a:t>CDHP</a:t>
            </a:r>
          </a:p>
          <a:p>
            <a:pPr lvl="4"/>
            <a:r>
              <a:rPr lang="en-US" dirty="0"/>
              <a:t>Increased Employer Seed from $500 / $1,000 (individual / family) to $600 / $1,200 (individual / family)</a:t>
            </a:r>
          </a:p>
          <a:p>
            <a:pPr lvl="2"/>
            <a:r>
              <a:rPr lang="en-US" sz="1200" dirty="0"/>
              <a:t>Dental</a:t>
            </a:r>
          </a:p>
          <a:p>
            <a:pPr lvl="3"/>
            <a:r>
              <a:rPr lang="en-US" sz="1200" dirty="0"/>
              <a:t>Increased Orthodontia Lifetime Max from $1,500 to $2,000</a:t>
            </a:r>
          </a:p>
          <a:p>
            <a:pPr lvl="2"/>
            <a:r>
              <a:rPr lang="en-US" sz="1200" dirty="0"/>
              <a:t>Savings / Profit Sharing</a:t>
            </a:r>
          </a:p>
          <a:p>
            <a:pPr lvl="2"/>
            <a:r>
              <a:rPr lang="en-US" sz="1200" dirty="0"/>
              <a:t>Short-Term Disability</a:t>
            </a:r>
          </a:p>
          <a:p>
            <a:pPr lvl="2"/>
            <a:r>
              <a:rPr lang="en-US" sz="1200" dirty="0"/>
              <a:t>Long-Term Disability</a:t>
            </a:r>
          </a:p>
          <a:p>
            <a:pPr lvl="2"/>
            <a:r>
              <a:rPr lang="en-US" sz="1200" dirty="0"/>
              <a:t>Life</a:t>
            </a:r>
          </a:p>
          <a:p>
            <a:pPr lvl="2"/>
            <a:r>
              <a:rPr lang="en-US" sz="1200" dirty="0"/>
              <a:t>Paid Time Off</a:t>
            </a:r>
          </a:p>
          <a:p>
            <a:pPr marL="0" lvl="2" indent="0">
              <a:buNone/>
            </a:pPr>
            <a:endParaRPr lang="en-US" sz="1200" dirty="0"/>
          </a:p>
          <a:p>
            <a:pPr marL="0" lvl="2" indent="0">
              <a:buNone/>
            </a:pPr>
            <a:r>
              <a:rPr lang="en-US" sz="1200" i="1" u="sng" dirty="0"/>
              <a:t>Changes </a:t>
            </a:r>
            <a:r>
              <a:rPr lang="en-US" sz="1200" b="1" i="1" u="sng" dirty="0"/>
              <a:t>NOT</a:t>
            </a:r>
            <a:r>
              <a:rPr lang="en-US" sz="1200" i="1" u="sng" dirty="0"/>
              <a:t> impacting the </a:t>
            </a:r>
            <a:r>
              <a:rPr lang="en-US" sz="1200" i="1" u="sng" dirty="0" err="1"/>
              <a:t>BenVal</a:t>
            </a:r>
            <a:r>
              <a:rPr lang="en-US" sz="1200" i="1" u="sng" dirty="0"/>
              <a:t> study results</a:t>
            </a:r>
          </a:p>
          <a:p>
            <a:pPr lvl="2"/>
            <a:r>
              <a:rPr lang="en-US" sz="1200" dirty="0"/>
              <a:t>Medical</a:t>
            </a:r>
          </a:p>
          <a:p>
            <a:pPr lvl="3"/>
            <a:r>
              <a:rPr lang="en-US" sz="1200" dirty="0"/>
              <a:t>HMO</a:t>
            </a:r>
          </a:p>
          <a:p>
            <a:pPr lvl="4"/>
            <a:r>
              <a:rPr lang="en-US" dirty="0"/>
              <a:t>Increase Specialist copay from $15 to $30</a:t>
            </a:r>
          </a:p>
          <a:p>
            <a:pPr lvl="2"/>
            <a:r>
              <a:rPr lang="en-US" sz="1200" dirty="0"/>
              <a:t>Vision</a:t>
            </a:r>
          </a:p>
          <a:p>
            <a:pPr lvl="3"/>
            <a:r>
              <a:rPr lang="en-US" sz="1200" dirty="0"/>
              <a:t>Implement Buy Up Option </a:t>
            </a:r>
          </a:p>
          <a:p>
            <a:pPr lvl="2"/>
            <a:endParaRPr lang="en-US" sz="1200" dirty="0"/>
          </a:p>
        </p:txBody>
      </p:sp>
      <p:sp>
        <p:nvSpPr>
          <p:cNvPr id="5" name="Slide Number Placeholder 4">
            <a:extLst>
              <a:ext uri="{FF2B5EF4-FFF2-40B4-BE49-F238E27FC236}">
                <a16:creationId xmlns:a16="http://schemas.microsoft.com/office/drawing/2014/main" id="{A1143754-B297-4044-8F83-8ED545D776C5}"/>
              </a:ext>
            </a:extLst>
          </p:cNvPr>
          <p:cNvSpPr>
            <a:spLocks noGrp="1"/>
          </p:cNvSpPr>
          <p:nvPr>
            <p:ph type="sldNum" sz="quarter" idx="4"/>
          </p:nvPr>
        </p:nvSpPr>
        <p:spPr/>
        <p:txBody>
          <a:bodyPr/>
          <a:lstStyle/>
          <a:p>
            <a:fld id="{2083E393-C0BF-4ED8-8545-7E4C90AFF831}" type="slidenum">
              <a:rPr lang="en-US" smtClean="0"/>
              <a:pPr/>
              <a:t>6</a:t>
            </a:fld>
            <a:endParaRPr lang="en-US" dirty="0"/>
          </a:p>
        </p:txBody>
      </p:sp>
      <p:sp>
        <p:nvSpPr>
          <p:cNvPr id="6" name="Footer Placeholder 5">
            <a:extLst>
              <a:ext uri="{FF2B5EF4-FFF2-40B4-BE49-F238E27FC236}">
                <a16:creationId xmlns:a16="http://schemas.microsoft.com/office/drawing/2014/main" id="{92F16240-9010-433E-BA27-187CB1B84686}"/>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spTree>
    <p:extLst>
      <p:ext uri="{BB962C8B-B14F-4D97-AF65-F5344CB8AC3E}">
        <p14:creationId xmlns:p14="http://schemas.microsoft.com/office/powerpoint/2010/main" val="1709783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Exec Summ">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Executive Summary</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p:txBody>
          <a:bodyPr/>
          <a:lstStyle/>
          <a:p>
            <a:pPr lvl="2"/>
            <a:r>
              <a:rPr lang="en-US" sz="1200" dirty="0"/>
              <a:t>On the basis of the {{YEAR}} High Tech </a:t>
            </a:r>
            <a:r>
              <a:rPr lang="en-US" sz="1200" dirty="0" err="1"/>
              <a:t>BenVal</a:t>
            </a:r>
            <a:r>
              <a:rPr lang="en-US" sz="1200" dirty="0"/>
              <a:t>, {{COMPANY1}} total benefit program {{RANK}} in employer-provided value when compared with the peer group	</a:t>
            </a:r>
          </a:p>
          <a:p>
            <a:pPr lvl="2"/>
            <a:r>
              <a:rPr lang="en-US" sz="1200" dirty="0"/>
              <a:t>By program, {{COMPANY2}} ranks:</a:t>
            </a:r>
          </a:p>
          <a:p>
            <a:pPr lvl="3"/>
            <a:r>
              <a:rPr lang="en-US" sz="1200" dirty="0"/>
              <a:t>{{MORECOM}}</a:t>
            </a:r>
          </a:p>
          <a:p>
            <a:pPr lvl="3"/>
            <a:r>
              <a:rPr lang="en-US" sz="1200" dirty="0"/>
              <a:t>{{COM}}</a:t>
            </a:r>
          </a:p>
          <a:p>
            <a:pPr lvl="3"/>
            <a:r>
              <a:rPr lang="en-US" sz="1200" dirty="0"/>
              <a:t>{{LESSCOM}}</a:t>
            </a:r>
          </a:p>
          <a:p>
            <a:pPr lvl="1" algn="ctr"/>
            <a:r>
              <a:rPr lang="en-US" sz="1400" b="1" dirty="0"/>
              <a:t>Overview of {{COMPANY1}} {{YEAR}} High Tech </a:t>
            </a:r>
            <a:r>
              <a:rPr lang="en-US" sz="1400" b="1" dirty="0" err="1"/>
              <a:t>BenVal</a:t>
            </a:r>
            <a:r>
              <a:rPr lang="en-US" sz="1400" b="1" dirty="0"/>
              <a:t> Results</a:t>
            </a:r>
          </a:p>
          <a:p>
            <a:pPr lvl="1" algn="ctr"/>
            <a:r>
              <a:rPr lang="en-US" sz="1200" dirty="0"/>
              <a:t>Rank and % of Average Value out of {{COUNT}} Companies</a:t>
            </a:r>
          </a:p>
          <a:p>
            <a:pPr marL="228600" lvl="3" indent="0">
              <a:buNone/>
            </a:pPr>
            <a:endParaRPr lang="en-US" sz="12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7</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11" name="Summary_Chart">
            <a:extLst>
              <a:ext uri="{FF2B5EF4-FFF2-40B4-BE49-F238E27FC236}">
                <a16:creationId xmlns:a16="http://schemas.microsoft.com/office/drawing/2014/main" id="{613A0F94-4BE7-4980-8DAF-67E81E553C0C}"/>
              </a:ext>
            </a:extLst>
          </p:cNvPr>
          <p:cNvGraphicFramePr/>
          <p:nvPr>
            <p:extLst>
              <p:ext uri="{D42A27DB-BD31-4B8C-83A1-F6EECF244321}">
                <p14:modId xmlns:p14="http://schemas.microsoft.com/office/powerpoint/2010/main" val="3333383233"/>
              </p:ext>
            </p:extLst>
          </p:nvPr>
        </p:nvGraphicFramePr>
        <p:xfrm>
          <a:off x="449263" y="3213461"/>
          <a:ext cx="8267700" cy="2572839"/>
        </p:xfrm>
        <a:graphic>
          <a:graphicData uri="http://schemas.openxmlformats.org/drawingml/2006/chart">
            <c:chart xmlns:c="http://schemas.openxmlformats.org/drawingml/2006/chart" xmlns:r="http://schemas.openxmlformats.org/officeDocument/2006/relationships" r:id="rId6"/>
          </a:graphicData>
        </a:graphic>
      </p:graphicFrame>
      <p:sp>
        <p:nvSpPr>
          <p:cNvPr id="12" name="Rectangle 11">
            <a:extLst>
              <a:ext uri="{FF2B5EF4-FFF2-40B4-BE49-F238E27FC236}">
                <a16:creationId xmlns:a16="http://schemas.microsoft.com/office/drawing/2014/main" id="{DA5F4A2A-31D2-40C8-86DA-3FBF95B2AD65}"/>
              </a:ext>
            </a:extLst>
          </p:cNvPr>
          <p:cNvSpPr/>
          <p:nvPr/>
        </p:nvSpPr>
        <p:spPr>
          <a:xfrm>
            <a:off x="352697" y="6064003"/>
            <a:ext cx="4572000" cy="230832"/>
          </a:xfrm>
          <a:prstGeom prst="rect">
            <a:avLst/>
          </a:prstGeom>
        </p:spPr>
        <p:txBody>
          <a:bodyPr>
            <a:spAutoFit/>
          </a:bodyPr>
          <a:lstStyle/>
          <a:p>
            <a:r>
              <a:rPr lang="en-US" sz="900" dirty="0">
                <a:latin typeface="Arial" panose="020B0604020202020204" pitchFamily="34" charset="0"/>
              </a:rPr>
              <a:t>*Employer Value equals Total Value less Employee Contributions</a:t>
            </a:r>
            <a:r>
              <a:rPr lang="en-US" sz="900" dirty="0"/>
              <a:t> </a:t>
            </a:r>
          </a:p>
        </p:txBody>
      </p:sp>
      <p:graphicFrame>
        <p:nvGraphicFramePr>
          <p:cNvPr id="13" name="ES_Rank_Table">
            <a:extLst>
              <a:ext uri="{FF2B5EF4-FFF2-40B4-BE49-F238E27FC236}">
                <a16:creationId xmlns:a16="http://schemas.microsoft.com/office/drawing/2014/main" id="{BE425B33-3B43-43AA-809E-82DB2DADD870}"/>
              </a:ext>
            </a:extLst>
          </p:cNvPr>
          <p:cNvGraphicFramePr>
            <a:graphicFrameLocks noGrp="1"/>
          </p:cNvGraphicFramePr>
          <p:nvPr>
            <p:extLst>
              <p:ext uri="{D42A27DB-BD31-4B8C-83A1-F6EECF244321}">
                <p14:modId xmlns:p14="http://schemas.microsoft.com/office/powerpoint/2010/main" val="1106132634"/>
              </p:ext>
            </p:extLst>
          </p:nvPr>
        </p:nvGraphicFramePr>
        <p:xfrm>
          <a:off x="419100" y="5493046"/>
          <a:ext cx="8199392" cy="487680"/>
        </p:xfrm>
        <a:graphic>
          <a:graphicData uri="http://schemas.openxmlformats.org/drawingml/2006/table">
            <a:tbl>
              <a:tblPr firstRow="1" bandRow="1">
                <a:tableStyleId>{2D5ABB26-0587-4C30-8999-92F81FD0307C}</a:tableStyleId>
              </a:tblPr>
              <a:tblGrid>
                <a:gridCol w="765266">
                  <a:extLst>
                    <a:ext uri="{9D8B030D-6E8A-4147-A177-3AD203B41FA5}">
                      <a16:colId xmlns:a16="http://schemas.microsoft.com/office/drawing/2014/main" val="3282659499"/>
                    </a:ext>
                  </a:extLst>
                </a:gridCol>
                <a:gridCol w="1239021">
                  <a:extLst>
                    <a:ext uri="{9D8B030D-6E8A-4147-A177-3AD203B41FA5}">
                      <a16:colId xmlns:a16="http://schemas.microsoft.com/office/drawing/2014/main" val="3047318433"/>
                    </a:ext>
                  </a:extLst>
                </a:gridCol>
                <a:gridCol w="1239021">
                  <a:extLst>
                    <a:ext uri="{9D8B030D-6E8A-4147-A177-3AD203B41FA5}">
                      <a16:colId xmlns:a16="http://schemas.microsoft.com/office/drawing/2014/main" val="744625549"/>
                    </a:ext>
                  </a:extLst>
                </a:gridCol>
                <a:gridCol w="1239021">
                  <a:extLst>
                    <a:ext uri="{9D8B030D-6E8A-4147-A177-3AD203B41FA5}">
                      <a16:colId xmlns:a16="http://schemas.microsoft.com/office/drawing/2014/main" val="412705921"/>
                    </a:ext>
                  </a:extLst>
                </a:gridCol>
                <a:gridCol w="1239021">
                  <a:extLst>
                    <a:ext uri="{9D8B030D-6E8A-4147-A177-3AD203B41FA5}">
                      <a16:colId xmlns:a16="http://schemas.microsoft.com/office/drawing/2014/main" val="3613988220"/>
                    </a:ext>
                  </a:extLst>
                </a:gridCol>
                <a:gridCol w="1239021">
                  <a:extLst>
                    <a:ext uri="{9D8B030D-6E8A-4147-A177-3AD203B41FA5}">
                      <a16:colId xmlns:a16="http://schemas.microsoft.com/office/drawing/2014/main" val="2568131387"/>
                    </a:ext>
                  </a:extLst>
                </a:gridCol>
                <a:gridCol w="1239021">
                  <a:extLst>
                    <a:ext uri="{9D8B030D-6E8A-4147-A177-3AD203B41FA5}">
                      <a16:colId xmlns:a16="http://schemas.microsoft.com/office/drawing/2014/main" val="3926923109"/>
                    </a:ext>
                  </a:extLst>
                </a:gridCol>
              </a:tblGrid>
              <a:tr h="137160">
                <a:tc>
                  <a:txBody>
                    <a:bodyPr/>
                    <a:lstStyle/>
                    <a:p>
                      <a:pPr algn="r"/>
                      <a:r>
                        <a:rPr lang="en-US" sz="1000" dirty="0"/>
                        <a:t>EV Rank:</a:t>
                      </a:r>
                    </a:p>
                  </a:txBody>
                  <a:tcPr anchor="ctr"/>
                </a:tc>
                <a:tc>
                  <a:txBody>
                    <a:bodyPr/>
                    <a:lstStyle/>
                    <a:p>
                      <a:pPr algn="ctr"/>
                      <a:r>
                        <a:rPr lang="en-US" sz="1000"/>
                        <a:t>32</a:t>
                      </a:r>
                      <a:r>
                        <a:rPr lang="en-US" sz="1000" baseline="30000"/>
                        <a:t>nd</a:t>
                      </a:r>
                      <a:endParaRPr lang="en-US" sz="1000" dirty="0"/>
                    </a:p>
                  </a:txBody>
                  <a:tcPr anchor="ctr"/>
                </a:tc>
                <a:tc>
                  <a:txBody>
                    <a:bodyPr/>
                    <a:lstStyle/>
                    <a:p>
                      <a:pPr algn="ctr"/>
                      <a:r>
                        <a:rPr lang="en-US" sz="1000"/>
                        <a:t>19</a:t>
                      </a:r>
                      <a:r>
                        <a:rPr lang="en-US" sz="1000" baseline="30000"/>
                        <a:t>th</a:t>
                      </a:r>
                      <a:endParaRPr lang="en-US" sz="1000" dirty="0"/>
                    </a:p>
                  </a:txBody>
                  <a:tcPr anchor="ctr"/>
                </a:tc>
                <a:tc>
                  <a:txBody>
                    <a:bodyPr/>
                    <a:lstStyle/>
                    <a:p>
                      <a:pPr algn="ctr"/>
                      <a:r>
                        <a:rPr lang="en-US" sz="1000"/>
                        <a:t>24</a:t>
                      </a:r>
                      <a:r>
                        <a:rPr lang="en-US" sz="1000" baseline="30000"/>
                        <a:t>th</a:t>
                      </a:r>
                      <a:endParaRPr lang="en-US" sz="1000" dirty="0"/>
                    </a:p>
                  </a:txBody>
                  <a:tcPr anchor="ctr"/>
                </a:tc>
                <a:tc>
                  <a:txBody>
                    <a:bodyPr/>
                    <a:lstStyle/>
                    <a:p>
                      <a:pPr algn="ctr"/>
                      <a:r>
                        <a:rPr lang="en-US" sz="1000"/>
                        <a:t>18</a:t>
                      </a:r>
                      <a:r>
                        <a:rPr lang="en-US" sz="1000" baseline="30000"/>
                        <a:t>th</a:t>
                      </a:r>
                      <a:endParaRPr lang="en-US" sz="1000" dirty="0"/>
                    </a:p>
                  </a:txBody>
                  <a:tcPr anchor="ctr"/>
                </a:tc>
                <a:tc>
                  <a:txBody>
                    <a:bodyPr/>
                    <a:lstStyle/>
                    <a:p>
                      <a:pPr algn="ctr"/>
                      <a:r>
                        <a:rPr lang="en-US" sz="1000"/>
                        <a:t>40</a:t>
                      </a:r>
                      <a:r>
                        <a:rPr lang="en-US" sz="1000" baseline="30000"/>
                        <a:t>th</a:t>
                      </a:r>
                      <a:endParaRPr lang="en-US" sz="1000" dirty="0"/>
                    </a:p>
                  </a:txBody>
                  <a:tcPr anchor="ctr"/>
                </a:tc>
                <a:tc>
                  <a:txBody>
                    <a:bodyPr/>
                    <a:lstStyle/>
                    <a:p>
                      <a:pPr algn="ctr"/>
                      <a:r>
                        <a:rPr lang="en-US" sz="1000"/>
                        <a:t>44</a:t>
                      </a:r>
                      <a:r>
                        <a:rPr lang="en-US" sz="1000" baseline="30000"/>
                        <a:t>th</a:t>
                      </a:r>
                      <a:r>
                        <a:rPr lang="en-US" sz="1000"/>
                        <a:t> </a:t>
                      </a:r>
                      <a:endParaRPr lang="en-US" sz="1000" dirty="0"/>
                    </a:p>
                  </a:txBody>
                  <a:tcPr anchor="ctr"/>
                </a:tc>
                <a:extLst>
                  <a:ext uri="{0D108BD9-81ED-4DB2-BD59-A6C34878D82A}">
                    <a16:rowId xmlns:a16="http://schemas.microsoft.com/office/drawing/2014/main" val="1285548618"/>
                  </a:ext>
                </a:extLst>
              </a:tr>
              <a:tr h="137160">
                <a:tc>
                  <a:txBody>
                    <a:bodyPr/>
                    <a:lstStyle/>
                    <a:p>
                      <a:pPr algn="r"/>
                      <a:r>
                        <a:rPr lang="en-US" sz="1000" dirty="0"/>
                        <a:t>TV Rank:</a:t>
                      </a:r>
                    </a:p>
                  </a:txBody>
                  <a:tcPr anchor="ctr"/>
                </a:tc>
                <a:tc>
                  <a:txBody>
                    <a:bodyPr/>
                    <a:lstStyle/>
                    <a:p>
                      <a:pPr algn="ctr"/>
                      <a:r>
                        <a:rPr lang="en-US" sz="1000"/>
                        <a:t>34</a:t>
                      </a:r>
                      <a:r>
                        <a:rPr lang="en-US" sz="1000" baseline="30000"/>
                        <a:t>th</a:t>
                      </a:r>
                      <a:endParaRPr lang="en-US" sz="1000" dirty="0"/>
                    </a:p>
                  </a:txBody>
                  <a:tcPr anchor="ctr"/>
                </a:tc>
                <a:tc>
                  <a:txBody>
                    <a:bodyPr/>
                    <a:lstStyle/>
                    <a:p>
                      <a:pPr algn="ctr"/>
                      <a:r>
                        <a:rPr lang="en-US" sz="1000"/>
                        <a:t>29</a:t>
                      </a:r>
                      <a:r>
                        <a:rPr lang="en-US" sz="1000" baseline="30000"/>
                        <a:t>th</a:t>
                      </a:r>
                      <a:endParaRPr lang="en-US" sz="1000" dirty="0"/>
                    </a:p>
                  </a:txBody>
                  <a:tcPr anchor="ctr"/>
                </a:tc>
                <a:tc>
                  <a:txBody>
                    <a:bodyPr/>
                    <a:lstStyle/>
                    <a:p>
                      <a:pPr algn="ctr"/>
                      <a:r>
                        <a:rPr lang="en-US" sz="1000"/>
                        <a:t>24</a:t>
                      </a:r>
                      <a:r>
                        <a:rPr lang="en-US" sz="1000" baseline="30000"/>
                        <a:t>th</a:t>
                      </a:r>
                      <a:endParaRPr lang="en-US" sz="1000" dirty="0"/>
                    </a:p>
                  </a:txBody>
                  <a:tcPr anchor="ctr"/>
                </a:tc>
                <a:tc>
                  <a:txBody>
                    <a:bodyPr/>
                    <a:lstStyle/>
                    <a:p>
                      <a:pPr algn="ctr"/>
                      <a:r>
                        <a:rPr lang="en-US" sz="1000"/>
                        <a:t>14</a:t>
                      </a:r>
                      <a:r>
                        <a:rPr lang="en-US" sz="1000" baseline="30000"/>
                        <a:t>th</a:t>
                      </a:r>
                      <a:endParaRPr lang="en-US" sz="1000" dirty="0"/>
                    </a:p>
                  </a:txBody>
                  <a:tcPr anchor="ctr"/>
                </a:tc>
                <a:tc>
                  <a:txBody>
                    <a:bodyPr/>
                    <a:lstStyle/>
                    <a:p>
                      <a:pPr algn="ctr"/>
                      <a:r>
                        <a:rPr lang="en-US" sz="1000"/>
                        <a:t>40</a:t>
                      </a:r>
                      <a:r>
                        <a:rPr lang="en-US" sz="1000" baseline="30000"/>
                        <a:t>th</a:t>
                      </a:r>
                      <a:endParaRPr lang="en-US" sz="1000" dirty="0"/>
                    </a:p>
                  </a:txBody>
                  <a:tcPr anchor="ctr"/>
                </a:tc>
                <a:tc>
                  <a:txBody>
                    <a:bodyPr/>
                    <a:lstStyle/>
                    <a:p>
                      <a:pPr algn="ctr"/>
                      <a:r>
                        <a:rPr lang="en-US" sz="1000"/>
                        <a:t>44</a:t>
                      </a:r>
                      <a:r>
                        <a:rPr lang="en-US" sz="1000" baseline="30000"/>
                        <a:t>th</a:t>
                      </a:r>
                      <a:r>
                        <a:rPr lang="en-US" sz="1000"/>
                        <a:t> </a:t>
                      </a:r>
                      <a:endParaRPr lang="en-US" sz="1000" dirty="0"/>
                    </a:p>
                  </a:txBody>
                  <a:tcPr anchor="ctr"/>
                </a:tc>
                <a:extLst>
                  <a:ext uri="{0D108BD9-81ED-4DB2-BD59-A6C34878D82A}">
                    <a16:rowId xmlns:a16="http://schemas.microsoft.com/office/drawing/2014/main" val="1464116153"/>
                  </a:ext>
                </a:extLst>
              </a:tr>
            </a:tbl>
          </a:graphicData>
        </a:graphic>
      </p:graphicFrame>
    </p:spTree>
    <p:custDataLst>
      <p:tags r:id="rId1"/>
    </p:custDataLst>
    <p:extLst>
      <p:ext uri="{BB962C8B-B14F-4D97-AF65-F5344CB8AC3E}">
        <p14:creationId xmlns:p14="http://schemas.microsoft.com/office/powerpoint/2010/main" val="3681023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ALLRanking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B219A-5683-44E5-B62E-620C386272DC}"/>
              </a:ext>
            </a:extLst>
          </p:cNvPr>
          <p:cNvSpPr>
            <a:spLocks noGrp="1"/>
          </p:cNvSpPr>
          <p:nvPr>
            <p:ph type="title"/>
          </p:nvPr>
        </p:nvSpPr>
        <p:spPr>
          <a:xfrm>
            <a:off x="457200" y="419493"/>
            <a:ext cx="8229600" cy="307777"/>
          </a:xfrm>
        </p:spPr>
        <p:txBody>
          <a:bodyPr/>
          <a:lstStyle/>
          <a:p>
            <a:r>
              <a:rPr lang="en-US" dirty="0" err="1"/>
              <a:t>BenVal</a:t>
            </a:r>
            <a:r>
              <a:rPr lang="en-US" dirty="0"/>
              <a:t> Ranking Summary</a:t>
            </a:r>
          </a:p>
        </p:txBody>
      </p:sp>
      <p:sp>
        <p:nvSpPr>
          <p:cNvPr id="3" name="Text Placeholder 2">
            <a:extLst>
              <a:ext uri="{FF2B5EF4-FFF2-40B4-BE49-F238E27FC236}">
                <a16:creationId xmlns:a16="http://schemas.microsoft.com/office/drawing/2014/main" id="{5FF55A3A-4582-4219-8FAE-AAE4206CA72F}"/>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C0D1F3C5-E567-41E9-823C-E1BF7086D9EA}"/>
              </a:ext>
            </a:extLst>
          </p:cNvPr>
          <p:cNvSpPr>
            <a:spLocks noGrp="1"/>
          </p:cNvSpPr>
          <p:nvPr>
            <p:ph type="sldNum" sz="quarter" idx="4"/>
          </p:nvPr>
        </p:nvSpPr>
        <p:spPr/>
        <p:txBody>
          <a:bodyPr/>
          <a:lstStyle/>
          <a:p>
            <a:fld id="{2083E393-C0BF-4ED8-8545-7E4C90AFF831}" type="slidenum">
              <a:rPr lang="en-US" smtClean="0"/>
              <a:pPr/>
              <a:t>8</a:t>
            </a:fld>
            <a:endParaRPr lang="en-US" dirty="0"/>
          </a:p>
        </p:txBody>
      </p:sp>
      <p:sp>
        <p:nvSpPr>
          <p:cNvPr id="5" name="Footer Placeholder 4">
            <a:extLst>
              <a:ext uri="{FF2B5EF4-FFF2-40B4-BE49-F238E27FC236}">
                <a16:creationId xmlns:a16="http://schemas.microsoft.com/office/drawing/2014/main" id="{72DBE2A3-31BB-4998-9C3C-6BA75A121FA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6" name="RanSum_Table1">
            <a:extLst>
              <a:ext uri="{FF2B5EF4-FFF2-40B4-BE49-F238E27FC236}">
                <a16:creationId xmlns:a16="http://schemas.microsoft.com/office/drawing/2014/main" id="{8BE639D7-19AB-4CD9-820D-35065E3D23B3}"/>
              </a:ext>
            </a:extLst>
          </p:cNvPr>
          <p:cNvGraphicFramePr>
            <a:graphicFrameLocks noGrp="1"/>
          </p:cNvGraphicFramePr>
          <p:nvPr>
            <p:extLst>
              <p:ext uri="{D42A27DB-BD31-4B8C-83A1-F6EECF244321}">
                <p14:modId xmlns:p14="http://schemas.microsoft.com/office/powerpoint/2010/main" val="829111871"/>
              </p:ext>
            </p:extLst>
          </p:nvPr>
        </p:nvGraphicFramePr>
        <p:xfrm>
          <a:off x="457200" y="1244338"/>
          <a:ext cx="8229599" cy="4908882"/>
        </p:xfrm>
        <a:graphic>
          <a:graphicData uri="http://schemas.openxmlformats.org/drawingml/2006/table">
            <a:tbl>
              <a:tblPr/>
              <a:tblGrid>
                <a:gridCol w="1864335">
                  <a:extLst>
                    <a:ext uri="{9D8B030D-6E8A-4147-A177-3AD203B41FA5}">
                      <a16:colId xmlns:a16="http://schemas.microsoft.com/office/drawing/2014/main" val="3054746016"/>
                    </a:ext>
                  </a:extLst>
                </a:gridCol>
                <a:gridCol w="795658">
                  <a:extLst>
                    <a:ext uri="{9D8B030D-6E8A-4147-A177-3AD203B41FA5}">
                      <a16:colId xmlns:a16="http://schemas.microsoft.com/office/drawing/2014/main" val="2843362347"/>
                    </a:ext>
                  </a:extLst>
                </a:gridCol>
                <a:gridCol w="795658">
                  <a:extLst>
                    <a:ext uri="{9D8B030D-6E8A-4147-A177-3AD203B41FA5}">
                      <a16:colId xmlns:a16="http://schemas.microsoft.com/office/drawing/2014/main" val="508397201"/>
                    </a:ext>
                  </a:extLst>
                </a:gridCol>
                <a:gridCol w="795658">
                  <a:extLst>
                    <a:ext uri="{9D8B030D-6E8A-4147-A177-3AD203B41FA5}">
                      <a16:colId xmlns:a16="http://schemas.microsoft.com/office/drawing/2014/main" val="757452802"/>
                    </a:ext>
                  </a:extLst>
                </a:gridCol>
                <a:gridCol w="795658">
                  <a:extLst>
                    <a:ext uri="{9D8B030D-6E8A-4147-A177-3AD203B41FA5}">
                      <a16:colId xmlns:a16="http://schemas.microsoft.com/office/drawing/2014/main" val="185519674"/>
                    </a:ext>
                  </a:extLst>
                </a:gridCol>
                <a:gridCol w="795658">
                  <a:extLst>
                    <a:ext uri="{9D8B030D-6E8A-4147-A177-3AD203B41FA5}">
                      <a16:colId xmlns:a16="http://schemas.microsoft.com/office/drawing/2014/main" val="38020105"/>
                    </a:ext>
                  </a:extLst>
                </a:gridCol>
                <a:gridCol w="795658">
                  <a:extLst>
                    <a:ext uri="{9D8B030D-6E8A-4147-A177-3AD203B41FA5}">
                      <a16:colId xmlns:a16="http://schemas.microsoft.com/office/drawing/2014/main" val="4109205805"/>
                    </a:ext>
                  </a:extLst>
                </a:gridCol>
                <a:gridCol w="795658">
                  <a:extLst>
                    <a:ext uri="{9D8B030D-6E8A-4147-A177-3AD203B41FA5}">
                      <a16:colId xmlns:a16="http://schemas.microsoft.com/office/drawing/2014/main" val="1623954355"/>
                    </a:ext>
                  </a:extLst>
                </a:gridCol>
                <a:gridCol w="795658">
                  <a:extLst>
                    <a:ext uri="{9D8B030D-6E8A-4147-A177-3AD203B41FA5}">
                      <a16:colId xmlns:a16="http://schemas.microsoft.com/office/drawing/2014/main" val="1101964255"/>
                    </a:ext>
                  </a:extLst>
                </a:gridCol>
              </a:tblGrid>
              <a:tr h="255351">
                <a:tc rowSpan="3">
                  <a:txBody>
                    <a:bodyPr/>
                    <a:lstStyle/>
                    <a:p>
                      <a:pPr algn="l" fontAlgn="ctr"/>
                      <a:r>
                        <a:rPr lang="en-US" sz="1000" b="1" i="0" u="none" strike="noStrike" dirty="0">
                          <a:solidFill>
                            <a:srgbClr val="FFFFFF"/>
                          </a:solidFill>
                          <a:effectLst/>
                          <a:latin typeface="Arial" panose="020B0604020202020204" pitchFamily="34" charset="0"/>
                        </a:rPr>
                        <a:t>Benefit</a:t>
                      </a:r>
                    </a:p>
                  </a:txBody>
                  <a:tcPr marL="93165"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gridSpan="4">
                  <a:txBody>
                    <a:bodyPr/>
                    <a:lstStyle/>
                    <a:p>
                      <a:pPr algn="ctr" fontAlgn="ctr"/>
                      <a:r>
                        <a:rPr lang="en-US" sz="1000" b="1" i="0" u="none" strike="noStrike">
                          <a:solidFill>
                            <a:srgbClr val="FFFFFF"/>
                          </a:solidFill>
                          <a:effectLst/>
                          <a:latin typeface="Arial" panose="020B0604020202020204" pitchFamily="34" charset="0"/>
                        </a:rPr>
                        <a:t>2019</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000" b="1" i="0" u="none" strike="noStrike">
                          <a:solidFill>
                            <a:srgbClr val="FFFFFF"/>
                          </a:solidFill>
                          <a:effectLst/>
                          <a:latin typeface="Arial" panose="020B0604020202020204" pitchFamily="34" charset="0"/>
                        </a:rPr>
                        <a:t>2020</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45998498"/>
                  </a:ext>
                </a:extLst>
              </a:tr>
              <a:tr h="255351">
                <a:tc vMerge="1">
                  <a:txBody>
                    <a:bodyPr/>
                    <a:lstStyle/>
                    <a:p>
                      <a:endParaRPr lang="en-US"/>
                    </a:p>
                  </a:txBody>
                  <a:tcPr/>
                </a:tc>
                <a:tc gridSpan="2">
                  <a:txBody>
                    <a:bodyPr/>
                    <a:lstStyle/>
                    <a:p>
                      <a:pPr algn="ctr" fontAlgn="ctr"/>
                      <a:r>
                        <a:rPr lang="en-US" sz="1000" b="1" i="0" u="none" strike="noStrike">
                          <a:solidFill>
                            <a:srgbClr val="FFFFFF"/>
                          </a:solidFill>
                          <a:effectLst/>
                          <a:latin typeface="Arial" panose="020B0604020202020204" pitchFamily="34" charset="0"/>
                        </a:rPr>
                        <a:t>Employer-Provided Value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tc gridSpan="2">
                  <a:txBody>
                    <a:bodyPr/>
                    <a:lstStyle/>
                    <a:p>
                      <a:pPr algn="ctr" fontAlgn="ctr"/>
                      <a:r>
                        <a:rPr lang="en-US" sz="1000" b="1" i="0" u="none" strike="noStrike">
                          <a:solidFill>
                            <a:srgbClr val="FFFFFF"/>
                          </a:solidFill>
                          <a:effectLst/>
                          <a:latin typeface="Arial" panose="020B0604020202020204" pitchFamily="34" charset="0"/>
                        </a:rPr>
                        <a:t>Total Value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tc gridSpan="2">
                  <a:txBody>
                    <a:bodyPr/>
                    <a:lstStyle/>
                    <a:p>
                      <a:pPr algn="ctr" fontAlgn="ctr"/>
                      <a:r>
                        <a:rPr lang="en-US" sz="1000" b="1" i="0" u="none" strike="noStrike">
                          <a:solidFill>
                            <a:srgbClr val="FFFFFF"/>
                          </a:solidFill>
                          <a:effectLst/>
                          <a:latin typeface="Arial" panose="020B0604020202020204" pitchFamily="34" charset="0"/>
                        </a:rPr>
                        <a:t>Employer-Provided Value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tc gridSpan="2">
                  <a:txBody>
                    <a:bodyPr/>
                    <a:lstStyle/>
                    <a:p>
                      <a:pPr algn="ctr" fontAlgn="ctr"/>
                      <a:r>
                        <a:rPr lang="en-US" sz="1000" b="1" i="0" u="none" strike="noStrike">
                          <a:solidFill>
                            <a:srgbClr val="FFFFFF"/>
                          </a:solidFill>
                          <a:effectLst/>
                          <a:latin typeface="Arial" panose="020B0604020202020204" pitchFamily="34" charset="0"/>
                        </a:rPr>
                        <a:t>Total Value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extLst>
                  <a:ext uri="{0D108BD9-81ED-4DB2-BD59-A6C34878D82A}">
                    <a16:rowId xmlns:a16="http://schemas.microsoft.com/office/drawing/2014/main" val="2129428552"/>
                  </a:ext>
                </a:extLst>
              </a:tr>
              <a:tr h="255351">
                <a:tc vMerge="1">
                  <a:txBody>
                    <a:bodyPr/>
                    <a:lstStyle/>
                    <a:p>
                      <a:endParaRPr lang="en-US"/>
                    </a:p>
                  </a:txBody>
                  <a:tcPr/>
                </a:tc>
                <a:tc>
                  <a:txBody>
                    <a:bodyPr/>
                    <a:lstStyle/>
                    <a:p>
                      <a:pPr algn="ctr" fontAlgn="ctr"/>
                      <a:r>
                        <a:rPr lang="en-US" sz="1000" b="1" i="0" u="none" strike="noStrike">
                          <a:solidFill>
                            <a:srgbClr val="FFFFFF"/>
                          </a:solidFill>
                          <a:effectLst/>
                          <a:latin typeface="Arial" panose="020B0604020202020204" pitchFamily="34" charset="0"/>
                        </a:rPr>
                        <a:t>Rank (of XX)</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 of Average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Rank (of XX)</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 of Average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Rank (of XX)</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 of Average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Rank (of XX)</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 of Average</a:t>
                      </a:r>
                    </a:p>
                  </a:txBody>
                  <a:tcPr marL="7764" marR="7764" marT="7764"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431775172"/>
                  </a:ext>
                </a:extLst>
              </a:tr>
              <a:tr h="255351">
                <a:tc>
                  <a:txBody>
                    <a:bodyPr/>
                    <a:lstStyle/>
                    <a:p>
                      <a:pPr algn="l" fontAlgn="ctr"/>
                      <a:r>
                        <a:rPr lang="en-US" sz="1000" b="1" i="0" u="none" strike="noStrike" dirty="0">
                          <a:solidFill>
                            <a:srgbClr val="000000"/>
                          </a:solidFill>
                          <a:effectLst/>
                          <a:latin typeface="Arial" panose="020B0604020202020204" pitchFamily="34" charset="0"/>
                        </a:rPr>
                        <a:t>Entire Program</a:t>
                      </a:r>
                    </a:p>
                  </a:txBody>
                  <a:tcPr marL="114300"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dirty="0">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a:solidFill>
                            <a:srgbClr val="000000"/>
                          </a:solidFill>
                          <a:effectLst/>
                          <a:latin typeface="Arial" panose="020B0604020202020204" pitchFamily="34" charset="0"/>
                        </a:rPr>
                        <a:t>32nd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a:solidFill>
                            <a:srgbClr val="000000"/>
                          </a:solidFill>
                          <a:effectLst/>
                          <a:latin typeface="Arial" panose="020B0604020202020204" pitchFamily="34" charset="0"/>
                        </a:rPr>
                        <a:t>97.6%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a:solidFill>
                            <a:srgbClr val="000000"/>
                          </a:solidFill>
                          <a:effectLst/>
                          <a:latin typeface="Arial" panose="020B0604020202020204" pitchFamily="34" charset="0"/>
                        </a:rPr>
                        <a:t>34th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1" i="0" u="none" strike="noStrike" dirty="0">
                          <a:solidFill>
                            <a:srgbClr val="000000"/>
                          </a:solidFill>
                          <a:effectLst/>
                          <a:latin typeface="Arial" panose="020B0604020202020204" pitchFamily="34" charset="0"/>
                        </a:rPr>
                        <a:t>97.4%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45559163"/>
                  </a:ext>
                </a:extLst>
              </a:tr>
              <a:tr h="255351">
                <a:tc>
                  <a:txBody>
                    <a:bodyPr/>
                    <a:lstStyle/>
                    <a:p>
                      <a:pPr algn="l" fontAlgn="ctr"/>
                      <a:r>
                        <a:rPr lang="en-US" sz="1000" b="1" i="0" u="none" strike="noStrike" dirty="0">
                          <a:solidFill>
                            <a:srgbClr val="000000"/>
                          </a:solidFill>
                          <a:effectLst/>
                          <a:latin typeface="Arial" panose="020B0604020202020204" pitchFamily="34" charset="0"/>
                        </a:rPr>
                        <a:t>Health and Welfare</a:t>
                      </a:r>
                    </a:p>
                  </a:txBody>
                  <a:tcPr marL="114300"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extLst>
                  <a:ext uri="{0D108BD9-81ED-4DB2-BD59-A6C34878D82A}">
                    <a16:rowId xmlns:a16="http://schemas.microsoft.com/office/drawing/2014/main" val="3557671583"/>
                  </a:ext>
                </a:extLst>
              </a:tr>
              <a:tr h="255351">
                <a:tc>
                  <a:txBody>
                    <a:bodyPr/>
                    <a:lstStyle/>
                    <a:p>
                      <a:pPr algn="l" fontAlgn="ctr"/>
                      <a:r>
                        <a:rPr lang="en-US" sz="1000" b="1" i="0" u="none" strike="noStrike">
                          <a:solidFill>
                            <a:srgbClr val="000000"/>
                          </a:solidFill>
                          <a:effectLst/>
                          <a:latin typeface="Arial" panose="020B0604020202020204" pitchFamily="34" charset="0"/>
                        </a:rPr>
                        <a:t>Active Health Care</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19th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104.7%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29th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99.8%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591419675"/>
                  </a:ext>
                </a:extLst>
              </a:tr>
              <a:tr h="255351">
                <a:tc>
                  <a:txBody>
                    <a:bodyPr/>
                    <a:lstStyle/>
                    <a:p>
                      <a:pPr algn="l" fontAlgn="ctr"/>
                      <a:r>
                        <a:rPr lang="en-US" sz="1000" b="0" i="0" u="none" strike="noStrike" dirty="0">
                          <a:solidFill>
                            <a:srgbClr val="000000"/>
                          </a:solidFill>
                          <a:effectLst/>
                          <a:latin typeface="Arial" panose="020B0604020202020204" pitchFamily="34" charset="0"/>
                        </a:rPr>
                        <a:t>Active Medical</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dirty="0">
                          <a:effectLst/>
                          <a:latin typeface="Arial" panose="020B0604020202020204" pitchFamily="34" charset="0"/>
                        </a:rPr>
                        <a:t>18th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effectLst/>
                          <a:latin typeface="Arial" panose="020B0604020202020204" pitchFamily="34" charset="0"/>
                        </a:rPr>
                        <a:t>105.5%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effectLst/>
                          <a:latin typeface="Arial" panose="020B0604020202020204" pitchFamily="34" charset="0"/>
                        </a:rPr>
                        <a:t>28th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effectLst/>
                          <a:latin typeface="Arial" panose="020B0604020202020204" pitchFamily="34" charset="0"/>
                        </a:rPr>
                        <a:t>100.0%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4110298546"/>
                  </a:ext>
                </a:extLst>
              </a:tr>
              <a:tr h="255351">
                <a:tc>
                  <a:txBody>
                    <a:bodyPr/>
                    <a:lstStyle/>
                    <a:p>
                      <a:pPr algn="l" fontAlgn="ctr"/>
                      <a:r>
                        <a:rPr lang="en-US" sz="1000" b="0" i="0" u="none" strike="noStrike" dirty="0">
                          <a:solidFill>
                            <a:srgbClr val="000000"/>
                          </a:solidFill>
                          <a:effectLst/>
                          <a:latin typeface="Arial" panose="020B0604020202020204" pitchFamily="34" charset="0"/>
                        </a:rPr>
                        <a:t>Active Dental</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effectLst/>
                          <a:latin typeface="Arial" panose="020B0604020202020204" pitchFamily="34" charset="0"/>
                        </a:rPr>
                        <a:t>32nd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effectLst/>
                          <a:latin typeface="Arial" panose="020B0604020202020204" pitchFamily="34" charset="0"/>
                        </a:rPr>
                        <a:t>93.7%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effectLst/>
                          <a:latin typeface="Arial" panose="020B0604020202020204" pitchFamily="34" charset="0"/>
                        </a:rPr>
                        <a:t>40th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dirty="0">
                          <a:effectLst/>
                          <a:latin typeface="Arial" panose="020B0604020202020204" pitchFamily="34" charset="0"/>
                        </a:rPr>
                        <a:t>97.8%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3931200911"/>
                  </a:ext>
                </a:extLst>
              </a:tr>
              <a:tr h="255351">
                <a:tc>
                  <a:txBody>
                    <a:bodyPr/>
                    <a:lstStyle/>
                    <a:p>
                      <a:pPr algn="l" fontAlgn="ctr"/>
                      <a:r>
                        <a:rPr lang="en-US" sz="1000" b="1" i="0" u="none" strike="noStrike">
                          <a:solidFill>
                            <a:srgbClr val="000000"/>
                          </a:solidFill>
                          <a:effectLst/>
                          <a:latin typeface="Arial" panose="020B0604020202020204" pitchFamily="34" charset="0"/>
                        </a:rPr>
                        <a:t>Disability</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18th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a:solidFill>
                            <a:srgbClr val="000000"/>
                          </a:solidFill>
                          <a:effectLst/>
                          <a:latin typeface="Arial" panose="020B0604020202020204" pitchFamily="34" charset="0"/>
                        </a:rPr>
                        <a:t>111.5%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a:solidFill>
                            <a:srgbClr val="000000"/>
                          </a:solidFill>
                          <a:effectLst/>
                          <a:latin typeface="Arial" panose="020B0604020202020204" pitchFamily="34" charset="0"/>
                        </a:rPr>
                        <a:t>14th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104.7%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3206869794"/>
                  </a:ext>
                </a:extLst>
              </a:tr>
              <a:tr h="255351">
                <a:tc>
                  <a:txBody>
                    <a:bodyPr/>
                    <a:lstStyle/>
                    <a:p>
                      <a:pPr algn="l" fontAlgn="ctr"/>
                      <a:r>
                        <a:rPr lang="en-US" sz="1000" b="0" i="0" u="none" strike="noStrike" dirty="0">
                          <a:solidFill>
                            <a:srgbClr val="000000"/>
                          </a:solidFill>
                          <a:effectLst/>
                          <a:latin typeface="Arial" panose="020B0604020202020204" pitchFamily="34" charset="0"/>
                        </a:rPr>
                        <a:t>Short-term Disability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21st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112.1%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28th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101.0%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1085282326"/>
                  </a:ext>
                </a:extLst>
              </a:tr>
              <a:tr h="255351">
                <a:tc>
                  <a:txBody>
                    <a:bodyPr/>
                    <a:lstStyle/>
                    <a:p>
                      <a:pPr algn="l" fontAlgn="ctr"/>
                      <a:r>
                        <a:rPr lang="en-US" sz="1000" b="0" i="0" u="none" strike="noStrike" dirty="0">
                          <a:solidFill>
                            <a:srgbClr val="000000"/>
                          </a:solidFill>
                          <a:effectLst/>
                          <a:latin typeface="Arial" panose="020B0604020202020204" pitchFamily="34" charset="0"/>
                        </a:rPr>
                        <a:t>Long-term Disability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20th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109.6%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14th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117.6%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3582148761"/>
                  </a:ext>
                </a:extLst>
              </a:tr>
              <a:tr h="255351">
                <a:tc>
                  <a:txBody>
                    <a:bodyPr/>
                    <a:lstStyle/>
                    <a:p>
                      <a:pPr algn="l" fontAlgn="ctr"/>
                      <a:r>
                        <a:rPr lang="en-US" sz="1000" b="1" i="0" u="none" strike="noStrike">
                          <a:solidFill>
                            <a:srgbClr val="000000"/>
                          </a:solidFill>
                          <a:effectLst/>
                          <a:latin typeface="Arial" panose="020B0604020202020204" pitchFamily="34" charset="0"/>
                        </a:rPr>
                        <a:t>Active Life</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40th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99.8%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a:solidFill>
                            <a:srgbClr val="000000"/>
                          </a:solidFill>
                          <a:effectLst/>
                          <a:latin typeface="Arial" panose="020B0604020202020204" pitchFamily="34" charset="0"/>
                        </a:rPr>
                        <a:t>40th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99.8%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759528001"/>
                  </a:ext>
                </a:extLst>
              </a:tr>
              <a:tr h="255351">
                <a:tc>
                  <a:txBody>
                    <a:bodyPr/>
                    <a:lstStyle/>
                    <a:p>
                      <a:pPr algn="l" fontAlgn="ctr"/>
                      <a:r>
                        <a:rPr lang="en-US" sz="1000" b="1" i="0" u="none" strike="noStrike">
                          <a:solidFill>
                            <a:srgbClr val="000000"/>
                          </a:solidFill>
                          <a:effectLst/>
                          <a:latin typeface="Arial" panose="020B0604020202020204" pitchFamily="34" charset="0"/>
                        </a:rPr>
                        <a:t>Paid Time Off</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a:solidFill>
                            <a:srgbClr val="000000"/>
                          </a:solidFill>
                          <a:effectLst/>
                          <a:latin typeface="Arial" panose="020B0604020202020204" pitchFamily="34" charset="0"/>
                        </a:rPr>
                        <a:t>44th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a:solidFill>
                            <a:srgbClr val="000000"/>
                          </a:solidFill>
                          <a:effectLst/>
                          <a:latin typeface="Arial" panose="020B0604020202020204" pitchFamily="34" charset="0"/>
                        </a:rPr>
                        <a:t>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a:solidFill>
                            <a:srgbClr val="000000"/>
                          </a:solidFill>
                          <a:effectLst/>
                          <a:latin typeface="Arial" panose="020B0604020202020204" pitchFamily="34" charset="0"/>
                        </a:rPr>
                        <a:t>44th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tc>
                  <a:txBody>
                    <a:bodyPr/>
                    <a:lstStyle/>
                    <a:p>
                      <a:pPr algn="ctr" fontAlgn="ctr"/>
                      <a:r>
                        <a:rPr lang="en-US" sz="1000" b="1" i="0" u="none" strike="noStrike" dirty="0">
                          <a:solidFill>
                            <a:srgbClr val="000000"/>
                          </a:solidFill>
                          <a:effectLst/>
                          <a:latin typeface="Arial" panose="020B0604020202020204" pitchFamily="34" charset="0"/>
                        </a:rPr>
                        <a:t>87.5%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F0FF"/>
                    </a:solidFill>
                  </a:tcPr>
                </a:tc>
                <a:extLst>
                  <a:ext uri="{0D108BD9-81ED-4DB2-BD59-A6C34878D82A}">
                    <a16:rowId xmlns:a16="http://schemas.microsoft.com/office/drawing/2014/main" val="2743438658"/>
                  </a:ext>
                </a:extLst>
              </a:tr>
              <a:tr h="255351">
                <a:tc>
                  <a:txBody>
                    <a:bodyPr/>
                    <a:lstStyle/>
                    <a:p>
                      <a:pPr algn="l" fontAlgn="ctr"/>
                      <a:r>
                        <a:rPr lang="en-US" sz="1000" b="1" i="0" u="none" strike="noStrike" dirty="0">
                          <a:solidFill>
                            <a:srgbClr val="000000"/>
                          </a:solidFill>
                          <a:effectLst/>
                          <a:latin typeface="Arial" panose="020B0604020202020204" pitchFamily="34" charset="0"/>
                        </a:rPr>
                        <a:t>Retirement</a:t>
                      </a:r>
                    </a:p>
                  </a:txBody>
                  <a:tcPr marL="114300"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tc>
                  <a:txBody>
                    <a:bodyPr/>
                    <a:lstStyle/>
                    <a:p>
                      <a:pPr algn="ctr" fontAlgn="ctr"/>
                      <a:r>
                        <a:rPr lang="en-US" sz="1000" b="0" i="0" u="none" strike="noStrike" dirty="0">
                          <a:solidFill>
                            <a:srgbClr val="000000"/>
                          </a:solidFill>
                          <a:effectLst/>
                          <a:latin typeface="Arial" panose="020B0604020202020204" pitchFamily="34" charset="0"/>
                        </a:rPr>
                        <a:t> </a:t>
                      </a: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EEDE"/>
                    </a:solidFill>
                  </a:tcPr>
                </a:tc>
                <a:extLst>
                  <a:ext uri="{0D108BD9-81ED-4DB2-BD59-A6C34878D82A}">
                    <a16:rowId xmlns:a16="http://schemas.microsoft.com/office/drawing/2014/main" val="3131676712"/>
                  </a:ext>
                </a:extLst>
              </a:tr>
              <a:tr h="255351">
                <a:tc>
                  <a:txBody>
                    <a:bodyPr/>
                    <a:lstStyle/>
                    <a:p>
                      <a:pPr algn="l" fontAlgn="ctr"/>
                      <a:r>
                        <a:rPr lang="en-US" sz="1000" b="1" i="0" u="none" strike="noStrike">
                          <a:solidFill>
                            <a:srgbClr val="000000"/>
                          </a:solidFill>
                          <a:effectLst/>
                          <a:latin typeface="Arial" panose="020B0604020202020204" pitchFamily="34" charset="0"/>
                        </a:rPr>
                        <a:t>Total Retirement</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dirty="0">
                          <a:solidFill>
                            <a:srgbClr val="000000"/>
                          </a:solidFill>
                          <a:effectLst/>
                          <a:latin typeface="Arial" panose="020B0604020202020204" pitchFamily="34" charset="0"/>
                        </a:rPr>
                        <a:t>24th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dirty="0">
                          <a:solidFill>
                            <a:srgbClr val="000000"/>
                          </a:solidFill>
                          <a:effectLst/>
                          <a:latin typeface="Arial" panose="020B0604020202020204" pitchFamily="34" charset="0"/>
                        </a:rPr>
                        <a:t>105.1%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dirty="0">
                          <a:solidFill>
                            <a:srgbClr val="000000"/>
                          </a:solidFill>
                          <a:effectLst/>
                          <a:latin typeface="Arial" panose="020B0604020202020204" pitchFamily="34" charset="0"/>
                        </a:rPr>
                        <a:t>24th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dirty="0">
                          <a:solidFill>
                            <a:srgbClr val="000000"/>
                          </a:solidFill>
                          <a:effectLst/>
                          <a:latin typeface="Arial" panose="020B0604020202020204" pitchFamily="34" charset="0"/>
                        </a:rPr>
                        <a:t>102.9%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extLst>
                  <a:ext uri="{0D108BD9-81ED-4DB2-BD59-A6C34878D82A}">
                    <a16:rowId xmlns:a16="http://schemas.microsoft.com/office/drawing/2014/main" val="4115152395"/>
                  </a:ext>
                </a:extLst>
              </a:tr>
              <a:tr h="255351">
                <a:tc>
                  <a:txBody>
                    <a:bodyPr/>
                    <a:lstStyle/>
                    <a:p>
                      <a:pPr algn="l" fontAlgn="ctr"/>
                      <a:r>
                        <a:rPr lang="en-US" sz="1000" b="0" i="0" u="none" strike="noStrike" dirty="0">
                          <a:solidFill>
                            <a:srgbClr val="000000"/>
                          </a:solidFill>
                          <a:effectLst/>
                          <a:latin typeface="Arial" panose="020B0604020202020204" pitchFamily="34" charset="0"/>
                        </a:rPr>
                        <a:t>Defined Benefit</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extLst>
                  <a:ext uri="{0D108BD9-81ED-4DB2-BD59-A6C34878D82A}">
                    <a16:rowId xmlns:a16="http://schemas.microsoft.com/office/drawing/2014/main" val="1545345706"/>
                  </a:ext>
                </a:extLst>
              </a:tr>
              <a:tr h="255351">
                <a:tc>
                  <a:txBody>
                    <a:bodyPr/>
                    <a:lstStyle/>
                    <a:p>
                      <a:pPr algn="l" fontAlgn="ctr"/>
                      <a:r>
                        <a:rPr lang="en-US" sz="1000" b="0" i="0" u="none" strike="noStrike" dirty="0">
                          <a:solidFill>
                            <a:srgbClr val="000000"/>
                          </a:solidFill>
                          <a:effectLst/>
                          <a:latin typeface="Arial" panose="020B0604020202020204" pitchFamily="34" charset="0"/>
                        </a:rPr>
                        <a:t>Defined Contribution</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28th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100.4%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35th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94.3%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extLst>
                  <a:ext uri="{0D108BD9-81ED-4DB2-BD59-A6C34878D82A}">
                    <a16:rowId xmlns:a16="http://schemas.microsoft.com/office/drawing/2014/main" val="2577183715"/>
                  </a:ext>
                </a:extLst>
              </a:tr>
              <a:tr h="255351">
                <a:tc>
                  <a:txBody>
                    <a:bodyPr/>
                    <a:lstStyle/>
                    <a:p>
                      <a:pPr algn="l" fontAlgn="ctr"/>
                      <a:r>
                        <a:rPr lang="en-US" sz="1000" b="0" i="0" u="none" strike="noStrike" dirty="0">
                          <a:solidFill>
                            <a:srgbClr val="000000"/>
                          </a:solidFill>
                          <a:effectLst/>
                          <a:latin typeface="Arial" panose="020B0604020202020204" pitchFamily="34" charset="0"/>
                        </a:rPr>
                        <a:t>Stock Purchase</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24th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140.1%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27th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141.4%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extLst>
                  <a:ext uri="{0D108BD9-81ED-4DB2-BD59-A6C34878D82A}">
                    <a16:rowId xmlns:a16="http://schemas.microsoft.com/office/drawing/2014/main" val="1463153960"/>
                  </a:ext>
                </a:extLst>
              </a:tr>
              <a:tr h="255351">
                <a:tc>
                  <a:txBody>
                    <a:bodyPr/>
                    <a:lstStyle/>
                    <a:p>
                      <a:pPr algn="l" fontAlgn="ctr"/>
                      <a:r>
                        <a:rPr lang="en-US" sz="1000" b="1" i="0" u="none" strike="noStrike">
                          <a:solidFill>
                            <a:srgbClr val="000000"/>
                          </a:solidFill>
                          <a:effectLst/>
                          <a:latin typeface="Arial" panose="020B0604020202020204" pitchFamily="34" charset="0"/>
                        </a:rPr>
                        <a:t>Retiree Medical</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dirty="0">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dirty="0">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tc>
                  <a:txBody>
                    <a:bodyPr/>
                    <a:lstStyle/>
                    <a:p>
                      <a:pPr algn="ctr" fontAlgn="ctr"/>
                      <a:r>
                        <a:rPr lang="en-US" sz="1000" b="1" i="0" u="none" strike="noStrike" dirty="0">
                          <a:solidFill>
                            <a:srgbClr val="000000"/>
                          </a:solidFill>
                          <a:effectLst/>
                          <a:latin typeface="Arial" panose="020B0604020202020204" pitchFamily="34" charset="0"/>
                        </a:rPr>
                        <a: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FFEC"/>
                    </a:solidFill>
                  </a:tcPr>
                </a:tc>
                <a:extLst>
                  <a:ext uri="{0D108BD9-81ED-4DB2-BD59-A6C34878D82A}">
                    <a16:rowId xmlns:a16="http://schemas.microsoft.com/office/drawing/2014/main" val="1620598831"/>
                  </a:ext>
                </a:extLst>
              </a:tr>
            </a:tbl>
          </a:graphicData>
        </a:graphic>
      </p:graphicFrame>
    </p:spTree>
    <p:extLst>
      <p:ext uri="{BB962C8B-B14F-4D97-AF65-F5344CB8AC3E}">
        <p14:creationId xmlns:p14="http://schemas.microsoft.com/office/powerpoint/2010/main" val="492525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LLPage">
    <p:spTree>
      <p:nvGrpSpPr>
        <p:cNvPr id="1" name=""/>
        <p:cNvGrpSpPr/>
        <p:nvPr/>
      </p:nvGrpSpPr>
      <p:grpSpPr>
        <a:xfrm>
          <a:off x="0" y="0"/>
          <a:ext cx="0" cy="0"/>
          <a:chOff x="0" y="0"/>
          <a:chExt cx="0" cy="0"/>
        </a:xfrm>
      </p:grpSpPr>
      <p:sp>
        <p:nvSpPr>
          <p:cNvPr id="7" name="Title 6"/>
          <p:cNvSpPr>
            <a:spLocks noGrp="1"/>
          </p:cNvSpPr>
          <p:nvPr>
            <p:ph type="title"/>
            <p:custDataLst>
              <p:tags r:id="rId2"/>
            </p:custDataLst>
          </p:nvPr>
        </p:nvSpPr>
        <p:spPr/>
        <p:txBody>
          <a:bodyPr/>
          <a:lstStyle/>
          <a:p>
            <a:r>
              <a:rPr lang="en-GB" dirty="0"/>
              <a:t>Entire Benefit Program</a:t>
            </a:r>
          </a:p>
        </p:txBody>
      </p:sp>
      <p:sp>
        <p:nvSpPr>
          <p:cNvPr id="9" name="Text Placeholder 8"/>
          <p:cNvSpPr>
            <a:spLocks noGrp="1"/>
          </p:cNvSpPr>
          <p:nvPr>
            <p:ph type="body" sz="quarter" idx="13"/>
          </p:nvPr>
        </p:nvSpPr>
        <p:spPr/>
        <p:txBody>
          <a:bodyPr/>
          <a:lstStyle/>
          <a:p>
            <a:endParaRPr lang="en-GB"/>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9</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11"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6" name="AllPage_Chart2">
            <a:extLst>
              <a:ext uri="{FF2B5EF4-FFF2-40B4-BE49-F238E27FC236}">
                <a16:creationId xmlns:a16="http://schemas.microsoft.com/office/drawing/2014/main" id="{3DF2B98D-3C04-4BD2-BC0B-878F6969AD41}"/>
              </a:ext>
            </a:extLst>
          </p:cNvPr>
          <p:cNvGraphicFramePr/>
          <p:nvPr>
            <p:extLst>
              <p:ext uri="{D42A27DB-BD31-4B8C-83A1-F6EECF244321}">
                <p14:modId xmlns:p14="http://schemas.microsoft.com/office/powerpoint/2010/main" val="3577373619"/>
              </p:ext>
            </p:extLst>
          </p:nvPr>
        </p:nvGraphicFramePr>
        <p:xfrm>
          <a:off x="409303" y="1530759"/>
          <a:ext cx="8267700" cy="2164805"/>
        </p:xfrm>
        <a:graphic>
          <a:graphicData uri="http://schemas.openxmlformats.org/drawingml/2006/chart">
            <c:chart xmlns:c="http://schemas.openxmlformats.org/drawingml/2006/chart" xmlns:r="http://schemas.openxmlformats.org/officeDocument/2006/relationships" r:id="rId4"/>
          </a:graphicData>
        </a:graphic>
      </p:graphicFrame>
      <p:sp>
        <p:nvSpPr>
          <p:cNvPr id="10" name="Line 20">
            <a:extLst>
              <a:ext uri="{FF2B5EF4-FFF2-40B4-BE49-F238E27FC236}">
                <a16:creationId xmlns:a16="http://schemas.microsoft.com/office/drawing/2014/main" id="{00000000-0008-0000-0A00-0000485C4000}"/>
              </a:ext>
            </a:extLst>
          </p:cNvPr>
          <p:cNvSpPr>
            <a:spLocks noChangeShapeType="1"/>
          </p:cNvSpPr>
          <p:nvPr/>
        </p:nvSpPr>
        <p:spPr bwMode="auto">
          <a:xfrm>
            <a:off x="5324203" y="1752180"/>
            <a:ext cx="0" cy="323290"/>
          </a:xfrm>
          <a:prstGeom prst="line">
            <a:avLst/>
          </a:prstGeom>
          <a:noFill/>
          <a:ln w="9525">
            <a:solidFill>
              <a:srgbClr xmlns:mc="http://schemas.openxmlformats.org/markup-compatibility/2006" xmlns:a14="http://schemas.microsoft.com/office/drawing/2010/main" val="702082" mc:Ignorable="a14" a14:legacySpreadsheetColorIndex="6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 name="AllPage_Chart1">
            <a:extLst>
              <a:ext uri="{FF2B5EF4-FFF2-40B4-BE49-F238E27FC236}">
                <a16:creationId xmlns:a16="http://schemas.microsoft.com/office/drawing/2014/main" id="{C8E68E93-BABA-4F88-A60E-CF762F2465B0}"/>
              </a:ext>
            </a:extLst>
          </p:cNvPr>
          <p:cNvGraphicFramePr/>
          <p:nvPr>
            <p:extLst>
              <p:ext uri="{D42A27DB-BD31-4B8C-83A1-F6EECF244321}">
                <p14:modId xmlns:p14="http://schemas.microsoft.com/office/powerpoint/2010/main" val="2876816664"/>
              </p:ext>
            </p:extLst>
          </p:nvPr>
        </p:nvGraphicFramePr>
        <p:xfrm>
          <a:off x="419100" y="3908630"/>
          <a:ext cx="8267700" cy="2164805"/>
        </p:xfrm>
        <a:graphic>
          <a:graphicData uri="http://schemas.openxmlformats.org/drawingml/2006/chart">
            <c:chart xmlns:c="http://schemas.openxmlformats.org/drawingml/2006/chart" xmlns:r="http://schemas.openxmlformats.org/officeDocument/2006/relationships" r:id="rId5"/>
          </a:graphicData>
        </a:graphic>
      </p:graphicFrame>
    </p:spTree>
    <p:custDataLst>
      <p:tags r:id="rId1"/>
    </p:custDataLst>
    <p:extLst>
      <p:ext uri="{BB962C8B-B14F-4D97-AF65-F5344CB8AC3E}">
        <p14:creationId xmlns:p14="http://schemas.microsoft.com/office/powerpoint/2010/main" val="1049858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AL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701B-380D-4B66-8218-BB4A7B4C8F91}"/>
              </a:ext>
            </a:extLst>
          </p:cNvPr>
          <p:cNvSpPr>
            <a:spLocks noGrp="1"/>
          </p:cNvSpPr>
          <p:nvPr>
            <p:ph type="title"/>
          </p:nvPr>
        </p:nvSpPr>
        <p:spPr/>
        <p:txBody>
          <a:bodyPr/>
          <a:lstStyle/>
          <a:p>
            <a:r>
              <a:rPr lang="en-US" dirty="0"/>
              <a:t>Entire Benefit Program</a:t>
            </a:r>
          </a:p>
        </p:txBody>
      </p:sp>
      <p:sp>
        <p:nvSpPr>
          <p:cNvPr id="3" name="Text Placeholder 2">
            <a:extLst>
              <a:ext uri="{FF2B5EF4-FFF2-40B4-BE49-F238E27FC236}">
                <a16:creationId xmlns:a16="http://schemas.microsoft.com/office/drawing/2014/main" id="{AA7D0BAC-1418-467A-9DE8-175FA533C73E}"/>
              </a:ext>
            </a:extLst>
          </p:cNvPr>
          <p:cNvSpPr>
            <a:spLocks noGrp="1"/>
          </p:cNvSpPr>
          <p:nvPr>
            <p:ph type="body" sz="quarter" idx="13"/>
          </p:nvPr>
        </p:nvSpPr>
        <p:spPr/>
        <p:txBody>
          <a:bodyPr/>
          <a:lstStyle/>
          <a:p>
            <a:endParaRPr lang="en-US" dirty="0"/>
          </a:p>
        </p:txBody>
      </p:sp>
      <p:sp>
        <p:nvSpPr>
          <p:cNvPr id="4" name="Slide Number Placeholder 3">
            <a:extLst>
              <a:ext uri="{FF2B5EF4-FFF2-40B4-BE49-F238E27FC236}">
                <a16:creationId xmlns:a16="http://schemas.microsoft.com/office/drawing/2014/main" id="{8857D708-5CF8-48CF-B9FC-8A70CEC3D25F}"/>
              </a:ext>
            </a:extLst>
          </p:cNvPr>
          <p:cNvSpPr>
            <a:spLocks noGrp="1"/>
          </p:cNvSpPr>
          <p:nvPr>
            <p:ph type="sldNum" sz="quarter" idx="4"/>
          </p:nvPr>
        </p:nvSpPr>
        <p:spPr/>
        <p:txBody>
          <a:bodyPr/>
          <a:lstStyle/>
          <a:p>
            <a:fld id="{2083E393-C0BF-4ED8-8545-7E4C90AFF831}" type="slidenum">
              <a:rPr lang="en-US" smtClean="0"/>
              <a:pPr/>
              <a:t>10</a:t>
            </a:fld>
            <a:endParaRPr lang="en-US" dirty="0"/>
          </a:p>
        </p:txBody>
      </p:sp>
      <p:sp>
        <p:nvSpPr>
          <p:cNvPr id="5" name="Footer Placeholder 4">
            <a:extLst>
              <a:ext uri="{FF2B5EF4-FFF2-40B4-BE49-F238E27FC236}">
                <a16:creationId xmlns:a16="http://schemas.microsoft.com/office/drawing/2014/main" id="{A02E55DF-A502-4F90-8747-93C5F60C86EA}"/>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8" name="AT_Table1">
            <a:extLst>
              <a:ext uri="{FF2B5EF4-FFF2-40B4-BE49-F238E27FC236}">
                <a16:creationId xmlns:a16="http://schemas.microsoft.com/office/drawing/2014/main" id="{54308627-9A3A-41D6-9641-E1BBC3E4F367}"/>
              </a:ext>
            </a:extLst>
          </p:cNvPr>
          <p:cNvGraphicFramePr>
            <a:graphicFrameLocks noGrp="1"/>
          </p:cNvGraphicFramePr>
          <p:nvPr>
            <p:extLst>
              <p:ext uri="{D42A27DB-BD31-4B8C-83A1-F6EECF244321}">
                <p14:modId xmlns:p14="http://schemas.microsoft.com/office/powerpoint/2010/main" val="1636891294"/>
              </p:ext>
            </p:extLst>
          </p:nvPr>
        </p:nvGraphicFramePr>
        <p:xfrm>
          <a:off x="419100" y="1532705"/>
          <a:ext cx="8267700" cy="1776552"/>
        </p:xfrm>
        <a:graphic>
          <a:graphicData uri="http://schemas.openxmlformats.org/drawingml/2006/table">
            <a:tbl>
              <a:tblPr/>
              <a:tblGrid>
                <a:gridCol w="2066925">
                  <a:extLst>
                    <a:ext uri="{9D8B030D-6E8A-4147-A177-3AD203B41FA5}">
                      <a16:colId xmlns:a16="http://schemas.microsoft.com/office/drawing/2014/main" val="2146709084"/>
                    </a:ext>
                  </a:extLst>
                </a:gridCol>
                <a:gridCol w="2066925">
                  <a:extLst>
                    <a:ext uri="{9D8B030D-6E8A-4147-A177-3AD203B41FA5}">
                      <a16:colId xmlns:a16="http://schemas.microsoft.com/office/drawing/2014/main" val="4154696422"/>
                    </a:ext>
                  </a:extLst>
                </a:gridCol>
                <a:gridCol w="2066925">
                  <a:extLst>
                    <a:ext uri="{9D8B030D-6E8A-4147-A177-3AD203B41FA5}">
                      <a16:colId xmlns:a16="http://schemas.microsoft.com/office/drawing/2014/main" val="624586385"/>
                    </a:ext>
                  </a:extLst>
                </a:gridCol>
                <a:gridCol w="2066925">
                  <a:extLst>
                    <a:ext uri="{9D8B030D-6E8A-4147-A177-3AD203B41FA5}">
                      <a16:colId xmlns:a16="http://schemas.microsoft.com/office/drawing/2014/main" val="1406305631"/>
                    </a:ext>
                  </a:extLst>
                </a:gridCol>
              </a:tblGrid>
              <a:tr h="444138">
                <a:tc>
                  <a:txBody>
                    <a:bodyPr/>
                    <a:lstStyle/>
                    <a:p>
                      <a:pPr algn="ctr" fontAlgn="ctr"/>
                      <a:r>
                        <a:rPr lang="en-US" sz="1000" b="1" i="0" u="none" strike="noStrike" dirty="0">
                          <a:solidFill>
                            <a:srgbClr val="FFFFFF"/>
                          </a:solidFill>
                          <a:effectLst/>
                          <a:latin typeface="Arial" panose="020B0604020202020204" pitchFamily="34" charset="0"/>
                        </a:rPr>
                        <a:t>Benefit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chemeClr val="bg1"/>
                          </a:solidFill>
                          <a:effectLst/>
                          <a:latin typeface="Arial" panose="020B0604020202020204" pitchFamily="34" charset="0"/>
                        </a:rPr>
                        <a:t>{{COMPANY1}} Allocation of </a:t>
                      </a:r>
                    </a:p>
                    <a:p>
                      <a:pPr algn="ctr" fontAlgn="ctr"/>
                      <a:r>
                        <a:rPr lang="en-US" sz="1000" b="1" i="0" u="none" strike="noStrike" dirty="0">
                          <a:solidFill>
                            <a:schemeClr val="bg1"/>
                          </a:solidFill>
                          <a:effectLst/>
                          <a:latin typeface="Arial" panose="020B0604020202020204" pitchFamily="34" charset="0"/>
                        </a:rPr>
                        <a:t>Employer Value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Average Allocation of </a:t>
                      </a:r>
                    </a:p>
                    <a:p>
                      <a:pPr algn="ctr" fontAlgn="ctr"/>
                      <a:r>
                        <a:rPr lang="en-US" sz="1000" b="1" i="0" u="none" strike="noStrike" dirty="0">
                          <a:solidFill>
                            <a:srgbClr val="FFFFFF"/>
                          </a:solidFill>
                          <a:effectLst/>
                          <a:latin typeface="Arial" panose="020B0604020202020204" pitchFamily="34" charset="0"/>
                        </a:rPr>
                        <a:t>Employer Value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Variance </a:t>
                      </a:r>
                      <a:r>
                        <a:rPr lang="en-US" sz="1000" b="1" i="0" u="none" strike="noStrike" dirty="0">
                          <a:solidFill>
                            <a:schemeClr val="bg1"/>
                          </a:solidFill>
                          <a:effectLst/>
                          <a:latin typeface="Arial" panose="020B0604020202020204" pitchFamily="34" charset="0"/>
                        </a:rPr>
                        <a:t>in {{COMPANY1}} Value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576667681"/>
                  </a:ext>
                </a:extLst>
              </a:tr>
              <a:tr h="222069">
                <a:tc>
                  <a:txBody>
                    <a:bodyPr/>
                    <a:lstStyle/>
                    <a:p>
                      <a:pPr algn="l" fontAlgn="ctr"/>
                      <a:r>
                        <a:rPr lang="en-US" sz="1000" b="0" i="0" u="none" strike="noStrike" dirty="0">
                          <a:effectLst/>
                          <a:latin typeface="Arial" panose="020B0604020202020204" pitchFamily="34" charset="0"/>
                        </a:rPr>
                        <a:t>Retirement</a:t>
                      </a:r>
                    </a:p>
                  </a:txBody>
                  <a:tcPr marL="9853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18.5%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14035233"/>
                  </a:ext>
                </a:extLst>
              </a:tr>
              <a:tr h="222069">
                <a:tc>
                  <a:txBody>
                    <a:bodyPr/>
                    <a:lstStyle/>
                    <a:p>
                      <a:pPr algn="l" fontAlgn="ctr"/>
                      <a:r>
                        <a:rPr lang="en-US" sz="1000" b="0" i="0" u="none" strike="noStrike" dirty="0">
                          <a:effectLst/>
                          <a:latin typeface="Arial" panose="020B0604020202020204" pitchFamily="34" charset="0"/>
                        </a:rPr>
                        <a:t>Life</a:t>
                      </a:r>
                    </a:p>
                  </a:txBody>
                  <a:tcPr marL="9853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0.1%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94331375"/>
                  </a:ext>
                </a:extLst>
              </a:tr>
              <a:tr h="222069">
                <a:tc>
                  <a:txBody>
                    <a:bodyPr/>
                    <a:lstStyle/>
                    <a:p>
                      <a:pPr algn="l" fontAlgn="ctr"/>
                      <a:r>
                        <a:rPr lang="en-US" sz="1000" b="0" i="0" u="none" strike="noStrike" dirty="0">
                          <a:effectLst/>
                          <a:latin typeface="Arial" panose="020B0604020202020204" pitchFamily="34" charset="0"/>
                        </a:rPr>
                        <a:t>Disability</a:t>
                      </a:r>
                    </a:p>
                  </a:txBody>
                  <a:tcPr marL="9853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9.1%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6381339"/>
                  </a:ext>
                </a:extLst>
              </a:tr>
              <a:tr h="222069">
                <a:tc>
                  <a:txBody>
                    <a:bodyPr/>
                    <a:lstStyle/>
                    <a:p>
                      <a:pPr algn="l" fontAlgn="ctr"/>
                      <a:r>
                        <a:rPr lang="en-US" sz="1000" b="0" i="0" u="none" strike="noStrike" dirty="0">
                          <a:effectLst/>
                          <a:latin typeface="Arial" panose="020B0604020202020204" pitchFamily="34" charset="0"/>
                        </a:rPr>
                        <a:t>Health Care</a:t>
                      </a:r>
                    </a:p>
                  </a:txBody>
                  <a:tcPr marL="9853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27.8%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26.0%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38783986"/>
                  </a:ext>
                </a:extLst>
              </a:tr>
              <a:tr h="222069">
                <a:tc>
                  <a:txBody>
                    <a:bodyPr/>
                    <a:lstStyle/>
                    <a:p>
                      <a:pPr algn="l" fontAlgn="ctr"/>
                      <a:r>
                        <a:rPr lang="en-US" sz="1000" b="0" i="0" u="none" strike="noStrike" dirty="0">
                          <a:effectLst/>
                          <a:latin typeface="Arial" panose="020B0604020202020204" pitchFamily="34" charset="0"/>
                        </a:rPr>
                        <a:t>Paid Time Off</a:t>
                      </a:r>
                    </a:p>
                  </a:txBody>
                  <a:tcPr marL="9853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40.3%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45.0%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 (4.7%)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08114530"/>
                  </a:ext>
                </a:extLst>
              </a:tr>
              <a:tr h="222069">
                <a:tc>
                  <a:txBody>
                    <a:bodyPr/>
                    <a:lstStyle/>
                    <a:p>
                      <a:pPr algn="l" fontAlgn="ctr"/>
                      <a:r>
                        <a:rPr lang="en-US" sz="1000" b="1" i="0" u="none" strike="noStrike" dirty="0">
                          <a:effectLst/>
                          <a:latin typeface="Arial" panose="020B0604020202020204" pitchFamily="34" charset="0"/>
                        </a:rPr>
                        <a:t>Total</a:t>
                      </a:r>
                    </a:p>
                  </a:txBody>
                  <a:tcPr marL="9853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ctr" fontAlgn="ctr"/>
                      <a:r>
                        <a:rPr lang="en-US" sz="1000" b="1" i="0" u="none" strike="noStrike">
                          <a:effectLst/>
                          <a:latin typeface="Arial" panose="020B0604020202020204" pitchFamily="34" charset="0"/>
                        </a:rPr>
                        <a:t>100.0%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ctr" fontAlgn="ctr"/>
                      <a:r>
                        <a:rPr lang="en-US" sz="1000" b="1" i="0" u="none" strike="noStrike" dirty="0">
                          <a:effectLst/>
                          <a:latin typeface="Arial" panose="020B0604020202020204" pitchFamily="34" charset="0"/>
                        </a:rPr>
                        <a:t>100.0%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ctr" fontAlgn="ctr"/>
                      <a:r>
                        <a:rPr lang="en-US" sz="1000" b="1" i="0" u="none" strike="noStrike" dirty="0">
                          <a:effectLst/>
                          <a:latin typeface="Arial" panose="020B0604020202020204" pitchFamily="34" charset="0"/>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extLst>
                  <a:ext uri="{0D108BD9-81ED-4DB2-BD59-A6C34878D82A}">
                    <a16:rowId xmlns:a16="http://schemas.microsoft.com/office/drawing/2014/main" val="2716579916"/>
                  </a:ext>
                </a:extLst>
              </a:tr>
            </a:tbl>
          </a:graphicData>
        </a:graphic>
      </p:graphicFrame>
      <p:graphicFrame>
        <p:nvGraphicFramePr>
          <p:cNvPr id="11" name="AT_PieChart1">
            <a:extLst>
              <a:ext uri="{FF2B5EF4-FFF2-40B4-BE49-F238E27FC236}">
                <a16:creationId xmlns:a16="http://schemas.microsoft.com/office/drawing/2014/main" id="{33EBD129-811B-4194-BE06-EC553EF358CB}"/>
              </a:ext>
            </a:extLst>
          </p:cNvPr>
          <p:cNvGraphicFramePr/>
          <p:nvPr>
            <p:extLst>
              <p:ext uri="{D42A27DB-BD31-4B8C-83A1-F6EECF244321}">
                <p14:modId xmlns:p14="http://schemas.microsoft.com/office/powerpoint/2010/main" val="2972444955"/>
              </p:ext>
            </p:extLst>
          </p:nvPr>
        </p:nvGraphicFramePr>
        <p:xfrm>
          <a:off x="1114695" y="3548744"/>
          <a:ext cx="3971108" cy="243621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AT_PieChart2">
            <a:extLst>
              <a:ext uri="{FF2B5EF4-FFF2-40B4-BE49-F238E27FC236}">
                <a16:creationId xmlns:a16="http://schemas.microsoft.com/office/drawing/2014/main" id="{4A88DFC3-5BBD-4A1C-BE8E-53F0971DFBE6}"/>
              </a:ext>
            </a:extLst>
          </p:cNvPr>
          <p:cNvGraphicFramePr/>
          <p:nvPr>
            <p:extLst>
              <p:ext uri="{D42A27DB-BD31-4B8C-83A1-F6EECF244321}">
                <p14:modId xmlns:p14="http://schemas.microsoft.com/office/powerpoint/2010/main" val="2987499638"/>
              </p:ext>
            </p:extLst>
          </p:nvPr>
        </p:nvGraphicFramePr>
        <p:xfrm>
          <a:off x="4205149" y="3548744"/>
          <a:ext cx="3971108" cy="24362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1118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MED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Active Medical Benefits </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11</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MED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1512000333"/>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MED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4275820646"/>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46504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MEDTex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Medical Benefits (Plan Design)</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099904"/>
            <a:ext cx="8229600" cy="4389120"/>
          </a:xfrm>
        </p:spPr>
        <p:txBody>
          <a:bodyPr/>
          <a:lstStyle/>
          <a:p>
            <a:pPr lvl="2"/>
            <a:r>
              <a:rPr lang="en-US" sz="1200" dirty="0"/>
              <a:t>{{COMPANY1}} ranks {{RANK1}} in employer-provided active medical benefits ({{PERC1}}% of average) and {{RANK2}} in total value ({{PERC2}}%)</a:t>
            </a:r>
          </a:p>
          <a:p>
            <a:pPr lvl="2"/>
            <a:r>
              <a:rPr lang="en-US" sz="1200" dirty="0"/>
              <a:t>{{COMPANY1}} primary plan type (highest enrolled medical plan type) is the {{PLAND1}}</a:t>
            </a:r>
          </a:p>
          <a:p>
            <a:pPr lvl="2"/>
            <a:r>
              <a:rPr lang="en-US" sz="1200" dirty="0"/>
              <a:t>The breakdown of primary plan type for active medical for the peer group is:</a:t>
            </a:r>
          </a:p>
          <a:p>
            <a:pPr marL="0" lvl="2" indent="0">
              <a:buNone/>
            </a:pPr>
            <a:endParaRPr lang="en-US" sz="1200" dirty="0"/>
          </a:p>
          <a:p>
            <a:pPr marL="0" lvl="2" indent="0">
              <a:buNone/>
            </a:pPr>
            <a:endParaRPr lang="en-US" sz="1200" dirty="0"/>
          </a:p>
          <a:p>
            <a:pPr lvl="2"/>
            <a:r>
              <a:rPr lang="en-US" sz="1200" dirty="0"/>
              <a:t>The chart below summarizes the key plan design features for the most prevalent {{PLAN1}}</a:t>
            </a:r>
            <a:r>
              <a:rPr lang="en-US" sz="1200" dirty="0">
                <a:solidFill>
                  <a:srgbClr val="FF0000"/>
                </a:solidFill>
              </a:rPr>
              <a:t> </a:t>
            </a:r>
            <a:r>
              <a:rPr lang="en-US" sz="1200" dirty="0"/>
              <a:t>plan design within the {{COMPANY1}} peer group:</a:t>
            </a:r>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12</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sp>
        <p:nvSpPr>
          <p:cNvPr id="9" name="TextBox 8">
            <a:extLst>
              <a:ext uri="{FF2B5EF4-FFF2-40B4-BE49-F238E27FC236}">
                <a16:creationId xmlns:a16="http://schemas.microsoft.com/office/drawing/2014/main" id="{1E3D071A-3509-4194-BFB9-DD590FDF48E3}"/>
              </a:ext>
            </a:extLst>
          </p:cNvPr>
          <p:cNvSpPr txBox="1"/>
          <p:nvPr/>
        </p:nvSpPr>
        <p:spPr>
          <a:xfrm>
            <a:off x="362176" y="1853934"/>
            <a:ext cx="8494440" cy="536044"/>
          </a:xfrm>
          <a:prstGeom prst="rect">
            <a:avLst/>
          </a:prstGeom>
          <a:noFill/>
        </p:spPr>
        <p:txBody>
          <a:bodyPr wrap="square" numCol="3" rtlCol="0">
            <a:spAutoFit/>
          </a:bodyPr>
          <a:lstStyle/>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{{PLAN1}}</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{{PLAN2}}</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{{PLAN3}}</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{{PLAN4}}</a:t>
            </a:r>
          </a:p>
          <a:p>
            <a:pPr marL="514350" lvl="3" indent="-285750">
              <a:spcAft>
                <a:spcPts val="280"/>
              </a:spcAft>
              <a:buClr>
                <a:schemeClr val="accent6"/>
              </a:buClr>
              <a:buSzPct val="125000"/>
              <a:buFont typeface="Wingdings" panose="05000000000000000000" pitchFamily="2" charset="2"/>
              <a:buChar char="§"/>
            </a:pPr>
            <a:r>
              <a:rPr lang="en-US" sz="1200" dirty="0">
                <a:latin typeface="Arial" panose="020B0604020202020204" pitchFamily="34" charset="0"/>
              </a:rPr>
              <a:t>{{PLAN5}}</a:t>
            </a:r>
          </a:p>
          <a:p>
            <a:pPr marL="285750" lvl="2" indent="-285750">
              <a:spcAft>
                <a:spcPts val="350"/>
              </a:spcAft>
              <a:buClr>
                <a:srgbClr val="702082"/>
              </a:buClr>
              <a:buSzPct val="125000"/>
              <a:buFont typeface="Wingdings" panose="05000000000000000000" pitchFamily="2" charset="2"/>
              <a:buChar char="§"/>
            </a:pPr>
            <a:endParaRPr lang="en-US" sz="1100" dirty="0"/>
          </a:p>
        </p:txBody>
      </p:sp>
      <p:graphicFrame>
        <p:nvGraphicFramePr>
          <p:cNvPr id="11" name="MT_Table1">
            <a:extLst>
              <a:ext uri="{FF2B5EF4-FFF2-40B4-BE49-F238E27FC236}">
                <a16:creationId xmlns:a16="http://schemas.microsoft.com/office/drawing/2014/main" id="{B9839ADA-ED80-4C25-BE38-DF9F736F3984}"/>
              </a:ext>
            </a:extLst>
          </p:cNvPr>
          <p:cNvGraphicFramePr>
            <a:graphicFrameLocks noGrp="1"/>
          </p:cNvGraphicFramePr>
          <p:nvPr>
            <p:extLst>
              <p:ext uri="{D42A27DB-BD31-4B8C-83A1-F6EECF244321}">
                <p14:modId xmlns:p14="http://schemas.microsoft.com/office/powerpoint/2010/main" val="1380117820"/>
              </p:ext>
            </p:extLst>
          </p:nvPr>
        </p:nvGraphicFramePr>
        <p:xfrm>
          <a:off x="457201" y="2641679"/>
          <a:ext cx="8229601" cy="3476388"/>
        </p:xfrm>
        <a:graphic>
          <a:graphicData uri="http://schemas.openxmlformats.org/drawingml/2006/table">
            <a:tbl>
              <a:tblPr/>
              <a:tblGrid>
                <a:gridCol w="3154389">
                  <a:extLst>
                    <a:ext uri="{9D8B030D-6E8A-4147-A177-3AD203B41FA5}">
                      <a16:colId xmlns:a16="http://schemas.microsoft.com/office/drawing/2014/main" val="1771804187"/>
                    </a:ext>
                  </a:extLst>
                </a:gridCol>
                <a:gridCol w="1268803">
                  <a:extLst>
                    <a:ext uri="{9D8B030D-6E8A-4147-A177-3AD203B41FA5}">
                      <a16:colId xmlns:a16="http://schemas.microsoft.com/office/drawing/2014/main" val="3861427018"/>
                    </a:ext>
                  </a:extLst>
                </a:gridCol>
                <a:gridCol w="1268803">
                  <a:extLst>
                    <a:ext uri="{9D8B030D-6E8A-4147-A177-3AD203B41FA5}">
                      <a16:colId xmlns:a16="http://schemas.microsoft.com/office/drawing/2014/main" val="2415820077"/>
                    </a:ext>
                  </a:extLst>
                </a:gridCol>
                <a:gridCol w="1268803">
                  <a:extLst>
                    <a:ext uri="{9D8B030D-6E8A-4147-A177-3AD203B41FA5}">
                      <a16:colId xmlns:a16="http://schemas.microsoft.com/office/drawing/2014/main" val="943044360"/>
                    </a:ext>
                  </a:extLst>
                </a:gridCol>
                <a:gridCol w="1268803">
                  <a:extLst>
                    <a:ext uri="{9D8B030D-6E8A-4147-A177-3AD203B41FA5}">
                      <a16:colId xmlns:a16="http://schemas.microsoft.com/office/drawing/2014/main" val="2919079900"/>
                    </a:ext>
                  </a:extLst>
                </a:gridCol>
              </a:tblGrid>
              <a:tr h="138548">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Arial" panose="020B0604020202020204" pitchFamily="34" charset="0"/>
                        </a:rPr>
                        <a:t>Plan Feature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gridSpan="2">
                  <a:txBody>
                    <a:bodyPr/>
                    <a:lstStyle/>
                    <a:p>
                      <a:pPr algn="ctr" fontAlgn="ctr"/>
                      <a:r>
                        <a:rPr lang="en-US" sz="1000" b="1" i="0" u="none" strike="noStrike" dirty="0">
                          <a:solidFill>
                            <a:schemeClr val="bg1"/>
                          </a:solidFill>
                          <a:effectLst/>
                          <a:latin typeface="Arial" panose="020B0604020202020204" pitchFamily="34" charset="0"/>
                        </a:rPr>
                        <a:t>AMD’s CDHP</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tc gridSpan="2">
                  <a:txBody>
                    <a:bodyPr/>
                    <a:lstStyle/>
                    <a:p>
                      <a:pPr algn="ctr" fontAlgn="ctr"/>
                      <a:r>
                        <a:rPr lang="en-US" sz="1000" b="1" i="0" u="none" strike="noStrike" dirty="0">
                          <a:solidFill>
                            <a:srgbClr val="FFFFFF"/>
                          </a:solidFill>
                          <a:effectLst/>
                          <a:latin typeface="Arial" panose="020B0604020202020204" pitchFamily="34" charset="0"/>
                        </a:rPr>
                        <a:t>Typical Peer Group Company </a:t>
                      </a:r>
                      <a:r>
                        <a:rPr lang="en-US" sz="1000" b="1" i="0" u="none" strike="noStrike" dirty="0">
                          <a:solidFill>
                            <a:schemeClr val="bg1"/>
                          </a:solidFill>
                          <a:effectLst/>
                          <a:latin typeface="Arial" panose="020B0604020202020204" pitchFamily="34" charset="0"/>
                        </a:rPr>
                        <a:t>CDHP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tc hMerge="1">
                  <a:txBody>
                    <a:bodyPr/>
                    <a:lstStyle/>
                    <a:p>
                      <a:endParaRPr lang="en-US"/>
                    </a:p>
                  </a:txBody>
                  <a:tcPr/>
                </a:tc>
                <a:extLst>
                  <a:ext uri="{0D108BD9-81ED-4DB2-BD59-A6C34878D82A}">
                    <a16:rowId xmlns:a16="http://schemas.microsoft.com/office/drawing/2014/main" val="722029223"/>
                  </a:ext>
                </a:extLst>
              </a:tr>
              <a:tr h="138548">
                <a:tc vMerge="1">
                  <a:txBody>
                    <a:bodyPr/>
                    <a:lstStyle/>
                    <a:p>
                      <a:endParaRPr lang="en-US"/>
                    </a:p>
                  </a:txBody>
                  <a:tcPr/>
                </a:tc>
                <a:tc>
                  <a:txBody>
                    <a:bodyPr/>
                    <a:lstStyle/>
                    <a:p>
                      <a:pPr algn="ctr" fontAlgn="ctr"/>
                      <a:r>
                        <a:rPr lang="en-US" sz="1000" b="1" i="0" u="none" strike="noStrike" dirty="0">
                          <a:solidFill>
                            <a:srgbClr val="FFFFFF"/>
                          </a:solidFill>
                          <a:effectLst/>
                          <a:latin typeface="Arial" panose="020B0604020202020204" pitchFamily="34" charset="0"/>
                        </a:rPr>
                        <a:t>In-Network</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Out-of-Network*</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In-Network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tc>
                  <a:txBody>
                    <a:bodyPr/>
                    <a:lstStyle/>
                    <a:p>
                      <a:pPr algn="ctr" fontAlgn="ctr"/>
                      <a:r>
                        <a:rPr lang="en-US" sz="1000" b="1" i="0" u="none" strike="noStrike">
                          <a:solidFill>
                            <a:srgbClr val="FFFFFF"/>
                          </a:solidFill>
                          <a:effectLst/>
                          <a:latin typeface="Arial" panose="020B0604020202020204" pitchFamily="34" charset="0"/>
                        </a:rPr>
                        <a:t>Out-of-Network*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560594652"/>
                  </a:ext>
                </a:extLst>
              </a:tr>
              <a:tr h="138548">
                <a:tc>
                  <a:txBody>
                    <a:bodyPr/>
                    <a:lstStyle/>
                    <a:p>
                      <a:pPr algn="l" fontAlgn="ctr"/>
                      <a:r>
                        <a:rPr lang="en-US" sz="1000" b="1" i="0" u="none" strike="noStrike" dirty="0">
                          <a:solidFill>
                            <a:srgbClr val="000000"/>
                          </a:solidFill>
                          <a:effectLst/>
                          <a:latin typeface="Arial" panose="020B0604020202020204" pitchFamily="34" charset="0"/>
                        </a:rPr>
                        <a:t>Individual Deductible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$1,400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$4,200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chemeClr val="tx1"/>
                          </a:solidFill>
                          <a:effectLst/>
                          <a:latin typeface="Arial" panose="020B0604020202020204" pitchFamily="34" charset="0"/>
                        </a:rPr>
                        <a:t>$1,400 – $2,000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$1,500 – $3,000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95776935"/>
                  </a:ext>
                </a:extLst>
              </a:tr>
              <a:tr h="138548">
                <a:tc>
                  <a:txBody>
                    <a:bodyPr/>
                    <a:lstStyle/>
                    <a:p>
                      <a:pPr algn="l" fontAlgn="ctr"/>
                      <a:r>
                        <a:rPr lang="en-US" sz="1000" b="1" i="0" u="none" strike="noStrike">
                          <a:solidFill>
                            <a:srgbClr val="000000"/>
                          </a:solidFill>
                          <a:effectLst/>
                          <a:latin typeface="Arial" panose="020B0604020202020204" pitchFamily="34" charset="0"/>
                        </a:rPr>
                        <a:t>Family Deductible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$2,800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$8,400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chemeClr val="tx1"/>
                          </a:solidFill>
                          <a:effectLst/>
                          <a:latin typeface="Arial" panose="020B0604020202020204" pitchFamily="34" charset="0"/>
                        </a:rPr>
                        <a:t>$3,000 – $4,000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chemeClr val="tx1"/>
                          </a:solidFill>
                          <a:effectLst/>
                          <a:latin typeface="Arial" panose="020B0604020202020204" pitchFamily="34" charset="0"/>
                        </a:rPr>
                        <a:t>$3,000 – $6,000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18209632"/>
                  </a:ext>
                </a:extLst>
              </a:tr>
              <a:tr h="271124">
                <a:tc>
                  <a:txBody>
                    <a:bodyPr/>
                    <a:lstStyle/>
                    <a:p>
                      <a:pPr algn="l" fontAlgn="ctr"/>
                      <a:r>
                        <a:rPr lang="en-US" sz="1000" b="1" i="0" u="none" strike="noStrike" dirty="0">
                          <a:solidFill>
                            <a:srgbClr val="000000"/>
                          </a:solidFill>
                          <a:effectLst/>
                          <a:latin typeface="Arial" panose="020B0604020202020204" pitchFamily="34" charset="0"/>
                        </a:rPr>
                        <a:t>Individual Out-of-Pocket Maximum </a:t>
                      </a:r>
                    </a:p>
                    <a:p>
                      <a:pPr algn="l" fontAlgn="ctr"/>
                      <a:r>
                        <a:rPr lang="en-US" sz="1000" b="1" i="0" u="none" strike="noStrike" dirty="0">
                          <a:solidFill>
                            <a:srgbClr val="000000"/>
                          </a:solidFill>
                          <a:effectLst/>
                          <a:latin typeface="Arial" panose="020B0604020202020204" pitchFamily="34" charset="0"/>
                        </a:rPr>
                        <a:t>(Includes Deductible)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$2,500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$7,500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chemeClr val="tx1"/>
                          </a:solidFill>
                          <a:effectLst/>
                          <a:latin typeface="Arial" panose="020B0604020202020204" pitchFamily="34" charset="0"/>
                        </a:rPr>
                        <a:t>$2,500 – $4,000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$5,000 – $8,000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71840068"/>
                  </a:ext>
                </a:extLst>
              </a:tr>
              <a:tr h="271124">
                <a:tc>
                  <a:txBody>
                    <a:bodyPr/>
                    <a:lstStyle/>
                    <a:p>
                      <a:pPr algn="l" fontAlgn="ctr"/>
                      <a:r>
                        <a:rPr lang="en-US" sz="1000" b="1" i="0" u="none" strike="noStrike" dirty="0">
                          <a:solidFill>
                            <a:srgbClr val="000000"/>
                          </a:solidFill>
                          <a:effectLst/>
                          <a:latin typeface="Arial" panose="020B0604020202020204" pitchFamily="34" charset="0"/>
                        </a:rPr>
                        <a:t>Family Out-of-Pocket Maximum </a:t>
                      </a:r>
                      <a:br>
                        <a:rPr lang="en-US" sz="1000" b="1" i="0" u="none" strike="noStrike" dirty="0">
                          <a:solidFill>
                            <a:srgbClr val="000000"/>
                          </a:solidFill>
                          <a:effectLst/>
                          <a:latin typeface="Arial" panose="020B0604020202020204" pitchFamily="34" charset="0"/>
                        </a:rPr>
                      </a:br>
                      <a:r>
                        <a:rPr lang="en-US" sz="1000" b="1" i="0" u="none" strike="noStrike" dirty="0">
                          <a:solidFill>
                            <a:srgbClr val="000000"/>
                          </a:solidFill>
                          <a:effectLst/>
                          <a:latin typeface="Arial" panose="020B0604020202020204" pitchFamily="34" charset="0"/>
                        </a:rPr>
                        <a:t>(Includes Deductible)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$5,000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$15,000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chemeClr val="tx1"/>
                          </a:solidFill>
                          <a:effectLst/>
                          <a:latin typeface="Arial" panose="020B0604020202020204" pitchFamily="34" charset="0"/>
                        </a:rPr>
                        <a:t>$5,000 – $7,000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$10,000 – $14,000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09614877"/>
                  </a:ext>
                </a:extLst>
              </a:tr>
              <a:tr h="278015">
                <a:tc>
                  <a:txBody>
                    <a:bodyPr/>
                    <a:lstStyle/>
                    <a:p>
                      <a:pPr algn="l" fontAlgn="ctr"/>
                      <a:r>
                        <a:rPr lang="en-US" sz="1000" b="1" i="0" u="none" strike="noStrike" dirty="0">
                          <a:solidFill>
                            <a:srgbClr val="000000"/>
                          </a:solidFill>
                          <a:effectLst/>
                          <a:latin typeface="Arial" panose="020B0604020202020204" pitchFamily="34" charset="0"/>
                        </a:rPr>
                        <a:t>Employer Seed</a:t>
                      </a:r>
                    </a:p>
                    <a:p>
                      <a:pPr algn="l" fontAlgn="ctr"/>
                      <a:r>
                        <a:rPr lang="en-US" sz="1000" b="1" i="0" u="none" strike="noStrike" dirty="0">
                          <a:solidFill>
                            <a:srgbClr val="000000"/>
                          </a:solidFill>
                          <a:effectLst/>
                          <a:latin typeface="Arial" panose="020B0604020202020204" pitchFamily="34" charset="0"/>
                        </a:rPr>
                        <a:t>(Individual / Family)</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chemeClr val="tx1"/>
                          </a:solidFill>
                          <a:effectLst/>
                          <a:latin typeface="Arial" panose="020B0604020202020204" pitchFamily="34" charset="0"/>
                        </a:rPr>
                        <a:t>Individual: $500</a:t>
                      </a:r>
                    </a:p>
                    <a:p>
                      <a:pPr algn="ctr" fontAlgn="ctr"/>
                      <a:r>
                        <a:rPr lang="en-US" sz="1000" b="0" i="0" u="none" strike="noStrike" dirty="0">
                          <a:solidFill>
                            <a:schemeClr val="tx1"/>
                          </a:solidFill>
                          <a:effectLst/>
                          <a:latin typeface="Arial" panose="020B0604020202020204" pitchFamily="34" charset="0"/>
                        </a:rPr>
                        <a:t>Family: $1,000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chemeClr val="tx1"/>
                          </a:solidFill>
                          <a:effectLst/>
                          <a:latin typeface="Arial" panose="020B0604020202020204" pitchFamily="34" charset="0"/>
                        </a:rPr>
                        <a:t>Individual: $500 – $750 </a:t>
                      </a:r>
                    </a:p>
                    <a:p>
                      <a:pPr algn="ctr" fontAlgn="ctr"/>
                      <a:r>
                        <a:rPr lang="en-US" sz="1000" b="0" i="0" u="none" strike="noStrike" dirty="0">
                          <a:solidFill>
                            <a:schemeClr val="tx1"/>
                          </a:solidFill>
                          <a:effectLst/>
                          <a:latin typeface="Arial" panose="020B0604020202020204" pitchFamily="34" charset="0"/>
                        </a:rPr>
                        <a:t>Family: $</a:t>
                      </a:r>
                      <a:r>
                        <a:rPr lang="en-US" sz="1000" b="0" i="0" u="none" strike="noStrike">
                          <a:solidFill>
                            <a:schemeClr val="tx1"/>
                          </a:solidFill>
                          <a:effectLst/>
                          <a:latin typeface="Arial" panose="020B0604020202020204" pitchFamily="34" charset="0"/>
                        </a:rPr>
                        <a:t>1,000 – </a:t>
                      </a:r>
                      <a:r>
                        <a:rPr lang="en-US" sz="1000" b="0" i="0" u="none" strike="noStrike" dirty="0">
                          <a:solidFill>
                            <a:schemeClr val="tx1"/>
                          </a:solidFill>
                          <a:effectLst/>
                          <a:latin typeface="Arial" panose="020B0604020202020204" pitchFamily="34" charset="0"/>
                        </a:rPr>
                        <a:t>$1,500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2837859852"/>
                  </a:ext>
                </a:extLst>
              </a:tr>
              <a:tr h="138548">
                <a:tc>
                  <a:txBody>
                    <a:bodyPr/>
                    <a:lstStyle/>
                    <a:p>
                      <a:pPr algn="l" fontAlgn="ctr"/>
                      <a:r>
                        <a:rPr lang="en-US" sz="1000" b="1" i="0" u="none" strike="noStrike" dirty="0">
                          <a:solidFill>
                            <a:srgbClr val="000000"/>
                          </a:solidFill>
                          <a:effectLst/>
                          <a:latin typeface="Arial" panose="020B0604020202020204" pitchFamily="34" charset="0"/>
                        </a:rPr>
                        <a:t>Coinsurance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chemeClr val="tx1"/>
                          </a:solidFill>
                          <a:effectLst/>
                          <a:latin typeface="Arial" panose="020B0604020202020204" pitchFamily="34" charset="0"/>
                        </a:rPr>
                        <a:t>90%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70%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90%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chemeClr val="tx1"/>
                          </a:solidFill>
                          <a:effectLst/>
                          <a:latin typeface="Arial" panose="020B0604020202020204" pitchFamily="34" charset="0"/>
                        </a:rPr>
                        <a:t>70%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86227131"/>
                  </a:ext>
                </a:extLst>
              </a:tr>
              <a:tr h="271124">
                <a:tc>
                  <a:txBody>
                    <a:bodyPr/>
                    <a:lstStyle/>
                    <a:p>
                      <a:pPr algn="l" fontAlgn="ctr"/>
                      <a:r>
                        <a:rPr lang="en-US" sz="1000" b="1" i="0" u="none" strike="noStrike" dirty="0">
                          <a:solidFill>
                            <a:srgbClr val="000000"/>
                          </a:solidFill>
                          <a:effectLst/>
                          <a:latin typeface="Arial" panose="020B0604020202020204" pitchFamily="34" charset="0"/>
                        </a:rPr>
                        <a:t>Office Visit</a:t>
                      </a:r>
                      <a:br>
                        <a:rPr lang="en-US" sz="1000" b="1" i="0" u="none" strike="noStrike" dirty="0">
                          <a:solidFill>
                            <a:srgbClr val="000000"/>
                          </a:solidFill>
                          <a:effectLst/>
                          <a:latin typeface="Arial" panose="020B0604020202020204" pitchFamily="34" charset="0"/>
                        </a:rPr>
                      </a:br>
                      <a:r>
                        <a:rPr lang="en-US" sz="1000" b="1" i="0" u="none" strike="noStrike" dirty="0">
                          <a:solidFill>
                            <a:srgbClr val="000000"/>
                          </a:solidFill>
                          <a:effectLst/>
                          <a:latin typeface="Arial" panose="020B0604020202020204" pitchFamily="34" charset="0"/>
                        </a:rPr>
                        <a:t>(PCP/Specialist)</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err="1">
                          <a:solidFill>
                            <a:schemeClr val="tx1"/>
                          </a:solidFill>
                          <a:effectLst/>
                          <a:latin typeface="Arial" panose="020B0604020202020204" pitchFamily="34" charset="0"/>
                        </a:rPr>
                        <a:t>Ded</a:t>
                      </a:r>
                      <a:r>
                        <a:rPr lang="en-US" sz="1000" b="0" i="0" u="none" strike="noStrike" dirty="0">
                          <a:solidFill>
                            <a:schemeClr val="tx1"/>
                          </a:solidFill>
                          <a:effectLst/>
                          <a:latin typeface="Arial" panose="020B0604020202020204" pitchFamily="34" charset="0"/>
                        </a:rPr>
                        <a:t>/Coins</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endParaRPr lang="en-US" sz="1000" b="0" i="0" u="none" strike="noStrike" dirty="0">
                        <a:solidFill>
                          <a:schemeClr val="tx1"/>
                        </a:solidFill>
                        <a:effectLst/>
                        <a:latin typeface="Arial" panose="020B0604020202020204" pitchFamily="34" charset="0"/>
                      </a:endParaRP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err="1">
                          <a:solidFill>
                            <a:schemeClr val="tx1"/>
                          </a:solidFill>
                          <a:effectLst/>
                          <a:latin typeface="Arial" panose="020B0604020202020204" pitchFamily="34" charset="0"/>
                        </a:rPr>
                        <a:t>Ded</a:t>
                      </a:r>
                      <a:r>
                        <a:rPr lang="en-US" sz="1000" b="0" i="0" u="none" strike="noStrike" dirty="0">
                          <a:solidFill>
                            <a:schemeClr val="tx1"/>
                          </a:solidFill>
                          <a:effectLst/>
                          <a:latin typeface="Arial" panose="020B0604020202020204" pitchFamily="34" charset="0"/>
                        </a:rPr>
                        <a:t>/Coins</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endParaRPr lang="en-US" sz="1000" b="0" i="0" u="none" strike="noStrike" dirty="0">
                        <a:solidFill>
                          <a:schemeClr val="tx1"/>
                        </a:solidFill>
                        <a:effectLst/>
                        <a:latin typeface="Arial" panose="020B0604020202020204" pitchFamily="34" charset="0"/>
                      </a:endParaRP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52361090"/>
                  </a:ext>
                </a:extLst>
              </a:tr>
              <a:tr h="138548">
                <a:tc>
                  <a:txBody>
                    <a:bodyPr/>
                    <a:lstStyle/>
                    <a:p>
                      <a:pPr algn="l" fontAlgn="ctr"/>
                      <a:r>
                        <a:rPr lang="en-US" sz="1000" b="1" i="0" u="none" strike="noStrike" dirty="0">
                          <a:solidFill>
                            <a:srgbClr val="000000"/>
                          </a:solidFill>
                          <a:effectLst/>
                          <a:latin typeface="Arial" panose="020B0604020202020204" pitchFamily="34" charset="0"/>
                        </a:rPr>
                        <a:t>Emergency Room</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a:solidFill>
                            <a:schemeClr val="tx1"/>
                          </a:solidFill>
                          <a:effectLst/>
                          <a:latin typeface="Arial" panose="020B0604020202020204" pitchFamily="34" charset="0"/>
                        </a:rPr>
                        <a:t>Ded/Coins</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err="1">
                          <a:solidFill>
                            <a:schemeClr val="tx1"/>
                          </a:solidFill>
                          <a:effectLst/>
                          <a:latin typeface="Arial" panose="020B0604020202020204" pitchFamily="34" charset="0"/>
                        </a:rPr>
                        <a:t>Ded</a:t>
                      </a:r>
                      <a:r>
                        <a:rPr lang="en-US" sz="1000" b="0" i="0" u="none" strike="noStrike" dirty="0">
                          <a:solidFill>
                            <a:schemeClr val="tx1"/>
                          </a:solidFill>
                          <a:effectLst/>
                          <a:latin typeface="Arial" panose="020B0604020202020204" pitchFamily="34" charset="0"/>
                        </a:rPr>
                        <a:t>/Coins</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3431329941"/>
                  </a:ext>
                </a:extLst>
              </a:tr>
              <a:tr h="138548">
                <a:tc>
                  <a:txBody>
                    <a:bodyPr/>
                    <a:lstStyle/>
                    <a:p>
                      <a:pPr algn="l" fontAlgn="ctr"/>
                      <a:r>
                        <a:rPr lang="en-US" sz="1000" b="1" i="0" u="none" strike="noStrike" dirty="0">
                          <a:solidFill>
                            <a:srgbClr val="000000"/>
                          </a:solidFill>
                          <a:effectLst/>
                          <a:latin typeface="Arial" panose="020B0604020202020204" pitchFamily="34" charset="0"/>
                        </a:rPr>
                        <a:t>Spousal Surcharge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chemeClr val="tx1"/>
                          </a:solidFill>
                          <a:effectLst/>
                          <a:latin typeface="Arial" panose="020B0604020202020204" pitchFamily="34" charset="0"/>
                        </a:rPr>
                        <a:t>N/A</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chemeClr val="tx1"/>
                          </a:solidFill>
                          <a:effectLst/>
                          <a:latin typeface="Arial" panose="020B0604020202020204" pitchFamily="34" charset="0"/>
                        </a:rPr>
                        <a:t>14 of 49; Average: $119</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1354385721"/>
                  </a:ext>
                </a:extLst>
              </a:tr>
              <a:tr h="138548">
                <a:tc>
                  <a:txBody>
                    <a:bodyPr/>
                    <a:lstStyle/>
                    <a:p>
                      <a:pPr algn="l" fontAlgn="ctr"/>
                      <a:r>
                        <a:rPr lang="en-US" sz="1000" b="1" i="1" u="none" strike="noStrike">
                          <a:solidFill>
                            <a:srgbClr val="000000"/>
                          </a:solidFill>
                          <a:effectLst/>
                          <a:latin typeface="Arial" panose="020B0604020202020204" pitchFamily="34" charset="0"/>
                        </a:rPr>
                        <a:t>Retail Pharmacy</a:t>
                      </a:r>
                    </a:p>
                  </a:txBody>
                  <a:tcPr marL="82388" marR="6866" marT="6866"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dirty="0">
                          <a:solidFill>
                            <a:schemeClr val="tx1"/>
                          </a:solidFill>
                          <a:effectLst/>
                          <a:latin typeface="Arial" panose="020B0604020202020204" pitchFamily="34" charset="0"/>
                        </a:rPr>
                        <a:t> </a:t>
                      </a:r>
                    </a:p>
                  </a:txBody>
                  <a:tcPr marL="82388" marR="6866" marT="6866"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dirty="0">
                          <a:solidFill>
                            <a:schemeClr val="tx1"/>
                          </a:solidFill>
                          <a:effectLst/>
                          <a:latin typeface="Arial" panose="020B0604020202020204" pitchFamily="34" charset="0"/>
                        </a:rPr>
                        <a:t> </a:t>
                      </a:r>
                    </a:p>
                  </a:txBody>
                  <a:tcPr marL="82388" marR="6866" marT="6866"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a:solidFill>
                            <a:schemeClr val="tx1"/>
                          </a:solidFill>
                          <a:effectLst/>
                          <a:latin typeface="Arial" panose="020B0604020202020204" pitchFamily="34" charset="0"/>
                        </a:rPr>
                        <a:t> </a:t>
                      </a:r>
                    </a:p>
                  </a:txBody>
                  <a:tcPr marL="82388" marR="6866" marT="6866"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a:solidFill>
                            <a:schemeClr val="tx1"/>
                          </a:solidFill>
                          <a:effectLst/>
                          <a:latin typeface="Arial" panose="020B0604020202020204" pitchFamily="34" charset="0"/>
                        </a:rPr>
                        <a:t> </a:t>
                      </a:r>
                    </a:p>
                  </a:txBody>
                  <a:tcPr marL="82388" marR="6866" marT="6866"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extLst>
                  <a:ext uri="{0D108BD9-81ED-4DB2-BD59-A6C34878D82A}">
                    <a16:rowId xmlns:a16="http://schemas.microsoft.com/office/drawing/2014/main" val="3952343483"/>
                  </a:ext>
                </a:extLst>
              </a:tr>
              <a:tr h="138548">
                <a:tc>
                  <a:txBody>
                    <a:bodyPr/>
                    <a:lstStyle/>
                    <a:p>
                      <a:pPr algn="l" fontAlgn="ctr"/>
                      <a:r>
                        <a:rPr lang="en-US" sz="1000" b="1" i="0" u="none" strike="noStrike">
                          <a:solidFill>
                            <a:srgbClr val="000000"/>
                          </a:solidFill>
                          <a:effectLst/>
                          <a:latin typeface="Arial" panose="020B0604020202020204" pitchFamily="34" charset="0"/>
                        </a:rPr>
                        <a:t>Generic</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a:solidFill>
                            <a:schemeClr val="tx1"/>
                          </a:solidFill>
                          <a:effectLst/>
                          <a:latin typeface="Arial" panose="020B0604020202020204" pitchFamily="34" charset="0"/>
                        </a:rPr>
                        <a:t>10%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chemeClr val="tx1"/>
                          </a:solidFill>
                          <a:effectLst/>
                          <a:latin typeface="Arial" panose="020B0604020202020204" pitchFamily="34" charset="0"/>
                        </a:rPr>
                        <a:t>10%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819671618"/>
                  </a:ext>
                </a:extLst>
              </a:tr>
              <a:tr h="138548">
                <a:tc>
                  <a:txBody>
                    <a:bodyPr/>
                    <a:lstStyle/>
                    <a:p>
                      <a:pPr algn="l" fontAlgn="ctr"/>
                      <a:r>
                        <a:rPr lang="en-US" sz="1000" b="1" i="0" u="none" strike="noStrike">
                          <a:solidFill>
                            <a:srgbClr val="000000"/>
                          </a:solidFill>
                          <a:effectLst/>
                          <a:latin typeface="Arial" panose="020B0604020202020204" pitchFamily="34" charset="0"/>
                        </a:rPr>
                        <a:t>Brand Formulary</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a:solidFill>
                            <a:schemeClr val="tx1"/>
                          </a:solidFill>
                          <a:effectLst/>
                          <a:latin typeface="Arial" panose="020B0604020202020204" pitchFamily="34" charset="0"/>
                        </a:rPr>
                        <a:t>10%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chemeClr val="tx1"/>
                          </a:solidFill>
                          <a:effectLst/>
                          <a:latin typeface="Arial" panose="020B0604020202020204" pitchFamily="34" charset="0"/>
                        </a:rPr>
                        <a:t>10%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397398195"/>
                  </a:ext>
                </a:extLst>
              </a:tr>
              <a:tr h="138548">
                <a:tc>
                  <a:txBody>
                    <a:bodyPr/>
                    <a:lstStyle/>
                    <a:p>
                      <a:pPr algn="l" fontAlgn="ctr"/>
                      <a:r>
                        <a:rPr lang="en-US" sz="1000" b="1" i="0" u="none" strike="noStrike">
                          <a:solidFill>
                            <a:srgbClr val="000000"/>
                          </a:solidFill>
                          <a:effectLst/>
                          <a:latin typeface="Arial" panose="020B0604020202020204" pitchFamily="34" charset="0"/>
                        </a:rPr>
                        <a:t>Brand Non-Formulary</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a:solidFill>
                            <a:schemeClr val="tx1"/>
                          </a:solidFill>
                          <a:effectLst/>
                          <a:latin typeface="Arial" panose="020B0604020202020204" pitchFamily="34" charset="0"/>
                        </a:rPr>
                        <a:t>10%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chemeClr val="tx1"/>
                          </a:solidFill>
                          <a:effectLst/>
                          <a:latin typeface="Arial" panose="020B0604020202020204" pitchFamily="34" charset="0"/>
                        </a:rPr>
                        <a:t>10%</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2218254003"/>
                  </a:ext>
                </a:extLst>
              </a:tr>
              <a:tr h="138548">
                <a:tc>
                  <a:txBody>
                    <a:bodyPr/>
                    <a:lstStyle/>
                    <a:p>
                      <a:pPr algn="l" fontAlgn="ctr"/>
                      <a:r>
                        <a:rPr lang="en-US" sz="1000" b="1" i="1" u="none" strike="noStrike">
                          <a:solidFill>
                            <a:srgbClr val="000000"/>
                          </a:solidFill>
                          <a:effectLst/>
                          <a:latin typeface="Arial" panose="020B0604020202020204" pitchFamily="34" charset="0"/>
                        </a:rPr>
                        <a:t>Contributions ($)</a:t>
                      </a:r>
                    </a:p>
                  </a:txBody>
                  <a:tcPr marL="82388" marR="6866" marT="6866"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a:solidFill>
                            <a:schemeClr val="tx1"/>
                          </a:solidFill>
                          <a:effectLst/>
                          <a:latin typeface="Arial" panose="020B0604020202020204" pitchFamily="34" charset="0"/>
                        </a:rPr>
                        <a:t> </a:t>
                      </a:r>
                    </a:p>
                  </a:txBody>
                  <a:tcPr marL="82388" marR="6866" marT="6866"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a:solidFill>
                            <a:schemeClr val="tx1"/>
                          </a:solidFill>
                          <a:effectLst/>
                          <a:latin typeface="Arial" panose="020B0604020202020204" pitchFamily="34" charset="0"/>
                        </a:rPr>
                        <a:t> </a:t>
                      </a:r>
                    </a:p>
                  </a:txBody>
                  <a:tcPr marL="82388" marR="6866" marT="6866"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dirty="0">
                          <a:solidFill>
                            <a:schemeClr val="tx1"/>
                          </a:solidFill>
                          <a:effectLst/>
                          <a:latin typeface="Arial" panose="020B0604020202020204" pitchFamily="34" charset="0"/>
                        </a:rPr>
                        <a:t> </a:t>
                      </a:r>
                    </a:p>
                  </a:txBody>
                  <a:tcPr marL="82388" marR="6866" marT="6866"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dirty="0">
                          <a:solidFill>
                            <a:schemeClr val="tx1"/>
                          </a:solidFill>
                          <a:effectLst/>
                          <a:latin typeface="Arial" panose="020B0604020202020204" pitchFamily="34" charset="0"/>
                        </a:rPr>
                        <a:t> </a:t>
                      </a:r>
                    </a:p>
                  </a:txBody>
                  <a:tcPr marL="82388" marR="6866" marT="6866"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extLst>
                  <a:ext uri="{0D108BD9-81ED-4DB2-BD59-A6C34878D82A}">
                    <a16:rowId xmlns:a16="http://schemas.microsoft.com/office/drawing/2014/main" val="1107210541"/>
                  </a:ext>
                </a:extLst>
              </a:tr>
              <a:tr h="138548">
                <a:tc>
                  <a:txBody>
                    <a:bodyPr/>
                    <a:lstStyle/>
                    <a:p>
                      <a:pPr algn="l" fontAlgn="ctr"/>
                      <a:r>
                        <a:rPr lang="en-US" sz="1000" b="1" i="0" u="none" strike="noStrike" dirty="0">
                          <a:solidFill>
                            <a:srgbClr val="000000"/>
                          </a:solidFill>
                          <a:effectLst/>
                          <a:latin typeface="Arial" panose="020B0604020202020204" pitchFamily="34" charset="0"/>
                        </a:rPr>
                        <a:t>Employee Only</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chemeClr val="tx1"/>
                          </a:solidFill>
                          <a:effectLst/>
                          <a:latin typeface="Arial" panose="020B0604020202020204" pitchFamily="34" charset="0"/>
                        </a:rPr>
                        <a:t>$21</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chemeClr val="tx1"/>
                          </a:solidFill>
                          <a:effectLst/>
                          <a:latin typeface="Arial" panose="020B0604020202020204" pitchFamily="34" charset="0"/>
                        </a:rPr>
                        <a:t>$45</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1120751721"/>
                  </a:ext>
                </a:extLst>
              </a:tr>
              <a:tr h="138548">
                <a:tc>
                  <a:txBody>
                    <a:bodyPr/>
                    <a:lstStyle/>
                    <a:p>
                      <a:pPr algn="l" fontAlgn="ctr"/>
                      <a:r>
                        <a:rPr lang="en-US" sz="1000" b="1" i="0" u="none" strike="noStrike" dirty="0">
                          <a:solidFill>
                            <a:srgbClr val="000000"/>
                          </a:solidFill>
                          <a:effectLst/>
                          <a:latin typeface="Arial" panose="020B0604020202020204" pitchFamily="34" charset="0"/>
                        </a:rPr>
                        <a:t>Family</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chemeClr val="tx1"/>
                          </a:solidFill>
                          <a:effectLst/>
                          <a:latin typeface="Arial" panose="020B0604020202020204" pitchFamily="34" charset="0"/>
                        </a:rPr>
                        <a:t>$225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chemeClr val="tx1"/>
                          </a:solidFill>
                          <a:effectLst/>
                          <a:latin typeface="Arial" panose="020B0604020202020204" pitchFamily="34" charset="0"/>
                        </a:rPr>
                        <a:t>$224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1420090537"/>
                  </a:ext>
                </a:extLst>
              </a:tr>
            </a:tbl>
          </a:graphicData>
        </a:graphic>
      </p:graphicFrame>
      <p:sp>
        <p:nvSpPr>
          <p:cNvPr id="7" name="Rectangle 6">
            <a:extLst>
              <a:ext uri="{FF2B5EF4-FFF2-40B4-BE49-F238E27FC236}">
                <a16:creationId xmlns:a16="http://schemas.microsoft.com/office/drawing/2014/main" id="{851DBA8F-4E5C-4E50-8546-457C179C1C07}"/>
              </a:ext>
            </a:extLst>
          </p:cNvPr>
          <p:cNvSpPr/>
          <p:nvPr/>
        </p:nvSpPr>
        <p:spPr>
          <a:xfrm>
            <a:off x="449263" y="6096000"/>
            <a:ext cx="4572000" cy="215444"/>
          </a:xfrm>
          <a:prstGeom prst="rect">
            <a:avLst/>
          </a:prstGeom>
        </p:spPr>
        <p:txBody>
          <a:bodyPr>
            <a:spAutoFit/>
          </a:bodyPr>
          <a:lstStyle/>
          <a:p>
            <a:pPr lvl="0" fontAlgn="ctr">
              <a:defRPr/>
            </a:pPr>
            <a:r>
              <a:rPr lang="en-US" sz="800" dirty="0">
                <a:latin typeface="Arial" panose="020B0604020202020204" pitchFamily="34" charset="0"/>
              </a:rPr>
              <a:t>*Out-of-network benefits are not reflected in the values </a:t>
            </a:r>
          </a:p>
        </p:txBody>
      </p:sp>
    </p:spTree>
    <p:custDataLst>
      <p:tags r:id="rId1"/>
    </p:custDataLst>
    <p:extLst>
      <p:ext uri="{BB962C8B-B14F-4D97-AF65-F5344CB8AC3E}">
        <p14:creationId xmlns:p14="http://schemas.microsoft.com/office/powerpoint/2010/main" val="3681023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EDText (2)">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Medical Benefits (Additional Benefits)</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088568"/>
            <a:ext cx="8229600" cy="4389120"/>
          </a:xfrm>
        </p:spPr>
        <p:txBody>
          <a:bodyPr/>
          <a:lstStyle/>
          <a:p>
            <a:pPr lvl="2"/>
            <a:r>
              <a:rPr lang="en-US" sz="1200" dirty="0"/>
              <a:t>{{COUNT1}} of the peer group companies offer postretirement medical coverage; no company offers a retiree medical savings plan</a:t>
            </a:r>
          </a:p>
          <a:p>
            <a:pPr lvl="2"/>
            <a:r>
              <a:rPr lang="en-US" sz="1200" dirty="0"/>
              <a:t>{{COUNT2}} of the peer group companies charge extra for spouses that have medical coverage through their own employer:</a:t>
            </a:r>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13</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7" name="MT2_Table1">
            <a:extLst>
              <a:ext uri="{FF2B5EF4-FFF2-40B4-BE49-F238E27FC236}">
                <a16:creationId xmlns:a16="http://schemas.microsoft.com/office/drawing/2014/main" id="{9C4D8882-E35B-495C-845D-E2E4CCDCBC45}"/>
              </a:ext>
            </a:extLst>
          </p:cNvPr>
          <p:cNvGraphicFramePr>
            <a:graphicFrameLocks noGrp="1"/>
          </p:cNvGraphicFramePr>
          <p:nvPr>
            <p:extLst>
              <p:ext uri="{D42A27DB-BD31-4B8C-83A1-F6EECF244321}">
                <p14:modId xmlns:p14="http://schemas.microsoft.com/office/powerpoint/2010/main" val="2915643107"/>
              </p:ext>
            </p:extLst>
          </p:nvPr>
        </p:nvGraphicFramePr>
        <p:xfrm>
          <a:off x="1517650" y="1915881"/>
          <a:ext cx="6108700" cy="4219845"/>
        </p:xfrm>
        <a:graphic>
          <a:graphicData uri="http://schemas.openxmlformats.org/drawingml/2006/table">
            <a:tbl>
              <a:tblPr/>
              <a:tblGrid>
                <a:gridCol w="3048000">
                  <a:extLst>
                    <a:ext uri="{9D8B030D-6E8A-4147-A177-3AD203B41FA5}">
                      <a16:colId xmlns:a16="http://schemas.microsoft.com/office/drawing/2014/main" val="417118996"/>
                    </a:ext>
                  </a:extLst>
                </a:gridCol>
                <a:gridCol w="3060700">
                  <a:extLst>
                    <a:ext uri="{9D8B030D-6E8A-4147-A177-3AD203B41FA5}">
                      <a16:colId xmlns:a16="http://schemas.microsoft.com/office/drawing/2014/main" val="3123505231"/>
                    </a:ext>
                  </a:extLst>
                </a:gridCol>
              </a:tblGrid>
              <a:tr h="200945">
                <a:tc>
                  <a:txBody>
                    <a:bodyPr/>
                    <a:lstStyle/>
                    <a:p>
                      <a:pPr algn="ctr" fontAlgn="ctr"/>
                      <a:r>
                        <a:rPr lang="en-US" sz="1000" b="1" i="0" u="none" strike="noStrike" dirty="0">
                          <a:solidFill>
                            <a:srgbClr val="FFFFFF"/>
                          </a:solidFill>
                          <a:effectLst/>
                          <a:latin typeface="Arial" panose="020B0604020202020204" pitchFamily="34" charset="0"/>
                        </a:rPr>
                        <a:t>Companies with Spousal Surcharge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Amount Per Month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008533845"/>
                  </a:ext>
                </a:extLst>
              </a:tr>
              <a:tr h="200945">
                <a:tc>
                  <a:txBody>
                    <a:bodyPr/>
                    <a:lstStyle/>
                    <a:p>
                      <a:pPr algn="ctr" fontAlgn="ctr"/>
                      <a:r>
                        <a:rPr lang="en-US" sz="1000" b="0" i="0" u="none" strike="noStrike" dirty="0">
                          <a:effectLst/>
                          <a:latin typeface="Arial" panose="020B0604020202020204" pitchFamily="34" charset="0"/>
                        </a:rPr>
                        <a:t>EO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66339126"/>
                  </a:ext>
                </a:extLst>
              </a:tr>
              <a:tr h="200945">
                <a:tc>
                  <a:txBody>
                    <a:bodyPr/>
                    <a:lstStyle/>
                    <a:p>
                      <a:pPr algn="ctr" fontAlgn="ctr"/>
                      <a:r>
                        <a:rPr lang="en-US" sz="1000" b="0" i="0" u="none" strike="noStrike">
                          <a:effectLst/>
                          <a:latin typeface="Arial" panose="020B0604020202020204" pitchFamily="34" charset="0"/>
                        </a:rPr>
                        <a:t>WX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$75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44094833"/>
                  </a:ext>
                </a:extLst>
              </a:tr>
              <a:tr h="200945">
                <a:tc>
                  <a:txBody>
                    <a:bodyPr/>
                    <a:lstStyle/>
                    <a:p>
                      <a:pPr algn="ctr" fontAlgn="ctr"/>
                      <a:r>
                        <a:rPr lang="en-US" sz="1000" b="0" i="0" u="none" strike="noStrike" dirty="0">
                          <a:effectLst/>
                          <a:latin typeface="Arial" panose="020B0604020202020204" pitchFamily="34" charset="0"/>
                        </a:rPr>
                        <a:t>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$85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08233060"/>
                  </a:ext>
                </a:extLst>
              </a:tr>
              <a:tr h="200945">
                <a:tc>
                  <a:txBody>
                    <a:bodyPr/>
                    <a:lstStyle/>
                    <a:p>
                      <a:pPr algn="ctr" fontAlgn="ctr"/>
                      <a:r>
                        <a:rPr lang="en-US" sz="1000" b="0" i="0" u="none" strike="noStrike" dirty="0">
                          <a:effectLst/>
                          <a:latin typeface="Arial" panose="020B0604020202020204" pitchFamily="34" charset="0"/>
                        </a:rPr>
                        <a:t>DT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$87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61504613"/>
                  </a:ext>
                </a:extLst>
              </a:tr>
              <a:tr h="200945">
                <a:tc>
                  <a:txBody>
                    <a:bodyPr/>
                    <a:lstStyle/>
                    <a:p>
                      <a:pPr algn="ctr" fontAlgn="ctr"/>
                      <a:r>
                        <a:rPr lang="en-US" sz="1000" b="0" i="0" u="none" strike="noStrike" dirty="0">
                          <a:effectLst/>
                          <a:latin typeface="Arial" panose="020B0604020202020204" pitchFamily="34" charset="0"/>
                        </a:rPr>
                        <a:t>JW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$98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60258029"/>
                  </a:ext>
                </a:extLst>
              </a:tr>
              <a:tr h="200945">
                <a:tc>
                  <a:txBody>
                    <a:bodyPr/>
                    <a:lstStyle/>
                    <a:p>
                      <a:pPr algn="ctr" fontAlgn="ctr"/>
                      <a:r>
                        <a:rPr lang="en-US" sz="1000" b="0" i="0" u="none" strike="noStrike">
                          <a:effectLst/>
                          <a:latin typeface="Arial" panose="020B0604020202020204" pitchFamily="34" charset="0"/>
                        </a:rPr>
                        <a:t>SB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40718043"/>
                  </a:ext>
                </a:extLst>
              </a:tr>
              <a:tr h="200945">
                <a:tc>
                  <a:txBody>
                    <a:bodyPr/>
                    <a:lstStyle/>
                    <a:p>
                      <a:pPr algn="ctr" fontAlgn="ctr"/>
                      <a:r>
                        <a:rPr lang="en-US" sz="1000" b="0" i="0" u="none" strike="noStrike">
                          <a:effectLst/>
                          <a:latin typeface="Arial" panose="020B0604020202020204" pitchFamily="34" charset="0"/>
                        </a:rPr>
                        <a:t>TB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46466556"/>
                  </a:ext>
                </a:extLst>
              </a:tr>
              <a:tr h="200945">
                <a:tc>
                  <a:txBody>
                    <a:bodyPr/>
                    <a:lstStyle/>
                    <a:p>
                      <a:pPr algn="ctr" fontAlgn="ctr"/>
                      <a:r>
                        <a:rPr lang="en-US" sz="1000" b="0" i="0" u="none" strike="noStrike" dirty="0">
                          <a:effectLst/>
                          <a:latin typeface="Arial" panose="020B0604020202020204" pitchFamily="34" charset="0"/>
                        </a:rPr>
                        <a:t>IP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05131401"/>
                  </a:ext>
                </a:extLst>
              </a:tr>
              <a:tr h="200945">
                <a:tc>
                  <a:txBody>
                    <a:bodyPr/>
                    <a:lstStyle/>
                    <a:p>
                      <a:pPr algn="ctr" fontAlgn="ctr"/>
                      <a:r>
                        <a:rPr lang="en-US" sz="1000" b="0" i="0" u="none" strike="noStrike" dirty="0">
                          <a:effectLst/>
                          <a:latin typeface="Arial" panose="020B0604020202020204" pitchFamily="34" charset="0"/>
                        </a:rPr>
                        <a:t>OU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24920021"/>
                  </a:ext>
                </a:extLst>
              </a:tr>
              <a:tr h="200945">
                <a:tc>
                  <a:txBody>
                    <a:bodyPr/>
                    <a:lstStyle/>
                    <a:p>
                      <a:pPr algn="ctr" fontAlgn="ctr"/>
                      <a:r>
                        <a:rPr lang="en-US" sz="1000" b="0" i="0" u="none" strike="noStrike">
                          <a:effectLst/>
                          <a:latin typeface="Arial" panose="020B0604020202020204" pitchFamily="34" charset="0"/>
                        </a:rPr>
                        <a:t>NL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13315419"/>
                  </a:ext>
                </a:extLst>
              </a:tr>
              <a:tr h="200945">
                <a:tc>
                  <a:txBody>
                    <a:bodyPr/>
                    <a:lstStyle/>
                    <a:p>
                      <a:pPr algn="ctr" fontAlgn="ctr"/>
                      <a:r>
                        <a:rPr lang="en-US" sz="1000" b="0" i="0" u="none" strike="noStrike">
                          <a:effectLst/>
                          <a:latin typeface="Arial" panose="020B0604020202020204" pitchFamily="34" charset="0"/>
                        </a:rPr>
                        <a:t>ZH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47553596"/>
                  </a:ext>
                </a:extLst>
              </a:tr>
              <a:tr h="200945">
                <a:tc>
                  <a:txBody>
                    <a:bodyPr/>
                    <a:lstStyle/>
                    <a:p>
                      <a:pPr algn="ctr" fontAlgn="ctr"/>
                      <a:r>
                        <a:rPr lang="en-US" sz="1000" b="0" i="0" u="none" strike="noStrike">
                          <a:effectLst/>
                          <a:latin typeface="Arial" panose="020B0604020202020204" pitchFamily="34" charset="0"/>
                        </a:rPr>
                        <a:t>NH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37360260"/>
                  </a:ext>
                </a:extLst>
              </a:tr>
              <a:tr h="200945">
                <a:tc>
                  <a:txBody>
                    <a:bodyPr/>
                    <a:lstStyle/>
                    <a:p>
                      <a:pPr algn="ctr" fontAlgn="ctr"/>
                      <a:r>
                        <a:rPr lang="en-US" sz="1000" b="0" i="0" u="none" strike="noStrike" dirty="0">
                          <a:effectLst/>
                          <a:latin typeface="Arial" panose="020B0604020202020204" pitchFamily="34" charset="0"/>
                        </a:rPr>
                        <a:t>WQ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33011972"/>
                  </a:ext>
                </a:extLst>
              </a:tr>
              <a:tr h="200945">
                <a:tc>
                  <a:txBody>
                    <a:bodyPr/>
                    <a:lstStyle/>
                    <a:p>
                      <a:pPr algn="ctr" fontAlgn="ctr"/>
                      <a:r>
                        <a:rPr lang="en-US" sz="1000" b="0" i="0" u="none" strike="noStrike" dirty="0">
                          <a:effectLst/>
                          <a:latin typeface="Arial" panose="020B0604020202020204" pitchFamily="34" charset="0"/>
                        </a:rPr>
                        <a:t>BV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47492670"/>
                  </a:ext>
                </a:extLst>
              </a:tr>
              <a:tr h="200945">
                <a:tc>
                  <a:txBody>
                    <a:bodyPr/>
                    <a:lstStyle/>
                    <a:p>
                      <a:pPr algn="ctr" fontAlgn="ctr"/>
                      <a:r>
                        <a:rPr lang="en-US" sz="1000" b="0" i="0" u="none" strike="noStrike" dirty="0">
                          <a:effectLst/>
                          <a:latin typeface="Arial" panose="020B0604020202020204" pitchFamily="34" charset="0"/>
                        </a:rPr>
                        <a:t>LS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18101226"/>
                  </a:ext>
                </a:extLst>
              </a:tr>
              <a:tr h="200945">
                <a:tc>
                  <a:txBody>
                    <a:bodyPr/>
                    <a:lstStyle/>
                    <a:p>
                      <a:pPr algn="ctr" fontAlgn="ctr"/>
                      <a:r>
                        <a:rPr lang="en-US" sz="1000" b="0" i="0" u="none" strike="noStrike" dirty="0">
                          <a:effectLst/>
                          <a:latin typeface="Arial" panose="020B0604020202020204" pitchFamily="34" charset="0"/>
                        </a:rPr>
                        <a:t>YM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12006958"/>
                  </a:ext>
                </a:extLst>
              </a:tr>
              <a:tr h="200945">
                <a:tc>
                  <a:txBody>
                    <a:bodyPr/>
                    <a:lstStyle/>
                    <a:p>
                      <a:pPr algn="ctr" fontAlgn="ctr"/>
                      <a:r>
                        <a:rPr lang="en-US" sz="1000" b="0" i="0" u="none" strike="noStrike" dirty="0">
                          <a:effectLst/>
                          <a:latin typeface="Arial" panose="020B0604020202020204" pitchFamily="34" charset="0"/>
                        </a:rPr>
                        <a:t>LB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$167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63024992"/>
                  </a:ext>
                </a:extLst>
              </a:tr>
              <a:tr h="200945">
                <a:tc>
                  <a:txBody>
                    <a:bodyPr/>
                    <a:lstStyle/>
                    <a:p>
                      <a:pPr algn="ctr" fontAlgn="ctr"/>
                      <a:r>
                        <a:rPr lang="en-US" sz="1000" b="0" i="0" u="none" strike="noStrike">
                          <a:effectLst/>
                          <a:latin typeface="Arial" panose="020B0604020202020204" pitchFamily="34" charset="0"/>
                        </a:rPr>
                        <a:t>FA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$217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12367319"/>
                  </a:ext>
                </a:extLst>
              </a:tr>
              <a:tr h="200945">
                <a:tc>
                  <a:txBody>
                    <a:bodyPr/>
                    <a:lstStyle/>
                    <a:p>
                      <a:pPr algn="ctr" fontAlgn="ctr"/>
                      <a:r>
                        <a:rPr lang="en-US" sz="1000" b="0" i="0" u="none" strike="noStrike">
                          <a:effectLst/>
                          <a:latin typeface="Arial" panose="020B0604020202020204" pitchFamily="34" charset="0"/>
                        </a:rPr>
                        <a:t>FF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$217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10343006"/>
                  </a:ext>
                </a:extLst>
              </a:tr>
              <a:tr h="200945">
                <a:tc>
                  <a:txBody>
                    <a:bodyPr/>
                    <a:lstStyle/>
                    <a:p>
                      <a:pPr algn="ctr" fontAlgn="ctr"/>
                      <a:r>
                        <a:rPr lang="en-US" sz="1000" b="1" i="0" u="none" strike="noStrike">
                          <a:solidFill>
                            <a:srgbClr val="FFFFFF"/>
                          </a:solidFill>
                          <a:effectLst/>
                          <a:latin typeface="Arial" panose="020B0604020202020204" pitchFamily="34" charset="0"/>
                        </a:rPr>
                        <a:t>Average Spousal Surcharge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1000" b="1" i="0" u="none" strike="noStrike" dirty="0">
                          <a:solidFill>
                            <a:srgbClr val="FFFFFF"/>
                          </a:solidFill>
                          <a:effectLst/>
                          <a:latin typeface="Arial" panose="020B0604020202020204" pitchFamily="34" charset="0"/>
                        </a:rPr>
                        <a:t>$119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extLst>
                  <a:ext uri="{0D108BD9-81ED-4DB2-BD59-A6C34878D82A}">
                    <a16:rowId xmlns:a16="http://schemas.microsoft.com/office/drawing/2014/main" val="2516026140"/>
                  </a:ext>
                </a:extLst>
              </a:tr>
            </a:tbl>
          </a:graphicData>
        </a:graphic>
      </p:graphicFrame>
    </p:spTree>
    <p:custDataLst>
      <p:tags r:id="rId1"/>
    </p:custDataLst>
    <p:extLst>
      <p:ext uri="{BB962C8B-B14F-4D97-AF65-F5344CB8AC3E}">
        <p14:creationId xmlns:p14="http://schemas.microsoft.com/office/powerpoint/2010/main" val="3681023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MEDText (3)">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Medical Benefits (Employer CDHP Seed)</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14</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7" name="MT3_Table1">
            <a:extLst>
              <a:ext uri="{FF2B5EF4-FFF2-40B4-BE49-F238E27FC236}">
                <a16:creationId xmlns:a16="http://schemas.microsoft.com/office/drawing/2014/main" id="{AFBCB1E1-469F-4886-9529-834B82DF0BF8}"/>
              </a:ext>
            </a:extLst>
          </p:cNvPr>
          <p:cNvGraphicFramePr>
            <a:graphicFrameLocks noGrp="1"/>
          </p:cNvGraphicFramePr>
          <p:nvPr>
            <p:extLst>
              <p:ext uri="{D42A27DB-BD31-4B8C-83A1-F6EECF244321}">
                <p14:modId xmlns:p14="http://schemas.microsoft.com/office/powerpoint/2010/main" val="3384391748"/>
              </p:ext>
            </p:extLst>
          </p:nvPr>
        </p:nvGraphicFramePr>
        <p:xfrm>
          <a:off x="457199" y="1328055"/>
          <a:ext cx="8229602" cy="4887969"/>
        </p:xfrm>
        <a:graphic>
          <a:graphicData uri="http://schemas.openxmlformats.org/drawingml/2006/table">
            <a:tbl>
              <a:tblPr/>
              <a:tblGrid>
                <a:gridCol w="1528354">
                  <a:extLst>
                    <a:ext uri="{9D8B030D-6E8A-4147-A177-3AD203B41FA5}">
                      <a16:colId xmlns:a16="http://schemas.microsoft.com/office/drawing/2014/main" val="1563616818"/>
                    </a:ext>
                  </a:extLst>
                </a:gridCol>
                <a:gridCol w="1541417">
                  <a:extLst>
                    <a:ext uri="{9D8B030D-6E8A-4147-A177-3AD203B41FA5}">
                      <a16:colId xmlns:a16="http://schemas.microsoft.com/office/drawing/2014/main" val="3544458259"/>
                    </a:ext>
                  </a:extLst>
                </a:gridCol>
                <a:gridCol w="2789121">
                  <a:extLst>
                    <a:ext uri="{9D8B030D-6E8A-4147-A177-3AD203B41FA5}">
                      <a16:colId xmlns:a16="http://schemas.microsoft.com/office/drawing/2014/main" val="896475976"/>
                    </a:ext>
                  </a:extLst>
                </a:gridCol>
                <a:gridCol w="2370710">
                  <a:extLst>
                    <a:ext uri="{9D8B030D-6E8A-4147-A177-3AD203B41FA5}">
                      <a16:colId xmlns:a16="http://schemas.microsoft.com/office/drawing/2014/main" val="4204866383"/>
                    </a:ext>
                  </a:extLst>
                </a:gridCol>
              </a:tblGrid>
              <a:tr h="103462">
                <a:tc>
                  <a:txBody>
                    <a:bodyPr/>
                    <a:lstStyle/>
                    <a:p>
                      <a:pPr algn="ctr" fontAlgn="ctr"/>
                      <a:r>
                        <a:rPr lang="en-US" sz="700" b="1" i="0" u="none" strike="noStrike" dirty="0">
                          <a:solidFill>
                            <a:srgbClr val="FFFFFF"/>
                          </a:solidFill>
                          <a:effectLst/>
                          <a:latin typeface="Arial" panose="020B0604020202020204" pitchFamily="34" charset="0"/>
                        </a:rPr>
                        <a:t>Companies with HAS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Plan Type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216182507"/>
                  </a:ext>
                </a:extLst>
              </a:tr>
              <a:tr h="103462">
                <a:tc>
                  <a:txBody>
                    <a:bodyPr/>
                    <a:lstStyle/>
                    <a:p>
                      <a:pPr algn="ctr" fontAlgn="ctr"/>
                      <a:r>
                        <a:rPr lang="en-US" sz="700" b="0" i="0" u="none" strike="noStrike" dirty="0">
                          <a:effectLst/>
                          <a:latin typeface="Arial" panose="020B0604020202020204" pitchFamily="34" charset="0"/>
                        </a:rPr>
                        <a:t>GC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128406097"/>
                  </a:ext>
                </a:extLst>
              </a:tr>
              <a:tr h="206923">
                <a:tc>
                  <a:txBody>
                    <a:bodyPr/>
                    <a:lstStyle/>
                    <a:p>
                      <a:pPr algn="ctr" fontAlgn="ctr"/>
                      <a:r>
                        <a:rPr lang="en-US" sz="700" b="0" i="0" u="none" strike="noStrike" dirty="0">
                          <a:effectLst/>
                          <a:latin typeface="Arial" panose="020B0604020202020204" pitchFamily="34" charset="0"/>
                        </a:rPr>
                        <a:t>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Salary &lt; $80K:  $270</a:t>
                      </a:r>
                      <a:br>
                        <a:rPr lang="en-US" sz="700" b="0" i="0" u="none" strike="noStrike">
                          <a:effectLst/>
                          <a:latin typeface="Arial" panose="020B0604020202020204" pitchFamily="34" charset="0"/>
                        </a:rPr>
                      </a:br>
                      <a:r>
                        <a:rPr lang="en-US" sz="700" b="0" i="0" u="none" strike="noStrike">
                          <a:effectLst/>
                          <a:latin typeface="Arial" panose="020B0604020202020204" pitchFamily="34" charset="0"/>
                        </a:rPr>
                        <a:t>Salary &gt; $80K: $0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Salary &lt; $80K:  $810</a:t>
                      </a:r>
                      <a:br>
                        <a:rPr lang="en-US" sz="700" b="0" i="0" u="none" strike="noStrike">
                          <a:effectLst/>
                          <a:latin typeface="Arial" panose="020B0604020202020204" pitchFamily="34" charset="0"/>
                        </a:rPr>
                      </a:br>
                      <a:r>
                        <a:rPr lang="en-US" sz="700" b="0" i="0" u="none" strike="noStrike">
                          <a:effectLst/>
                          <a:latin typeface="Arial" panose="020B0604020202020204" pitchFamily="34" charset="0"/>
                        </a:rPr>
                        <a:t>Salary &gt; $80K: $0</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34418536"/>
                  </a:ext>
                </a:extLst>
              </a:tr>
              <a:tr h="103462">
                <a:tc>
                  <a:txBody>
                    <a:bodyPr/>
                    <a:lstStyle/>
                    <a:p>
                      <a:pPr algn="ctr" fontAlgn="ctr"/>
                      <a:r>
                        <a:rPr lang="en-US" sz="700" b="0" i="0" u="none" strike="noStrike" dirty="0">
                          <a:effectLst/>
                          <a:latin typeface="Arial" panose="020B0604020202020204" pitchFamily="34" charset="0"/>
                        </a:rPr>
                        <a:t>QR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16284911"/>
                  </a:ext>
                </a:extLst>
              </a:tr>
              <a:tr h="206923">
                <a:tc>
                  <a:txBody>
                    <a:bodyPr/>
                    <a:lstStyle/>
                    <a:p>
                      <a:pPr algn="ctr" fontAlgn="ctr"/>
                      <a:r>
                        <a:rPr lang="en-US" sz="700" b="0" i="0" u="none" strike="noStrike" dirty="0">
                          <a:effectLst/>
                          <a:latin typeface="Arial" panose="020B0604020202020204" pitchFamily="34" charset="0"/>
                        </a:rPr>
                        <a:t>JV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$0 (+$500 for completion of annual physical and HRA)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$0 (+$1,000 for completion of annual physical and HRA)</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57979837"/>
                  </a:ext>
                </a:extLst>
              </a:tr>
              <a:tr h="103462">
                <a:tc>
                  <a:txBody>
                    <a:bodyPr/>
                    <a:lstStyle/>
                    <a:p>
                      <a:pPr algn="ctr" fontAlgn="ctr"/>
                      <a:r>
                        <a:rPr lang="en-US" sz="700" b="0" i="0" u="none" strike="noStrike" dirty="0">
                          <a:effectLst/>
                          <a:latin typeface="Arial" panose="020B0604020202020204" pitchFamily="34" charset="0"/>
                        </a:rPr>
                        <a:t>RZ</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$300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120879110"/>
                  </a:ext>
                </a:extLst>
              </a:tr>
              <a:tr h="206923">
                <a:tc>
                  <a:txBody>
                    <a:bodyPr/>
                    <a:lstStyle/>
                    <a:p>
                      <a:pPr algn="ctr" fontAlgn="ctr"/>
                      <a:r>
                        <a:rPr lang="en-US" sz="700" b="0" i="0" u="none" strike="noStrike" dirty="0">
                          <a:effectLst/>
                          <a:latin typeface="Arial" panose="020B0604020202020204" pitchFamily="34" charset="0"/>
                        </a:rPr>
                        <a:t>LS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dirty="0">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Salary &lt; $100K: $750</a:t>
                      </a:r>
                      <a:br>
                        <a:rPr lang="en-US" sz="700" b="0" i="0" u="none" strike="noStrike">
                          <a:effectLst/>
                          <a:latin typeface="Arial" panose="020B0604020202020204" pitchFamily="34" charset="0"/>
                        </a:rPr>
                      </a:br>
                      <a:r>
                        <a:rPr lang="en-US" sz="700" b="0" i="0" u="none" strike="noStrike">
                          <a:effectLst/>
                          <a:latin typeface="Arial" panose="020B0604020202020204" pitchFamily="34" charset="0"/>
                        </a:rPr>
                        <a:t>Salary &gt; $100K: $250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Salary &lt; $100K: $1,500</a:t>
                      </a:r>
                      <a:br>
                        <a:rPr lang="en-US" sz="700" b="0" i="0" u="none" strike="noStrike">
                          <a:effectLst/>
                          <a:latin typeface="Arial" panose="020B0604020202020204" pitchFamily="34" charset="0"/>
                        </a:rPr>
                      </a:br>
                      <a:r>
                        <a:rPr lang="en-US" sz="700" b="0" i="0" u="none" strike="noStrike">
                          <a:effectLst/>
                          <a:latin typeface="Arial" panose="020B0604020202020204" pitchFamily="34" charset="0"/>
                        </a:rPr>
                        <a:t>Salary &gt; $100K: $500</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07075627"/>
                  </a:ext>
                </a:extLst>
              </a:tr>
              <a:tr h="103462">
                <a:tc>
                  <a:txBody>
                    <a:bodyPr/>
                    <a:lstStyle/>
                    <a:p>
                      <a:pPr algn="ctr" fontAlgn="ctr"/>
                      <a:r>
                        <a:rPr lang="en-US" sz="700" b="0" i="0" u="none" strike="noStrike" dirty="0">
                          <a:effectLst/>
                          <a:latin typeface="Arial" panose="020B0604020202020204" pitchFamily="34" charset="0"/>
                        </a:rPr>
                        <a:t>LB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$350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59667334"/>
                  </a:ext>
                </a:extLst>
              </a:tr>
              <a:tr h="103462">
                <a:tc>
                  <a:txBody>
                    <a:bodyPr/>
                    <a:lstStyle/>
                    <a:p>
                      <a:pPr algn="ctr" fontAlgn="ctr"/>
                      <a:r>
                        <a:rPr lang="en-US" sz="700" b="0" i="0" u="none" strike="noStrike" dirty="0">
                          <a:effectLst/>
                          <a:latin typeface="Arial" panose="020B0604020202020204" pitchFamily="34" charset="0"/>
                        </a:rPr>
                        <a:t>GK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$400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$800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57010643"/>
                  </a:ext>
                </a:extLst>
              </a:tr>
              <a:tr h="103462">
                <a:tc>
                  <a:txBody>
                    <a:bodyPr/>
                    <a:lstStyle/>
                    <a:p>
                      <a:pPr algn="ctr" fontAlgn="ctr"/>
                      <a:r>
                        <a:rPr lang="en-US" sz="700" b="0" i="0" u="none" strike="noStrike" dirty="0">
                          <a:effectLst/>
                          <a:latin typeface="Arial" panose="020B0604020202020204" pitchFamily="34" charset="0"/>
                        </a:rPr>
                        <a:t>NH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$400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$800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64610174"/>
                  </a:ext>
                </a:extLst>
              </a:tr>
              <a:tr h="206923">
                <a:tc>
                  <a:txBody>
                    <a:bodyPr/>
                    <a:lstStyle/>
                    <a:p>
                      <a:pPr algn="ctr" fontAlgn="ctr"/>
                      <a:r>
                        <a:rPr lang="en-US" sz="700" b="0" i="0" u="none" strike="noStrike" dirty="0">
                          <a:effectLst/>
                          <a:latin typeface="Arial" panose="020B0604020202020204" pitchFamily="34" charset="0"/>
                        </a:rPr>
                        <a:t>FF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$500 (+$700 for completion of biometric screening)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(+$1,400 for completion of biometric screening)</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749492269"/>
                  </a:ext>
                </a:extLst>
              </a:tr>
              <a:tr h="103462">
                <a:tc>
                  <a:txBody>
                    <a:bodyPr/>
                    <a:lstStyle/>
                    <a:p>
                      <a:pPr algn="ctr" fontAlgn="ctr"/>
                      <a:r>
                        <a:rPr lang="en-US" sz="700" b="1" i="0" u="none" strike="noStrike" dirty="0">
                          <a:effectLst/>
                          <a:latin typeface="Arial" panose="020B0604020202020204" pitchFamily="34" charset="0"/>
                        </a:rPr>
                        <a:t>AMD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ctr" fontAlgn="ctr"/>
                      <a:r>
                        <a:rPr lang="en-US" sz="700" b="1" i="0" u="none" strike="noStrike" dirty="0">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ctr" fontAlgn="ctr"/>
                      <a:r>
                        <a:rPr lang="en-US" sz="700" b="1" i="0" u="none" strike="noStrike" dirty="0">
                          <a:effectLst/>
                          <a:latin typeface="Arial" panose="020B0604020202020204" pitchFamily="34" charset="0"/>
                        </a:rPr>
                        <a:t>$500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ctr" fontAlgn="ctr"/>
                      <a:r>
                        <a:rPr lang="en-US" sz="700" b="1" i="0" u="none" strike="noStrike" dirty="0">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3018274945"/>
                  </a:ext>
                </a:extLst>
              </a:tr>
              <a:tr h="103462">
                <a:tc>
                  <a:txBody>
                    <a:bodyPr/>
                    <a:lstStyle/>
                    <a:p>
                      <a:pPr algn="ctr" fontAlgn="ctr"/>
                      <a:r>
                        <a:rPr lang="en-US" sz="700" b="0" i="0" u="none" strike="noStrike" dirty="0">
                          <a:effectLst/>
                          <a:latin typeface="Arial" panose="020B0604020202020204" pitchFamily="34" charset="0"/>
                        </a:rPr>
                        <a:t>BV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dirty="0">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36498041"/>
                  </a:ext>
                </a:extLst>
              </a:tr>
              <a:tr h="103462">
                <a:tc>
                  <a:txBody>
                    <a:bodyPr/>
                    <a:lstStyle/>
                    <a:p>
                      <a:pPr algn="ctr" fontAlgn="ctr"/>
                      <a:r>
                        <a:rPr lang="en-US" sz="700" b="0" i="0" u="none" strike="noStrike" dirty="0">
                          <a:effectLst/>
                          <a:latin typeface="Arial" panose="020B0604020202020204" pitchFamily="34" charset="0"/>
                        </a:rPr>
                        <a:t>CL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dirty="0">
                          <a:effectLst/>
                          <a:latin typeface="Arial" panose="020B0604020202020204" pitchFamily="34" charset="0"/>
                        </a:rPr>
                        <a:t>$500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10059220"/>
                  </a:ext>
                </a:extLst>
              </a:tr>
              <a:tr h="206923">
                <a:tc>
                  <a:txBody>
                    <a:bodyPr/>
                    <a:lstStyle/>
                    <a:p>
                      <a:pPr algn="ctr" fontAlgn="ctr"/>
                      <a:r>
                        <a:rPr lang="en-US" sz="700" b="0" i="0" u="none" strike="noStrike" dirty="0">
                          <a:effectLst/>
                          <a:latin typeface="Arial" panose="020B0604020202020204" pitchFamily="34" charset="0"/>
                        </a:rPr>
                        <a:t>XE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Salary &lt; $75K:  $750</a:t>
                      </a:r>
                      <a:br>
                        <a:rPr lang="en-US" sz="700" b="0" i="0" u="none" strike="noStrike">
                          <a:effectLst/>
                          <a:latin typeface="Arial" panose="020B0604020202020204" pitchFamily="34" charset="0"/>
                        </a:rPr>
                      </a:br>
                      <a:r>
                        <a:rPr lang="en-US" sz="700" b="0" i="0" u="none" strike="noStrike">
                          <a:effectLst/>
                          <a:latin typeface="Arial" panose="020B0604020202020204" pitchFamily="34" charset="0"/>
                        </a:rPr>
                        <a:t>Salary &gt; $75K: $500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Salary &lt; $75K:  $1,500</a:t>
                      </a:r>
                      <a:br>
                        <a:rPr lang="en-US" sz="700" b="0" i="0" u="none" strike="noStrike">
                          <a:effectLst/>
                          <a:latin typeface="Arial" panose="020B0604020202020204" pitchFamily="34" charset="0"/>
                        </a:rPr>
                      </a:br>
                      <a:r>
                        <a:rPr lang="en-US" sz="700" b="0" i="0" u="none" strike="noStrike">
                          <a:effectLst/>
                          <a:latin typeface="Arial" panose="020B0604020202020204" pitchFamily="34" charset="0"/>
                        </a:rPr>
                        <a:t>Salary &gt; $75K: $1,000</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88927408"/>
                  </a:ext>
                </a:extLst>
              </a:tr>
              <a:tr h="103462">
                <a:tc>
                  <a:txBody>
                    <a:bodyPr/>
                    <a:lstStyle/>
                    <a:p>
                      <a:pPr algn="ctr" fontAlgn="ctr"/>
                      <a:r>
                        <a:rPr lang="en-US" sz="700" b="0" i="0" u="none" strike="noStrike" dirty="0">
                          <a:effectLst/>
                          <a:latin typeface="Arial" panose="020B0604020202020204" pitchFamily="34" charset="0"/>
                        </a:rPr>
                        <a:t>FM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3344693"/>
                  </a:ext>
                </a:extLst>
              </a:tr>
              <a:tr h="103462">
                <a:tc>
                  <a:txBody>
                    <a:bodyPr/>
                    <a:lstStyle/>
                    <a:p>
                      <a:pPr algn="ctr" fontAlgn="ctr"/>
                      <a:r>
                        <a:rPr lang="en-US" sz="700" b="0" i="0" u="none" strike="noStrike" dirty="0">
                          <a:effectLst/>
                          <a:latin typeface="Arial" panose="020B0604020202020204" pitchFamily="34" charset="0"/>
                        </a:rPr>
                        <a:t>TB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078518368"/>
                  </a:ext>
                </a:extLst>
              </a:tr>
              <a:tr h="206923">
                <a:tc>
                  <a:txBody>
                    <a:bodyPr/>
                    <a:lstStyle/>
                    <a:p>
                      <a:pPr algn="ctr" fontAlgn="ctr"/>
                      <a:r>
                        <a:rPr lang="en-US" sz="700" b="0" i="0" u="none" strike="noStrike" dirty="0">
                          <a:effectLst/>
                          <a:latin typeface="Arial" panose="020B0604020202020204" pitchFamily="34" charset="0"/>
                        </a:rPr>
                        <a:t>JW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Salary &lt; $50K:  $750</a:t>
                      </a:r>
                      <a:br>
                        <a:rPr lang="en-US" sz="700" b="0" i="0" u="none" strike="noStrike">
                          <a:effectLst/>
                          <a:latin typeface="Arial" panose="020B0604020202020204" pitchFamily="34" charset="0"/>
                        </a:rPr>
                      </a:br>
                      <a:r>
                        <a:rPr lang="en-US" sz="700" b="0" i="0" u="none" strike="noStrike">
                          <a:effectLst/>
                          <a:latin typeface="Arial" panose="020B0604020202020204" pitchFamily="34" charset="0"/>
                        </a:rPr>
                        <a:t>Salary &gt; $50K: $500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dirty="0">
                          <a:effectLst/>
                          <a:latin typeface="Arial" panose="020B0604020202020204" pitchFamily="34" charset="0"/>
                        </a:rPr>
                        <a:t>Salary &lt; $50K:  $1,500</a:t>
                      </a:r>
                      <a:br>
                        <a:rPr lang="en-US" sz="700" b="0" i="0" u="none" strike="noStrike" dirty="0">
                          <a:effectLst/>
                          <a:latin typeface="Arial" panose="020B0604020202020204" pitchFamily="34" charset="0"/>
                        </a:rPr>
                      </a:br>
                      <a:r>
                        <a:rPr lang="en-US" sz="700" b="0" i="0" u="none" strike="noStrike" dirty="0">
                          <a:effectLst/>
                          <a:latin typeface="Arial" panose="020B0604020202020204" pitchFamily="34" charset="0"/>
                        </a:rPr>
                        <a:t>Salary &gt; $50K: $1,000</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53540633"/>
                  </a:ext>
                </a:extLst>
              </a:tr>
              <a:tr h="206923">
                <a:tc>
                  <a:txBody>
                    <a:bodyPr/>
                    <a:lstStyle/>
                    <a:p>
                      <a:pPr algn="ctr" fontAlgn="ctr"/>
                      <a:r>
                        <a:rPr lang="en-US" sz="700" b="0" i="0" u="none" strike="noStrike" dirty="0">
                          <a:effectLst/>
                          <a:latin typeface="Arial" panose="020B0604020202020204" pitchFamily="34" charset="0"/>
                        </a:rPr>
                        <a:t>IP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(HRA)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$500 for completion of HRA and Biometric Screening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for completion of HRA and Biometric Screening</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4022282"/>
                  </a:ext>
                </a:extLst>
              </a:tr>
              <a:tr h="103462">
                <a:tc>
                  <a:txBody>
                    <a:bodyPr/>
                    <a:lstStyle/>
                    <a:p>
                      <a:pPr algn="ctr" fontAlgn="ctr"/>
                      <a:r>
                        <a:rPr lang="en-US" sz="700" b="0" i="0" u="none" strike="noStrike" dirty="0">
                          <a:effectLst/>
                          <a:latin typeface="Arial" panose="020B0604020202020204" pitchFamily="34" charset="0"/>
                        </a:rPr>
                        <a:t>WQ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60619163"/>
                  </a:ext>
                </a:extLst>
              </a:tr>
              <a:tr h="103462">
                <a:tc>
                  <a:txBody>
                    <a:bodyPr/>
                    <a:lstStyle/>
                    <a:p>
                      <a:pPr algn="ctr" fontAlgn="ctr"/>
                      <a:r>
                        <a:rPr lang="en-US" sz="700" b="0" i="0" u="none" strike="noStrike" dirty="0">
                          <a:effectLst/>
                          <a:latin typeface="Arial" panose="020B0604020202020204" pitchFamily="34" charset="0"/>
                        </a:rPr>
                        <a:t>EO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$600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$1,300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02075748"/>
                  </a:ext>
                </a:extLst>
              </a:tr>
              <a:tr h="103462">
                <a:tc>
                  <a:txBody>
                    <a:bodyPr/>
                    <a:lstStyle/>
                    <a:p>
                      <a:pPr algn="ctr" fontAlgn="ctr"/>
                      <a:r>
                        <a:rPr lang="en-US" sz="700" b="0" i="0" u="none" strike="noStrike" dirty="0">
                          <a:effectLst/>
                          <a:latin typeface="Arial" panose="020B0604020202020204" pitchFamily="34" charset="0"/>
                        </a:rPr>
                        <a:t>NP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$600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$1,200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73135830"/>
                  </a:ext>
                </a:extLst>
              </a:tr>
              <a:tr h="103462">
                <a:tc>
                  <a:txBody>
                    <a:bodyPr/>
                    <a:lstStyle/>
                    <a:p>
                      <a:pPr algn="ctr" fontAlgn="ctr"/>
                      <a:r>
                        <a:rPr lang="en-US" sz="700" b="0" i="0" u="none" strike="noStrike" dirty="0">
                          <a:effectLst/>
                          <a:latin typeface="Arial" panose="020B0604020202020204" pitchFamily="34" charset="0"/>
                        </a:rPr>
                        <a:t>OU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$600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$900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51281113"/>
                  </a:ext>
                </a:extLst>
              </a:tr>
              <a:tr h="103462">
                <a:tc>
                  <a:txBody>
                    <a:bodyPr/>
                    <a:lstStyle/>
                    <a:p>
                      <a:pPr algn="ctr" fontAlgn="ctr"/>
                      <a:r>
                        <a:rPr lang="en-US" sz="700" b="0" i="0" u="none" strike="noStrike" dirty="0">
                          <a:effectLst/>
                          <a:latin typeface="Arial" panose="020B0604020202020204" pitchFamily="34" charset="0"/>
                        </a:rPr>
                        <a:t>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$1,400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20788426"/>
                  </a:ext>
                </a:extLst>
              </a:tr>
              <a:tr h="103462">
                <a:tc>
                  <a:txBody>
                    <a:bodyPr/>
                    <a:lstStyle/>
                    <a:p>
                      <a:pPr algn="ctr" fontAlgn="ctr"/>
                      <a:r>
                        <a:rPr lang="en-US" sz="700" b="0" i="0" u="none" strike="noStrike" dirty="0">
                          <a:effectLst/>
                          <a:latin typeface="Arial" panose="020B0604020202020204" pitchFamily="34" charset="0"/>
                        </a:rPr>
                        <a:t>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$1,500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8306728"/>
                  </a:ext>
                </a:extLst>
              </a:tr>
              <a:tr h="103462">
                <a:tc>
                  <a:txBody>
                    <a:bodyPr/>
                    <a:lstStyle/>
                    <a:p>
                      <a:pPr algn="ctr" fontAlgn="ctr"/>
                      <a:r>
                        <a:rPr lang="en-US" sz="700" b="0" i="0" u="none" strike="noStrike" dirty="0">
                          <a:effectLst/>
                          <a:latin typeface="Arial" panose="020B0604020202020204" pitchFamily="34" charset="0"/>
                        </a:rPr>
                        <a:t>VS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$750 for completion of wellness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$1,500 for completion of wellness</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771147970"/>
                  </a:ext>
                </a:extLst>
              </a:tr>
              <a:tr h="103462">
                <a:tc>
                  <a:txBody>
                    <a:bodyPr/>
                    <a:lstStyle/>
                    <a:p>
                      <a:pPr algn="ctr" fontAlgn="ctr"/>
                      <a:r>
                        <a:rPr lang="en-US" sz="700" b="0" i="0" u="none" strike="noStrike" dirty="0">
                          <a:effectLst/>
                          <a:latin typeface="Arial" panose="020B0604020202020204" pitchFamily="34" charset="0"/>
                        </a:rPr>
                        <a:t>AI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dirty="0">
                          <a:effectLst/>
                          <a:latin typeface="Arial" panose="020B0604020202020204" pitchFamily="34" charset="0"/>
                        </a:rPr>
                        <a:t>$1,500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88352276"/>
                  </a:ext>
                </a:extLst>
              </a:tr>
              <a:tr h="103462">
                <a:tc>
                  <a:txBody>
                    <a:bodyPr/>
                    <a:lstStyle/>
                    <a:p>
                      <a:pPr algn="ctr" fontAlgn="ctr"/>
                      <a:r>
                        <a:rPr lang="en-US" sz="700" b="0" i="0" u="none" strike="noStrike" dirty="0">
                          <a:effectLst/>
                          <a:latin typeface="Arial" panose="020B0604020202020204" pitchFamily="34" charset="0"/>
                        </a:rPr>
                        <a:t>DN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$1,500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07751295"/>
                  </a:ext>
                </a:extLst>
              </a:tr>
              <a:tr h="103462">
                <a:tc>
                  <a:txBody>
                    <a:bodyPr/>
                    <a:lstStyle/>
                    <a:p>
                      <a:pPr algn="ctr" fontAlgn="ctr"/>
                      <a:r>
                        <a:rPr lang="en-US" sz="700" b="0" i="0" u="none" strike="noStrike" dirty="0">
                          <a:effectLst/>
                          <a:latin typeface="Arial" panose="020B0604020202020204" pitchFamily="34" charset="0"/>
                        </a:rPr>
                        <a:t>MG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$1,500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24204861"/>
                  </a:ext>
                </a:extLst>
              </a:tr>
              <a:tr h="103462">
                <a:tc>
                  <a:txBody>
                    <a:bodyPr/>
                    <a:lstStyle/>
                    <a:p>
                      <a:pPr algn="ctr" fontAlgn="ctr"/>
                      <a:r>
                        <a:rPr lang="en-US" sz="700" b="0" i="0" u="none" strike="noStrike" dirty="0">
                          <a:effectLst/>
                          <a:latin typeface="Arial" panose="020B0604020202020204" pitchFamily="34" charset="0"/>
                        </a:rPr>
                        <a:t>UY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$750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$1,250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73156888"/>
                  </a:ext>
                </a:extLst>
              </a:tr>
              <a:tr h="103462">
                <a:tc>
                  <a:txBody>
                    <a:bodyPr/>
                    <a:lstStyle/>
                    <a:p>
                      <a:pPr algn="ctr" fontAlgn="ctr"/>
                      <a:r>
                        <a:rPr lang="en-US" sz="700" b="0" i="0" u="none" strike="noStrike" dirty="0">
                          <a:effectLst/>
                          <a:latin typeface="Arial" panose="020B0604020202020204" pitchFamily="34" charset="0"/>
                        </a:rPr>
                        <a:t>BR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$800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$1,600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33280758"/>
                  </a:ext>
                </a:extLst>
              </a:tr>
              <a:tr h="103462">
                <a:tc>
                  <a:txBody>
                    <a:bodyPr/>
                    <a:lstStyle/>
                    <a:p>
                      <a:pPr algn="ctr" fontAlgn="ctr"/>
                      <a:r>
                        <a:rPr lang="en-US" sz="700" b="0" i="0" u="none" strike="noStrike" dirty="0">
                          <a:effectLst/>
                          <a:latin typeface="Arial" panose="020B0604020202020204" pitchFamily="34" charset="0"/>
                        </a:rPr>
                        <a:t>CF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$2,000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74830744"/>
                  </a:ext>
                </a:extLst>
              </a:tr>
              <a:tr h="103462">
                <a:tc>
                  <a:txBody>
                    <a:bodyPr/>
                    <a:lstStyle/>
                    <a:p>
                      <a:pPr algn="ctr" fontAlgn="ctr"/>
                      <a:r>
                        <a:rPr lang="en-US" sz="700" b="0" i="0" u="none" strike="noStrike" dirty="0">
                          <a:effectLst/>
                          <a:latin typeface="Arial" panose="020B0604020202020204" pitchFamily="34" charset="0"/>
                        </a:rPr>
                        <a:t>OA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$2,000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97411560"/>
                  </a:ext>
                </a:extLst>
              </a:tr>
              <a:tr h="103462">
                <a:tc>
                  <a:txBody>
                    <a:bodyPr/>
                    <a:lstStyle/>
                    <a:p>
                      <a:pPr algn="ctr" fontAlgn="ctr"/>
                      <a:r>
                        <a:rPr lang="en-US" sz="700" b="0" i="0" u="none" strike="noStrike" dirty="0">
                          <a:effectLst/>
                          <a:latin typeface="Arial" panose="020B0604020202020204" pitchFamily="34" charset="0"/>
                        </a:rPr>
                        <a:t>YM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$2,500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21652126"/>
                  </a:ext>
                </a:extLst>
              </a:tr>
              <a:tr h="103462">
                <a:tc>
                  <a:txBody>
                    <a:bodyPr/>
                    <a:lstStyle/>
                    <a:p>
                      <a:pPr algn="ctr" fontAlgn="ctr"/>
                      <a:r>
                        <a:rPr lang="en-US" sz="700" b="0" i="0" u="none" strike="noStrike" dirty="0">
                          <a:effectLst/>
                          <a:latin typeface="Arial" panose="020B0604020202020204" pitchFamily="34" charset="0"/>
                        </a:rPr>
                        <a:t>TN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$1,000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$1,500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08827058"/>
                  </a:ext>
                </a:extLst>
              </a:tr>
              <a:tr h="103462">
                <a:tc>
                  <a:txBody>
                    <a:bodyPr/>
                    <a:lstStyle/>
                    <a:p>
                      <a:pPr algn="ctr" fontAlgn="ctr"/>
                      <a:r>
                        <a:rPr lang="en-US" sz="700" b="0" i="0" u="none" strike="noStrike" dirty="0">
                          <a:effectLst/>
                          <a:latin typeface="Arial" panose="020B0604020202020204" pitchFamily="34" charset="0"/>
                        </a:rPr>
                        <a:t>ZH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$1,125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$2,250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85078435"/>
                  </a:ext>
                </a:extLst>
              </a:tr>
              <a:tr h="103462">
                <a:tc>
                  <a:txBody>
                    <a:bodyPr/>
                    <a:lstStyle/>
                    <a:p>
                      <a:pPr algn="ctr" fontAlgn="ctr"/>
                      <a:r>
                        <a:rPr lang="en-US" sz="700" b="0" i="0" u="none" strike="noStrike" dirty="0">
                          <a:effectLst/>
                          <a:latin typeface="Arial" panose="020B0604020202020204" pitchFamily="34" charset="0"/>
                        </a:rPr>
                        <a:t>GQ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$1,300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$2,600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31853252"/>
                  </a:ext>
                </a:extLst>
              </a:tr>
              <a:tr h="103462">
                <a:tc>
                  <a:txBody>
                    <a:bodyPr/>
                    <a:lstStyle/>
                    <a:p>
                      <a:pPr algn="ctr" fontAlgn="ctr"/>
                      <a:r>
                        <a:rPr lang="en-US" sz="700" b="0" i="0" u="none" strike="noStrike" dirty="0">
                          <a:effectLst/>
                          <a:latin typeface="Arial" panose="020B0604020202020204" pitchFamily="34" charset="0"/>
                        </a:rPr>
                        <a:t>DO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$1,500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700" b="0" i="0" u="none" strike="noStrike">
                          <a:effectLst/>
                          <a:latin typeface="Arial" panose="020B0604020202020204" pitchFamily="34" charset="0"/>
                        </a:rPr>
                        <a:t>$3,000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39018339"/>
                  </a:ext>
                </a:extLst>
              </a:tr>
              <a:tr h="103462">
                <a:tc>
                  <a:txBody>
                    <a:bodyPr/>
                    <a:lstStyle/>
                    <a:p>
                      <a:pPr algn="ctr" fontAlgn="ctr"/>
                      <a:r>
                        <a:rPr lang="en-US" sz="700" b="1" i="0" u="none" strike="noStrike" dirty="0">
                          <a:solidFill>
                            <a:srgbClr val="FFFFFF"/>
                          </a:solidFill>
                          <a:effectLst/>
                          <a:latin typeface="Arial" panose="020B0604020202020204" pitchFamily="34" charset="0"/>
                        </a:rPr>
                        <a:t>Average HSA Seed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dirty="0">
                          <a:solidFill>
                            <a:srgbClr val="FFFFFF"/>
                          </a:solidFill>
                          <a:effectLst/>
                          <a:latin typeface="Arial" panose="020B0604020202020204" pitchFamily="34" charset="0"/>
                        </a:rPr>
                        <a:t>CDHP (HSA)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dirty="0">
                          <a:solidFill>
                            <a:srgbClr val="FFFFFF"/>
                          </a:solidFill>
                          <a:effectLst/>
                          <a:latin typeface="Arial" panose="020B0604020202020204" pitchFamily="34" charset="0"/>
                        </a:rPr>
                        <a:t>$602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dirty="0">
                          <a:solidFill>
                            <a:srgbClr val="FFFFFF"/>
                          </a:solidFill>
                          <a:effectLst/>
                          <a:latin typeface="Arial" panose="020B0604020202020204" pitchFamily="34" charset="0"/>
                        </a:rPr>
                        <a:t>$1,192 </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extLst>
                  <a:ext uri="{0D108BD9-81ED-4DB2-BD59-A6C34878D82A}">
                    <a16:rowId xmlns:a16="http://schemas.microsoft.com/office/drawing/2014/main" val="3900048253"/>
                  </a:ext>
                </a:extLst>
              </a:tr>
            </a:tbl>
          </a:graphicData>
        </a:graphic>
      </p:graphicFrame>
      <p:sp>
        <p:nvSpPr>
          <p:cNvPr id="5" name="MT3_Text1"/>
          <p:cNvSpPr>
            <a:spLocks noGrp="1"/>
          </p:cNvSpPr>
          <p:nvPr>
            <p:ph type="body" sz="quarter" idx="1"/>
            <p:custDataLst>
              <p:tags r:id="rId4"/>
            </p:custDataLst>
          </p:nvPr>
        </p:nvSpPr>
        <p:spPr>
          <a:xfrm>
            <a:off x="457200" y="1088571"/>
            <a:ext cx="8229600" cy="4389120"/>
          </a:xfrm>
        </p:spPr>
        <p:txBody>
          <a:bodyPr/>
          <a:lstStyle/>
          <a:p>
            <a:pPr lvl="2"/>
            <a:r>
              <a:rPr lang="en-US" sz="1200" dirty="0"/>
              <a:t>29 of the 32 peer group companies with CDHP as a primary plan type offer an employer seed:</a:t>
            </a:r>
          </a:p>
        </p:txBody>
      </p:sp>
    </p:spTree>
    <p:custDataLst>
      <p:tags r:id="rId1"/>
    </p:custDataLst>
    <p:extLst>
      <p:ext uri="{BB962C8B-B14F-4D97-AF65-F5344CB8AC3E}">
        <p14:creationId xmlns:p14="http://schemas.microsoft.com/office/powerpoint/2010/main" val="3681023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MEDText (4)">
    <p:spTree>
      <p:nvGrpSpPr>
        <p:cNvPr id="1" name=""/>
        <p:cNvGrpSpPr/>
        <p:nvPr/>
      </p:nvGrpSpPr>
      <p:grpSpPr>
        <a:xfrm>
          <a:off x="0" y="0"/>
          <a:ext cx="0" cy="0"/>
          <a:chOff x="0" y="0"/>
          <a:chExt cx="0" cy="0"/>
        </a:xfrm>
      </p:grpSpPr>
      <p:sp>
        <p:nvSpPr>
          <p:cNvPr id="5" name="Text Placeholder 4"/>
          <p:cNvSpPr>
            <a:spLocks noGrp="1"/>
          </p:cNvSpPr>
          <p:nvPr>
            <p:ph type="body" sz="quarter" idx="1"/>
            <p:custDataLst>
              <p:tags r:id="rId2"/>
            </p:custDataLst>
          </p:nvPr>
        </p:nvSpPr>
        <p:spPr>
          <a:xfrm>
            <a:off x="457200" y="1015831"/>
            <a:ext cx="8229600" cy="4389120"/>
          </a:xfrm>
        </p:spPr>
        <p:txBody>
          <a:bodyPr/>
          <a:lstStyle/>
          <a:p>
            <a:pPr lvl="2"/>
            <a:r>
              <a:rPr lang="en-US" sz="1200" dirty="0"/>
              <a:t>The average monthly contributions for the {{PLAN1}} plans are ${{CASH1}} for employee-only and ${{CASH2}} for employee plus family</a:t>
            </a:r>
          </a:p>
          <a:p>
            <a:pPr lvl="3"/>
            <a:r>
              <a:rPr lang="en-US" sz="1200" dirty="0"/>
              <a:t>{{COMPANY1}} employee contributions are {{STATUS1}} for employee-only ({{CASH3}}) and {{STATUS2}} for employee plus family ({{CASH4}})</a:t>
            </a:r>
          </a:p>
          <a:p>
            <a:pPr lvl="3"/>
            <a:endParaRPr lang="en-US" sz="1000" dirty="0"/>
          </a:p>
          <a:p>
            <a:pPr lvl="2"/>
            <a:endParaRPr lang="en-US" sz="1200" dirty="0"/>
          </a:p>
        </p:txBody>
      </p:sp>
      <p:sp>
        <p:nvSpPr>
          <p:cNvPr id="2" name="Title 1"/>
          <p:cNvSpPr>
            <a:spLocks noGrp="1"/>
          </p:cNvSpPr>
          <p:nvPr>
            <p:ph type="title"/>
            <p:custDataLst>
              <p:tags r:id="rId3"/>
            </p:custDataLst>
          </p:nvPr>
        </p:nvSpPr>
        <p:spPr>
          <a:xfrm>
            <a:off x="457200" y="405245"/>
            <a:ext cx="8229600" cy="307777"/>
          </a:xfrm>
        </p:spPr>
        <p:txBody>
          <a:bodyPr/>
          <a:lstStyle/>
          <a:p>
            <a:r>
              <a:rPr lang="en-US" dirty="0"/>
              <a:t>Active Medical Benefits (Employee Contributions)</a:t>
            </a:r>
          </a:p>
        </p:txBody>
      </p:sp>
      <p:sp>
        <p:nvSpPr>
          <p:cNvPr id="6" name="Text Placeholder 5"/>
          <p:cNvSpPr>
            <a:spLocks noGrp="1"/>
          </p:cNvSpPr>
          <p:nvPr>
            <p:ph type="body" sz="quarter" idx="13"/>
            <p:custDataLst>
              <p:tags r:id="rId4"/>
            </p:custDataLst>
          </p:nvPr>
        </p:nvSpPr>
        <p:spPr>
          <a:xfrm>
            <a:off x="457200" y="737893"/>
            <a:ext cx="8229600" cy="276999"/>
          </a:xfrm>
        </p:spPr>
        <p:txBody>
          <a:bodyPr/>
          <a:lstStyle/>
          <a:p>
            <a:endParaRPr lang="en-US"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15</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9" name="MT4_Table1">
            <a:extLst>
              <a:ext uri="{FF2B5EF4-FFF2-40B4-BE49-F238E27FC236}">
                <a16:creationId xmlns:a16="http://schemas.microsoft.com/office/drawing/2014/main" id="{662D11B1-2C8F-4130-B00F-86F69B2A780C}"/>
              </a:ext>
            </a:extLst>
          </p:cNvPr>
          <p:cNvGraphicFramePr>
            <a:graphicFrameLocks noGrp="1"/>
          </p:cNvGraphicFramePr>
          <p:nvPr>
            <p:extLst>
              <p:ext uri="{D42A27DB-BD31-4B8C-83A1-F6EECF244321}">
                <p14:modId xmlns:p14="http://schemas.microsoft.com/office/powerpoint/2010/main" val="564112835"/>
              </p:ext>
            </p:extLst>
          </p:nvPr>
        </p:nvGraphicFramePr>
        <p:xfrm>
          <a:off x="457200" y="1584664"/>
          <a:ext cx="8229600" cy="4667782"/>
        </p:xfrm>
        <a:graphic>
          <a:graphicData uri="http://schemas.openxmlformats.org/drawingml/2006/table">
            <a:tbl>
              <a:tblPr/>
              <a:tblGrid>
                <a:gridCol w="2129246">
                  <a:extLst>
                    <a:ext uri="{9D8B030D-6E8A-4147-A177-3AD203B41FA5}">
                      <a16:colId xmlns:a16="http://schemas.microsoft.com/office/drawing/2014/main" val="88518601"/>
                    </a:ext>
                  </a:extLst>
                </a:gridCol>
                <a:gridCol w="1558834">
                  <a:extLst>
                    <a:ext uri="{9D8B030D-6E8A-4147-A177-3AD203B41FA5}">
                      <a16:colId xmlns:a16="http://schemas.microsoft.com/office/drawing/2014/main" val="1306930538"/>
                    </a:ext>
                  </a:extLst>
                </a:gridCol>
                <a:gridCol w="2270760">
                  <a:extLst>
                    <a:ext uri="{9D8B030D-6E8A-4147-A177-3AD203B41FA5}">
                      <a16:colId xmlns:a16="http://schemas.microsoft.com/office/drawing/2014/main" val="2107148317"/>
                    </a:ext>
                  </a:extLst>
                </a:gridCol>
                <a:gridCol w="2270760">
                  <a:extLst>
                    <a:ext uri="{9D8B030D-6E8A-4147-A177-3AD203B41FA5}">
                      <a16:colId xmlns:a16="http://schemas.microsoft.com/office/drawing/2014/main" val="721034682"/>
                    </a:ext>
                  </a:extLst>
                </a:gridCol>
              </a:tblGrid>
              <a:tr h="164652">
                <a:tc gridSpan="2">
                  <a:txBody>
                    <a:bodyPr/>
                    <a:lstStyle/>
                    <a:p>
                      <a:pPr algn="l" fontAlgn="b"/>
                      <a:r>
                        <a:rPr lang="en-US" sz="800" b="0" i="1" u="none" strike="noStrike">
                          <a:effectLst/>
                          <a:latin typeface="Arial" panose="020B0604020202020204" pitchFamily="34" charset="0"/>
                        </a:rPr>
                        <a:t>Monthly Contributions for Highest-Enrolled Plans</a:t>
                      </a: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hMerge="1">
                  <a:txBody>
                    <a:bodyPr/>
                    <a:lstStyle/>
                    <a:p>
                      <a:endParaRPr lang="en-US"/>
                    </a:p>
                  </a:txBody>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ctr" fontAlgn="b"/>
                      <a:endParaRPr lang="en-US" sz="1050" b="0" i="0" u="none" strike="noStrike">
                        <a:solidFill>
                          <a:srgbClr val="F3C599"/>
                        </a:solidFill>
                        <a:effectLst/>
                        <a:latin typeface="Wingdings" panose="05000000000000000000" pitchFamily="2" charset="2"/>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224457940"/>
                  </a:ext>
                </a:extLst>
              </a:tr>
              <a:tr h="132445">
                <a:tc>
                  <a:txBody>
                    <a:bodyPr/>
                    <a:lstStyle/>
                    <a:p>
                      <a:pPr algn="ctr" fontAlgn="ctr"/>
                      <a:r>
                        <a:rPr lang="en-US" sz="800" b="1" i="0" u="none" strike="noStrike" dirty="0">
                          <a:solidFill>
                            <a:srgbClr val="FFFFFF"/>
                          </a:solidFill>
                          <a:effectLst/>
                          <a:latin typeface="Arial" panose="020B0604020202020204" pitchFamily="34" charset="0"/>
                        </a:rPr>
                        <a:t>Companies with 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Plan Type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dirty="0">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393786251"/>
                  </a:ext>
                </a:extLst>
              </a:tr>
              <a:tr h="132445">
                <a:tc>
                  <a:txBody>
                    <a:bodyPr/>
                    <a:lstStyle/>
                    <a:p>
                      <a:pPr algn="ctr" fontAlgn="ctr"/>
                      <a:r>
                        <a:rPr lang="en-US" sz="800" b="0" i="0" u="none" strike="noStrike">
                          <a:effectLst/>
                          <a:latin typeface="Arial" panose="020B0604020202020204" pitchFamily="34" charset="0"/>
                        </a:rPr>
                        <a:t>KZ</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778555632"/>
                  </a:ext>
                </a:extLst>
              </a:tr>
              <a:tr h="132445">
                <a:tc>
                  <a:txBody>
                    <a:bodyPr/>
                    <a:lstStyle/>
                    <a:p>
                      <a:pPr algn="ctr" fontAlgn="ctr"/>
                      <a:r>
                        <a:rPr lang="en-US" sz="800" b="0" i="0" u="none" strike="noStrike">
                          <a:effectLst/>
                          <a:latin typeface="Arial" panose="020B0604020202020204" pitchFamily="34" charset="0"/>
                        </a:rPr>
                        <a:t>JA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28309408"/>
                  </a:ext>
                </a:extLst>
              </a:tr>
              <a:tr h="132445">
                <a:tc>
                  <a:txBody>
                    <a:bodyPr/>
                    <a:lstStyle/>
                    <a:p>
                      <a:pPr algn="ctr" fontAlgn="ctr"/>
                      <a:r>
                        <a:rPr lang="en-US" sz="800" b="0" i="0" u="none" strike="noStrike">
                          <a:effectLst/>
                          <a:latin typeface="Arial" panose="020B0604020202020204" pitchFamily="34" charset="0"/>
                        </a:rPr>
                        <a:t>SC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$286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56423383"/>
                  </a:ext>
                </a:extLst>
              </a:tr>
              <a:tr h="132445">
                <a:tc>
                  <a:txBody>
                    <a:bodyPr/>
                    <a:lstStyle/>
                    <a:p>
                      <a:pPr algn="ctr" fontAlgn="ctr"/>
                      <a:r>
                        <a:rPr lang="en-US" sz="800" b="0" i="0" u="none" strike="noStrike">
                          <a:effectLst/>
                          <a:latin typeface="Arial" panose="020B0604020202020204" pitchFamily="34" charset="0"/>
                        </a:rPr>
                        <a:t>EJ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$290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87811119"/>
                  </a:ext>
                </a:extLst>
              </a:tr>
              <a:tr h="132445">
                <a:tc>
                  <a:txBody>
                    <a:bodyPr/>
                    <a:lstStyle/>
                    <a:p>
                      <a:pPr algn="ctr" fontAlgn="ctr"/>
                      <a:r>
                        <a:rPr lang="en-US" sz="800" b="0" i="0" u="none" strike="noStrike">
                          <a:effectLst/>
                          <a:latin typeface="Arial" panose="020B0604020202020204" pitchFamily="34" charset="0"/>
                        </a:rPr>
                        <a:t>HI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$300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71560892"/>
                  </a:ext>
                </a:extLst>
              </a:tr>
              <a:tr h="132445">
                <a:tc>
                  <a:txBody>
                    <a:bodyPr/>
                    <a:lstStyle/>
                    <a:p>
                      <a:pPr algn="ctr" fontAlgn="ctr"/>
                      <a:r>
                        <a:rPr lang="en-US" sz="800" b="0" i="0" u="none" strike="noStrike">
                          <a:effectLst/>
                          <a:latin typeface="Arial" panose="020B0604020202020204" pitchFamily="34" charset="0"/>
                        </a:rPr>
                        <a:t>RG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$400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8330038"/>
                  </a:ext>
                </a:extLst>
              </a:tr>
              <a:tr h="132445">
                <a:tc>
                  <a:txBody>
                    <a:bodyPr/>
                    <a:lstStyle/>
                    <a:p>
                      <a:pPr algn="ctr" fontAlgn="ctr"/>
                      <a:r>
                        <a:rPr lang="en-US" sz="800" b="0" i="0" u="none" strike="noStrike" dirty="0">
                          <a:effectLst/>
                          <a:latin typeface="Arial" panose="020B0604020202020204" pitchFamily="34" charset="0"/>
                        </a:rPr>
                        <a:t>CD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$240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45912103"/>
                  </a:ext>
                </a:extLst>
              </a:tr>
              <a:tr h="132445">
                <a:tc>
                  <a:txBody>
                    <a:bodyPr/>
                    <a:lstStyle/>
                    <a:p>
                      <a:pPr algn="ctr" fontAlgn="ctr"/>
                      <a:r>
                        <a:rPr lang="en-US" sz="800" b="0" i="0" u="none" strike="noStrike">
                          <a:effectLst/>
                          <a:latin typeface="Arial" panose="020B0604020202020204" pitchFamily="34" charset="0"/>
                        </a:rPr>
                        <a:t>ZQ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$456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08846656"/>
                  </a:ext>
                </a:extLst>
              </a:tr>
              <a:tr h="132445">
                <a:tc>
                  <a:txBody>
                    <a:bodyPr/>
                    <a:lstStyle/>
                    <a:p>
                      <a:pPr algn="ctr" fontAlgn="ctr"/>
                      <a:r>
                        <a:rPr lang="en-US" sz="800" b="0" i="0" u="none" strike="noStrike">
                          <a:effectLst/>
                          <a:latin typeface="Arial" panose="020B0604020202020204" pitchFamily="34" charset="0"/>
                        </a:rPr>
                        <a:t>MJ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$497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00208283"/>
                  </a:ext>
                </a:extLst>
              </a:tr>
              <a:tr h="132445">
                <a:tc>
                  <a:txBody>
                    <a:bodyPr/>
                    <a:lstStyle/>
                    <a:p>
                      <a:pPr algn="ctr" fontAlgn="ctr"/>
                      <a:r>
                        <a:rPr lang="en-US" sz="800" b="0" i="0" u="none" strike="noStrike">
                          <a:effectLst/>
                          <a:latin typeface="Arial" panose="020B0604020202020204" pitchFamily="34" charset="0"/>
                        </a:rPr>
                        <a:t>VP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$223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13379737"/>
                  </a:ext>
                </a:extLst>
              </a:tr>
              <a:tr h="132445">
                <a:tc>
                  <a:txBody>
                    <a:bodyPr/>
                    <a:lstStyle/>
                    <a:p>
                      <a:pPr algn="ctr" fontAlgn="ctr"/>
                      <a:r>
                        <a:rPr lang="en-US" sz="800" b="0" i="0" u="none" strike="noStrike">
                          <a:effectLst/>
                          <a:latin typeface="Arial" panose="020B0604020202020204" pitchFamily="34" charset="0"/>
                        </a:rPr>
                        <a:t>HH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$383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36033765"/>
                  </a:ext>
                </a:extLst>
              </a:tr>
              <a:tr h="132445">
                <a:tc>
                  <a:txBody>
                    <a:bodyPr/>
                    <a:lstStyle/>
                    <a:p>
                      <a:pPr algn="ctr" fontAlgn="ctr"/>
                      <a:r>
                        <a:rPr lang="en-US" sz="800" b="0" i="0" u="none" strike="noStrike" dirty="0">
                          <a:effectLst/>
                          <a:latin typeface="Arial" panose="020B0604020202020204" pitchFamily="34" charset="0"/>
                        </a:rPr>
                        <a:t>EG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$383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66622420"/>
                  </a:ext>
                </a:extLst>
              </a:tr>
              <a:tr h="132445">
                <a:tc>
                  <a:txBody>
                    <a:bodyPr/>
                    <a:lstStyle/>
                    <a:p>
                      <a:pPr algn="ctr" fontAlgn="ctr"/>
                      <a:r>
                        <a:rPr lang="en-US" sz="800" b="0" i="0" u="none" strike="noStrike">
                          <a:effectLst/>
                          <a:latin typeface="Arial" panose="020B0604020202020204" pitchFamily="34" charset="0"/>
                        </a:rPr>
                        <a:t>SK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$359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48577370"/>
                  </a:ext>
                </a:extLst>
              </a:tr>
              <a:tr h="132445">
                <a:tc>
                  <a:txBody>
                    <a:bodyPr/>
                    <a:lstStyle/>
                    <a:p>
                      <a:pPr algn="ctr" fontAlgn="ctr"/>
                      <a:r>
                        <a:rPr lang="en-US" sz="800" b="0" i="0" u="none" strike="noStrike">
                          <a:effectLst/>
                          <a:latin typeface="Arial" panose="020B0604020202020204" pitchFamily="34" charset="0"/>
                        </a:rPr>
                        <a:t>XR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$376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69711615"/>
                  </a:ext>
                </a:extLst>
              </a:tr>
              <a:tr h="132445">
                <a:tc>
                  <a:txBody>
                    <a:bodyPr/>
                    <a:lstStyle/>
                    <a:p>
                      <a:pPr algn="ctr" fontAlgn="ctr"/>
                      <a:r>
                        <a:rPr lang="en-US" sz="800" b="0" i="0" u="none" strike="noStrike">
                          <a:effectLst/>
                          <a:latin typeface="Arial" panose="020B0604020202020204" pitchFamily="34" charset="0"/>
                        </a:rPr>
                        <a:t>AW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$280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86984089"/>
                  </a:ext>
                </a:extLst>
              </a:tr>
              <a:tr h="132445">
                <a:tc>
                  <a:txBody>
                    <a:bodyPr/>
                    <a:lstStyle/>
                    <a:p>
                      <a:pPr algn="ctr" fontAlgn="ctr"/>
                      <a:r>
                        <a:rPr lang="en-US" sz="800" b="0" i="0" u="none" strike="noStrike">
                          <a:effectLst/>
                          <a:latin typeface="Arial" panose="020B0604020202020204" pitchFamily="34" charset="0"/>
                        </a:rPr>
                        <a:t>WX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31155271"/>
                  </a:ext>
                </a:extLst>
              </a:tr>
              <a:tr h="132445">
                <a:tc>
                  <a:txBody>
                    <a:bodyPr/>
                    <a:lstStyle/>
                    <a:p>
                      <a:pPr algn="ctr" fontAlgn="ctr"/>
                      <a:r>
                        <a:rPr lang="en-US" sz="800" b="0" i="0" u="none" strike="noStrike">
                          <a:effectLst/>
                          <a:latin typeface="Arial" panose="020B0604020202020204" pitchFamily="34" charset="0"/>
                        </a:rPr>
                        <a:t>KI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46883817"/>
                  </a:ext>
                </a:extLst>
              </a:tr>
              <a:tr h="132445">
                <a:tc>
                  <a:txBody>
                    <a:bodyPr/>
                    <a:lstStyle/>
                    <a:p>
                      <a:pPr algn="ctr" fontAlgn="ctr"/>
                      <a:r>
                        <a:rPr lang="en-US" sz="800" b="0" i="0" u="none" strike="noStrike">
                          <a:effectLst/>
                          <a:latin typeface="Arial" panose="020B0604020202020204" pitchFamily="34" charset="0"/>
                        </a:rPr>
                        <a:t>SB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$312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38999785"/>
                  </a:ext>
                </a:extLst>
              </a:tr>
              <a:tr h="132445">
                <a:tc>
                  <a:txBody>
                    <a:bodyPr/>
                    <a:lstStyle/>
                    <a:p>
                      <a:pPr algn="ctr" fontAlgn="ctr"/>
                      <a:r>
                        <a:rPr lang="en-US" sz="800" b="0" i="0" u="none" strike="noStrike">
                          <a:effectLst/>
                          <a:latin typeface="Arial" panose="020B0604020202020204" pitchFamily="34" charset="0"/>
                        </a:rPr>
                        <a:t>GJ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50688934"/>
                  </a:ext>
                </a:extLst>
              </a:tr>
              <a:tr h="132445">
                <a:tc>
                  <a:txBody>
                    <a:bodyPr/>
                    <a:lstStyle/>
                    <a:p>
                      <a:pPr algn="ctr" fontAlgn="ctr"/>
                      <a:r>
                        <a:rPr lang="en-US" sz="800" b="0" i="0" u="none" strike="noStrike">
                          <a:effectLst/>
                          <a:latin typeface="Arial" panose="020B0604020202020204" pitchFamily="34" charset="0"/>
                        </a:rPr>
                        <a:t>BY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$358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72726687"/>
                  </a:ext>
                </a:extLst>
              </a:tr>
              <a:tr h="132445">
                <a:tc>
                  <a:txBody>
                    <a:bodyPr/>
                    <a:lstStyle/>
                    <a:p>
                      <a:pPr algn="ctr" fontAlgn="ctr"/>
                      <a:r>
                        <a:rPr lang="en-US" sz="800" b="0" i="0" u="none" strike="noStrike">
                          <a:effectLst/>
                          <a:latin typeface="Arial" panose="020B0604020202020204" pitchFamily="34" charset="0"/>
                        </a:rPr>
                        <a:t>NL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$405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81633875"/>
                  </a:ext>
                </a:extLst>
              </a:tr>
              <a:tr h="132445">
                <a:tc>
                  <a:txBody>
                    <a:bodyPr/>
                    <a:lstStyle/>
                    <a:p>
                      <a:pPr algn="ctr" fontAlgn="ctr"/>
                      <a:r>
                        <a:rPr lang="en-US" sz="800" b="0" i="0" u="none" strike="noStrike">
                          <a:effectLst/>
                          <a:latin typeface="Arial" panose="020B0604020202020204" pitchFamily="34" charset="0"/>
                        </a:rPr>
                        <a:t>HF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$387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07672505"/>
                  </a:ext>
                </a:extLst>
              </a:tr>
              <a:tr h="132445">
                <a:tc>
                  <a:txBody>
                    <a:bodyPr/>
                    <a:lstStyle/>
                    <a:p>
                      <a:pPr algn="ctr" fontAlgn="ctr"/>
                      <a:r>
                        <a:rPr lang="en-US" sz="800" b="0" i="0" u="none" strike="noStrike">
                          <a:effectLst/>
                          <a:latin typeface="Arial" panose="020B0604020202020204" pitchFamily="34" charset="0"/>
                        </a:rPr>
                        <a:t>UD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$586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15661141"/>
                  </a:ext>
                </a:extLst>
              </a:tr>
              <a:tr h="132445">
                <a:tc>
                  <a:txBody>
                    <a:bodyPr/>
                    <a:lstStyle/>
                    <a:p>
                      <a:pPr algn="ctr" fontAlgn="ctr"/>
                      <a:r>
                        <a:rPr lang="en-US" sz="800" b="0" i="0" u="none" strike="noStrike">
                          <a:effectLst/>
                          <a:latin typeface="Arial" panose="020B0604020202020204" pitchFamily="34" charset="0"/>
                        </a:rPr>
                        <a:t>IF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$128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$563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720479556"/>
                  </a:ext>
                </a:extLst>
              </a:tr>
              <a:tr h="132445">
                <a:tc>
                  <a:txBody>
                    <a:bodyPr/>
                    <a:lstStyle/>
                    <a:p>
                      <a:pPr algn="ctr" fontAlgn="ctr"/>
                      <a:r>
                        <a:rPr lang="en-US" sz="800" b="0" i="0" u="none" strike="noStrike">
                          <a:effectLst/>
                          <a:latin typeface="Arial" panose="020B0604020202020204" pitchFamily="34" charset="0"/>
                        </a:rPr>
                        <a:t>PE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$134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$461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51249532"/>
                  </a:ext>
                </a:extLst>
              </a:tr>
              <a:tr h="132445">
                <a:tc>
                  <a:txBody>
                    <a:bodyPr/>
                    <a:lstStyle/>
                    <a:p>
                      <a:pPr algn="ctr" fontAlgn="ctr"/>
                      <a:r>
                        <a:rPr lang="en-US" sz="800" b="0" i="0" u="none" strike="noStrike">
                          <a:effectLst/>
                          <a:latin typeface="Arial" panose="020B0604020202020204" pitchFamily="34" charset="0"/>
                        </a:rPr>
                        <a:t>IC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$136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$469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80351209"/>
                  </a:ext>
                </a:extLst>
              </a:tr>
              <a:tr h="132445">
                <a:tc>
                  <a:txBody>
                    <a:bodyPr/>
                    <a:lstStyle/>
                    <a:p>
                      <a:pPr algn="ctr" fontAlgn="ctr"/>
                      <a:r>
                        <a:rPr lang="en-US" sz="800" b="0" i="0" u="none" strike="noStrike">
                          <a:effectLst/>
                          <a:latin typeface="Arial" panose="020B0604020202020204" pitchFamily="34" charset="0"/>
                        </a:rPr>
                        <a:t>AK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$138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$461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5555114"/>
                  </a:ext>
                </a:extLst>
              </a:tr>
              <a:tr h="132445">
                <a:tc>
                  <a:txBody>
                    <a:bodyPr/>
                    <a:lstStyle/>
                    <a:p>
                      <a:pPr algn="ctr" fontAlgn="ctr"/>
                      <a:r>
                        <a:rPr lang="en-US" sz="800" b="0" i="0" u="none" strike="noStrike">
                          <a:effectLst/>
                          <a:latin typeface="Arial" panose="020B0604020202020204" pitchFamily="34" charset="0"/>
                        </a:rPr>
                        <a:t>LC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$144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$484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6256867"/>
                  </a:ext>
                </a:extLst>
              </a:tr>
              <a:tr h="132445">
                <a:tc>
                  <a:txBody>
                    <a:bodyPr/>
                    <a:lstStyle/>
                    <a:p>
                      <a:pPr algn="ctr" fontAlgn="ctr"/>
                      <a:r>
                        <a:rPr lang="en-US" sz="800" b="0" i="0" u="none" strike="noStrike">
                          <a:effectLst/>
                          <a:latin typeface="Arial" panose="020B0604020202020204" pitchFamily="34" charset="0"/>
                        </a:rPr>
                        <a:t>YT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$145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$492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95497741"/>
                  </a:ext>
                </a:extLst>
              </a:tr>
              <a:tr h="132445">
                <a:tc>
                  <a:txBody>
                    <a:bodyPr/>
                    <a:lstStyle/>
                    <a:p>
                      <a:pPr algn="ctr" fontAlgn="ctr"/>
                      <a:r>
                        <a:rPr lang="en-US" sz="800" b="0" i="0" u="none" strike="noStrike">
                          <a:effectLst/>
                          <a:latin typeface="Arial" panose="020B0604020202020204" pitchFamily="34" charset="0"/>
                        </a:rPr>
                        <a:t>RU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$620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449994455"/>
                  </a:ext>
                </a:extLst>
              </a:tr>
              <a:tr h="132445">
                <a:tc>
                  <a:txBody>
                    <a:bodyPr/>
                    <a:lstStyle/>
                    <a:p>
                      <a:pPr algn="ctr" fontAlgn="ctr"/>
                      <a:r>
                        <a:rPr lang="en-US" sz="800" b="0" i="0" u="none" strike="noStrike">
                          <a:effectLst/>
                          <a:latin typeface="Arial" panose="020B0604020202020204" pitchFamily="34" charset="0"/>
                        </a:rPr>
                        <a:t>DT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$594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95899862"/>
                  </a:ext>
                </a:extLst>
              </a:tr>
              <a:tr h="132445">
                <a:tc>
                  <a:txBody>
                    <a:bodyPr/>
                    <a:lstStyle/>
                    <a:p>
                      <a:pPr algn="ctr" fontAlgn="ctr"/>
                      <a:r>
                        <a:rPr lang="en-US" sz="800" b="0" i="0" u="none" strike="noStrike">
                          <a:effectLst/>
                          <a:latin typeface="Arial" panose="020B0604020202020204" pitchFamily="34" charset="0"/>
                        </a:rPr>
                        <a:t>PX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$219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45496795"/>
                  </a:ext>
                </a:extLst>
              </a:tr>
              <a:tr h="132445">
                <a:tc>
                  <a:txBody>
                    <a:bodyPr/>
                    <a:lstStyle/>
                    <a:p>
                      <a:pPr algn="ctr" fontAlgn="ctr"/>
                      <a:r>
                        <a:rPr lang="en-US" sz="800" b="1" i="0" u="none" strike="noStrike">
                          <a:solidFill>
                            <a:srgbClr val="FFFFFF"/>
                          </a:solidFill>
                          <a:effectLst/>
                          <a:latin typeface="Arial" panose="020B0604020202020204" pitchFamily="34" charset="0"/>
                        </a:rPr>
                        <a:t>Average Contribution (PPO)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800" b="1" i="0" u="none" strike="noStrike" dirty="0">
                          <a:solidFill>
                            <a:srgbClr val="FFFFFF"/>
                          </a:solidFill>
                          <a:effectLst/>
                          <a:latin typeface="Arial" panose="020B0604020202020204" pitchFamily="34" charset="0"/>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800" b="1" i="0" u="none" strike="noStrike" dirty="0">
                          <a:solidFill>
                            <a:srgbClr val="FFFFFF"/>
                          </a:solidFill>
                          <a:effectLst/>
                          <a:latin typeface="Arial" panose="020B0604020202020204" pitchFamily="34" charset="0"/>
                        </a:rPr>
                        <a:t>$85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800" b="1" i="0" u="none" strike="noStrike" dirty="0">
                          <a:solidFill>
                            <a:srgbClr val="FFFFFF"/>
                          </a:solidFill>
                          <a:effectLst/>
                          <a:latin typeface="Arial" panose="020B0604020202020204" pitchFamily="34" charset="0"/>
                        </a:rPr>
                        <a:t>$388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extLst>
                  <a:ext uri="{0D108BD9-81ED-4DB2-BD59-A6C34878D82A}">
                    <a16:rowId xmlns:a16="http://schemas.microsoft.com/office/drawing/2014/main" val="4025896944"/>
                  </a:ext>
                </a:extLst>
              </a:tr>
            </a:tbl>
          </a:graphicData>
        </a:graphic>
      </p:graphicFrame>
    </p:spTree>
    <p:custDataLst>
      <p:tags r:id="rId1"/>
    </p:custDataLst>
    <p:extLst>
      <p:ext uri="{BB962C8B-B14F-4D97-AF65-F5344CB8AC3E}">
        <p14:creationId xmlns:p14="http://schemas.microsoft.com/office/powerpoint/2010/main" val="3681023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MEDText (5)">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Medical Benefits (Employee Contributions) Continued</a:t>
            </a:r>
          </a:p>
        </p:txBody>
      </p:sp>
      <p:sp>
        <p:nvSpPr>
          <p:cNvPr id="11" name="Text Placeholder 10">
            <a:extLst>
              <a:ext uri="{FF2B5EF4-FFF2-40B4-BE49-F238E27FC236}">
                <a16:creationId xmlns:a16="http://schemas.microsoft.com/office/drawing/2014/main" id="{6B9E3C3E-2604-4285-A1DE-57A88DDE8DB2}"/>
              </a:ext>
            </a:extLst>
          </p:cNvPr>
          <p:cNvSpPr>
            <a:spLocks noGrp="1"/>
          </p:cNvSpPr>
          <p:nvPr>
            <p:ph type="body" sz="quarter" idx="13"/>
          </p:nvPr>
        </p:nvSpPr>
        <p:spPr/>
        <p:txBody>
          <a:bodyPr/>
          <a:lstStyle/>
          <a:p>
            <a:endParaRPr lang="en-US"/>
          </a:p>
        </p:txBody>
      </p:sp>
      <p:sp>
        <p:nvSpPr>
          <p:cNvPr id="4" name="Slide Number Placeholder 3"/>
          <p:cNvSpPr>
            <a:spLocks noGrp="1"/>
          </p:cNvSpPr>
          <p:nvPr>
            <p:ph type="sldNum" sz="quarter" idx="4"/>
          </p:nvPr>
        </p:nvSpPr>
        <p:spPr/>
        <p:txBody>
          <a:bodyPr/>
          <a:lstStyle/>
          <a:p>
            <a:fld id="{2083E393-C0BF-4ED8-8545-7E4C90AFF831}" type="slidenum">
              <a:rPr lang="en-US" smtClean="0"/>
              <a:pPr/>
              <a:t>16</a:t>
            </a:fld>
            <a:endParaRPr lang="en-US"/>
          </a:p>
        </p:txBody>
      </p:sp>
      <p:sp>
        <p:nvSpPr>
          <p:cNvPr id="3" name="Footer Placeholder 2"/>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12" name="MT5_Table1">
            <a:extLst>
              <a:ext uri="{FF2B5EF4-FFF2-40B4-BE49-F238E27FC236}">
                <a16:creationId xmlns:a16="http://schemas.microsoft.com/office/drawing/2014/main" id="{32E4AC15-788A-425B-8A19-46E76C0CA2F8}"/>
              </a:ext>
            </a:extLst>
          </p:cNvPr>
          <p:cNvGraphicFramePr>
            <a:graphicFrameLocks noGrp="1"/>
          </p:cNvGraphicFramePr>
          <p:nvPr>
            <p:extLst>
              <p:ext uri="{D42A27DB-BD31-4B8C-83A1-F6EECF244321}">
                <p14:modId xmlns:p14="http://schemas.microsoft.com/office/powerpoint/2010/main" val="3499457584"/>
              </p:ext>
            </p:extLst>
          </p:nvPr>
        </p:nvGraphicFramePr>
        <p:xfrm>
          <a:off x="457199" y="1077237"/>
          <a:ext cx="8229602" cy="5129880"/>
        </p:xfrm>
        <a:graphic>
          <a:graphicData uri="http://schemas.openxmlformats.org/drawingml/2006/table">
            <a:tbl>
              <a:tblPr/>
              <a:tblGrid>
                <a:gridCol w="2512764">
                  <a:extLst>
                    <a:ext uri="{9D8B030D-6E8A-4147-A177-3AD203B41FA5}">
                      <a16:colId xmlns:a16="http://schemas.microsoft.com/office/drawing/2014/main" val="2725258209"/>
                    </a:ext>
                  </a:extLst>
                </a:gridCol>
                <a:gridCol w="1725020">
                  <a:extLst>
                    <a:ext uri="{9D8B030D-6E8A-4147-A177-3AD203B41FA5}">
                      <a16:colId xmlns:a16="http://schemas.microsoft.com/office/drawing/2014/main" val="3558252292"/>
                    </a:ext>
                  </a:extLst>
                </a:gridCol>
                <a:gridCol w="1995909">
                  <a:extLst>
                    <a:ext uri="{9D8B030D-6E8A-4147-A177-3AD203B41FA5}">
                      <a16:colId xmlns:a16="http://schemas.microsoft.com/office/drawing/2014/main" val="2248964268"/>
                    </a:ext>
                  </a:extLst>
                </a:gridCol>
                <a:gridCol w="1995909">
                  <a:extLst>
                    <a:ext uri="{9D8B030D-6E8A-4147-A177-3AD203B41FA5}">
                      <a16:colId xmlns:a16="http://schemas.microsoft.com/office/drawing/2014/main" val="654305586"/>
                    </a:ext>
                  </a:extLst>
                </a:gridCol>
              </a:tblGrid>
              <a:tr h="137792">
                <a:tc>
                  <a:txBody>
                    <a:bodyPr/>
                    <a:lstStyle/>
                    <a:p>
                      <a:pPr algn="l" fontAlgn="b"/>
                      <a:r>
                        <a:rPr lang="en-US" sz="700" b="0" i="1" u="none" strike="noStrike">
                          <a:effectLst/>
                          <a:latin typeface="Arial" panose="020B0604020202020204" pitchFamily="34" charset="0"/>
                        </a:rPr>
                        <a:t>Monthly Contributions for Highest-Enrolled Plans</a:t>
                      </a: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7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7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7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75048797"/>
                  </a:ext>
                </a:extLst>
              </a:tr>
              <a:tr h="111032">
                <a:tc>
                  <a:txBody>
                    <a:bodyPr/>
                    <a:lstStyle/>
                    <a:p>
                      <a:pPr algn="ctr" fontAlgn="ctr"/>
                      <a:r>
                        <a:rPr lang="en-US" sz="700" b="1" i="0" u="none" strike="noStrike">
                          <a:solidFill>
                            <a:srgbClr val="FFFFFF"/>
                          </a:solidFill>
                          <a:effectLst/>
                          <a:latin typeface="Arial" panose="020B0604020202020204" pitchFamily="34" charset="0"/>
                        </a:rPr>
                        <a:t>Companies with EPO / HMO / POS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Plan Type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dirty="0">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4187557232"/>
                  </a:ext>
                </a:extLst>
              </a:tr>
              <a:tr h="111032">
                <a:tc>
                  <a:txBody>
                    <a:bodyPr/>
                    <a:lstStyle/>
                    <a:p>
                      <a:pPr algn="ctr" fontAlgn="b"/>
                      <a:r>
                        <a:rPr lang="en-US" sz="700" b="0" i="0" u="none" strike="noStrike">
                          <a:effectLst/>
                          <a:latin typeface="Arial" panose="020B0604020202020204" pitchFamily="34" charset="0"/>
                        </a:rPr>
                        <a:t>FA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EPO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$256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73531791"/>
                  </a:ext>
                </a:extLst>
              </a:tr>
              <a:tr h="111032">
                <a:tc>
                  <a:txBody>
                    <a:bodyPr/>
                    <a:lstStyle/>
                    <a:p>
                      <a:pPr algn="ctr" fontAlgn="b"/>
                      <a:r>
                        <a:rPr lang="en-US" sz="700" b="0" i="0" u="none" strike="noStrike">
                          <a:effectLst/>
                          <a:latin typeface="Arial" panose="020B0604020202020204" pitchFamily="34" charset="0"/>
                        </a:rPr>
                        <a:t>KL</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POS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$155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$644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404056345"/>
                  </a:ext>
                </a:extLst>
              </a:tr>
              <a:tr h="111032">
                <a:tc>
                  <a:txBody>
                    <a:bodyPr/>
                    <a:lstStyle/>
                    <a:p>
                      <a:pPr algn="ctr" fontAlgn="b"/>
                      <a:r>
                        <a:rPr lang="en-US" sz="700" b="0" i="0" u="none" strike="noStrike">
                          <a:effectLst/>
                          <a:latin typeface="Arial" panose="020B0604020202020204" pitchFamily="34" charset="0"/>
                        </a:rPr>
                        <a:t>QO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HMO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$173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$604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742450575"/>
                  </a:ext>
                </a:extLst>
              </a:tr>
              <a:tr h="111032">
                <a:tc>
                  <a:txBody>
                    <a:bodyPr/>
                    <a:lstStyle/>
                    <a:p>
                      <a:pPr algn="ctr" fontAlgn="ctr"/>
                      <a:r>
                        <a:rPr lang="en-US" sz="700" b="1" i="0" u="none" strike="noStrike">
                          <a:solidFill>
                            <a:srgbClr val="FFFFFF"/>
                          </a:solidFill>
                          <a:effectLst/>
                          <a:latin typeface="Arial" panose="020B0604020202020204" pitchFamily="34" charset="0"/>
                        </a:rPr>
                        <a:t>Average Contribution (EPO / HMO / POS)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a:solidFill>
                            <a:srgbClr val="FFFFFF"/>
                          </a:solidFill>
                          <a:effectLst/>
                          <a:latin typeface="Arial" panose="020B0604020202020204" pitchFamily="34" charset="0"/>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a:solidFill>
                            <a:srgbClr val="FFFFFF"/>
                          </a:solidFill>
                          <a:effectLst/>
                          <a:latin typeface="Arial" panose="020B0604020202020204" pitchFamily="34" charset="0"/>
                        </a:rPr>
                        <a:t>$121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a:solidFill>
                            <a:srgbClr val="FFFFFF"/>
                          </a:solidFill>
                          <a:effectLst/>
                          <a:latin typeface="Arial" panose="020B0604020202020204" pitchFamily="34" charset="0"/>
                        </a:rPr>
                        <a:t>$501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extLst>
                  <a:ext uri="{0D108BD9-81ED-4DB2-BD59-A6C34878D82A}">
                    <a16:rowId xmlns:a16="http://schemas.microsoft.com/office/drawing/2014/main" val="652144576"/>
                  </a:ext>
                </a:extLst>
              </a:tr>
              <a:tr h="102382">
                <a:tc>
                  <a:txBody>
                    <a:bodyPr/>
                    <a:lstStyle/>
                    <a:p>
                      <a:pPr algn="l" fontAlgn="b"/>
                      <a:endParaRPr lang="en-US" sz="700" b="0" i="0" u="none" strike="noStrike">
                        <a:effectLst/>
                        <a:latin typeface="Arial" panose="020B0604020202020204" pitchFamily="34" charset="0"/>
                      </a:endParaRP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US" sz="700" b="0" i="0" u="none" strike="noStrike">
                        <a:effectLst/>
                        <a:latin typeface="Arial" panose="020B0604020202020204" pitchFamily="34" charset="0"/>
                      </a:endParaRP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US" sz="700" b="0" i="0" u="none" strike="noStrike">
                        <a:effectLst/>
                        <a:latin typeface="Arial" panose="020B0604020202020204" pitchFamily="34" charset="0"/>
                      </a:endParaRP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US" sz="700" b="0" i="0" u="none" strike="noStrike">
                        <a:effectLst/>
                        <a:latin typeface="Arial" panose="020B0604020202020204" pitchFamily="34" charset="0"/>
                      </a:endParaRP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228902086"/>
                  </a:ext>
                </a:extLst>
              </a:tr>
              <a:tr h="111032">
                <a:tc>
                  <a:txBody>
                    <a:bodyPr/>
                    <a:lstStyle/>
                    <a:p>
                      <a:pPr algn="ctr" fontAlgn="ctr"/>
                      <a:r>
                        <a:rPr lang="en-US" sz="700" b="1" i="0" u="none" strike="noStrike">
                          <a:solidFill>
                            <a:srgbClr val="FFFFFF"/>
                          </a:solidFill>
                          <a:effectLst/>
                          <a:latin typeface="Arial" panose="020B0604020202020204" pitchFamily="34" charset="0"/>
                        </a:rPr>
                        <a:t>Companies with CDHP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Plan Type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700" b="1" i="0" u="none" strike="noStrike">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652839940"/>
                  </a:ext>
                </a:extLst>
              </a:tr>
              <a:tr h="111032">
                <a:tc>
                  <a:txBody>
                    <a:bodyPr/>
                    <a:lstStyle/>
                    <a:p>
                      <a:pPr algn="ctr" fontAlgn="ctr"/>
                      <a:r>
                        <a:rPr lang="en-US" sz="700" b="0" i="0" u="none" strike="noStrike">
                          <a:effectLst/>
                          <a:latin typeface="Arial" panose="020B0604020202020204" pitchFamily="34" charset="0"/>
                        </a:rPr>
                        <a:t>RZ</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61743042"/>
                  </a:ext>
                </a:extLst>
              </a:tr>
              <a:tr h="111032">
                <a:tc>
                  <a:txBody>
                    <a:bodyPr/>
                    <a:lstStyle/>
                    <a:p>
                      <a:pPr algn="ctr" fontAlgn="ctr"/>
                      <a:r>
                        <a:rPr lang="en-US" sz="700" b="0" i="0" u="none" strike="noStrike">
                          <a:effectLst/>
                          <a:latin typeface="Arial" panose="020B0604020202020204" pitchFamily="34" charset="0"/>
                        </a:rPr>
                        <a:t>CF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34005655"/>
                  </a:ext>
                </a:extLst>
              </a:tr>
              <a:tr h="111032">
                <a:tc>
                  <a:txBody>
                    <a:bodyPr/>
                    <a:lstStyle/>
                    <a:p>
                      <a:pPr algn="ctr" fontAlgn="ctr"/>
                      <a:r>
                        <a:rPr lang="en-US" sz="700" b="0" i="0" u="none" strike="noStrike">
                          <a:effectLst/>
                          <a:latin typeface="Arial" panose="020B0604020202020204" pitchFamily="34" charset="0"/>
                        </a:rPr>
                        <a:t>GC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78540364"/>
                  </a:ext>
                </a:extLst>
              </a:tr>
              <a:tr h="111032">
                <a:tc>
                  <a:txBody>
                    <a:bodyPr/>
                    <a:lstStyle/>
                    <a:p>
                      <a:pPr algn="ctr" fontAlgn="ctr"/>
                      <a:r>
                        <a:rPr lang="en-US" sz="700" b="0" i="0" u="none" strike="noStrike">
                          <a:effectLst/>
                          <a:latin typeface="Arial" panose="020B0604020202020204" pitchFamily="34" charset="0"/>
                        </a:rPr>
                        <a:t>YM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627000492"/>
                  </a:ext>
                </a:extLst>
              </a:tr>
              <a:tr h="111032">
                <a:tc>
                  <a:txBody>
                    <a:bodyPr/>
                    <a:lstStyle/>
                    <a:p>
                      <a:pPr algn="ctr" fontAlgn="ctr"/>
                      <a:r>
                        <a:rPr lang="en-US" sz="700" b="0" i="0" u="none" strike="noStrike">
                          <a:effectLst/>
                          <a:latin typeface="Arial" panose="020B0604020202020204" pitchFamily="34" charset="0"/>
                        </a:rPr>
                        <a:t>FF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58187663"/>
                  </a:ext>
                </a:extLst>
              </a:tr>
              <a:tr h="111032">
                <a:tc>
                  <a:txBody>
                    <a:bodyPr/>
                    <a:lstStyle/>
                    <a:p>
                      <a:pPr algn="ctr" fontAlgn="ctr"/>
                      <a:r>
                        <a:rPr lang="en-US" sz="700" b="0" i="0" u="none" strike="noStrike">
                          <a:effectLst/>
                          <a:latin typeface="Arial" panose="020B0604020202020204" pitchFamily="34" charset="0"/>
                        </a:rPr>
                        <a:t>ZH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dirty="0">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73032923"/>
                  </a:ext>
                </a:extLst>
              </a:tr>
              <a:tr h="111032">
                <a:tc>
                  <a:txBody>
                    <a:bodyPr/>
                    <a:lstStyle/>
                    <a:p>
                      <a:pPr algn="ctr" fontAlgn="ctr"/>
                      <a:r>
                        <a:rPr lang="en-US" sz="700" b="0" i="0" u="none" strike="noStrike">
                          <a:effectLst/>
                          <a:latin typeface="Arial" panose="020B0604020202020204" pitchFamily="34" charset="0"/>
                        </a:rPr>
                        <a:t>GQ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$138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09793677"/>
                  </a:ext>
                </a:extLst>
              </a:tr>
              <a:tr h="111032">
                <a:tc>
                  <a:txBody>
                    <a:bodyPr/>
                    <a:lstStyle/>
                    <a:p>
                      <a:pPr algn="ctr" fontAlgn="ctr"/>
                      <a:r>
                        <a:rPr lang="en-US" sz="700" b="0" i="0" u="none" strike="noStrike">
                          <a:effectLst/>
                          <a:latin typeface="Arial" panose="020B0604020202020204" pitchFamily="34" charset="0"/>
                        </a:rPr>
                        <a:t>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$242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85438043"/>
                  </a:ext>
                </a:extLst>
              </a:tr>
              <a:tr h="111032">
                <a:tc>
                  <a:txBody>
                    <a:bodyPr/>
                    <a:lstStyle/>
                    <a:p>
                      <a:pPr algn="ctr" fontAlgn="ctr"/>
                      <a:r>
                        <a:rPr lang="en-US" sz="700" b="0" i="0" u="none" strike="noStrike">
                          <a:effectLst/>
                          <a:latin typeface="Arial" panose="020B0604020202020204" pitchFamily="34" charset="0"/>
                        </a:rPr>
                        <a:t>AI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$226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24279989"/>
                  </a:ext>
                </a:extLst>
              </a:tr>
              <a:tr h="111032">
                <a:tc>
                  <a:txBody>
                    <a:bodyPr/>
                    <a:lstStyle/>
                    <a:p>
                      <a:pPr algn="ctr" fontAlgn="ctr"/>
                      <a:r>
                        <a:rPr lang="en-US" sz="700" b="0" i="0" u="none" strike="noStrike">
                          <a:effectLst/>
                          <a:latin typeface="Arial" panose="020B0604020202020204" pitchFamily="34" charset="0"/>
                        </a:rPr>
                        <a:t>EO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dirty="0">
                          <a:effectLst/>
                          <a:latin typeface="Arial" panose="020B0604020202020204" pitchFamily="34" charset="0"/>
                        </a:rPr>
                        <a:t>$15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$44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39143643"/>
                  </a:ext>
                </a:extLst>
              </a:tr>
              <a:tr h="111032">
                <a:tc>
                  <a:txBody>
                    <a:bodyPr/>
                    <a:lstStyle/>
                    <a:p>
                      <a:pPr algn="ctr" fontAlgn="ctr"/>
                      <a:r>
                        <a:rPr lang="en-US" sz="700" b="1" i="0" u="none" strike="noStrike" dirty="0">
                          <a:effectLst/>
                          <a:latin typeface="Arial" panose="020B0604020202020204" pitchFamily="34" charset="0"/>
                        </a:rPr>
                        <a:t>AMD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
                      <a:r>
                        <a:rPr lang="en-US" sz="700" b="1" i="0" u="none" strike="noStrike" dirty="0">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
                      <a:r>
                        <a:rPr lang="en-US" sz="700" b="1" i="0" u="none" strike="noStrike" dirty="0">
                          <a:effectLst/>
                          <a:latin typeface="Arial" panose="020B0604020202020204" pitchFamily="34" charset="0"/>
                        </a:rPr>
                        <a:t>$21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fontAlgn="b"/>
                      <a:r>
                        <a:rPr lang="en-US" sz="700" b="1" i="0" u="none" strike="noStrike" dirty="0">
                          <a:effectLst/>
                          <a:latin typeface="Arial" panose="020B0604020202020204" pitchFamily="34" charset="0"/>
                        </a:rPr>
                        <a:t>$225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8909748"/>
                  </a:ext>
                </a:extLst>
              </a:tr>
              <a:tr h="111032">
                <a:tc>
                  <a:txBody>
                    <a:bodyPr/>
                    <a:lstStyle/>
                    <a:p>
                      <a:pPr algn="ctr" fontAlgn="ctr"/>
                      <a:r>
                        <a:rPr lang="en-US" sz="700" b="0" i="0" u="none" strike="noStrike">
                          <a:effectLst/>
                          <a:latin typeface="Arial" panose="020B0604020202020204" pitchFamily="34" charset="0"/>
                        </a:rPr>
                        <a:t>GK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$23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dirty="0">
                          <a:effectLst/>
                          <a:latin typeface="Arial" panose="020B0604020202020204" pitchFamily="34" charset="0"/>
                        </a:rPr>
                        <a:t>$277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01210838"/>
                  </a:ext>
                </a:extLst>
              </a:tr>
              <a:tr h="111032">
                <a:tc>
                  <a:txBody>
                    <a:bodyPr/>
                    <a:lstStyle/>
                    <a:p>
                      <a:pPr algn="ctr" fontAlgn="ctr"/>
                      <a:r>
                        <a:rPr lang="en-US" sz="700" b="0" i="0" u="none" strike="noStrike">
                          <a:effectLst/>
                          <a:latin typeface="Arial" panose="020B0604020202020204" pitchFamily="34" charset="0"/>
                        </a:rPr>
                        <a:t>OA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dirty="0">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$33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$126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162493394"/>
                  </a:ext>
                </a:extLst>
              </a:tr>
              <a:tr h="111032">
                <a:tc>
                  <a:txBody>
                    <a:bodyPr/>
                    <a:lstStyle/>
                    <a:p>
                      <a:pPr algn="ctr" fontAlgn="ctr"/>
                      <a:r>
                        <a:rPr lang="en-US" sz="700" b="0" i="0" u="none" strike="noStrike">
                          <a:effectLst/>
                          <a:latin typeface="Arial" panose="020B0604020202020204" pitchFamily="34" charset="0"/>
                        </a:rPr>
                        <a:t>DN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$43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$184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90556876"/>
                  </a:ext>
                </a:extLst>
              </a:tr>
              <a:tr h="111032">
                <a:tc>
                  <a:txBody>
                    <a:bodyPr/>
                    <a:lstStyle/>
                    <a:p>
                      <a:pPr algn="ctr" fontAlgn="ctr"/>
                      <a:r>
                        <a:rPr lang="en-US" sz="700" b="0" i="0" u="none" strike="noStrike">
                          <a:effectLst/>
                          <a:latin typeface="Arial" panose="020B0604020202020204" pitchFamily="34" charset="0"/>
                        </a:rPr>
                        <a:t>BV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$47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$224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48716074"/>
                  </a:ext>
                </a:extLst>
              </a:tr>
              <a:tr h="111032">
                <a:tc>
                  <a:txBody>
                    <a:bodyPr/>
                    <a:lstStyle/>
                    <a:p>
                      <a:pPr algn="ctr" fontAlgn="ctr"/>
                      <a:r>
                        <a:rPr lang="en-US" sz="700" b="0" i="0" u="none" strike="noStrike">
                          <a:effectLst/>
                          <a:latin typeface="Arial" panose="020B0604020202020204" pitchFamily="34" charset="0"/>
                        </a:rPr>
                        <a:t>MG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$47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$234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62955304"/>
                  </a:ext>
                </a:extLst>
              </a:tr>
              <a:tr h="111032">
                <a:tc>
                  <a:txBody>
                    <a:bodyPr/>
                    <a:lstStyle/>
                    <a:p>
                      <a:pPr algn="ctr" fontAlgn="ctr"/>
                      <a:r>
                        <a:rPr lang="en-US" sz="700" b="0" i="0" u="none" strike="noStrike">
                          <a:effectLst/>
                          <a:latin typeface="Arial" panose="020B0604020202020204" pitchFamily="34" charset="0"/>
                        </a:rPr>
                        <a:t>WQ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$47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$237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49988284"/>
                  </a:ext>
                </a:extLst>
              </a:tr>
              <a:tr h="111032">
                <a:tc>
                  <a:txBody>
                    <a:bodyPr/>
                    <a:lstStyle/>
                    <a:p>
                      <a:pPr algn="ctr" fontAlgn="ctr"/>
                      <a:r>
                        <a:rPr lang="en-US" sz="700" b="0" i="0" u="none" strike="noStrike">
                          <a:effectLst/>
                          <a:latin typeface="Arial" panose="020B0604020202020204" pitchFamily="34" charset="0"/>
                        </a:rPr>
                        <a:t>OU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dirty="0">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$50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$296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94553106"/>
                  </a:ext>
                </a:extLst>
              </a:tr>
              <a:tr h="111032">
                <a:tc>
                  <a:txBody>
                    <a:bodyPr/>
                    <a:lstStyle/>
                    <a:p>
                      <a:pPr algn="ctr" fontAlgn="ctr"/>
                      <a:r>
                        <a:rPr lang="en-US" sz="700" b="0" i="0" u="none" strike="noStrike">
                          <a:effectLst/>
                          <a:latin typeface="Arial" panose="020B0604020202020204" pitchFamily="34" charset="0"/>
                        </a:rPr>
                        <a:t>QR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$56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$280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07255861"/>
                  </a:ext>
                </a:extLst>
              </a:tr>
              <a:tr h="111032">
                <a:tc>
                  <a:txBody>
                    <a:bodyPr/>
                    <a:lstStyle/>
                    <a:p>
                      <a:pPr algn="ctr" fontAlgn="ctr"/>
                      <a:r>
                        <a:rPr lang="en-US" sz="700" b="0" i="0" u="none" strike="noStrike">
                          <a:effectLst/>
                          <a:latin typeface="Arial" panose="020B0604020202020204" pitchFamily="34" charset="0"/>
                        </a:rPr>
                        <a:t>CL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$59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$355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082650651"/>
                  </a:ext>
                </a:extLst>
              </a:tr>
              <a:tr h="111032">
                <a:tc>
                  <a:txBody>
                    <a:bodyPr/>
                    <a:lstStyle/>
                    <a:p>
                      <a:pPr algn="ctr" fontAlgn="ctr"/>
                      <a:r>
                        <a:rPr lang="en-US" sz="700" b="0" i="0" u="none" strike="noStrike">
                          <a:effectLst/>
                          <a:latin typeface="Arial" panose="020B0604020202020204" pitchFamily="34" charset="0"/>
                        </a:rPr>
                        <a:t>TN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$65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$221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56922639"/>
                  </a:ext>
                </a:extLst>
              </a:tr>
              <a:tr h="111032">
                <a:tc>
                  <a:txBody>
                    <a:bodyPr/>
                    <a:lstStyle/>
                    <a:p>
                      <a:pPr algn="ctr" fontAlgn="ctr"/>
                      <a:r>
                        <a:rPr lang="en-US" sz="700" b="0" i="0" u="none" strike="noStrike">
                          <a:effectLst/>
                          <a:latin typeface="Arial" panose="020B0604020202020204" pitchFamily="34" charset="0"/>
                        </a:rPr>
                        <a:t>DO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$67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$196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56531204"/>
                  </a:ext>
                </a:extLst>
              </a:tr>
              <a:tr h="111032">
                <a:tc>
                  <a:txBody>
                    <a:bodyPr/>
                    <a:lstStyle/>
                    <a:p>
                      <a:pPr algn="ctr" fontAlgn="ctr"/>
                      <a:r>
                        <a:rPr lang="en-US" sz="700" b="0" i="0" u="none" strike="noStrike">
                          <a:effectLst/>
                          <a:latin typeface="Arial" panose="020B0604020202020204" pitchFamily="34" charset="0"/>
                        </a:rPr>
                        <a:t>UY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$70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$285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16675239"/>
                  </a:ext>
                </a:extLst>
              </a:tr>
              <a:tr h="111032">
                <a:tc>
                  <a:txBody>
                    <a:bodyPr/>
                    <a:lstStyle/>
                    <a:p>
                      <a:pPr algn="ctr" fontAlgn="ctr"/>
                      <a:r>
                        <a:rPr lang="en-US" sz="700" b="0" i="0" u="none" strike="noStrike">
                          <a:effectLst/>
                          <a:latin typeface="Arial" panose="020B0604020202020204" pitchFamily="34" charset="0"/>
                        </a:rPr>
                        <a:t>XE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$71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$357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92826016"/>
                  </a:ext>
                </a:extLst>
              </a:tr>
              <a:tr h="111032">
                <a:tc>
                  <a:txBody>
                    <a:bodyPr/>
                    <a:lstStyle/>
                    <a:p>
                      <a:pPr algn="ctr" fontAlgn="ctr"/>
                      <a:r>
                        <a:rPr lang="en-US" sz="700" b="0" i="0" u="none" strike="noStrike">
                          <a:effectLst/>
                          <a:latin typeface="Arial" panose="020B0604020202020204" pitchFamily="34" charset="0"/>
                        </a:rPr>
                        <a:t>BR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$76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$412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6813830"/>
                  </a:ext>
                </a:extLst>
              </a:tr>
              <a:tr h="111032">
                <a:tc>
                  <a:txBody>
                    <a:bodyPr/>
                    <a:lstStyle/>
                    <a:p>
                      <a:pPr algn="ctr" fontAlgn="ctr"/>
                      <a:r>
                        <a:rPr lang="en-US" sz="700" b="0" i="0" u="none" strike="noStrike">
                          <a:effectLst/>
                          <a:latin typeface="Arial" panose="020B0604020202020204" pitchFamily="34" charset="0"/>
                        </a:rPr>
                        <a:t>FM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$80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$284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29653757"/>
                  </a:ext>
                </a:extLst>
              </a:tr>
              <a:tr h="111032">
                <a:tc>
                  <a:txBody>
                    <a:bodyPr/>
                    <a:lstStyle/>
                    <a:p>
                      <a:pPr algn="ctr" fontAlgn="ctr"/>
                      <a:r>
                        <a:rPr lang="en-US" sz="700" b="0" i="0" u="none" strike="noStrike">
                          <a:effectLst/>
                          <a:latin typeface="Arial" panose="020B0604020202020204" pitchFamily="34" charset="0"/>
                        </a:rPr>
                        <a:t>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$82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$322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13927963"/>
                  </a:ext>
                </a:extLst>
              </a:tr>
              <a:tr h="111032">
                <a:tc>
                  <a:txBody>
                    <a:bodyPr/>
                    <a:lstStyle/>
                    <a:p>
                      <a:pPr algn="ctr" fontAlgn="ctr"/>
                      <a:r>
                        <a:rPr lang="en-US" sz="700" b="0" i="0" u="none" strike="noStrike">
                          <a:effectLst/>
                          <a:latin typeface="Arial" panose="020B0604020202020204" pitchFamily="34" charset="0"/>
                        </a:rPr>
                        <a:t>LB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$85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$274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99504771"/>
                  </a:ext>
                </a:extLst>
              </a:tr>
              <a:tr h="111032">
                <a:tc>
                  <a:txBody>
                    <a:bodyPr/>
                    <a:lstStyle/>
                    <a:p>
                      <a:pPr algn="ctr" fontAlgn="ctr"/>
                      <a:r>
                        <a:rPr lang="en-US" sz="700" b="0" i="0" u="none" strike="noStrike">
                          <a:effectLst/>
                          <a:latin typeface="Arial" panose="020B0604020202020204" pitchFamily="34" charset="0"/>
                        </a:rPr>
                        <a:t>NH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$90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$276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54525056"/>
                  </a:ext>
                </a:extLst>
              </a:tr>
              <a:tr h="111032">
                <a:tc>
                  <a:txBody>
                    <a:bodyPr/>
                    <a:lstStyle/>
                    <a:p>
                      <a:pPr algn="ctr" fontAlgn="ctr"/>
                      <a:r>
                        <a:rPr lang="en-US" sz="700" b="0" i="0" u="none" strike="noStrike">
                          <a:effectLst/>
                          <a:latin typeface="Arial" panose="020B0604020202020204" pitchFamily="34" charset="0"/>
                        </a:rPr>
                        <a:t>NP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$95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$295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71791855"/>
                  </a:ext>
                </a:extLst>
              </a:tr>
              <a:tr h="111032">
                <a:tc>
                  <a:txBody>
                    <a:bodyPr/>
                    <a:lstStyle/>
                    <a:p>
                      <a:pPr algn="ctr" fontAlgn="ctr"/>
                      <a:r>
                        <a:rPr lang="en-US" sz="700" b="0" i="0" u="none" strike="noStrike">
                          <a:effectLst/>
                          <a:latin typeface="Arial" panose="020B0604020202020204" pitchFamily="34" charset="0"/>
                        </a:rPr>
                        <a:t>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$96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$353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520201048"/>
                  </a:ext>
                </a:extLst>
              </a:tr>
              <a:tr h="111032">
                <a:tc>
                  <a:txBody>
                    <a:bodyPr/>
                    <a:lstStyle/>
                    <a:p>
                      <a:pPr algn="ctr" fontAlgn="ctr"/>
                      <a:r>
                        <a:rPr lang="en-US" sz="700" b="0" i="0" u="none" strike="noStrike">
                          <a:effectLst/>
                          <a:latin typeface="Arial" panose="020B0604020202020204" pitchFamily="34" charset="0"/>
                        </a:rPr>
                        <a:t>LS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$98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$389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17573954"/>
                  </a:ext>
                </a:extLst>
              </a:tr>
              <a:tr h="111032">
                <a:tc>
                  <a:txBody>
                    <a:bodyPr/>
                    <a:lstStyle/>
                    <a:p>
                      <a:pPr algn="ctr" fontAlgn="ctr"/>
                      <a:r>
                        <a:rPr lang="en-US" sz="700" b="0" i="0" u="none" strike="noStrike">
                          <a:effectLst/>
                          <a:latin typeface="Arial" panose="020B0604020202020204" pitchFamily="34" charset="0"/>
                        </a:rPr>
                        <a:t>TB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$99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$339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6705893"/>
                  </a:ext>
                </a:extLst>
              </a:tr>
              <a:tr h="111032">
                <a:tc>
                  <a:txBody>
                    <a:bodyPr/>
                    <a:lstStyle/>
                    <a:p>
                      <a:pPr algn="ctr" fontAlgn="ctr"/>
                      <a:r>
                        <a:rPr lang="en-US" sz="700" b="0" i="0" u="none" strike="noStrike">
                          <a:effectLst/>
                          <a:latin typeface="Arial" panose="020B0604020202020204" pitchFamily="34" charset="0"/>
                        </a:rPr>
                        <a:t>JW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$100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$363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02257484"/>
                  </a:ext>
                </a:extLst>
              </a:tr>
              <a:tr h="111032">
                <a:tc>
                  <a:txBody>
                    <a:bodyPr/>
                    <a:lstStyle/>
                    <a:p>
                      <a:pPr algn="ctr" fontAlgn="ctr"/>
                      <a:r>
                        <a:rPr lang="en-US" sz="700" b="0" i="0" u="none" strike="noStrike">
                          <a:effectLst/>
                          <a:latin typeface="Arial" panose="020B0604020202020204" pitchFamily="34" charset="0"/>
                        </a:rPr>
                        <a:t>JV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$105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$377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34894562"/>
                  </a:ext>
                </a:extLst>
              </a:tr>
              <a:tr h="111032">
                <a:tc>
                  <a:txBody>
                    <a:bodyPr/>
                    <a:lstStyle/>
                    <a:p>
                      <a:pPr algn="ctr" fontAlgn="ctr"/>
                      <a:r>
                        <a:rPr lang="en-US" sz="700" b="0" i="0" u="none" strike="noStrike">
                          <a:effectLst/>
                          <a:latin typeface="Arial" panose="020B0604020202020204" pitchFamily="34" charset="0"/>
                        </a:rPr>
                        <a:t>VS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(HSA)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$134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dirty="0">
                          <a:effectLst/>
                          <a:latin typeface="Arial" panose="020B0604020202020204" pitchFamily="34" charset="0"/>
                        </a:rPr>
                        <a:t>$469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6609611"/>
                  </a:ext>
                </a:extLst>
              </a:tr>
              <a:tr h="111032">
                <a:tc>
                  <a:txBody>
                    <a:bodyPr/>
                    <a:lstStyle/>
                    <a:p>
                      <a:pPr algn="ctr" fontAlgn="ctr"/>
                      <a:r>
                        <a:rPr lang="en-US" sz="700" b="0" i="0" u="none" strike="noStrike">
                          <a:effectLst/>
                          <a:latin typeface="Arial" panose="020B0604020202020204" pitchFamily="34" charset="0"/>
                        </a:rPr>
                        <a:t>IP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CDHP (HRA)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$134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b"/>
                      <a:r>
                        <a:rPr lang="en-US" sz="700" b="0" i="0" u="none" strike="noStrike">
                          <a:effectLst/>
                          <a:latin typeface="Arial" panose="020B0604020202020204" pitchFamily="34" charset="0"/>
                        </a:rPr>
                        <a:t>$499 </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66691580"/>
                  </a:ext>
                </a:extLst>
              </a:tr>
              <a:tr h="111032">
                <a:tc>
                  <a:txBody>
                    <a:bodyPr/>
                    <a:lstStyle/>
                    <a:p>
                      <a:pPr algn="ctr" fontAlgn="ctr"/>
                      <a:r>
                        <a:rPr lang="en-US" sz="700" b="1" i="0" u="none" strike="noStrike">
                          <a:solidFill>
                            <a:srgbClr val="FFFFFF"/>
                          </a:solidFill>
                          <a:effectLst/>
                          <a:latin typeface="Arial" panose="020B0604020202020204" pitchFamily="34" charset="0"/>
                        </a:rPr>
                        <a:t>Average Contribution (CDHP)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a:solidFill>
                            <a:srgbClr val="FFFFFF"/>
                          </a:solidFill>
                          <a:effectLst/>
                          <a:latin typeface="Arial" panose="020B0604020202020204" pitchFamily="34" charset="0"/>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a:solidFill>
                            <a:srgbClr val="FFFFFF"/>
                          </a:solidFill>
                          <a:effectLst/>
                          <a:latin typeface="Arial" panose="020B0604020202020204" pitchFamily="34" charset="0"/>
                        </a:rPr>
                        <a:t>$54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700" b="1" i="0" u="none" strike="noStrike" dirty="0">
                          <a:solidFill>
                            <a:srgbClr val="FFFFFF"/>
                          </a:solidFill>
                          <a:effectLst/>
                          <a:latin typeface="Arial" panose="020B0604020202020204" pitchFamily="34" charset="0"/>
                        </a:rPr>
                        <a:t>$238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extLst>
                  <a:ext uri="{0D108BD9-81ED-4DB2-BD59-A6C34878D82A}">
                    <a16:rowId xmlns:a16="http://schemas.microsoft.com/office/drawing/2014/main" val="1441988404"/>
                  </a:ext>
                </a:extLst>
              </a:tr>
            </a:tbl>
          </a:graphicData>
        </a:graphic>
      </p:graphicFrame>
    </p:spTree>
    <p:custDataLst>
      <p:tags r:id="rId1"/>
    </p:custDataLst>
    <p:extLst>
      <p:ext uri="{BB962C8B-B14F-4D97-AF65-F5344CB8AC3E}">
        <p14:creationId xmlns:p14="http://schemas.microsoft.com/office/powerpoint/2010/main" val="1911665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N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Active Dental Benefits</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17</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DEN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1748605973"/>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DEN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1792096187"/>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66552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ENTex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Dental Benefits (Plan Design)</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526627"/>
            <a:ext cx="8229600" cy="4389120"/>
          </a:xfrm>
        </p:spPr>
        <p:txBody>
          <a:bodyPr/>
          <a:lstStyle/>
          <a:p>
            <a:pPr lvl="2"/>
            <a:r>
              <a:rPr lang="en-US" sz="1200" dirty="0"/>
              <a:t>{{COMPANY1}} ranks {{RANK1}} in employer-provided value ({{PERC1}}% of average) and {{RANK2}} in total value ({{PERC2}}%) for dental benefits	</a:t>
            </a:r>
          </a:p>
          <a:p>
            <a:pPr lvl="2"/>
            <a:r>
              <a:rPr lang="en-US" sz="1200" dirty="0"/>
              <a:t>The chart below summarizes the key plan design features for the most prevalent dental plan design within the {{COMPANY1}} peer group:</a:t>
            </a:r>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18</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dirty="0"/>
              <a:t>© 2020 Willis Towers Watson. All rights reserved. Proprietary and Confidential. For Willis Towers Watson and Willis Towers Watson client use only.</a:t>
            </a:r>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10" name="DT1_Table1">
            <a:extLst>
              <a:ext uri="{FF2B5EF4-FFF2-40B4-BE49-F238E27FC236}">
                <a16:creationId xmlns:a16="http://schemas.microsoft.com/office/drawing/2014/main" id="{64ABDB8C-C425-4184-916C-287A3B760E8A}"/>
              </a:ext>
            </a:extLst>
          </p:cNvPr>
          <p:cNvGraphicFramePr>
            <a:graphicFrameLocks noGrp="1"/>
          </p:cNvGraphicFramePr>
          <p:nvPr>
            <p:extLst>
              <p:ext uri="{D42A27DB-BD31-4B8C-83A1-F6EECF244321}">
                <p14:modId xmlns:p14="http://schemas.microsoft.com/office/powerpoint/2010/main" val="319912571"/>
              </p:ext>
            </p:extLst>
          </p:nvPr>
        </p:nvGraphicFramePr>
        <p:xfrm>
          <a:off x="457200" y="2401530"/>
          <a:ext cx="8229606" cy="3690720"/>
        </p:xfrm>
        <a:graphic>
          <a:graphicData uri="http://schemas.openxmlformats.org/drawingml/2006/table">
            <a:tbl>
              <a:tblPr/>
              <a:tblGrid>
                <a:gridCol w="2442754">
                  <a:extLst>
                    <a:ext uri="{9D8B030D-6E8A-4147-A177-3AD203B41FA5}">
                      <a16:colId xmlns:a16="http://schemas.microsoft.com/office/drawing/2014/main" val="4127340250"/>
                    </a:ext>
                  </a:extLst>
                </a:gridCol>
                <a:gridCol w="1446713">
                  <a:extLst>
                    <a:ext uri="{9D8B030D-6E8A-4147-A177-3AD203B41FA5}">
                      <a16:colId xmlns:a16="http://schemas.microsoft.com/office/drawing/2014/main" val="3209786819"/>
                    </a:ext>
                  </a:extLst>
                </a:gridCol>
                <a:gridCol w="1446713">
                  <a:extLst>
                    <a:ext uri="{9D8B030D-6E8A-4147-A177-3AD203B41FA5}">
                      <a16:colId xmlns:a16="http://schemas.microsoft.com/office/drawing/2014/main" val="59968569"/>
                    </a:ext>
                  </a:extLst>
                </a:gridCol>
                <a:gridCol w="1446713">
                  <a:extLst>
                    <a:ext uri="{9D8B030D-6E8A-4147-A177-3AD203B41FA5}">
                      <a16:colId xmlns:a16="http://schemas.microsoft.com/office/drawing/2014/main" val="3996072614"/>
                    </a:ext>
                  </a:extLst>
                </a:gridCol>
                <a:gridCol w="1446713">
                  <a:extLst>
                    <a:ext uri="{9D8B030D-6E8A-4147-A177-3AD203B41FA5}">
                      <a16:colId xmlns:a16="http://schemas.microsoft.com/office/drawing/2014/main" val="763623560"/>
                    </a:ext>
                  </a:extLst>
                </a:gridCol>
              </a:tblGrid>
              <a:tr h="201759">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Arial" panose="020B0604020202020204" pitchFamily="34" charset="0"/>
                        </a:rPr>
                        <a:t>Plan Feature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gridSpan="2">
                  <a:txBody>
                    <a:bodyPr/>
                    <a:lstStyle/>
                    <a:p>
                      <a:pPr algn="ctr" fontAlgn="ctr"/>
                      <a:r>
                        <a:rPr lang="en-US" sz="1000" b="1" i="0" u="none" strike="noStrike" dirty="0">
                          <a:solidFill>
                            <a:srgbClr val="FF0000"/>
                          </a:solidFill>
                          <a:effectLst/>
                          <a:latin typeface="Arial" panose="020B0604020202020204" pitchFamily="34" charset="0"/>
                        </a:rPr>
                        <a:t>AMD's</a:t>
                      </a:r>
                      <a:r>
                        <a:rPr lang="en-US" sz="1000" b="1" i="0" u="none" strike="noStrike" dirty="0">
                          <a:solidFill>
                            <a:srgbClr val="FFFFFF"/>
                          </a:solidFill>
                          <a:effectLst/>
                          <a:latin typeface="Arial" panose="020B0604020202020204" pitchFamily="34" charset="0"/>
                        </a:rPr>
                        <a:t> Dental Plan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tc>
                <a:tc gridSpan="2">
                  <a:txBody>
                    <a:bodyPr/>
                    <a:lstStyle/>
                    <a:p>
                      <a:pPr algn="ctr" fontAlgn="ctr"/>
                      <a:r>
                        <a:rPr lang="en-US" sz="1000" b="1" i="0" u="none" strike="noStrike" dirty="0">
                          <a:solidFill>
                            <a:srgbClr val="FFFFFF"/>
                          </a:solidFill>
                          <a:effectLst/>
                          <a:latin typeface="Arial" panose="020B0604020202020204" pitchFamily="34" charset="0"/>
                        </a:rPr>
                        <a:t>Typical Peer Group Company Plan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tc hMerge="1">
                  <a:txBody>
                    <a:bodyPr/>
                    <a:lstStyle/>
                    <a:p>
                      <a:endParaRPr lang="en-US"/>
                    </a:p>
                  </a:txBody>
                  <a:tcPr/>
                </a:tc>
                <a:extLst>
                  <a:ext uri="{0D108BD9-81ED-4DB2-BD59-A6C34878D82A}">
                    <a16:rowId xmlns:a16="http://schemas.microsoft.com/office/drawing/2014/main" val="3349862725"/>
                  </a:ext>
                </a:extLst>
              </a:tr>
              <a:tr h="201759">
                <a:tc vMerge="1">
                  <a:txBody>
                    <a:bodyPr/>
                    <a:lstStyle/>
                    <a:p>
                      <a:endParaRPr lang="en-US" dirty="0"/>
                    </a:p>
                  </a:txBody>
                  <a:tcPr/>
                </a:tc>
                <a:tc>
                  <a:txBody>
                    <a:bodyPr/>
                    <a:lstStyle/>
                    <a:p>
                      <a:pPr algn="ctr" fontAlgn="ctr"/>
                      <a:r>
                        <a:rPr lang="en-US" sz="1000" b="1" i="0" u="none" strike="noStrike">
                          <a:solidFill>
                            <a:srgbClr val="FFFFFF"/>
                          </a:solidFill>
                          <a:effectLst/>
                          <a:latin typeface="Arial" panose="020B0604020202020204" pitchFamily="34" charset="0"/>
                        </a:rPr>
                        <a:t>In-Network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Out-of-Network*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In-Network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tc>
                  <a:txBody>
                    <a:bodyPr/>
                    <a:lstStyle/>
                    <a:p>
                      <a:pPr algn="ctr" fontAlgn="ctr"/>
                      <a:r>
                        <a:rPr lang="en-US" sz="1000" b="1" i="0" u="none" strike="noStrike" dirty="0">
                          <a:solidFill>
                            <a:srgbClr val="FFFFFF"/>
                          </a:solidFill>
                          <a:effectLst/>
                          <a:latin typeface="Arial" panose="020B0604020202020204" pitchFamily="34" charset="0"/>
                        </a:rPr>
                        <a:t>Out-of-Network*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3044625068"/>
                  </a:ext>
                </a:extLst>
              </a:tr>
              <a:tr h="193733">
                <a:tc>
                  <a:txBody>
                    <a:bodyPr/>
                    <a:lstStyle/>
                    <a:p>
                      <a:pPr algn="l" fontAlgn="ctr"/>
                      <a:r>
                        <a:rPr lang="en-US" sz="1000" b="1" i="0" u="none" strike="noStrike" dirty="0">
                          <a:solidFill>
                            <a:srgbClr val="000000"/>
                          </a:solidFill>
                          <a:effectLst/>
                          <a:latin typeface="Arial" panose="020B0604020202020204" pitchFamily="34" charset="0"/>
                        </a:rPr>
                        <a:t>Individual Deductible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effectLst/>
                          <a:latin typeface="Arial" panose="020B0604020202020204" pitchFamily="34" charset="0"/>
                        </a:rPr>
                        <a:t>$50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effectLst/>
                          <a:latin typeface="Arial" panose="020B0604020202020204" pitchFamily="34" charset="0"/>
                        </a:rPr>
                        <a:t>$50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1892642060"/>
                  </a:ext>
                </a:extLst>
              </a:tr>
              <a:tr h="193733">
                <a:tc>
                  <a:txBody>
                    <a:bodyPr/>
                    <a:lstStyle/>
                    <a:p>
                      <a:pPr algn="l" fontAlgn="ctr"/>
                      <a:r>
                        <a:rPr lang="en-US" sz="1000" b="1" i="0" u="none" strike="noStrike" dirty="0">
                          <a:solidFill>
                            <a:srgbClr val="000000"/>
                          </a:solidFill>
                          <a:effectLst/>
                          <a:latin typeface="Arial" panose="020B0604020202020204" pitchFamily="34" charset="0"/>
                        </a:rPr>
                        <a:t>Family Deductible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effectLst/>
                          <a:latin typeface="Arial" panose="020B0604020202020204" pitchFamily="34" charset="0"/>
                        </a:rPr>
                        <a:t>$150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a:effectLst/>
                          <a:latin typeface="Arial" panose="020B0604020202020204" pitchFamily="34" charset="0"/>
                        </a:rPr>
                        <a:t>$150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4022098807"/>
                  </a:ext>
                </a:extLst>
              </a:tr>
              <a:tr h="379115">
                <a:tc>
                  <a:txBody>
                    <a:bodyPr/>
                    <a:lstStyle/>
                    <a:p>
                      <a:pPr algn="l" fontAlgn="ctr"/>
                      <a:r>
                        <a:rPr lang="en-US" sz="1000" b="1" i="0" u="none" strike="noStrike" dirty="0">
                          <a:solidFill>
                            <a:srgbClr val="000000"/>
                          </a:solidFill>
                          <a:effectLst/>
                          <a:latin typeface="Arial" panose="020B0604020202020204" pitchFamily="34" charset="0"/>
                        </a:rPr>
                        <a:t>Annual Maximum</a:t>
                      </a:r>
                      <a:br>
                        <a:rPr lang="en-US" sz="1000" b="1" i="0" u="none" strike="noStrike" dirty="0">
                          <a:solidFill>
                            <a:srgbClr val="000000"/>
                          </a:solidFill>
                          <a:effectLst/>
                          <a:latin typeface="Arial" panose="020B0604020202020204" pitchFamily="34" charset="0"/>
                        </a:rPr>
                      </a:br>
                      <a:r>
                        <a:rPr lang="en-US" sz="1000" b="1" i="0" u="none" strike="noStrike" dirty="0">
                          <a:solidFill>
                            <a:srgbClr val="000000"/>
                          </a:solidFill>
                          <a:effectLst/>
                          <a:latin typeface="Arial" panose="020B0604020202020204" pitchFamily="34" charset="0"/>
                        </a:rPr>
                        <a:t>(Per Person)</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effectLst/>
                          <a:latin typeface="Arial" panose="020B0604020202020204" pitchFamily="34" charset="0"/>
                        </a:rPr>
                        <a:t>$2,000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a:effectLst/>
                          <a:latin typeface="Arial" panose="020B0604020202020204" pitchFamily="34" charset="0"/>
                        </a:rPr>
                        <a:t>$2,000 – $2,500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1451922921"/>
                  </a:ext>
                </a:extLst>
              </a:tr>
              <a:tr h="195825">
                <a:tc>
                  <a:txBody>
                    <a:bodyPr/>
                    <a:lstStyle/>
                    <a:p>
                      <a:pPr algn="l" fontAlgn="ctr"/>
                      <a:r>
                        <a:rPr lang="en-US" sz="1000" b="1" i="0" u="none" strike="noStrike" dirty="0">
                          <a:solidFill>
                            <a:srgbClr val="000000"/>
                          </a:solidFill>
                          <a:effectLst/>
                          <a:latin typeface="Arial" panose="020B0604020202020204" pitchFamily="34" charset="0"/>
                        </a:rPr>
                        <a:t>Preventive Care Coinsurance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 before deductible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 before deductible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59539716"/>
                  </a:ext>
                </a:extLst>
              </a:tr>
              <a:tr h="193733">
                <a:tc>
                  <a:txBody>
                    <a:bodyPr/>
                    <a:lstStyle/>
                    <a:p>
                      <a:pPr algn="l" fontAlgn="ctr"/>
                      <a:r>
                        <a:rPr lang="en-US" sz="1000" b="1" i="0" u="none" strike="noStrike">
                          <a:solidFill>
                            <a:srgbClr val="000000"/>
                          </a:solidFill>
                          <a:effectLst/>
                          <a:latin typeface="Arial" panose="020B0604020202020204" pitchFamily="34" charset="0"/>
                        </a:rPr>
                        <a:t>Basic Care Coinsurance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80% – 90%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45000255"/>
                  </a:ext>
                </a:extLst>
              </a:tr>
              <a:tr h="193733">
                <a:tc>
                  <a:txBody>
                    <a:bodyPr/>
                    <a:lstStyle/>
                    <a:p>
                      <a:pPr algn="l" fontAlgn="ctr"/>
                      <a:r>
                        <a:rPr lang="en-US" sz="1000" b="1" i="0" u="none" strike="noStrike">
                          <a:solidFill>
                            <a:srgbClr val="000000"/>
                          </a:solidFill>
                          <a:effectLst/>
                          <a:latin typeface="Arial" panose="020B0604020202020204" pitchFamily="34" charset="0"/>
                        </a:rPr>
                        <a:t>Major Care Coinsurance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 – 60%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77859746"/>
                  </a:ext>
                </a:extLst>
              </a:tr>
              <a:tr h="193733">
                <a:tc>
                  <a:txBody>
                    <a:bodyPr/>
                    <a:lstStyle/>
                    <a:p>
                      <a:pPr algn="l" fontAlgn="ctr"/>
                      <a:r>
                        <a:rPr lang="en-US" sz="1000" b="1" i="0" u="none" strike="noStrike">
                          <a:solidFill>
                            <a:srgbClr val="000000"/>
                          </a:solidFill>
                          <a:effectLst/>
                          <a:latin typeface="Arial" panose="020B0604020202020204" pitchFamily="34" charset="0"/>
                        </a:rPr>
                        <a:t>Orthodontia Coinsurance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41806536"/>
                  </a:ext>
                </a:extLst>
              </a:tr>
              <a:tr h="193733">
                <a:tc>
                  <a:txBody>
                    <a:bodyPr/>
                    <a:lstStyle/>
                    <a:p>
                      <a:pPr algn="l" fontAlgn="ctr"/>
                      <a:r>
                        <a:rPr lang="en-US" sz="1000" b="1" i="0" u="none" strike="noStrike" dirty="0">
                          <a:solidFill>
                            <a:srgbClr val="000000"/>
                          </a:solidFill>
                          <a:effectLst/>
                          <a:latin typeface="Arial" panose="020B0604020202020204" pitchFamily="34" charset="0"/>
                        </a:rPr>
                        <a:t>Orthodontia Coverage</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a:effectLst/>
                          <a:latin typeface="Arial" panose="020B0604020202020204" pitchFamily="34" charset="0"/>
                        </a:rPr>
                        <a:t>Adult and Child Ortho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effectLst/>
                          <a:latin typeface="Arial" panose="020B0604020202020204" pitchFamily="34" charset="0"/>
                        </a:rPr>
                        <a:t>Adult and Child Ortho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56531648"/>
                  </a:ext>
                </a:extLst>
              </a:tr>
              <a:tr h="193733">
                <a:tc>
                  <a:txBody>
                    <a:bodyPr/>
                    <a:lstStyle/>
                    <a:p>
                      <a:pPr algn="l" fontAlgn="ctr"/>
                      <a:r>
                        <a:rPr lang="en-US" sz="1000" b="1" i="0" u="none" strike="noStrike" dirty="0">
                          <a:solidFill>
                            <a:srgbClr val="000000"/>
                          </a:solidFill>
                          <a:effectLst/>
                          <a:latin typeface="Arial" panose="020B0604020202020204" pitchFamily="34" charset="0"/>
                        </a:rPr>
                        <a:t>Orthodontia Lifetime Maximum</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effectLst/>
                          <a:latin typeface="Arial" panose="020B0604020202020204" pitchFamily="34" charset="0"/>
                        </a:rPr>
                        <a:t>$2,000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FE0E1"/>
                    </a:solidFill>
                  </a:tcPr>
                </a:tc>
                <a:tc hMerge="1">
                  <a:txBody>
                    <a:bodyPr/>
                    <a:lstStyle/>
                    <a:p>
                      <a:endParaRPr lang="en-US"/>
                    </a:p>
                  </a:txBody>
                  <a:tcPr/>
                </a:tc>
                <a:tc>
                  <a:txBody>
                    <a:bodyPr/>
                    <a:lstStyle/>
                    <a:p>
                      <a:pPr algn="ctr" fontAlgn="ctr"/>
                      <a:r>
                        <a:rPr lang="en-US" sz="1000" b="0" i="0" u="none" strike="noStrike" dirty="0">
                          <a:effectLst/>
                          <a:latin typeface="Arial" panose="020B0604020202020204" pitchFamily="34" charset="0"/>
                        </a:rPr>
                        <a:t>$2,000 – $2,500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$1,500 – $2,500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FE0E1"/>
                    </a:solidFill>
                  </a:tcPr>
                </a:tc>
                <a:extLst>
                  <a:ext uri="{0D108BD9-81ED-4DB2-BD59-A6C34878D82A}">
                    <a16:rowId xmlns:a16="http://schemas.microsoft.com/office/drawing/2014/main" val="3360209216"/>
                  </a:ext>
                </a:extLst>
              </a:tr>
              <a:tr h="193733">
                <a:tc>
                  <a:txBody>
                    <a:bodyPr/>
                    <a:lstStyle/>
                    <a:p>
                      <a:pPr algn="l" fontAlgn="ctr"/>
                      <a:r>
                        <a:rPr lang="en-US" sz="1000" b="1" i="1" u="none" strike="noStrike" dirty="0">
                          <a:solidFill>
                            <a:srgbClr val="000000"/>
                          </a:solidFill>
                          <a:effectLst/>
                          <a:latin typeface="Arial" panose="020B0604020202020204" pitchFamily="34" charset="0"/>
                        </a:rPr>
                        <a:t>Contributions ($)</a:t>
                      </a:r>
                    </a:p>
                  </a:txBody>
                  <a:tcPr marL="82388" marR="6866" marT="6866" marB="0" anchor="ctr">
                    <a:lnL w="6350" cap="flat" cmpd="sng" algn="ctr">
                      <a:solidFill>
                        <a:srgbClr val="FFFFFF"/>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635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635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635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635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extLst>
                  <a:ext uri="{0D108BD9-81ED-4DB2-BD59-A6C34878D82A}">
                    <a16:rowId xmlns:a16="http://schemas.microsoft.com/office/drawing/2014/main" val="2907825996"/>
                  </a:ext>
                </a:extLst>
              </a:tr>
              <a:tr h="193733">
                <a:tc>
                  <a:txBody>
                    <a:bodyPr/>
                    <a:lstStyle/>
                    <a:p>
                      <a:pPr algn="l" fontAlgn="ctr"/>
                      <a:r>
                        <a:rPr lang="en-US" sz="1000" b="1" i="0" u="none" strike="noStrike" dirty="0">
                          <a:solidFill>
                            <a:srgbClr val="000000"/>
                          </a:solidFill>
                          <a:effectLst/>
                          <a:latin typeface="Arial" panose="020B0604020202020204" pitchFamily="34" charset="0"/>
                        </a:rPr>
                        <a:t>Employee Only</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rgbClr val="000000"/>
                          </a:solidFill>
                          <a:effectLst/>
                          <a:latin typeface="Arial" panose="020B0604020202020204" pitchFamily="34" charset="0"/>
                        </a:rPr>
                        <a:t>$13</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rgbClr val="000000"/>
                          </a:solidFill>
                          <a:effectLst/>
                          <a:latin typeface="Arial" panose="020B0604020202020204" pitchFamily="34" charset="0"/>
                        </a:rPr>
                        <a:t>$11</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809573840"/>
                  </a:ext>
                </a:extLst>
              </a:tr>
              <a:tr h="193733">
                <a:tc>
                  <a:txBody>
                    <a:bodyPr/>
                    <a:lstStyle/>
                    <a:p>
                      <a:pPr algn="l" fontAlgn="ctr"/>
                      <a:r>
                        <a:rPr lang="en-US" sz="1000" b="1" i="0" u="none" strike="noStrike" dirty="0">
                          <a:solidFill>
                            <a:srgbClr val="000000"/>
                          </a:solidFill>
                          <a:effectLst/>
                          <a:latin typeface="Arial" panose="020B0604020202020204" pitchFamily="34" charset="0"/>
                        </a:rPr>
                        <a:t>Family</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rgbClr val="000000"/>
                          </a:solidFill>
                          <a:effectLst/>
                          <a:latin typeface="Arial" panose="020B0604020202020204" pitchFamily="34" charset="0"/>
                        </a:rPr>
                        <a:t>$47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rgbClr val="000000"/>
                          </a:solidFill>
                          <a:effectLst/>
                          <a:latin typeface="Arial" panose="020B0604020202020204" pitchFamily="34" charset="0"/>
                        </a:rPr>
                        <a:t>$45 </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3149781031"/>
                  </a:ext>
                </a:extLst>
              </a:tr>
              <a:tr h="193733">
                <a:tc>
                  <a:txBody>
                    <a:bodyPr/>
                    <a:lstStyle/>
                    <a:p>
                      <a:pPr algn="l" fontAlgn="ctr"/>
                      <a:r>
                        <a:rPr lang="en-US" sz="1000" b="1" i="1" u="none" strike="noStrike" dirty="0">
                          <a:solidFill>
                            <a:srgbClr val="000000"/>
                          </a:solidFill>
                          <a:effectLst/>
                          <a:latin typeface="Arial" panose="020B0604020202020204" pitchFamily="34" charset="0"/>
                        </a:rPr>
                        <a:t>Provisions Breakdown</a:t>
                      </a:r>
                    </a:p>
                  </a:txBody>
                  <a:tcPr marL="82388" marR="6866" marT="6866" marB="0" anchor="ctr">
                    <a:lnL w="6350" cap="flat" cmpd="sng" algn="ctr">
                      <a:solidFill>
                        <a:srgbClr val="FFFFFF"/>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9525"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l" fontAlgn="ctr"/>
                      <a:endParaRPr lang="en-US" sz="1000" b="1" i="1" u="none" strike="noStrike" dirty="0">
                        <a:solidFill>
                          <a:srgbClr val="000000"/>
                        </a:solidFill>
                        <a:effectLst/>
                        <a:latin typeface="Arial" panose="020B0604020202020204" pitchFamily="34" charset="0"/>
                      </a:endParaRPr>
                    </a:p>
                  </a:txBody>
                  <a:tcPr marL="82388"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63002007"/>
                  </a:ext>
                </a:extLst>
              </a:tr>
              <a:tr h="193733">
                <a:tc>
                  <a:txBody>
                    <a:bodyPr/>
                    <a:lstStyle/>
                    <a:p>
                      <a:pPr algn="l" fontAlgn="ctr"/>
                      <a:r>
                        <a:rPr lang="en-US" sz="1000" b="1" i="0" u="none" strike="noStrike" dirty="0">
                          <a:solidFill>
                            <a:srgbClr val="000000"/>
                          </a:solidFill>
                          <a:effectLst/>
                          <a:latin typeface="Arial" panose="020B0604020202020204" pitchFamily="34" charset="0"/>
                        </a:rPr>
                        <a:t>Dental Benefits</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rgbClr val="000000"/>
                          </a:solidFill>
                          <a:effectLst/>
                          <a:latin typeface="Arial" panose="020B0604020202020204" pitchFamily="34" charset="0"/>
                        </a:rPr>
                        <a:t>Yes</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rgbClr val="000000"/>
                          </a:solidFill>
                          <a:effectLst/>
                          <a:latin typeface="Arial" panose="020B0604020202020204" pitchFamily="34" charset="0"/>
                        </a:rPr>
                        <a:t>54 of 54</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3794814576"/>
                  </a:ext>
                </a:extLst>
              </a:tr>
              <a:tr h="193733">
                <a:tc>
                  <a:txBody>
                    <a:bodyPr/>
                    <a:lstStyle/>
                    <a:p>
                      <a:pPr algn="l" fontAlgn="ctr"/>
                      <a:r>
                        <a:rPr lang="en-US" sz="1000" b="1" i="0" u="none" strike="noStrike" dirty="0">
                          <a:solidFill>
                            <a:srgbClr val="000000"/>
                          </a:solidFill>
                          <a:effectLst/>
                          <a:latin typeface="Arial" panose="020B0604020202020204" pitchFamily="34" charset="0"/>
                        </a:rPr>
                        <a:t>Orthodontia Benefits</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rgbClr val="000000"/>
                          </a:solidFill>
                          <a:effectLst/>
                          <a:latin typeface="Arial" panose="020B0604020202020204" pitchFamily="34" charset="0"/>
                        </a:rPr>
                        <a:t>Yes</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rgbClr val="000000"/>
                          </a:solidFill>
                          <a:effectLst/>
                          <a:latin typeface="Arial" panose="020B0604020202020204" pitchFamily="34" charset="0"/>
                        </a:rPr>
                        <a:t>49 of 54</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3489928080"/>
                  </a:ext>
                </a:extLst>
              </a:tr>
              <a:tr h="193733">
                <a:tc>
                  <a:txBody>
                    <a:bodyPr/>
                    <a:lstStyle/>
                    <a:p>
                      <a:pPr algn="l" fontAlgn="ctr"/>
                      <a:r>
                        <a:rPr lang="en-US" sz="1000" b="1" i="0" u="none" strike="noStrike" dirty="0">
                          <a:solidFill>
                            <a:srgbClr val="000000"/>
                          </a:solidFill>
                          <a:effectLst/>
                          <a:latin typeface="Arial" panose="020B0604020202020204" pitchFamily="34" charset="0"/>
                        </a:rPr>
                        <a:t>Retiree Dental Benefits</a:t>
                      </a:r>
                    </a:p>
                  </a:txBody>
                  <a:tcPr marL="164775"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gridSpan="2">
                  <a:txBody>
                    <a:bodyPr/>
                    <a:lstStyle/>
                    <a:p>
                      <a:pPr algn="ctr" fontAlgn="ctr"/>
                      <a:r>
                        <a:rPr lang="en-US" sz="1000" b="0" i="0" u="none" strike="noStrike" dirty="0">
                          <a:solidFill>
                            <a:srgbClr val="000000"/>
                          </a:solidFill>
                          <a:effectLst/>
                          <a:latin typeface="Arial" panose="020B0604020202020204" pitchFamily="34" charset="0"/>
                        </a:rPr>
                        <a:t>No</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tc gridSpan="2">
                  <a:txBody>
                    <a:bodyPr/>
                    <a:lstStyle/>
                    <a:p>
                      <a:pPr algn="ctr" fontAlgn="ctr"/>
                      <a:r>
                        <a:rPr lang="en-US" sz="1000" b="0" i="0" u="none" strike="noStrike" dirty="0">
                          <a:solidFill>
                            <a:srgbClr val="000000"/>
                          </a:solidFill>
                          <a:effectLst/>
                          <a:latin typeface="Arial" panose="020B0604020202020204" pitchFamily="34" charset="0"/>
                        </a:rPr>
                        <a:t>3 of 54</a:t>
                      </a:r>
                    </a:p>
                  </a:txBody>
                  <a:tcPr marL="6866" marR="6866" marT="686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hMerge="1">
                  <a:txBody>
                    <a:bodyPr/>
                    <a:lstStyle/>
                    <a:p>
                      <a:endParaRPr lang="en-US"/>
                    </a:p>
                  </a:txBody>
                  <a:tcPr/>
                </a:tc>
                <a:extLst>
                  <a:ext uri="{0D108BD9-81ED-4DB2-BD59-A6C34878D82A}">
                    <a16:rowId xmlns:a16="http://schemas.microsoft.com/office/drawing/2014/main" val="27227969"/>
                  </a:ext>
                </a:extLst>
              </a:tr>
            </a:tbl>
          </a:graphicData>
        </a:graphic>
      </p:graphicFrame>
      <p:sp>
        <p:nvSpPr>
          <p:cNvPr id="9" name="Rectangle 8">
            <a:extLst>
              <a:ext uri="{FF2B5EF4-FFF2-40B4-BE49-F238E27FC236}">
                <a16:creationId xmlns:a16="http://schemas.microsoft.com/office/drawing/2014/main" id="{54489708-FF69-4FC8-91A4-B5BA42DE3795}"/>
              </a:ext>
            </a:extLst>
          </p:cNvPr>
          <p:cNvSpPr/>
          <p:nvPr/>
        </p:nvSpPr>
        <p:spPr>
          <a:xfrm>
            <a:off x="449263" y="6096000"/>
            <a:ext cx="4572000" cy="215444"/>
          </a:xfrm>
          <a:prstGeom prst="rect">
            <a:avLst/>
          </a:prstGeom>
        </p:spPr>
        <p:txBody>
          <a:bodyPr>
            <a:spAutoFit/>
          </a:bodyPr>
          <a:lstStyle/>
          <a:p>
            <a:pPr lvl="0" fontAlgn="ctr">
              <a:defRPr/>
            </a:pPr>
            <a:r>
              <a:rPr lang="en-US" sz="800" dirty="0">
                <a:latin typeface="Arial" panose="020B0604020202020204" pitchFamily="34" charset="0"/>
              </a:rPr>
              <a:t>*Out-of-network benefits are not reflected in the values </a:t>
            </a:r>
          </a:p>
        </p:txBody>
      </p:sp>
    </p:spTree>
    <p:custDataLst>
      <p:tags r:id="rId1"/>
    </p:custDataLst>
    <p:extLst>
      <p:ext uri="{BB962C8B-B14F-4D97-AF65-F5344CB8AC3E}">
        <p14:creationId xmlns:p14="http://schemas.microsoft.com/office/powerpoint/2010/main" val="4026118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ENText (2)">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Dental Benefits (Employee Contributions)</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088568"/>
            <a:ext cx="8229600" cy="4389120"/>
          </a:xfrm>
        </p:spPr>
        <p:txBody>
          <a:bodyPr/>
          <a:lstStyle/>
          <a:p>
            <a:pPr lvl="2"/>
            <a:r>
              <a:rPr lang="en-US" sz="1200" dirty="0"/>
              <a:t>The average monthly contributions for {{COMPANY1}} peer group are {{CASH1}}for employee-only and {{CASH2}}for employee plus family</a:t>
            </a:r>
          </a:p>
          <a:p>
            <a:pPr lvl="3"/>
            <a:r>
              <a:rPr lang="en-US" sz="1200" dirty="0"/>
              <a:t>{{COMPANY1}} employee contributions are {{RANK1}} for employee-only ({{CASH3}}) and {{RANK2}} for employee plus family ({{CASH4}})</a:t>
            </a:r>
          </a:p>
          <a:p>
            <a:pPr lvl="3"/>
            <a:endParaRPr lang="en-US" sz="10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19</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7" name="DT2_Table1">
            <a:extLst>
              <a:ext uri="{FF2B5EF4-FFF2-40B4-BE49-F238E27FC236}">
                <a16:creationId xmlns:a16="http://schemas.microsoft.com/office/drawing/2014/main" id="{742087C3-75B7-4731-AA5D-BC1219AFEA94}"/>
              </a:ext>
            </a:extLst>
          </p:cNvPr>
          <p:cNvGraphicFramePr>
            <a:graphicFrameLocks noGrp="1"/>
          </p:cNvGraphicFramePr>
          <p:nvPr>
            <p:extLst>
              <p:ext uri="{D42A27DB-BD31-4B8C-83A1-F6EECF244321}">
                <p14:modId xmlns:p14="http://schemas.microsoft.com/office/powerpoint/2010/main" val="2693332085"/>
              </p:ext>
            </p:extLst>
          </p:nvPr>
        </p:nvGraphicFramePr>
        <p:xfrm>
          <a:off x="457200" y="1542461"/>
          <a:ext cx="8229600" cy="4544828"/>
        </p:xfrm>
        <a:graphic>
          <a:graphicData uri="http://schemas.openxmlformats.org/drawingml/2006/table">
            <a:tbl>
              <a:tblPr/>
              <a:tblGrid>
                <a:gridCol w="3834376">
                  <a:extLst>
                    <a:ext uri="{9D8B030D-6E8A-4147-A177-3AD203B41FA5}">
                      <a16:colId xmlns:a16="http://schemas.microsoft.com/office/drawing/2014/main" val="4173352356"/>
                    </a:ext>
                  </a:extLst>
                </a:gridCol>
                <a:gridCol w="2197612">
                  <a:extLst>
                    <a:ext uri="{9D8B030D-6E8A-4147-A177-3AD203B41FA5}">
                      <a16:colId xmlns:a16="http://schemas.microsoft.com/office/drawing/2014/main" val="4045509920"/>
                    </a:ext>
                  </a:extLst>
                </a:gridCol>
                <a:gridCol w="2197612">
                  <a:extLst>
                    <a:ext uri="{9D8B030D-6E8A-4147-A177-3AD203B41FA5}">
                      <a16:colId xmlns:a16="http://schemas.microsoft.com/office/drawing/2014/main" val="3091981994"/>
                    </a:ext>
                  </a:extLst>
                </a:gridCol>
              </a:tblGrid>
              <a:tr h="157823">
                <a:tc>
                  <a:txBody>
                    <a:bodyPr/>
                    <a:lstStyle/>
                    <a:p>
                      <a:pPr algn="l" fontAlgn="b"/>
                      <a:r>
                        <a:rPr lang="en-US" sz="800" b="0" i="1" u="none" strike="noStrike" dirty="0">
                          <a:effectLst/>
                          <a:latin typeface="Arial" panose="020B0604020202020204" pitchFamily="34" charset="0"/>
                        </a:rPr>
                        <a:t>Monthly Contributions for Highest-Enrolled Plans</a:t>
                      </a: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082171828"/>
                  </a:ext>
                </a:extLst>
              </a:tr>
              <a:tr h="125343">
                <a:tc>
                  <a:txBody>
                    <a:bodyPr/>
                    <a:lstStyle/>
                    <a:p>
                      <a:pPr algn="ctr" fontAlgn="ctr"/>
                      <a:r>
                        <a:rPr lang="en-US" sz="800" b="1" i="0" u="none" strike="noStrike">
                          <a:solidFill>
                            <a:srgbClr val="FFFFFF"/>
                          </a:solidFill>
                          <a:effectLst/>
                          <a:latin typeface="Arial" panose="020B0604020202020204" pitchFamily="34" charset="0"/>
                        </a:rPr>
                        <a:t>Companies with Dental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2026785493"/>
                  </a:ext>
                </a:extLst>
              </a:tr>
              <a:tr h="125343">
                <a:tc>
                  <a:txBody>
                    <a:bodyPr/>
                    <a:lstStyle/>
                    <a:p>
                      <a:pPr algn="ctr" fontAlgn="ctr"/>
                      <a:r>
                        <a:rPr lang="en-US" sz="800" b="0" i="0" u="none" strike="noStrike">
                          <a:effectLst/>
                          <a:latin typeface="Arial" panose="020B0604020202020204" pitchFamily="34" charset="0"/>
                        </a:rPr>
                        <a:t>KZ</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50101962"/>
                  </a:ext>
                </a:extLst>
              </a:tr>
              <a:tr h="125343">
                <a:tc>
                  <a:txBody>
                    <a:bodyPr/>
                    <a:lstStyle/>
                    <a:p>
                      <a:pPr algn="ctr" fontAlgn="ctr"/>
                      <a:r>
                        <a:rPr lang="en-US" sz="800" b="0" i="0" u="none" strike="noStrike" dirty="0">
                          <a:effectLst/>
                          <a:latin typeface="Arial" panose="020B0604020202020204" pitchFamily="34" charset="0"/>
                        </a:rPr>
                        <a:t>RZ</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13799998"/>
                  </a:ext>
                </a:extLst>
              </a:tr>
              <a:tr h="125343">
                <a:tc>
                  <a:txBody>
                    <a:bodyPr/>
                    <a:lstStyle/>
                    <a:p>
                      <a:pPr algn="ctr" fontAlgn="ctr"/>
                      <a:r>
                        <a:rPr lang="en-US" sz="800" b="0" i="0" u="none" strike="noStrike">
                          <a:effectLst/>
                          <a:latin typeface="Arial" panose="020B0604020202020204" pitchFamily="34" charset="0"/>
                        </a:rPr>
                        <a:t>CF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668377928"/>
                  </a:ext>
                </a:extLst>
              </a:tr>
              <a:tr h="125343">
                <a:tc>
                  <a:txBody>
                    <a:bodyPr/>
                    <a:lstStyle/>
                    <a:p>
                      <a:pPr algn="ctr" fontAlgn="ctr"/>
                      <a:r>
                        <a:rPr lang="en-US" sz="800" b="0" i="0" u="none" strike="noStrike">
                          <a:effectLst/>
                          <a:latin typeface="Arial" panose="020B0604020202020204" pitchFamily="34" charset="0"/>
                        </a:rPr>
                        <a:t>YM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41723782"/>
                  </a:ext>
                </a:extLst>
              </a:tr>
              <a:tr h="125343">
                <a:tc>
                  <a:txBody>
                    <a:bodyPr/>
                    <a:lstStyle/>
                    <a:p>
                      <a:pPr algn="ctr" fontAlgn="ctr"/>
                      <a:r>
                        <a:rPr lang="en-US" sz="800" b="0" i="0" u="none" strike="noStrike">
                          <a:effectLst/>
                          <a:latin typeface="Arial" panose="020B0604020202020204" pitchFamily="34" charset="0"/>
                        </a:rPr>
                        <a:t>DO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48631051"/>
                  </a:ext>
                </a:extLst>
              </a:tr>
              <a:tr h="125343">
                <a:tc>
                  <a:txBody>
                    <a:bodyPr/>
                    <a:lstStyle/>
                    <a:p>
                      <a:pPr algn="ctr" fontAlgn="ctr"/>
                      <a:r>
                        <a:rPr lang="en-US" sz="800" b="0" i="0" u="none" strike="noStrike">
                          <a:effectLst/>
                          <a:latin typeface="Arial" panose="020B0604020202020204" pitchFamily="34" charset="0"/>
                        </a:rPr>
                        <a:t>FF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03408529"/>
                  </a:ext>
                </a:extLst>
              </a:tr>
              <a:tr h="125343">
                <a:tc>
                  <a:txBody>
                    <a:bodyPr/>
                    <a:lstStyle/>
                    <a:p>
                      <a:pPr algn="ctr" fontAlgn="ctr"/>
                      <a:r>
                        <a:rPr lang="en-US" sz="800" b="0" i="0" u="none" strike="noStrike">
                          <a:effectLst/>
                          <a:latin typeface="Arial" panose="020B0604020202020204" pitchFamily="34" charset="0"/>
                        </a:rPr>
                        <a:t>JA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35048297"/>
                  </a:ext>
                </a:extLst>
              </a:tr>
              <a:tr h="125343">
                <a:tc>
                  <a:txBody>
                    <a:bodyPr/>
                    <a:lstStyle/>
                    <a:p>
                      <a:pPr algn="ctr" fontAlgn="ctr"/>
                      <a:r>
                        <a:rPr lang="en-US" sz="800" b="0" i="0" u="none" strike="noStrike">
                          <a:effectLst/>
                          <a:latin typeface="Arial" panose="020B0604020202020204" pitchFamily="34" charset="0"/>
                        </a:rPr>
                        <a:t>YT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61528360"/>
                  </a:ext>
                </a:extLst>
              </a:tr>
              <a:tr h="125343">
                <a:tc>
                  <a:txBody>
                    <a:bodyPr/>
                    <a:lstStyle/>
                    <a:p>
                      <a:pPr algn="ctr" fontAlgn="ctr"/>
                      <a:r>
                        <a:rPr lang="en-US" sz="800" b="0" i="0" u="none" strike="noStrike">
                          <a:effectLst/>
                          <a:latin typeface="Arial" panose="020B0604020202020204" pitchFamily="34" charset="0"/>
                        </a:rPr>
                        <a:t>ZH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49842030"/>
                  </a:ext>
                </a:extLst>
              </a:tr>
              <a:tr h="125343">
                <a:tc>
                  <a:txBody>
                    <a:bodyPr/>
                    <a:lstStyle/>
                    <a:p>
                      <a:pPr algn="ctr" fontAlgn="ctr"/>
                      <a:r>
                        <a:rPr lang="en-US" sz="800" b="0" i="0" u="none" strike="noStrike">
                          <a:effectLst/>
                          <a:latin typeface="Arial" panose="020B0604020202020204" pitchFamily="34" charset="0"/>
                        </a:rPr>
                        <a:t>CD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27861807"/>
                  </a:ext>
                </a:extLst>
              </a:tr>
              <a:tr h="125343">
                <a:tc>
                  <a:txBody>
                    <a:bodyPr/>
                    <a:lstStyle/>
                    <a:p>
                      <a:pPr algn="ctr" fontAlgn="ctr"/>
                      <a:r>
                        <a:rPr lang="en-US" sz="800" b="0" i="0" u="none" strike="noStrike">
                          <a:effectLst/>
                          <a:latin typeface="Arial" panose="020B0604020202020204" pitchFamily="34" charset="0"/>
                        </a:rPr>
                        <a:t>HI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15972021"/>
                  </a:ext>
                </a:extLst>
              </a:tr>
              <a:tr h="125343">
                <a:tc>
                  <a:txBody>
                    <a:bodyPr/>
                    <a:lstStyle/>
                    <a:p>
                      <a:pPr algn="ctr" fontAlgn="ctr"/>
                      <a:r>
                        <a:rPr lang="en-US" sz="800" b="0" i="0" u="none" strike="noStrike">
                          <a:effectLst/>
                          <a:latin typeface="Arial" panose="020B0604020202020204" pitchFamily="34" charset="0"/>
                        </a:rPr>
                        <a:t>SC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31106052"/>
                  </a:ext>
                </a:extLst>
              </a:tr>
              <a:tr h="125343">
                <a:tc>
                  <a:txBody>
                    <a:bodyPr/>
                    <a:lstStyle/>
                    <a:p>
                      <a:pPr algn="ctr" fontAlgn="ctr"/>
                      <a:r>
                        <a:rPr lang="en-US" sz="800" b="0" i="0" u="none" strike="noStrike">
                          <a:effectLst/>
                          <a:latin typeface="Arial" panose="020B0604020202020204" pitchFamily="34" charset="0"/>
                        </a:rPr>
                        <a:t>RG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16705863"/>
                  </a:ext>
                </a:extLst>
              </a:tr>
              <a:tr h="125343">
                <a:tc>
                  <a:txBody>
                    <a:bodyPr/>
                    <a:lstStyle/>
                    <a:p>
                      <a:pPr algn="ctr" fontAlgn="ctr"/>
                      <a:r>
                        <a:rPr lang="en-US" sz="800" b="0" i="0" u="none" strike="noStrike">
                          <a:effectLst/>
                          <a:latin typeface="Arial" panose="020B0604020202020204" pitchFamily="34" charset="0"/>
                        </a:rPr>
                        <a:t>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79648396"/>
                  </a:ext>
                </a:extLst>
              </a:tr>
              <a:tr h="125343">
                <a:tc>
                  <a:txBody>
                    <a:bodyPr/>
                    <a:lstStyle/>
                    <a:p>
                      <a:pPr algn="ctr" fontAlgn="ctr"/>
                      <a:r>
                        <a:rPr lang="en-US" sz="800" b="0" i="0" u="none" strike="noStrike">
                          <a:effectLst/>
                          <a:latin typeface="Arial" panose="020B0604020202020204" pitchFamily="34" charset="0"/>
                        </a:rPr>
                        <a:t>GC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23498758"/>
                  </a:ext>
                </a:extLst>
              </a:tr>
              <a:tr h="125343">
                <a:tc>
                  <a:txBody>
                    <a:bodyPr/>
                    <a:lstStyle/>
                    <a:p>
                      <a:pPr algn="ctr" fontAlgn="ctr"/>
                      <a:r>
                        <a:rPr lang="en-US" sz="800" b="0" i="0" u="none" strike="noStrike">
                          <a:effectLst/>
                          <a:latin typeface="Arial" panose="020B0604020202020204" pitchFamily="34" charset="0"/>
                        </a:rPr>
                        <a:t>QO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69807205"/>
                  </a:ext>
                </a:extLst>
              </a:tr>
              <a:tr h="125343">
                <a:tc>
                  <a:txBody>
                    <a:bodyPr/>
                    <a:lstStyle/>
                    <a:p>
                      <a:pPr algn="ctr" fontAlgn="ctr"/>
                      <a:r>
                        <a:rPr lang="en-US" sz="800" b="0" i="0" u="none" strike="noStrike">
                          <a:effectLst/>
                          <a:latin typeface="Arial" panose="020B0604020202020204" pitchFamily="34" charset="0"/>
                        </a:rPr>
                        <a:t>XR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24536248"/>
                  </a:ext>
                </a:extLst>
              </a:tr>
              <a:tr h="125343">
                <a:tc>
                  <a:txBody>
                    <a:bodyPr/>
                    <a:lstStyle/>
                    <a:p>
                      <a:pPr algn="ctr" fontAlgn="ctr"/>
                      <a:r>
                        <a:rPr lang="en-US" sz="800" b="0" i="0" u="none" strike="noStrike">
                          <a:effectLst/>
                          <a:latin typeface="Arial" panose="020B0604020202020204" pitchFamily="34" charset="0"/>
                        </a:rPr>
                        <a:t>MG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330878272"/>
                  </a:ext>
                </a:extLst>
              </a:tr>
              <a:tr h="125343">
                <a:tc>
                  <a:txBody>
                    <a:bodyPr/>
                    <a:lstStyle/>
                    <a:p>
                      <a:pPr algn="ctr" fontAlgn="ctr"/>
                      <a:r>
                        <a:rPr lang="en-US" sz="800" b="0" i="0" u="none" strike="noStrike">
                          <a:effectLst/>
                          <a:latin typeface="Arial" panose="020B0604020202020204" pitchFamily="34" charset="0"/>
                        </a:rPr>
                        <a:t>GK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02790019"/>
                  </a:ext>
                </a:extLst>
              </a:tr>
              <a:tr h="125343">
                <a:tc>
                  <a:txBody>
                    <a:bodyPr/>
                    <a:lstStyle/>
                    <a:p>
                      <a:pPr algn="ctr" fontAlgn="ctr"/>
                      <a:r>
                        <a:rPr lang="en-US" sz="800" b="0" i="0" u="none" strike="noStrike">
                          <a:effectLst/>
                          <a:latin typeface="Arial" panose="020B0604020202020204" pitchFamily="34" charset="0"/>
                        </a:rPr>
                        <a:t>OA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14815569"/>
                  </a:ext>
                </a:extLst>
              </a:tr>
              <a:tr h="125343">
                <a:tc>
                  <a:txBody>
                    <a:bodyPr/>
                    <a:lstStyle/>
                    <a:p>
                      <a:pPr algn="ctr" fontAlgn="ctr"/>
                      <a:r>
                        <a:rPr lang="en-US" sz="800" b="0" i="0" u="none" strike="noStrike">
                          <a:effectLst/>
                          <a:latin typeface="Arial" panose="020B0604020202020204" pitchFamily="34" charset="0"/>
                        </a:rPr>
                        <a:t>NL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98820568"/>
                  </a:ext>
                </a:extLst>
              </a:tr>
              <a:tr h="125343">
                <a:tc>
                  <a:txBody>
                    <a:bodyPr/>
                    <a:lstStyle/>
                    <a:p>
                      <a:pPr algn="ctr" fontAlgn="ctr"/>
                      <a:r>
                        <a:rPr lang="en-US" sz="800" b="0" i="0" u="none" strike="noStrike">
                          <a:effectLst/>
                          <a:latin typeface="Arial" panose="020B0604020202020204" pitchFamily="34" charset="0"/>
                        </a:rPr>
                        <a:t>BV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8005268"/>
                  </a:ext>
                </a:extLst>
              </a:tr>
              <a:tr h="125343">
                <a:tc>
                  <a:txBody>
                    <a:bodyPr/>
                    <a:lstStyle/>
                    <a:p>
                      <a:pPr algn="ctr" fontAlgn="ctr"/>
                      <a:r>
                        <a:rPr lang="en-US" sz="800" b="0" i="0" u="none" strike="noStrike">
                          <a:effectLst/>
                          <a:latin typeface="Arial" panose="020B0604020202020204" pitchFamily="34" charset="0"/>
                        </a:rPr>
                        <a:t>EG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96724627"/>
                  </a:ext>
                </a:extLst>
              </a:tr>
              <a:tr h="125343">
                <a:tc>
                  <a:txBody>
                    <a:bodyPr/>
                    <a:lstStyle/>
                    <a:p>
                      <a:pPr algn="ctr" fontAlgn="ctr"/>
                      <a:r>
                        <a:rPr lang="en-US" sz="800" b="0" i="0" u="none" strike="noStrike">
                          <a:effectLst/>
                          <a:latin typeface="Arial" panose="020B0604020202020204" pitchFamily="34" charset="0"/>
                        </a:rPr>
                        <a:t>MJ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09768944"/>
                  </a:ext>
                </a:extLst>
              </a:tr>
              <a:tr h="125343">
                <a:tc>
                  <a:txBody>
                    <a:bodyPr/>
                    <a:lstStyle/>
                    <a:p>
                      <a:pPr algn="ctr" fontAlgn="ctr"/>
                      <a:r>
                        <a:rPr lang="en-US" sz="800" b="0" i="0" u="none" strike="noStrike">
                          <a:effectLst/>
                          <a:latin typeface="Arial" panose="020B0604020202020204" pitchFamily="34" charset="0"/>
                        </a:rPr>
                        <a:t>AK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29318473"/>
                  </a:ext>
                </a:extLst>
              </a:tr>
              <a:tr h="125343">
                <a:tc>
                  <a:txBody>
                    <a:bodyPr/>
                    <a:lstStyle/>
                    <a:p>
                      <a:pPr algn="ctr" fontAlgn="ctr"/>
                      <a:r>
                        <a:rPr lang="en-US" sz="800" b="0" i="0" u="none" strike="noStrike">
                          <a:effectLst/>
                          <a:latin typeface="Arial" panose="020B0604020202020204" pitchFamily="34" charset="0"/>
                        </a:rPr>
                        <a:t>ZQ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18894906"/>
                  </a:ext>
                </a:extLst>
              </a:tr>
              <a:tr h="125343">
                <a:tc>
                  <a:txBody>
                    <a:bodyPr/>
                    <a:lstStyle/>
                    <a:p>
                      <a:pPr algn="ctr" fontAlgn="ctr"/>
                      <a:r>
                        <a:rPr lang="en-US" sz="800" b="0" i="0" u="none" strike="noStrike">
                          <a:effectLst/>
                          <a:latin typeface="Arial" panose="020B0604020202020204" pitchFamily="34" charset="0"/>
                        </a:rPr>
                        <a:t>HF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82152105"/>
                  </a:ext>
                </a:extLst>
              </a:tr>
              <a:tr h="125343">
                <a:tc>
                  <a:txBody>
                    <a:bodyPr/>
                    <a:lstStyle/>
                    <a:p>
                      <a:pPr algn="ctr" fontAlgn="ctr"/>
                      <a:r>
                        <a:rPr lang="en-US" sz="800" b="0" i="0" u="none" strike="noStrike">
                          <a:effectLst/>
                          <a:latin typeface="Arial" panose="020B0604020202020204" pitchFamily="34" charset="0"/>
                        </a:rPr>
                        <a:t>NP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49176257"/>
                  </a:ext>
                </a:extLst>
              </a:tr>
              <a:tr h="125343">
                <a:tc>
                  <a:txBody>
                    <a:bodyPr/>
                    <a:lstStyle/>
                    <a:p>
                      <a:pPr algn="ctr" fontAlgn="ctr"/>
                      <a:r>
                        <a:rPr lang="en-US" sz="800" b="0" i="0" u="none" strike="noStrike">
                          <a:effectLst/>
                          <a:latin typeface="Arial" panose="020B0604020202020204" pitchFamily="34" charset="0"/>
                        </a:rPr>
                        <a:t>KI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11546044"/>
                  </a:ext>
                </a:extLst>
              </a:tr>
              <a:tr h="125343">
                <a:tc>
                  <a:txBody>
                    <a:bodyPr/>
                    <a:lstStyle/>
                    <a:p>
                      <a:pPr algn="ctr" fontAlgn="ctr"/>
                      <a:r>
                        <a:rPr lang="en-US" sz="800" b="0" i="0" u="none" strike="noStrike">
                          <a:effectLst/>
                          <a:latin typeface="Arial" panose="020B0604020202020204" pitchFamily="34" charset="0"/>
                        </a:rPr>
                        <a:t>LC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19522669"/>
                  </a:ext>
                </a:extLst>
              </a:tr>
              <a:tr h="125343">
                <a:tc>
                  <a:txBody>
                    <a:bodyPr/>
                    <a:lstStyle/>
                    <a:p>
                      <a:pPr algn="ctr" fontAlgn="ctr"/>
                      <a:r>
                        <a:rPr lang="en-US" sz="800" b="0" i="0" u="none" strike="noStrike">
                          <a:effectLst/>
                          <a:latin typeface="Arial" panose="020B0604020202020204" pitchFamily="34" charset="0"/>
                        </a:rPr>
                        <a:t>EJ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67138"/>
                  </a:ext>
                </a:extLst>
              </a:tr>
              <a:tr h="125343">
                <a:tc>
                  <a:txBody>
                    <a:bodyPr/>
                    <a:lstStyle/>
                    <a:p>
                      <a:pPr algn="ctr" fontAlgn="ctr"/>
                      <a:r>
                        <a:rPr lang="en-US" sz="800" b="0" i="0" u="none" strike="noStrike">
                          <a:effectLst/>
                          <a:latin typeface="Arial" panose="020B0604020202020204" pitchFamily="34" charset="0"/>
                        </a:rPr>
                        <a:t>SB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29861575"/>
                  </a:ext>
                </a:extLst>
              </a:tr>
              <a:tr h="125343">
                <a:tc>
                  <a:txBody>
                    <a:bodyPr/>
                    <a:lstStyle/>
                    <a:p>
                      <a:pPr algn="ctr" fontAlgn="ctr"/>
                      <a:r>
                        <a:rPr lang="en-US" sz="800" b="0" i="0" u="none" strike="noStrike">
                          <a:effectLst/>
                          <a:latin typeface="Arial" panose="020B0604020202020204" pitchFamily="34" charset="0"/>
                        </a:rPr>
                        <a:t>QR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14170524"/>
                  </a:ext>
                </a:extLst>
              </a:tr>
              <a:tr h="125343">
                <a:tc>
                  <a:txBody>
                    <a:bodyPr/>
                    <a:lstStyle/>
                    <a:p>
                      <a:pPr algn="ctr" fontAlgn="ctr"/>
                      <a:r>
                        <a:rPr lang="en-US" sz="800" b="0" i="0" u="none" strike="noStrike">
                          <a:effectLst/>
                          <a:latin typeface="Arial" panose="020B0604020202020204" pitchFamily="34" charset="0"/>
                        </a:rPr>
                        <a:t>DN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$43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34288839"/>
                  </a:ext>
                </a:extLst>
              </a:tr>
            </a:tbl>
          </a:graphicData>
        </a:graphic>
      </p:graphicFrame>
    </p:spTree>
    <p:custDataLst>
      <p:tags r:id="rId1"/>
    </p:custDataLst>
    <p:extLst>
      <p:ext uri="{BB962C8B-B14F-4D97-AF65-F5344CB8AC3E}">
        <p14:creationId xmlns:p14="http://schemas.microsoft.com/office/powerpoint/2010/main" val="570054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NText (3)">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Dental Benefits (Employee Contributions) Continued</a:t>
            </a:r>
          </a:p>
        </p:txBody>
      </p:sp>
      <p:sp>
        <p:nvSpPr>
          <p:cNvPr id="11" name="Text Placeholder 10">
            <a:extLst>
              <a:ext uri="{FF2B5EF4-FFF2-40B4-BE49-F238E27FC236}">
                <a16:creationId xmlns:a16="http://schemas.microsoft.com/office/drawing/2014/main" id="{6B9E3C3E-2604-4285-A1DE-57A88DDE8DB2}"/>
              </a:ext>
            </a:extLst>
          </p:cNvPr>
          <p:cNvSpPr>
            <a:spLocks noGrp="1"/>
          </p:cNvSpPr>
          <p:nvPr>
            <p:ph type="body" sz="quarter" idx="13"/>
          </p:nvPr>
        </p:nvSpPr>
        <p:spPr/>
        <p:txBody>
          <a:bodyPr/>
          <a:lstStyle/>
          <a:p>
            <a:endParaRPr lang="en-US"/>
          </a:p>
        </p:txBody>
      </p:sp>
      <p:sp>
        <p:nvSpPr>
          <p:cNvPr id="4" name="Slide Number Placeholder 3"/>
          <p:cNvSpPr>
            <a:spLocks noGrp="1"/>
          </p:cNvSpPr>
          <p:nvPr>
            <p:ph type="sldNum" sz="quarter" idx="4"/>
          </p:nvPr>
        </p:nvSpPr>
        <p:spPr/>
        <p:txBody>
          <a:bodyPr/>
          <a:lstStyle/>
          <a:p>
            <a:fld id="{2083E393-C0BF-4ED8-8545-7E4C90AFF831}" type="slidenum">
              <a:rPr lang="en-US" smtClean="0"/>
              <a:pPr/>
              <a:t>20</a:t>
            </a:fld>
            <a:endParaRPr lang="en-US"/>
          </a:p>
        </p:txBody>
      </p:sp>
      <p:sp>
        <p:nvSpPr>
          <p:cNvPr id="3" name="Footer Placeholder 2"/>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5" name="DT3_Table1">
            <a:extLst>
              <a:ext uri="{FF2B5EF4-FFF2-40B4-BE49-F238E27FC236}">
                <a16:creationId xmlns:a16="http://schemas.microsoft.com/office/drawing/2014/main" id="{2C2E56CE-AD3F-4CB0-9DF8-70AB9941AB83}"/>
              </a:ext>
            </a:extLst>
          </p:cNvPr>
          <p:cNvGraphicFramePr>
            <a:graphicFrameLocks noGrp="1"/>
          </p:cNvGraphicFramePr>
          <p:nvPr>
            <p:extLst>
              <p:ext uri="{D42A27DB-BD31-4B8C-83A1-F6EECF244321}">
                <p14:modId xmlns:p14="http://schemas.microsoft.com/office/powerpoint/2010/main" val="485392967"/>
              </p:ext>
            </p:extLst>
          </p:nvPr>
        </p:nvGraphicFramePr>
        <p:xfrm>
          <a:off x="449262" y="1140760"/>
          <a:ext cx="8237537" cy="5062077"/>
        </p:xfrm>
        <a:graphic>
          <a:graphicData uri="http://schemas.openxmlformats.org/drawingml/2006/table">
            <a:tbl>
              <a:tblPr/>
              <a:tblGrid>
                <a:gridCol w="3838073">
                  <a:extLst>
                    <a:ext uri="{9D8B030D-6E8A-4147-A177-3AD203B41FA5}">
                      <a16:colId xmlns:a16="http://schemas.microsoft.com/office/drawing/2014/main" val="3080789832"/>
                    </a:ext>
                  </a:extLst>
                </a:gridCol>
                <a:gridCol w="2199732">
                  <a:extLst>
                    <a:ext uri="{9D8B030D-6E8A-4147-A177-3AD203B41FA5}">
                      <a16:colId xmlns:a16="http://schemas.microsoft.com/office/drawing/2014/main" val="3077325049"/>
                    </a:ext>
                  </a:extLst>
                </a:gridCol>
                <a:gridCol w="2199732">
                  <a:extLst>
                    <a:ext uri="{9D8B030D-6E8A-4147-A177-3AD203B41FA5}">
                      <a16:colId xmlns:a16="http://schemas.microsoft.com/office/drawing/2014/main" val="2992463579"/>
                    </a:ext>
                  </a:extLst>
                </a:gridCol>
              </a:tblGrid>
              <a:tr h="128000">
                <a:tc>
                  <a:txBody>
                    <a:bodyPr/>
                    <a:lstStyle/>
                    <a:p>
                      <a:pPr algn="l" fontAlgn="b"/>
                      <a:r>
                        <a:rPr lang="en-US" sz="800" b="0" i="1" u="none" strike="noStrike">
                          <a:effectLst/>
                          <a:latin typeface="Arial" panose="020B0604020202020204" pitchFamily="34" charset="0"/>
                        </a:rPr>
                        <a:t>Monthly Contributions for Highest-Enrolled Plans</a:t>
                      </a: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136740509"/>
                  </a:ext>
                </a:extLst>
              </a:tr>
              <a:tr h="123060">
                <a:tc>
                  <a:txBody>
                    <a:bodyPr/>
                    <a:lstStyle/>
                    <a:p>
                      <a:pPr algn="ctr" fontAlgn="ctr"/>
                      <a:r>
                        <a:rPr lang="en-US" sz="800" b="1" i="0" u="none" strike="noStrike">
                          <a:solidFill>
                            <a:srgbClr val="FFFFFF"/>
                          </a:solidFill>
                          <a:effectLst/>
                          <a:latin typeface="Arial" panose="020B0604020202020204" pitchFamily="34" charset="0"/>
                        </a:rPr>
                        <a:t>Companies with Dental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1322920667"/>
                  </a:ext>
                </a:extLst>
              </a:tr>
              <a:tr h="123060">
                <a:tc>
                  <a:txBody>
                    <a:bodyPr/>
                    <a:lstStyle/>
                    <a:p>
                      <a:pPr algn="ctr" fontAlgn="ctr"/>
                      <a:r>
                        <a:rPr lang="en-US" sz="800" b="0" i="0" u="none" strike="noStrike">
                          <a:effectLst/>
                          <a:latin typeface="Arial" panose="020B0604020202020204" pitchFamily="34" charset="0"/>
                        </a:rPr>
                        <a:t>OU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17423318"/>
                  </a:ext>
                </a:extLst>
              </a:tr>
              <a:tr h="123060">
                <a:tc>
                  <a:txBody>
                    <a:bodyPr/>
                    <a:lstStyle/>
                    <a:p>
                      <a:pPr algn="ctr" fontAlgn="ctr"/>
                      <a:r>
                        <a:rPr lang="en-US" sz="800" b="0" i="0" u="none" strike="noStrike">
                          <a:effectLst/>
                          <a:latin typeface="Arial" panose="020B0604020202020204" pitchFamily="34" charset="0"/>
                        </a:rPr>
                        <a:t>PE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15023022"/>
                  </a:ext>
                </a:extLst>
              </a:tr>
              <a:tr h="123060">
                <a:tc>
                  <a:txBody>
                    <a:bodyPr/>
                    <a:lstStyle/>
                    <a:p>
                      <a:pPr algn="ctr" fontAlgn="ctr"/>
                      <a:r>
                        <a:rPr lang="en-US" sz="800" b="0" i="0" u="none" strike="noStrike">
                          <a:effectLst/>
                          <a:latin typeface="Arial" panose="020B0604020202020204" pitchFamily="34" charset="0"/>
                        </a:rPr>
                        <a:t>GQ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0983135"/>
                  </a:ext>
                </a:extLst>
              </a:tr>
              <a:tr h="123060">
                <a:tc>
                  <a:txBody>
                    <a:bodyPr/>
                    <a:lstStyle/>
                    <a:p>
                      <a:pPr algn="ctr" fontAlgn="ctr"/>
                      <a:r>
                        <a:rPr lang="en-US" sz="800" b="0" i="0" u="none" strike="noStrike">
                          <a:effectLst/>
                          <a:latin typeface="Arial" panose="020B0604020202020204" pitchFamily="34" charset="0"/>
                        </a:rPr>
                        <a:t>FA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71340112"/>
                  </a:ext>
                </a:extLst>
              </a:tr>
              <a:tr h="123060">
                <a:tc>
                  <a:txBody>
                    <a:bodyPr/>
                    <a:lstStyle/>
                    <a:p>
                      <a:pPr algn="ctr" fontAlgn="ctr"/>
                      <a:r>
                        <a:rPr lang="en-US" sz="800" b="0" i="0" u="none" strike="noStrike">
                          <a:effectLst/>
                          <a:latin typeface="Arial" panose="020B0604020202020204" pitchFamily="34" charset="0"/>
                        </a:rPr>
                        <a:t>VP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89499053"/>
                  </a:ext>
                </a:extLst>
              </a:tr>
              <a:tr h="123060">
                <a:tc>
                  <a:txBody>
                    <a:bodyPr/>
                    <a:lstStyle/>
                    <a:p>
                      <a:pPr algn="ctr" fontAlgn="ctr"/>
                      <a:r>
                        <a:rPr lang="en-US" sz="800" b="1" i="0" u="none" strike="noStrike" dirty="0">
                          <a:effectLst/>
                          <a:latin typeface="Arial" panose="020B0604020202020204" pitchFamily="34" charset="0"/>
                        </a:rPr>
                        <a:t>AMD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ctr" fontAlgn="ctr"/>
                      <a:r>
                        <a:rPr lang="en-US" sz="800" b="1" i="0" u="none" strike="noStrike">
                          <a:effectLst/>
                          <a:latin typeface="Arial" panose="020B0604020202020204" pitchFamily="34" charset="0"/>
                        </a:rPr>
                        <a:t>$13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ctr" fontAlgn="ctr"/>
                      <a:r>
                        <a:rPr lang="en-US" sz="800" b="1" i="0" u="none" strike="noStrike" dirty="0">
                          <a:effectLst/>
                          <a:latin typeface="Arial" panose="020B0604020202020204" pitchFamily="34" charset="0"/>
                        </a:rPr>
                        <a:t>$47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3271627883"/>
                  </a:ext>
                </a:extLst>
              </a:tr>
              <a:tr h="123060">
                <a:tc>
                  <a:txBody>
                    <a:bodyPr/>
                    <a:lstStyle/>
                    <a:p>
                      <a:pPr algn="ctr" fontAlgn="ctr"/>
                      <a:r>
                        <a:rPr lang="en-US" sz="800" b="0" i="0" u="none" strike="noStrike" dirty="0">
                          <a:effectLst/>
                          <a:latin typeface="Arial" panose="020B0604020202020204" pitchFamily="34" charset="0"/>
                        </a:rPr>
                        <a:t>JW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$14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$59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07077798"/>
                  </a:ext>
                </a:extLst>
              </a:tr>
              <a:tr h="123060">
                <a:tc>
                  <a:txBody>
                    <a:bodyPr/>
                    <a:lstStyle/>
                    <a:p>
                      <a:pPr algn="ctr" fontAlgn="ctr"/>
                      <a:r>
                        <a:rPr lang="en-US" sz="800" b="0" i="0" u="none" strike="noStrike">
                          <a:effectLst/>
                          <a:latin typeface="Arial" panose="020B0604020202020204" pitchFamily="34" charset="0"/>
                        </a:rPr>
                        <a:t>KL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3203044"/>
                  </a:ext>
                </a:extLst>
              </a:tr>
              <a:tr h="123060">
                <a:tc>
                  <a:txBody>
                    <a:bodyPr/>
                    <a:lstStyle/>
                    <a:p>
                      <a:pPr algn="ctr" fontAlgn="ctr"/>
                      <a:r>
                        <a:rPr lang="en-US" sz="800" b="0" i="0" u="none" strike="noStrike">
                          <a:effectLst/>
                          <a:latin typeface="Arial" panose="020B0604020202020204" pitchFamily="34" charset="0"/>
                        </a:rPr>
                        <a:t>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01200468"/>
                  </a:ext>
                </a:extLst>
              </a:tr>
              <a:tr h="123060">
                <a:tc>
                  <a:txBody>
                    <a:bodyPr/>
                    <a:lstStyle/>
                    <a:p>
                      <a:pPr algn="ctr" fontAlgn="ctr"/>
                      <a:r>
                        <a:rPr lang="en-US" sz="800" b="0" i="0" u="none" strike="noStrike">
                          <a:effectLst/>
                          <a:latin typeface="Arial" panose="020B0604020202020204" pitchFamily="34" charset="0"/>
                        </a:rPr>
                        <a:t>UD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71168154"/>
                  </a:ext>
                </a:extLst>
              </a:tr>
              <a:tr h="123060">
                <a:tc>
                  <a:txBody>
                    <a:bodyPr/>
                    <a:lstStyle/>
                    <a:p>
                      <a:pPr algn="ctr" fontAlgn="ctr"/>
                      <a:r>
                        <a:rPr lang="en-US" sz="800" b="0" i="0" u="none" strike="noStrike">
                          <a:effectLst/>
                          <a:latin typeface="Arial" panose="020B0604020202020204" pitchFamily="34" charset="0"/>
                        </a:rPr>
                        <a:t>EO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97570886"/>
                  </a:ext>
                </a:extLst>
              </a:tr>
              <a:tr h="123060">
                <a:tc>
                  <a:txBody>
                    <a:bodyPr/>
                    <a:lstStyle/>
                    <a:p>
                      <a:pPr algn="ctr" fontAlgn="ctr"/>
                      <a:r>
                        <a:rPr lang="en-US" sz="800" b="0" i="0" u="none" strike="noStrike">
                          <a:effectLst/>
                          <a:latin typeface="Arial" panose="020B0604020202020204" pitchFamily="34" charset="0"/>
                        </a:rPr>
                        <a:t>AI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30466101"/>
                  </a:ext>
                </a:extLst>
              </a:tr>
              <a:tr h="123060">
                <a:tc>
                  <a:txBody>
                    <a:bodyPr/>
                    <a:lstStyle/>
                    <a:p>
                      <a:pPr algn="ctr" fontAlgn="ctr"/>
                      <a:r>
                        <a:rPr lang="en-US" sz="800" b="0" i="0" u="none" strike="noStrike">
                          <a:effectLst/>
                          <a:latin typeface="Arial" panose="020B0604020202020204" pitchFamily="34" charset="0"/>
                        </a:rPr>
                        <a:t>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39527837"/>
                  </a:ext>
                </a:extLst>
              </a:tr>
              <a:tr h="123060">
                <a:tc>
                  <a:txBody>
                    <a:bodyPr/>
                    <a:lstStyle/>
                    <a:p>
                      <a:pPr algn="ctr" fontAlgn="ctr"/>
                      <a:r>
                        <a:rPr lang="en-US" sz="800" b="0" i="0" u="none" strike="noStrike">
                          <a:effectLst/>
                          <a:latin typeface="Arial" panose="020B0604020202020204" pitchFamily="34" charset="0"/>
                        </a:rPr>
                        <a:t>TB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8908330"/>
                  </a:ext>
                </a:extLst>
              </a:tr>
              <a:tr h="123060">
                <a:tc>
                  <a:txBody>
                    <a:bodyPr/>
                    <a:lstStyle/>
                    <a:p>
                      <a:pPr algn="ctr" fontAlgn="ctr"/>
                      <a:r>
                        <a:rPr lang="en-US" sz="800" b="0" i="0" u="none" strike="noStrike">
                          <a:effectLst/>
                          <a:latin typeface="Arial" panose="020B0604020202020204" pitchFamily="34" charset="0"/>
                        </a:rPr>
                        <a:t>IC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49122117"/>
                  </a:ext>
                </a:extLst>
              </a:tr>
              <a:tr h="123060">
                <a:tc>
                  <a:txBody>
                    <a:bodyPr/>
                    <a:lstStyle/>
                    <a:p>
                      <a:pPr algn="ctr" fontAlgn="ctr"/>
                      <a:r>
                        <a:rPr lang="en-US" sz="800" b="0" i="0" u="none" strike="noStrike">
                          <a:effectLst/>
                          <a:latin typeface="Arial" panose="020B0604020202020204" pitchFamily="34" charset="0"/>
                        </a:rPr>
                        <a:t>WX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112462397"/>
                  </a:ext>
                </a:extLst>
              </a:tr>
              <a:tr h="123060">
                <a:tc>
                  <a:txBody>
                    <a:bodyPr/>
                    <a:lstStyle/>
                    <a:p>
                      <a:pPr algn="ctr" fontAlgn="ctr"/>
                      <a:r>
                        <a:rPr lang="en-US" sz="800" b="0" i="0" u="none" strike="noStrike">
                          <a:effectLst/>
                          <a:latin typeface="Arial" panose="020B0604020202020204" pitchFamily="34" charset="0"/>
                        </a:rPr>
                        <a:t>HH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91010432"/>
                  </a:ext>
                </a:extLst>
              </a:tr>
              <a:tr h="123060">
                <a:tc>
                  <a:txBody>
                    <a:bodyPr/>
                    <a:lstStyle/>
                    <a:p>
                      <a:pPr algn="ctr" fontAlgn="ctr"/>
                      <a:r>
                        <a:rPr lang="en-US" sz="800" b="0" i="0" u="none" strike="noStrike">
                          <a:effectLst/>
                          <a:latin typeface="Arial" panose="020B0604020202020204" pitchFamily="34" charset="0"/>
                        </a:rPr>
                        <a:t>NH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14657302"/>
                  </a:ext>
                </a:extLst>
              </a:tr>
              <a:tr h="123060">
                <a:tc>
                  <a:txBody>
                    <a:bodyPr/>
                    <a:lstStyle/>
                    <a:p>
                      <a:pPr algn="ctr" fontAlgn="ctr"/>
                      <a:r>
                        <a:rPr lang="en-US" sz="800" b="0" i="0" u="none" strike="noStrike">
                          <a:effectLst/>
                          <a:latin typeface="Arial" panose="020B0604020202020204" pitchFamily="34" charset="0"/>
                        </a:rPr>
                        <a:t>DT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55378860"/>
                  </a:ext>
                </a:extLst>
              </a:tr>
              <a:tr h="123060">
                <a:tc>
                  <a:txBody>
                    <a:bodyPr/>
                    <a:lstStyle/>
                    <a:p>
                      <a:pPr algn="ctr" fontAlgn="ctr"/>
                      <a:r>
                        <a:rPr lang="en-US" sz="800" b="0" i="0" u="none" strike="noStrike">
                          <a:effectLst/>
                          <a:latin typeface="Arial" panose="020B0604020202020204" pitchFamily="34" charset="0"/>
                        </a:rPr>
                        <a:t>IF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36845158"/>
                  </a:ext>
                </a:extLst>
              </a:tr>
              <a:tr h="123060">
                <a:tc>
                  <a:txBody>
                    <a:bodyPr/>
                    <a:lstStyle/>
                    <a:p>
                      <a:pPr algn="ctr" fontAlgn="ctr"/>
                      <a:r>
                        <a:rPr lang="en-US" sz="800" b="0" i="0" u="none" strike="noStrike">
                          <a:effectLst/>
                          <a:latin typeface="Arial" panose="020B0604020202020204" pitchFamily="34" charset="0"/>
                        </a:rPr>
                        <a:t>LB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044526214"/>
                  </a:ext>
                </a:extLst>
              </a:tr>
              <a:tr h="123060">
                <a:tc>
                  <a:txBody>
                    <a:bodyPr/>
                    <a:lstStyle/>
                    <a:p>
                      <a:pPr algn="ctr" fontAlgn="ctr"/>
                      <a:r>
                        <a:rPr lang="en-US" sz="800" b="0" i="0" u="none" strike="noStrike">
                          <a:effectLst/>
                          <a:latin typeface="Arial" panose="020B0604020202020204" pitchFamily="34" charset="0"/>
                        </a:rPr>
                        <a:t>SK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84416146"/>
                  </a:ext>
                </a:extLst>
              </a:tr>
              <a:tr h="123060">
                <a:tc>
                  <a:txBody>
                    <a:bodyPr/>
                    <a:lstStyle/>
                    <a:p>
                      <a:pPr algn="ctr" fontAlgn="ctr"/>
                      <a:r>
                        <a:rPr lang="en-US" sz="800" b="0" i="0" u="none" strike="noStrike">
                          <a:effectLst/>
                          <a:latin typeface="Arial" panose="020B0604020202020204" pitchFamily="34" charset="0"/>
                        </a:rPr>
                        <a:t>XE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70341113"/>
                  </a:ext>
                </a:extLst>
              </a:tr>
              <a:tr h="123060">
                <a:tc>
                  <a:txBody>
                    <a:bodyPr/>
                    <a:lstStyle/>
                    <a:p>
                      <a:pPr algn="ctr" fontAlgn="ctr"/>
                      <a:r>
                        <a:rPr lang="en-US" sz="800" b="0" i="0" u="none" strike="noStrike">
                          <a:effectLst/>
                          <a:latin typeface="Arial" panose="020B0604020202020204" pitchFamily="34" charset="0"/>
                        </a:rPr>
                        <a:t>TN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11689849"/>
                  </a:ext>
                </a:extLst>
              </a:tr>
              <a:tr h="123060">
                <a:tc>
                  <a:txBody>
                    <a:bodyPr/>
                    <a:lstStyle/>
                    <a:p>
                      <a:pPr algn="ctr" fontAlgn="ctr"/>
                      <a:r>
                        <a:rPr lang="en-US" sz="800" b="0" i="0" u="none" strike="noStrike">
                          <a:effectLst/>
                          <a:latin typeface="Arial" panose="020B0604020202020204" pitchFamily="34" charset="0"/>
                        </a:rPr>
                        <a:t>BR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18144147"/>
                  </a:ext>
                </a:extLst>
              </a:tr>
              <a:tr h="123060">
                <a:tc>
                  <a:txBody>
                    <a:bodyPr/>
                    <a:lstStyle/>
                    <a:p>
                      <a:pPr algn="ctr" fontAlgn="ctr"/>
                      <a:r>
                        <a:rPr lang="en-US" sz="800" b="0" i="0" u="none" strike="noStrike">
                          <a:effectLst/>
                          <a:latin typeface="Arial" panose="020B0604020202020204" pitchFamily="34" charset="0"/>
                        </a:rPr>
                        <a:t>JV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5009877"/>
                  </a:ext>
                </a:extLst>
              </a:tr>
              <a:tr h="123060">
                <a:tc>
                  <a:txBody>
                    <a:bodyPr/>
                    <a:lstStyle/>
                    <a:p>
                      <a:pPr algn="ctr" fontAlgn="ctr"/>
                      <a:r>
                        <a:rPr lang="en-US" sz="800" b="0" i="0" u="none" strike="noStrike">
                          <a:effectLst/>
                          <a:latin typeface="Arial" panose="020B0604020202020204" pitchFamily="34" charset="0"/>
                        </a:rPr>
                        <a:t>PX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13012268"/>
                  </a:ext>
                </a:extLst>
              </a:tr>
              <a:tr h="123060">
                <a:tc>
                  <a:txBody>
                    <a:bodyPr/>
                    <a:lstStyle/>
                    <a:p>
                      <a:pPr algn="ctr" fontAlgn="ctr"/>
                      <a:r>
                        <a:rPr lang="en-US" sz="800" b="0" i="0" u="none" strike="noStrike">
                          <a:effectLst/>
                          <a:latin typeface="Arial" panose="020B0604020202020204" pitchFamily="34" charset="0"/>
                        </a:rPr>
                        <a:t>GJ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60001812"/>
                  </a:ext>
                </a:extLst>
              </a:tr>
              <a:tr h="123060">
                <a:tc>
                  <a:txBody>
                    <a:bodyPr/>
                    <a:lstStyle/>
                    <a:p>
                      <a:pPr algn="ctr" fontAlgn="ctr"/>
                      <a:r>
                        <a:rPr lang="en-US" sz="800" b="0" i="0" u="none" strike="noStrike">
                          <a:effectLst/>
                          <a:latin typeface="Arial" panose="020B0604020202020204" pitchFamily="34" charset="0"/>
                        </a:rPr>
                        <a:t>AW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08474412"/>
                  </a:ext>
                </a:extLst>
              </a:tr>
              <a:tr h="123060">
                <a:tc>
                  <a:txBody>
                    <a:bodyPr/>
                    <a:lstStyle/>
                    <a:p>
                      <a:pPr algn="ctr" fontAlgn="ctr"/>
                      <a:r>
                        <a:rPr lang="en-US" sz="800" b="0" i="0" u="none" strike="noStrike">
                          <a:effectLst/>
                          <a:latin typeface="Arial" panose="020B0604020202020204" pitchFamily="34" charset="0"/>
                        </a:rPr>
                        <a:t>WQ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426090331"/>
                  </a:ext>
                </a:extLst>
              </a:tr>
              <a:tr h="123060">
                <a:tc>
                  <a:txBody>
                    <a:bodyPr/>
                    <a:lstStyle/>
                    <a:p>
                      <a:pPr algn="ctr" fontAlgn="ctr"/>
                      <a:r>
                        <a:rPr lang="en-US" sz="800" b="0" i="0" u="none" strike="noStrike">
                          <a:effectLst/>
                          <a:latin typeface="Arial" panose="020B0604020202020204" pitchFamily="34" charset="0"/>
                        </a:rPr>
                        <a:t>LS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313410837"/>
                  </a:ext>
                </a:extLst>
              </a:tr>
              <a:tr h="123060">
                <a:tc>
                  <a:txBody>
                    <a:bodyPr/>
                    <a:lstStyle/>
                    <a:p>
                      <a:pPr algn="ctr" fontAlgn="ctr"/>
                      <a:r>
                        <a:rPr lang="en-US" sz="800" b="0" i="0" u="none" strike="noStrike">
                          <a:effectLst/>
                          <a:latin typeface="Arial" panose="020B0604020202020204" pitchFamily="34" charset="0"/>
                        </a:rPr>
                        <a:t>UY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83109832"/>
                  </a:ext>
                </a:extLst>
              </a:tr>
              <a:tr h="123060">
                <a:tc>
                  <a:txBody>
                    <a:bodyPr/>
                    <a:lstStyle/>
                    <a:p>
                      <a:pPr algn="ctr" fontAlgn="ctr"/>
                      <a:r>
                        <a:rPr lang="en-US" sz="800" b="0" i="0" u="none" strike="noStrike">
                          <a:effectLst/>
                          <a:latin typeface="Arial" panose="020B0604020202020204" pitchFamily="34" charset="0"/>
                        </a:rPr>
                        <a:t>FM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523617"/>
                  </a:ext>
                </a:extLst>
              </a:tr>
              <a:tr h="123060">
                <a:tc>
                  <a:txBody>
                    <a:bodyPr/>
                    <a:lstStyle/>
                    <a:p>
                      <a:pPr algn="ctr" fontAlgn="ctr"/>
                      <a:r>
                        <a:rPr lang="en-US" sz="800" b="0" i="0" u="none" strike="noStrike">
                          <a:effectLst/>
                          <a:latin typeface="Arial" panose="020B0604020202020204" pitchFamily="34" charset="0"/>
                        </a:rPr>
                        <a:t>BY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02124438"/>
                  </a:ext>
                </a:extLst>
              </a:tr>
              <a:tr h="123060">
                <a:tc>
                  <a:txBody>
                    <a:bodyPr/>
                    <a:lstStyle/>
                    <a:p>
                      <a:pPr algn="ctr" fontAlgn="ctr"/>
                      <a:r>
                        <a:rPr lang="en-US" sz="800" b="0" i="0" u="none" strike="noStrike">
                          <a:effectLst/>
                          <a:latin typeface="Arial" panose="020B0604020202020204" pitchFamily="34" charset="0"/>
                        </a:rPr>
                        <a:t>IP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3508311"/>
                  </a:ext>
                </a:extLst>
              </a:tr>
              <a:tr h="123060">
                <a:tc>
                  <a:txBody>
                    <a:bodyPr/>
                    <a:lstStyle/>
                    <a:p>
                      <a:pPr algn="ctr" fontAlgn="ctr"/>
                      <a:r>
                        <a:rPr lang="en-US" sz="800" b="0" i="0" u="none" strike="noStrike">
                          <a:effectLst/>
                          <a:latin typeface="Arial" panose="020B0604020202020204" pitchFamily="34" charset="0"/>
                        </a:rPr>
                        <a:t>CL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5800694"/>
                  </a:ext>
                </a:extLst>
              </a:tr>
              <a:tr h="123060">
                <a:tc>
                  <a:txBody>
                    <a:bodyPr/>
                    <a:lstStyle/>
                    <a:p>
                      <a:pPr algn="ctr" fontAlgn="ctr"/>
                      <a:r>
                        <a:rPr lang="en-US" sz="800" b="0" i="0" u="none" strike="noStrike">
                          <a:effectLst/>
                          <a:latin typeface="Arial" panose="020B0604020202020204" pitchFamily="34" charset="0"/>
                        </a:rPr>
                        <a:t>RU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$129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2142047"/>
                  </a:ext>
                </a:extLst>
              </a:tr>
              <a:tr h="123060">
                <a:tc>
                  <a:txBody>
                    <a:bodyPr/>
                    <a:lstStyle/>
                    <a:p>
                      <a:pPr algn="ctr" fontAlgn="ctr"/>
                      <a:r>
                        <a:rPr lang="en-US" sz="800" b="0" i="0" u="none" strike="noStrike">
                          <a:effectLst/>
                          <a:latin typeface="Arial" panose="020B0604020202020204" pitchFamily="34" charset="0"/>
                        </a:rPr>
                        <a:t>VS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$157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06256221"/>
                  </a:ext>
                </a:extLst>
              </a:tr>
              <a:tr h="134737">
                <a:tc>
                  <a:txBody>
                    <a:bodyPr/>
                    <a:lstStyle/>
                    <a:p>
                      <a:pPr algn="ctr" fontAlgn="ctr"/>
                      <a:r>
                        <a:rPr lang="en-US" sz="800" b="1" i="0" u="none" strike="noStrike">
                          <a:solidFill>
                            <a:srgbClr val="FFFFFF"/>
                          </a:solidFill>
                          <a:effectLst/>
                          <a:latin typeface="Arial" panose="020B0604020202020204" pitchFamily="34" charset="0"/>
                        </a:rPr>
                        <a:t>Average Contribution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800" b="1" i="0" u="none" strike="noStrike">
                          <a:solidFill>
                            <a:srgbClr val="FFFFFF"/>
                          </a:solidFill>
                          <a:effectLst/>
                          <a:latin typeface="Arial" panose="020B0604020202020204" pitchFamily="34" charset="0"/>
                        </a:rPr>
                        <a:t>$13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800" b="1" i="0" u="none" strike="noStrike" dirty="0">
                          <a:solidFill>
                            <a:srgbClr val="FFFFFF"/>
                          </a:solidFill>
                          <a:effectLst/>
                          <a:latin typeface="Arial" panose="020B0604020202020204" pitchFamily="34" charset="0"/>
                        </a:rPr>
                        <a:t>$50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extLst>
                  <a:ext uri="{0D108BD9-81ED-4DB2-BD59-A6C34878D82A}">
                    <a16:rowId xmlns:a16="http://schemas.microsoft.com/office/drawing/2014/main" val="933642543"/>
                  </a:ext>
                </a:extLst>
              </a:tr>
            </a:tbl>
          </a:graphicData>
        </a:graphic>
      </p:graphicFrame>
    </p:spTree>
    <p:custDataLst>
      <p:tags r:id="rId1"/>
    </p:custDataLst>
    <p:extLst>
      <p:ext uri="{BB962C8B-B14F-4D97-AF65-F5344CB8AC3E}">
        <p14:creationId xmlns:p14="http://schemas.microsoft.com/office/powerpoint/2010/main" val="2760353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HC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Active Health Care</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21</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HC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1964623275"/>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HC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4234145386"/>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85321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HCTex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Health Care</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526627"/>
            <a:ext cx="8229600" cy="4389120"/>
          </a:xfrm>
        </p:spPr>
        <p:txBody>
          <a:bodyPr/>
          <a:lstStyle/>
          <a:p>
            <a:pPr lvl="2"/>
            <a:r>
              <a:rPr lang="en-US" sz="1200" dirty="0"/>
              <a:t>Active Health Care benefits include medical and dental benefits. Many companies focus on the competitiveness of this combined health package for their active employees.	</a:t>
            </a:r>
          </a:p>
          <a:p>
            <a:pPr lvl="2"/>
            <a:r>
              <a:rPr lang="en-US" sz="1200" dirty="0"/>
              <a:t>{{COMPANY}} ranks {{RANK1}} in employer-provided value ({{PERC1}}% of average) and {{RANK2}} in total value ({{PERC2}}%) for active health care benefits	</a:t>
            </a:r>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22</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spTree>
    <p:custDataLst>
      <p:tags r:id="rId1"/>
    </p:custDataLst>
    <p:extLst>
      <p:ext uri="{BB962C8B-B14F-4D97-AF65-F5344CB8AC3E}">
        <p14:creationId xmlns:p14="http://schemas.microsoft.com/office/powerpoint/2010/main" val="3925560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VISTex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Vision Benefits (Plan Design)</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526627"/>
            <a:ext cx="8229600" cy="4389120"/>
          </a:xfrm>
        </p:spPr>
        <p:txBody>
          <a:bodyPr/>
          <a:lstStyle/>
          <a:p>
            <a:pPr lvl="2"/>
            <a:r>
              <a:rPr lang="en-US" sz="1200" dirty="0"/>
              <a:t>Vision benefits represent a small cost component of the total benefits program and have very little variation and therefore are not valued in the </a:t>
            </a:r>
            <a:r>
              <a:rPr lang="en-US" sz="1200" dirty="0" err="1"/>
              <a:t>BenVal</a:t>
            </a:r>
            <a:r>
              <a:rPr lang="en-US" sz="1200" dirty="0"/>
              <a:t> study</a:t>
            </a:r>
          </a:p>
          <a:p>
            <a:pPr lvl="2"/>
            <a:r>
              <a:rPr lang="en-US" sz="1200" dirty="0"/>
              <a:t>{{RANK1}} of the {{RANK2}} companies in the peer group offer a comprehensive (i.e., exams, lenses, frames) vision program</a:t>
            </a:r>
          </a:p>
          <a:p>
            <a:pPr lvl="2"/>
            <a:r>
              <a:rPr lang="en-US" sz="1200" dirty="0"/>
              <a:t>The chart below summarizes the key plan design features for the most prevalent vision plan design within the {{COMPANY1}} peer group:</a:t>
            </a:r>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23</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11" name="VT1_Table1">
            <a:extLst>
              <a:ext uri="{FF2B5EF4-FFF2-40B4-BE49-F238E27FC236}">
                <a16:creationId xmlns:a16="http://schemas.microsoft.com/office/drawing/2014/main" id="{1B70D406-F819-42D2-87A3-49C8839BF830}"/>
              </a:ext>
            </a:extLst>
          </p:cNvPr>
          <p:cNvGraphicFramePr>
            <a:graphicFrameLocks noGrp="1"/>
          </p:cNvGraphicFramePr>
          <p:nvPr>
            <p:extLst>
              <p:ext uri="{D42A27DB-BD31-4B8C-83A1-F6EECF244321}">
                <p14:modId xmlns:p14="http://schemas.microsoft.com/office/powerpoint/2010/main" val="3585053384"/>
              </p:ext>
            </p:extLst>
          </p:nvPr>
        </p:nvGraphicFramePr>
        <p:xfrm>
          <a:off x="457201" y="2626354"/>
          <a:ext cx="8229600" cy="3469653"/>
        </p:xfrm>
        <a:graphic>
          <a:graphicData uri="http://schemas.openxmlformats.org/drawingml/2006/table">
            <a:tbl>
              <a:tblPr/>
              <a:tblGrid>
                <a:gridCol w="2889448">
                  <a:extLst>
                    <a:ext uri="{9D8B030D-6E8A-4147-A177-3AD203B41FA5}">
                      <a16:colId xmlns:a16="http://schemas.microsoft.com/office/drawing/2014/main" val="1286399171"/>
                    </a:ext>
                  </a:extLst>
                </a:gridCol>
                <a:gridCol w="2670076">
                  <a:extLst>
                    <a:ext uri="{9D8B030D-6E8A-4147-A177-3AD203B41FA5}">
                      <a16:colId xmlns:a16="http://schemas.microsoft.com/office/drawing/2014/main" val="3641768782"/>
                    </a:ext>
                  </a:extLst>
                </a:gridCol>
                <a:gridCol w="2670076">
                  <a:extLst>
                    <a:ext uri="{9D8B030D-6E8A-4147-A177-3AD203B41FA5}">
                      <a16:colId xmlns:a16="http://schemas.microsoft.com/office/drawing/2014/main" val="1870232377"/>
                    </a:ext>
                  </a:extLst>
                </a:gridCol>
              </a:tblGrid>
              <a:tr h="161098">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Arial" panose="020B0604020202020204" pitchFamily="34" charset="0"/>
                        </a:rPr>
                        <a:t>Plan Feature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0000"/>
                          </a:solidFill>
                          <a:effectLst/>
                          <a:latin typeface="Arial" panose="020B0604020202020204" pitchFamily="34" charset="0"/>
                        </a:rPr>
                        <a:t>AMD's</a:t>
                      </a:r>
                      <a:r>
                        <a:rPr lang="en-US" sz="1000" b="1" i="0" u="none" strike="noStrike" dirty="0">
                          <a:solidFill>
                            <a:srgbClr val="FFFFFF"/>
                          </a:solidFill>
                          <a:effectLst/>
                          <a:latin typeface="Arial" panose="020B0604020202020204" pitchFamily="34" charset="0"/>
                        </a:rPr>
                        <a:t> Vision Plan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Typical Peer Group Company Plan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2085482772"/>
                  </a:ext>
                </a:extLst>
              </a:tr>
              <a:tr h="161098">
                <a:tc vMerge="1">
                  <a:txBody>
                    <a:bodyPr/>
                    <a:lstStyle/>
                    <a:p>
                      <a:endParaRPr lang="en-US"/>
                    </a:p>
                  </a:txBody>
                  <a:tcPr/>
                </a:tc>
                <a:tc>
                  <a:txBody>
                    <a:bodyPr/>
                    <a:lstStyle/>
                    <a:p>
                      <a:pPr algn="ctr" fontAlgn="ctr"/>
                      <a:r>
                        <a:rPr lang="en-US" sz="1000" b="1" i="0" u="none" strike="noStrike">
                          <a:solidFill>
                            <a:srgbClr val="FFFFFF"/>
                          </a:solidFill>
                          <a:effectLst/>
                          <a:latin typeface="Arial" panose="020B0604020202020204" pitchFamily="34" charset="0"/>
                        </a:rPr>
                        <a:t>In-Network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In-Network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818409472"/>
                  </a:ext>
                </a:extLst>
              </a:tr>
              <a:tr h="171167">
                <a:tc>
                  <a:txBody>
                    <a:bodyPr/>
                    <a:lstStyle/>
                    <a:p>
                      <a:pPr algn="l" fontAlgn="ctr"/>
                      <a:r>
                        <a:rPr lang="en-US" sz="1000" b="1" i="0" u="none" strike="noStrike" dirty="0">
                          <a:solidFill>
                            <a:srgbClr val="000000"/>
                          </a:solidFill>
                          <a:effectLst/>
                          <a:latin typeface="Arial" panose="020B0604020202020204" pitchFamily="34" charset="0"/>
                        </a:rPr>
                        <a:t>Individual Deductible</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None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7106695"/>
                  </a:ext>
                </a:extLst>
              </a:tr>
              <a:tr h="171167">
                <a:tc>
                  <a:txBody>
                    <a:bodyPr/>
                    <a:lstStyle/>
                    <a:p>
                      <a:pPr algn="l" fontAlgn="ctr"/>
                      <a:r>
                        <a:rPr lang="en-US" sz="1000" b="1" i="1" u="none" strike="noStrike" dirty="0">
                          <a:solidFill>
                            <a:srgbClr val="000000"/>
                          </a:solidFill>
                          <a:effectLst/>
                          <a:latin typeface="Arial" panose="020B0604020202020204" pitchFamily="34" charset="0"/>
                        </a:rPr>
                        <a:t>Examination</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endParaRPr lang="en-US" sz="1000" dirty="0"/>
                    </a:p>
                  </a:txBody>
                  <a:tcPr marL="114300" marR="9525" marT="9525" marB="0" anchor="ctr">
                    <a:lnL w="6350" cap="flat" cmpd="sng" algn="ctr">
                      <a:solidFill>
                        <a:srgbClr val="FFFFFF"/>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endParaRPr lang="en-US" sz="1000" dirty="0"/>
                    </a:p>
                  </a:txBody>
                  <a:tcPr marL="114300" marR="9525" marT="9525" marB="0" anchor="ctr">
                    <a:lnL w="9525"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extLst>
                  <a:ext uri="{0D108BD9-81ED-4DB2-BD59-A6C34878D82A}">
                    <a16:rowId xmlns:a16="http://schemas.microsoft.com/office/drawing/2014/main" val="2840980705"/>
                  </a:ext>
                </a:extLst>
              </a:tr>
              <a:tr h="171167">
                <a:tc>
                  <a:txBody>
                    <a:bodyPr/>
                    <a:lstStyle/>
                    <a:p>
                      <a:pPr algn="l" fontAlgn="ctr"/>
                      <a:r>
                        <a:rPr lang="en-US" sz="1000" b="1" i="0" u="none" strike="noStrike" dirty="0">
                          <a:solidFill>
                            <a:srgbClr val="000000"/>
                          </a:solidFill>
                          <a:effectLst/>
                          <a:latin typeface="Arial" panose="020B0604020202020204" pitchFamily="34" charset="0"/>
                        </a:rPr>
                        <a:t>Copay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$10 copay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None – $10 copay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23974376"/>
                  </a:ext>
                </a:extLst>
              </a:tr>
              <a:tr h="171167">
                <a:tc>
                  <a:txBody>
                    <a:bodyPr/>
                    <a:lstStyle/>
                    <a:p>
                      <a:pPr algn="l" fontAlgn="ctr"/>
                      <a:r>
                        <a:rPr lang="en-US" sz="1000" b="1" i="0" u="none" strike="noStrike" dirty="0">
                          <a:solidFill>
                            <a:srgbClr val="000000"/>
                          </a:solidFill>
                          <a:effectLst/>
                          <a:latin typeface="Arial" panose="020B0604020202020204" pitchFamily="34" charset="0"/>
                        </a:rPr>
                        <a:t>Frequency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Every plan year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Every 12 months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69970623"/>
                  </a:ext>
                </a:extLst>
              </a:tr>
              <a:tr h="300045">
                <a:tc>
                  <a:txBody>
                    <a:bodyPr/>
                    <a:lstStyle/>
                    <a:p>
                      <a:pPr algn="l" fontAlgn="ctr"/>
                      <a:r>
                        <a:rPr lang="en-US" sz="1000" b="1" i="1" u="none" strike="noStrike" dirty="0">
                          <a:solidFill>
                            <a:srgbClr val="000000"/>
                          </a:solidFill>
                          <a:effectLst/>
                          <a:latin typeface="Arial" panose="020B0604020202020204" pitchFamily="34" charset="0"/>
                        </a:rPr>
                        <a:t>Frames</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endParaRPr lang="en-US" dirty="0"/>
                    </a:p>
                  </a:txBody>
                  <a:tcPr marL="114300" marR="9525" marT="9525" marB="0" anchor="ctr">
                    <a:lnL w="6350" cap="flat" cmpd="sng" algn="ctr">
                      <a:solidFill>
                        <a:srgbClr val="FFFFFF"/>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endParaRPr lang="en-US" sz="1000" dirty="0"/>
                    </a:p>
                  </a:txBody>
                  <a:tcPr marL="114300" marR="9525" marT="9525" marB="0" anchor="ctr">
                    <a:lnL w="9525"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extLst>
                  <a:ext uri="{0D108BD9-81ED-4DB2-BD59-A6C34878D82A}">
                    <a16:rowId xmlns:a16="http://schemas.microsoft.com/office/drawing/2014/main" val="1645349004"/>
                  </a:ext>
                </a:extLst>
              </a:tr>
              <a:tr h="171167">
                <a:tc>
                  <a:txBody>
                    <a:bodyPr/>
                    <a:lstStyle/>
                    <a:p>
                      <a:pPr algn="l" fontAlgn="ctr"/>
                      <a:r>
                        <a:rPr lang="en-US" sz="1000" b="1" i="0" u="none" strike="noStrike" dirty="0">
                          <a:solidFill>
                            <a:srgbClr val="000000"/>
                          </a:solidFill>
                          <a:effectLst/>
                          <a:latin typeface="Arial" panose="020B0604020202020204" pitchFamily="34" charset="0"/>
                        </a:rPr>
                        <a:t>Copay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None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44103858"/>
                  </a:ext>
                </a:extLst>
              </a:tr>
              <a:tr h="171167">
                <a:tc>
                  <a:txBody>
                    <a:bodyPr/>
                    <a:lstStyle/>
                    <a:p>
                      <a:pPr algn="l" fontAlgn="ctr"/>
                      <a:r>
                        <a:rPr lang="en-US" sz="1000" b="1" i="0" u="none" strike="noStrike">
                          <a:solidFill>
                            <a:srgbClr val="000000"/>
                          </a:solidFill>
                          <a:effectLst/>
                          <a:latin typeface="Arial" panose="020B0604020202020204" pitchFamily="34" charset="0"/>
                        </a:rPr>
                        <a:t>Allowance</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$150 allowance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104959119"/>
                  </a:ext>
                </a:extLst>
              </a:tr>
              <a:tr h="171167">
                <a:tc>
                  <a:txBody>
                    <a:bodyPr/>
                    <a:lstStyle/>
                    <a:p>
                      <a:pPr algn="l" fontAlgn="ctr"/>
                      <a:r>
                        <a:rPr lang="en-US" sz="1000" b="1" i="0" u="none" strike="noStrike" dirty="0">
                          <a:solidFill>
                            <a:srgbClr val="000000"/>
                          </a:solidFill>
                          <a:effectLst/>
                          <a:latin typeface="Arial" panose="020B0604020202020204" pitchFamily="34" charset="0"/>
                        </a:rPr>
                        <a:t>Frequency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Every plan year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Every 12 months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19720299"/>
                  </a:ext>
                </a:extLst>
              </a:tr>
              <a:tr h="322196">
                <a:tc>
                  <a:txBody>
                    <a:bodyPr/>
                    <a:lstStyle/>
                    <a:p>
                      <a:pPr algn="l" fontAlgn="ctr"/>
                      <a:r>
                        <a:rPr lang="en-US" sz="1000" b="1" i="0" u="none" strike="noStrike" dirty="0">
                          <a:solidFill>
                            <a:srgbClr val="000000"/>
                          </a:solidFill>
                          <a:effectLst/>
                          <a:latin typeface="Arial" panose="020B0604020202020204" pitchFamily="34" charset="0"/>
                        </a:rPr>
                        <a:t>Contacts In Lieu Of Frames</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$150, every plan year,</a:t>
                      </a:r>
                    </a:p>
                    <a:p>
                      <a:pPr algn="ctr" fontAlgn="ctr"/>
                      <a:r>
                        <a:rPr lang="en-US" sz="1000" b="0" i="0" u="none" strike="noStrike" dirty="0">
                          <a:effectLst/>
                          <a:latin typeface="Arial" panose="020B0604020202020204" pitchFamily="34" charset="0"/>
                        </a:rPr>
                        <a:t>in lieu of frames, lenses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$150, every 12 months, </a:t>
                      </a:r>
                      <a:br>
                        <a:rPr lang="en-US" sz="1000" b="0" i="0" u="none" strike="noStrike" dirty="0">
                          <a:effectLst/>
                          <a:latin typeface="Arial" panose="020B0604020202020204" pitchFamily="34" charset="0"/>
                        </a:rPr>
                      </a:br>
                      <a:r>
                        <a:rPr lang="en-US" sz="1000" b="0" i="0" u="none" strike="noStrike" dirty="0">
                          <a:effectLst/>
                          <a:latin typeface="Arial" panose="020B0604020202020204" pitchFamily="34" charset="0"/>
                        </a:rPr>
                        <a:t>in lieu of frames, lenses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90061573"/>
                  </a:ext>
                </a:extLst>
              </a:tr>
              <a:tr h="300045">
                <a:tc>
                  <a:txBody>
                    <a:bodyPr/>
                    <a:lstStyle/>
                    <a:p>
                      <a:pPr algn="l" fontAlgn="ctr"/>
                      <a:r>
                        <a:rPr lang="en-US" sz="1000" b="1" i="1" u="none" strike="noStrike" dirty="0">
                          <a:solidFill>
                            <a:srgbClr val="000000"/>
                          </a:solidFill>
                          <a:effectLst/>
                          <a:latin typeface="Arial" panose="020B0604020202020204" pitchFamily="34" charset="0"/>
                        </a:rPr>
                        <a:t>Lenses</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endParaRPr lang="en-US" dirty="0"/>
                    </a:p>
                  </a:txBody>
                  <a:tcPr marL="114300" marR="9525" marT="9525" marB="0" anchor="ctr">
                    <a:lnL w="6350" cap="flat" cmpd="sng" algn="ctr">
                      <a:solidFill>
                        <a:srgbClr val="FFFFFF"/>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tc>
                  <a:txBody>
                    <a:bodyPr/>
                    <a:lstStyle/>
                    <a:p>
                      <a:endParaRPr lang="en-US" sz="1000" dirty="0"/>
                    </a:p>
                  </a:txBody>
                  <a:tcPr marL="114300" marR="9525" marT="9525" marB="0" anchor="ctr">
                    <a:lnL w="9525"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BFC1C4"/>
                    </a:solidFill>
                  </a:tcPr>
                </a:tc>
                <a:extLst>
                  <a:ext uri="{0D108BD9-81ED-4DB2-BD59-A6C34878D82A}">
                    <a16:rowId xmlns:a16="http://schemas.microsoft.com/office/drawing/2014/main" val="2776898254"/>
                  </a:ext>
                </a:extLst>
              </a:tr>
              <a:tr h="171167">
                <a:tc>
                  <a:txBody>
                    <a:bodyPr/>
                    <a:lstStyle/>
                    <a:p>
                      <a:pPr algn="l" fontAlgn="ctr"/>
                      <a:r>
                        <a:rPr lang="en-US" sz="1000" b="1" i="0" u="none" strike="noStrike" dirty="0">
                          <a:solidFill>
                            <a:srgbClr val="000000"/>
                          </a:solidFill>
                          <a:effectLst/>
                          <a:latin typeface="Arial" panose="020B0604020202020204" pitchFamily="34" charset="0"/>
                        </a:rPr>
                        <a:t>Copay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$25 copay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None – $25 copay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81788118"/>
                  </a:ext>
                </a:extLst>
              </a:tr>
              <a:tr h="171167">
                <a:tc>
                  <a:txBody>
                    <a:bodyPr/>
                    <a:lstStyle/>
                    <a:p>
                      <a:pPr algn="l" fontAlgn="ctr"/>
                      <a:r>
                        <a:rPr lang="en-US" sz="1000" b="1" i="0" u="none" strike="noStrike" dirty="0">
                          <a:solidFill>
                            <a:srgbClr val="000000"/>
                          </a:solidFill>
                          <a:effectLst/>
                          <a:latin typeface="Arial" panose="020B0604020202020204" pitchFamily="34" charset="0"/>
                        </a:rPr>
                        <a:t>Frequency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Every plan year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Every 12 months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695169660"/>
                  </a:ext>
                </a:extLst>
              </a:tr>
              <a:tr h="171167">
                <a:tc>
                  <a:txBody>
                    <a:bodyPr/>
                    <a:lstStyle/>
                    <a:p>
                      <a:pPr algn="l" fontAlgn="ctr"/>
                      <a:r>
                        <a:rPr lang="en-US" sz="1000" b="1" i="0" u="none" strike="noStrike" dirty="0">
                          <a:solidFill>
                            <a:srgbClr val="000000"/>
                          </a:solidFill>
                          <a:effectLst/>
                          <a:latin typeface="Arial" panose="020B0604020202020204" pitchFamily="34" charset="0"/>
                        </a:rPr>
                        <a:t>Laser Surgery Lifetime Maximum Per Eye</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Discount available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Discounts available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6750015"/>
                  </a:ext>
                </a:extLst>
              </a:tr>
              <a:tr h="171167">
                <a:tc>
                  <a:txBody>
                    <a:bodyPr/>
                    <a:lstStyle/>
                    <a:p>
                      <a:pPr algn="l" fontAlgn="ctr"/>
                      <a:r>
                        <a:rPr lang="en-US" sz="1000" b="1" i="1" u="none" strike="noStrike" dirty="0">
                          <a:solidFill>
                            <a:srgbClr val="000000"/>
                          </a:solidFill>
                          <a:effectLst/>
                          <a:latin typeface="Arial" panose="020B0604020202020204" pitchFamily="34" charset="0"/>
                        </a:rPr>
                        <a:t>Contributions ($)</a:t>
                      </a:r>
                    </a:p>
                  </a:txBody>
                  <a:tcPr marL="1143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a:solidFill>
                            <a:srgbClr val="000000"/>
                          </a:solidFill>
                          <a:effectLst/>
                          <a:latin typeface="Arial" panose="020B0604020202020204" pitchFamily="34" charset="0"/>
                        </a:rPr>
                        <a:t> </a:t>
                      </a:r>
                    </a:p>
                  </a:txBody>
                  <a:tcPr marL="114300" marR="9525" marT="9525" marB="0" anchor="ctr">
                    <a:lnL w="6350" cap="flat" cmpd="sng" algn="ctr">
                      <a:solidFill>
                        <a:srgbClr val="FFFFFF"/>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pPr algn="l" fontAlgn="ctr"/>
                      <a:r>
                        <a:rPr lang="en-US" sz="1000" b="1" i="1" u="none" strike="noStrike" dirty="0">
                          <a:solidFill>
                            <a:srgbClr val="000000"/>
                          </a:solidFill>
                          <a:effectLst/>
                          <a:latin typeface="Arial" panose="020B0604020202020204" pitchFamily="34" charset="0"/>
                        </a:rPr>
                        <a:t> </a:t>
                      </a:r>
                    </a:p>
                  </a:txBody>
                  <a:tcPr marL="114300" marR="9525" marT="9525" marB="0" anchor="ctr">
                    <a:lnL w="9525" cap="flat" cmpd="sng" algn="ctr">
                      <a:no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extLst>
                  <a:ext uri="{0D108BD9-81ED-4DB2-BD59-A6C34878D82A}">
                    <a16:rowId xmlns:a16="http://schemas.microsoft.com/office/drawing/2014/main" val="734440336"/>
                  </a:ext>
                </a:extLst>
              </a:tr>
              <a:tr h="171167">
                <a:tc>
                  <a:txBody>
                    <a:bodyPr/>
                    <a:lstStyle/>
                    <a:p>
                      <a:pPr algn="l" fontAlgn="ctr"/>
                      <a:r>
                        <a:rPr lang="en-US" sz="1000" b="1" i="0" u="none" strike="noStrike" dirty="0">
                          <a:solidFill>
                            <a:srgbClr val="000000"/>
                          </a:solidFill>
                          <a:effectLst/>
                          <a:latin typeface="Arial" panose="020B0604020202020204" pitchFamily="34" charset="0"/>
                        </a:rPr>
                        <a:t>Employee Only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62264854"/>
                  </a:ext>
                </a:extLst>
              </a:tr>
              <a:tr h="171167">
                <a:tc>
                  <a:txBody>
                    <a:bodyPr/>
                    <a:lstStyle/>
                    <a:p>
                      <a:pPr algn="l" fontAlgn="ctr"/>
                      <a:r>
                        <a:rPr lang="en-US" sz="1000" b="1" i="0" u="none" strike="noStrike" dirty="0">
                          <a:solidFill>
                            <a:srgbClr val="000000"/>
                          </a:solidFill>
                          <a:effectLst/>
                          <a:latin typeface="Arial" panose="020B0604020202020204" pitchFamily="34" charset="0"/>
                        </a:rPr>
                        <a:t>Family</a:t>
                      </a:r>
                    </a:p>
                  </a:txBody>
                  <a:tcPr marL="228600"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33829612"/>
                  </a:ext>
                </a:extLst>
              </a:tr>
            </a:tbl>
          </a:graphicData>
        </a:graphic>
      </p:graphicFrame>
    </p:spTree>
    <p:custDataLst>
      <p:tags r:id="rId1"/>
    </p:custDataLst>
    <p:extLst>
      <p:ext uri="{BB962C8B-B14F-4D97-AF65-F5344CB8AC3E}">
        <p14:creationId xmlns:p14="http://schemas.microsoft.com/office/powerpoint/2010/main" val="3608021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VISText (2)">
    <p:spTree>
      <p:nvGrpSpPr>
        <p:cNvPr id="1" name=""/>
        <p:cNvGrpSpPr/>
        <p:nvPr/>
      </p:nvGrpSpPr>
      <p:grpSpPr>
        <a:xfrm>
          <a:off x="0" y="0"/>
          <a:ext cx="0" cy="0"/>
          <a:chOff x="0" y="0"/>
          <a:chExt cx="0" cy="0"/>
        </a:xfrm>
      </p:grpSpPr>
      <p:sp>
        <p:nvSpPr>
          <p:cNvPr id="5" name="Text Placeholder 4"/>
          <p:cNvSpPr>
            <a:spLocks noGrp="1"/>
          </p:cNvSpPr>
          <p:nvPr>
            <p:ph type="body" sz="quarter" idx="1"/>
            <p:custDataLst>
              <p:tags r:id="rId2"/>
            </p:custDataLst>
          </p:nvPr>
        </p:nvSpPr>
        <p:spPr>
          <a:xfrm>
            <a:off x="457200" y="1088568"/>
            <a:ext cx="8229600" cy="4389120"/>
          </a:xfrm>
        </p:spPr>
        <p:txBody>
          <a:bodyPr/>
          <a:lstStyle/>
          <a:p>
            <a:pPr lvl="2"/>
            <a:r>
              <a:rPr lang="en-US" sz="1200" dirty="0"/>
              <a:t>The average monthly contributions for {{COMPANY1}} peer group are {{CASH1}}for </a:t>
            </a:r>
            <a:r>
              <a:rPr lang="en-US" sz="1200"/>
              <a:t>employee-only and {{CASH2}}for </a:t>
            </a:r>
            <a:r>
              <a:rPr lang="en-US" sz="1200" dirty="0"/>
              <a:t>employee plus family</a:t>
            </a:r>
          </a:p>
          <a:p>
            <a:pPr lvl="3"/>
            <a:r>
              <a:rPr lang="en-US" sz="1200" dirty="0"/>
              <a:t>{{COMPANY1}} employee contributions are {{RANK1}} for employee-only ({{CASH3}}) and {{RANK2}} for employee plus family ({{CASH4}})</a:t>
            </a:r>
          </a:p>
          <a:p>
            <a:pPr lvl="3"/>
            <a:endParaRPr lang="en-US" sz="1000" dirty="0"/>
          </a:p>
          <a:p>
            <a:pPr lvl="2"/>
            <a:endParaRPr lang="en-US" sz="1200" dirty="0"/>
          </a:p>
        </p:txBody>
      </p:sp>
      <p:graphicFrame>
        <p:nvGraphicFramePr>
          <p:cNvPr id="7" name="VT2_Table1">
            <a:extLst>
              <a:ext uri="{FF2B5EF4-FFF2-40B4-BE49-F238E27FC236}">
                <a16:creationId xmlns:a16="http://schemas.microsoft.com/office/drawing/2014/main" id="{742087C3-75B7-4731-AA5D-BC1219AFEA94}"/>
              </a:ext>
            </a:extLst>
          </p:cNvPr>
          <p:cNvGraphicFramePr>
            <a:graphicFrameLocks noGrp="1"/>
          </p:cNvGraphicFramePr>
          <p:nvPr>
            <p:extLst>
              <p:ext uri="{D42A27DB-BD31-4B8C-83A1-F6EECF244321}">
                <p14:modId xmlns:p14="http://schemas.microsoft.com/office/powerpoint/2010/main" val="3903329930"/>
              </p:ext>
            </p:extLst>
          </p:nvPr>
        </p:nvGraphicFramePr>
        <p:xfrm>
          <a:off x="457200" y="1542461"/>
          <a:ext cx="8229600" cy="4670171"/>
        </p:xfrm>
        <a:graphic>
          <a:graphicData uri="http://schemas.openxmlformats.org/drawingml/2006/table">
            <a:tbl>
              <a:tblPr/>
              <a:tblGrid>
                <a:gridCol w="3834376">
                  <a:extLst>
                    <a:ext uri="{9D8B030D-6E8A-4147-A177-3AD203B41FA5}">
                      <a16:colId xmlns:a16="http://schemas.microsoft.com/office/drawing/2014/main" val="4173352356"/>
                    </a:ext>
                  </a:extLst>
                </a:gridCol>
                <a:gridCol w="2197612">
                  <a:extLst>
                    <a:ext uri="{9D8B030D-6E8A-4147-A177-3AD203B41FA5}">
                      <a16:colId xmlns:a16="http://schemas.microsoft.com/office/drawing/2014/main" val="4045509920"/>
                    </a:ext>
                  </a:extLst>
                </a:gridCol>
                <a:gridCol w="2197612">
                  <a:extLst>
                    <a:ext uri="{9D8B030D-6E8A-4147-A177-3AD203B41FA5}">
                      <a16:colId xmlns:a16="http://schemas.microsoft.com/office/drawing/2014/main" val="3091981994"/>
                    </a:ext>
                  </a:extLst>
                </a:gridCol>
              </a:tblGrid>
              <a:tr h="157823">
                <a:tc>
                  <a:txBody>
                    <a:bodyPr/>
                    <a:lstStyle/>
                    <a:p>
                      <a:pPr algn="l" fontAlgn="b"/>
                      <a:r>
                        <a:rPr lang="en-US" sz="800" b="0" i="1" u="none" strike="noStrike" dirty="0">
                          <a:effectLst/>
                          <a:latin typeface="Arial" panose="020B0604020202020204" pitchFamily="34" charset="0"/>
                        </a:rPr>
                        <a:t>Monthly Contributions for Highest-Enrolled Plans</a:t>
                      </a: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082171828"/>
                  </a:ext>
                </a:extLst>
              </a:tr>
              <a:tr h="125343">
                <a:tc>
                  <a:txBody>
                    <a:bodyPr/>
                    <a:lstStyle/>
                    <a:p>
                      <a:pPr algn="ctr" fontAlgn="ctr"/>
                      <a:r>
                        <a:rPr lang="en-US" sz="800" b="1" i="0" u="none" strike="noStrike" dirty="0">
                          <a:solidFill>
                            <a:srgbClr val="FFFFFF"/>
                          </a:solidFill>
                          <a:effectLst/>
                          <a:latin typeface="Arial" panose="020B0604020202020204" pitchFamily="34" charset="0"/>
                        </a:rPr>
                        <a:t>Companies with Vision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dirty="0">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2026785493"/>
                  </a:ext>
                </a:extLst>
              </a:tr>
              <a:tr h="125343">
                <a:tc>
                  <a:txBody>
                    <a:bodyPr/>
                    <a:lstStyle/>
                    <a:p>
                      <a:pPr algn="ctr" fontAlgn="ctr"/>
                      <a:r>
                        <a:rPr lang="en-US" sz="800" b="0" i="0" u="none" strike="noStrike" dirty="0">
                          <a:effectLst/>
                          <a:latin typeface="Arial" panose="020B0604020202020204" pitchFamily="34" charset="0"/>
                        </a:rPr>
                        <a:t>KZ</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50101962"/>
                  </a:ext>
                </a:extLst>
              </a:tr>
              <a:tr h="125343">
                <a:tc>
                  <a:txBody>
                    <a:bodyPr/>
                    <a:lstStyle/>
                    <a:p>
                      <a:pPr algn="ctr" fontAlgn="ctr"/>
                      <a:r>
                        <a:rPr lang="en-US" sz="800" b="0" i="0" u="none" strike="noStrike">
                          <a:effectLst/>
                          <a:latin typeface="Arial" panose="020B0604020202020204" pitchFamily="34" charset="0"/>
                        </a:rPr>
                        <a:t>RZ</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31011759"/>
                  </a:ext>
                </a:extLst>
              </a:tr>
              <a:tr h="125343">
                <a:tc>
                  <a:txBody>
                    <a:bodyPr/>
                    <a:lstStyle/>
                    <a:p>
                      <a:pPr algn="ctr" fontAlgn="ctr"/>
                      <a:r>
                        <a:rPr lang="en-US" sz="800" b="0" i="0" u="none" strike="noStrike">
                          <a:effectLst/>
                          <a:latin typeface="Arial" panose="020B0604020202020204" pitchFamily="34" charset="0"/>
                        </a:rPr>
                        <a:t>GC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13799998"/>
                  </a:ext>
                </a:extLst>
              </a:tr>
              <a:tr h="125343">
                <a:tc>
                  <a:txBody>
                    <a:bodyPr/>
                    <a:lstStyle/>
                    <a:p>
                      <a:pPr algn="ctr" fontAlgn="ctr"/>
                      <a:r>
                        <a:rPr lang="en-US" sz="800" b="0" i="0" u="none" strike="noStrike">
                          <a:effectLst/>
                          <a:latin typeface="Arial" panose="020B0604020202020204" pitchFamily="34" charset="0"/>
                        </a:rPr>
                        <a:t>YM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668377928"/>
                  </a:ext>
                </a:extLst>
              </a:tr>
              <a:tr h="125343">
                <a:tc>
                  <a:txBody>
                    <a:bodyPr/>
                    <a:lstStyle/>
                    <a:p>
                      <a:pPr algn="ctr" fontAlgn="ctr"/>
                      <a:r>
                        <a:rPr lang="en-US" sz="800" b="0" i="0" u="none" strike="noStrike">
                          <a:effectLst/>
                          <a:latin typeface="Arial" panose="020B0604020202020204" pitchFamily="34" charset="0"/>
                        </a:rPr>
                        <a:t>VP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41723782"/>
                  </a:ext>
                </a:extLst>
              </a:tr>
              <a:tr h="125343">
                <a:tc>
                  <a:txBody>
                    <a:bodyPr/>
                    <a:lstStyle/>
                    <a:p>
                      <a:pPr algn="ctr" fontAlgn="ctr"/>
                      <a:r>
                        <a:rPr lang="en-US" sz="800" b="0" i="0" u="none" strike="noStrike">
                          <a:effectLst/>
                          <a:latin typeface="Arial" panose="020B0604020202020204" pitchFamily="34" charset="0"/>
                        </a:rPr>
                        <a:t>DO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48631051"/>
                  </a:ext>
                </a:extLst>
              </a:tr>
              <a:tr h="125343">
                <a:tc>
                  <a:txBody>
                    <a:bodyPr/>
                    <a:lstStyle/>
                    <a:p>
                      <a:pPr algn="ctr" fontAlgn="ctr"/>
                      <a:r>
                        <a:rPr lang="en-US" sz="800" b="0" i="0" u="none" strike="noStrike">
                          <a:effectLst/>
                          <a:latin typeface="Arial" panose="020B0604020202020204" pitchFamily="34" charset="0"/>
                        </a:rPr>
                        <a:t>MG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03408529"/>
                  </a:ext>
                </a:extLst>
              </a:tr>
              <a:tr h="125343">
                <a:tc>
                  <a:txBody>
                    <a:bodyPr/>
                    <a:lstStyle/>
                    <a:p>
                      <a:pPr algn="ctr" fontAlgn="ctr"/>
                      <a:r>
                        <a:rPr lang="en-US" sz="800" b="0" i="0" u="none" strike="noStrike">
                          <a:effectLst/>
                          <a:latin typeface="Arial" panose="020B0604020202020204" pitchFamily="34" charset="0"/>
                        </a:rPr>
                        <a:t>JA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35048297"/>
                  </a:ext>
                </a:extLst>
              </a:tr>
              <a:tr h="125343">
                <a:tc>
                  <a:txBody>
                    <a:bodyPr/>
                    <a:lstStyle/>
                    <a:p>
                      <a:pPr algn="ctr" fontAlgn="ctr"/>
                      <a:r>
                        <a:rPr lang="en-US" sz="800" b="0" i="0" u="none" strike="noStrike">
                          <a:effectLst/>
                          <a:latin typeface="Arial" panose="020B0604020202020204" pitchFamily="34" charset="0"/>
                        </a:rPr>
                        <a:t>YT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61528360"/>
                  </a:ext>
                </a:extLst>
              </a:tr>
              <a:tr h="125343">
                <a:tc>
                  <a:txBody>
                    <a:bodyPr/>
                    <a:lstStyle/>
                    <a:p>
                      <a:pPr algn="ctr" fontAlgn="ctr"/>
                      <a:r>
                        <a:rPr lang="en-US" sz="800" b="0" i="0" u="none" strike="noStrike">
                          <a:effectLst/>
                          <a:latin typeface="Arial" panose="020B0604020202020204" pitchFamily="34" charset="0"/>
                        </a:rPr>
                        <a:t>EG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49842030"/>
                  </a:ext>
                </a:extLst>
              </a:tr>
              <a:tr h="125343">
                <a:tc>
                  <a:txBody>
                    <a:bodyPr/>
                    <a:lstStyle/>
                    <a:p>
                      <a:pPr algn="ctr" fontAlgn="ctr"/>
                      <a:r>
                        <a:rPr lang="en-US" sz="800" b="0" i="0" u="none" strike="noStrike">
                          <a:effectLst/>
                          <a:latin typeface="Arial" panose="020B0604020202020204" pitchFamily="34" charset="0"/>
                        </a:rPr>
                        <a:t>CD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27861807"/>
                  </a:ext>
                </a:extLst>
              </a:tr>
              <a:tr h="125343">
                <a:tc>
                  <a:txBody>
                    <a:bodyPr/>
                    <a:lstStyle/>
                    <a:p>
                      <a:pPr algn="ctr" fontAlgn="ctr"/>
                      <a:r>
                        <a:rPr lang="en-US" sz="800" b="0" i="0" u="none" strike="noStrike">
                          <a:effectLst/>
                          <a:latin typeface="Arial" panose="020B0604020202020204" pitchFamily="34" charset="0"/>
                        </a:rPr>
                        <a:t>ZH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15972021"/>
                  </a:ext>
                </a:extLst>
              </a:tr>
              <a:tr h="125343">
                <a:tc>
                  <a:txBody>
                    <a:bodyPr/>
                    <a:lstStyle/>
                    <a:p>
                      <a:pPr algn="ctr" fontAlgn="ctr"/>
                      <a:r>
                        <a:rPr lang="en-US" sz="800" b="0" i="0" u="none" strike="noStrike">
                          <a:effectLst/>
                          <a:latin typeface="Arial" panose="020B0604020202020204" pitchFamily="34" charset="0"/>
                        </a:rPr>
                        <a:t>GQ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31106052"/>
                  </a:ext>
                </a:extLst>
              </a:tr>
              <a:tr h="125343">
                <a:tc>
                  <a:txBody>
                    <a:bodyPr/>
                    <a:lstStyle/>
                    <a:p>
                      <a:pPr algn="ctr" fontAlgn="ctr"/>
                      <a:r>
                        <a:rPr lang="en-US" sz="800" b="0" i="0" u="none" strike="noStrike">
                          <a:effectLst/>
                          <a:latin typeface="Arial" panose="020B0604020202020204" pitchFamily="34" charset="0"/>
                        </a:rPr>
                        <a:t>XR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16705863"/>
                  </a:ext>
                </a:extLst>
              </a:tr>
              <a:tr h="125343">
                <a:tc>
                  <a:txBody>
                    <a:bodyPr/>
                    <a:lstStyle/>
                    <a:p>
                      <a:pPr algn="ctr" fontAlgn="ctr"/>
                      <a:r>
                        <a:rPr lang="en-US" sz="800" b="0" i="0" u="none" strike="noStrike">
                          <a:effectLst/>
                          <a:latin typeface="Arial" panose="020B0604020202020204" pitchFamily="34" charset="0"/>
                        </a:rPr>
                        <a:t>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79648396"/>
                  </a:ext>
                </a:extLst>
              </a:tr>
              <a:tr h="125343">
                <a:tc>
                  <a:txBody>
                    <a:bodyPr/>
                    <a:lstStyle/>
                    <a:p>
                      <a:pPr algn="ctr" fontAlgn="ctr"/>
                      <a:r>
                        <a:rPr lang="en-US" sz="800" b="0" i="0" u="none" strike="noStrike">
                          <a:effectLst/>
                          <a:latin typeface="Arial" panose="020B0604020202020204" pitchFamily="34" charset="0"/>
                        </a:rPr>
                        <a:t>HI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23498758"/>
                  </a:ext>
                </a:extLst>
              </a:tr>
              <a:tr h="125343">
                <a:tc>
                  <a:txBody>
                    <a:bodyPr/>
                    <a:lstStyle/>
                    <a:p>
                      <a:pPr algn="ctr" fontAlgn="ctr"/>
                      <a:r>
                        <a:rPr lang="en-US" sz="800" b="0" i="0" u="none" strike="noStrike">
                          <a:effectLst/>
                          <a:latin typeface="Arial" panose="020B0604020202020204" pitchFamily="34" charset="0"/>
                        </a:rPr>
                        <a:t>RG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69807205"/>
                  </a:ext>
                </a:extLst>
              </a:tr>
              <a:tr h="125343">
                <a:tc>
                  <a:txBody>
                    <a:bodyPr/>
                    <a:lstStyle/>
                    <a:p>
                      <a:pPr algn="ctr" fontAlgn="ctr"/>
                      <a:r>
                        <a:rPr lang="en-US" sz="800" b="0" i="0" u="none" strike="noStrike">
                          <a:effectLst/>
                          <a:latin typeface="Arial" panose="020B0604020202020204" pitchFamily="34" charset="0"/>
                        </a:rPr>
                        <a:t>EJ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24536248"/>
                  </a:ext>
                </a:extLst>
              </a:tr>
              <a:tr h="125343">
                <a:tc>
                  <a:txBody>
                    <a:bodyPr/>
                    <a:lstStyle/>
                    <a:p>
                      <a:pPr algn="ctr" fontAlgn="ctr"/>
                      <a:r>
                        <a:rPr lang="en-US" sz="800" b="0" i="0" u="none" strike="noStrike">
                          <a:effectLst/>
                          <a:latin typeface="Arial" panose="020B0604020202020204" pitchFamily="34" charset="0"/>
                        </a:rPr>
                        <a:t>ZQ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330878272"/>
                  </a:ext>
                </a:extLst>
              </a:tr>
              <a:tr h="125343">
                <a:tc>
                  <a:txBody>
                    <a:bodyPr/>
                    <a:lstStyle/>
                    <a:p>
                      <a:pPr algn="ctr" fontAlgn="ctr"/>
                      <a:r>
                        <a:rPr lang="en-US" sz="800" b="0" i="0" u="none" strike="noStrike">
                          <a:effectLst/>
                          <a:latin typeface="Arial" panose="020B0604020202020204" pitchFamily="34" charset="0"/>
                        </a:rPr>
                        <a:t>SC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02790019"/>
                  </a:ext>
                </a:extLst>
              </a:tr>
              <a:tr h="125343">
                <a:tc>
                  <a:txBody>
                    <a:bodyPr/>
                    <a:lstStyle/>
                    <a:p>
                      <a:pPr algn="ctr" fontAlgn="ctr"/>
                      <a:r>
                        <a:rPr lang="en-US" sz="800" b="0" i="0" u="none" strike="noStrike">
                          <a:effectLst/>
                          <a:latin typeface="Arial" panose="020B0604020202020204" pitchFamily="34" charset="0"/>
                        </a:rPr>
                        <a:t>FF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14815569"/>
                  </a:ext>
                </a:extLst>
              </a:tr>
              <a:tr h="125343">
                <a:tc>
                  <a:txBody>
                    <a:bodyPr/>
                    <a:lstStyle/>
                    <a:p>
                      <a:pPr algn="ctr" fontAlgn="ctr"/>
                      <a:r>
                        <a:rPr lang="en-US" sz="800" b="0" i="0" u="none" strike="noStrike">
                          <a:effectLst/>
                          <a:latin typeface="Arial" panose="020B0604020202020204" pitchFamily="34" charset="0"/>
                        </a:rPr>
                        <a:t>KL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98820568"/>
                  </a:ext>
                </a:extLst>
              </a:tr>
              <a:tr h="125343">
                <a:tc>
                  <a:txBody>
                    <a:bodyPr/>
                    <a:lstStyle/>
                    <a:p>
                      <a:pPr algn="ctr" fontAlgn="ctr"/>
                      <a:r>
                        <a:rPr lang="en-US" sz="800" b="1" i="0" u="none" strike="noStrike" dirty="0">
                          <a:effectLst/>
                          <a:latin typeface="Arial" panose="020B0604020202020204" pitchFamily="34" charset="0"/>
                        </a:rPr>
                        <a:t>AMD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ctr" fontAlgn="ctr"/>
                      <a:r>
                        <a:rPr lang="en-US" sz="800" b="1" i="0" u="none" strike="noStrike" dirty="0">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tc>
                  <a:txBody>
                    <a:bodyPr/>
                    <a:lstStyle/>
                    <a:p>
                      <a:pPr algn="ctr" fontAlgn="ctr"/>
                      <a:r>
                        <a:rPr lang="en-US" sz="800" b="1" i="0" u="none" strike="noStrike" dirty="0">
                          <a:effectLst/>
                          <a:latin typeface="Arial" panose="020B0604020202020204" pitchFamily="34" charset="0"/>
                        </a:rPr>
                        <a:t>$6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398005268"/>
                  </a:ext>
                </a:extLst>
              </a:tr>
              <a:tr h="125343">
                <a:tc>
                  <a:txBody>
                    <a:bodyPr/>
                    <a:lstStyle/>
                    <a:p>
                      <a:pPr algn="ctr" fontAlgn="ctr"/>
                      <a:r>
                        <a:rPr lang="en-US" sz="800" b="0" i="0" u="none" strike="noStrike">
                          <a:effectLst/>
                          <a:latin typeface="Arial" panose="020B0604020202020204" pitchFamily="34" charset="0"/>
                        </a:rPr>
                        <a:t>SB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96724627"/>
                  </a:ext>
                </a:extLst>
              </a:tr>
              <a:tr h="125343">
                <a:tc>
                  <a:txBody>
                    <a:bodyPr/>
                    <a:lstStyle/>
                    <a:p>
                      <a:pPr algn="ctr" fontAlgn="ctr"/>
                      <a:r>
                        <a:rPr lang="en-US" sz="800" b="0" i="0" u="none" strike="noStrike">
                          <a:effectLst/>
                          <a:latin typeface="Arial" panose="020B0604020202020204" pitchFamily="34" charset="0"/>
                        </a:rPr>
                        <a:t>KI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09768944"/>
                  </a:ext>
                </a:extLst>
              </a:tr>
              <a:tr h="125343">
                <a:tc>
                  <a:txBody>
                    <a:bodyPr/>
                    <a:lstStyle/>
                    <a:p>
                      <a:pPr algn="ctr" fontAlgn="ctr"/>
                      <a:r>
                        <a:rPr lang="en-US" sz="800" b="0" i="0" u="none" strike="noStrike">
                          <a:effectLst/>
                          <a:latin typeface="Arial" panose="020B0604020202020204" pitchFamily="34" charset="0"/>
                        </a:rPr>
                        <a:t>AK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29318473"/>
                  </a:ext>
                </a:extLst>
              </a:tr>
              <a:tr h="125343">
                <a:tc>
                  <a:txBody>
                    <a:bodyPr/>
                    <a:lstStyle/>
                    <a:p>
                      <a:pPr algn="ctr" fontAlgn="ctr"/>
                      <a:r>
                        <a:rPr lang="en-US" sz="800" b="0" i="0" u="none" strike="noStrike">
                          <a:effectLst/>
                          <a:latin typeface="Arial" panose="020B0604020202020204" pitchFamily="34" charset="0"/>
                        </a:rPr>
                        <a:t>PE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18894906"/>
                  </a:ext>
                </a:extLst>
              </a:tr>
              <a:tr h="125343">
                <a:tc>
                  <a:txBody>
                    <a:bodyPr/>
                    <a:lstStyle/>
                    <a:p>
                      <a:pPr algn="ctr" fontAlgn="ctr"/>
                      <a:r>
                        <a:rPr lang="en-US" sz="800" b="0" i="0" u="none" strike="noStrike" dirty="0">
                          <a:effectLst/>
                          <a:latin typeface="Arial" panose="020B0604020202020204" pitchFamily="34" charset="0"/>
                        </a:rPr>
                        <a:t>OA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82152105"/>
                  </a:ext>
                </a:extLst>
              </a:tr>
              <a:tr h="125343">
                <a:tc>
                  <a:txBody>
                    <a:bodyPr/>
                    <a:lstStyle/>
                    <a:p>
                      <a:pPr algn="ctr" fontAlgn="ctr"/>
                      <a:r>
                        <a:rPr lang="en-US" sz="800" b="0" i="0" u="none" strike="noStrike">
                          <a:effectLst/>
                          <a:latin typeface="Arial" panose="020B0604020202020204" pitchFamily="34" charset="0"/>
                        </a:rPr>
                        <a:t>IC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49176257"/>
                  </a:ext>
                </a:extLst>
              </a:tr>
              <a:tr h="125343">
                <a:tc>
                  <a:txBody>
                    <a:bodyPr/>
                    <a:lstStyle/>
                    <a:p>
                      <a:pPr algn="ctr" fontAlgn="ctr"/>
                      <a:r>
                        <a:rPr lang="en-US" sz="800" b="0" i="0" u="none" strike="noStrike">
                          <a:effectLst/>
                          <a:latin typeface="Arial" panose="020B0604020202020204" pitchFamily="34" charset="0"/>
                        </a:rPr>
                        <a:t>DT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11546044"/>
                  </a:ext>
                </a:extLst>
              </a:tr>
              <a:tr h="125343">
                <a:tc>
                  <a:txBody>
                    <a:bodyPr/>
                    <a:lstStyle/>
                    <a:p>
                      <a:pPr algn="ctr" fontAlgn="ctr"/>
                      <a:r>
                        <a:rPr lang="en-US" sz="800" b="0" i="0" u="none" strike="noStrike">
                          <a:effectLst/>
                          <a:latin typeface="Arial" panose="020B0604020202020204" pitchFamily="34" charset="0"/>
                        </a:rPr>
                        <a:t>DN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19522669"/>
                  </a:ext>
                </a:extLst>
              </a:tr>
              <a:tr h="125343">
                <a:tc>
                  <a:txBody>
                    <a:bodyPr/>
                    <a:lstStyle/>
                    <a:p>
                      <a:pPr algn="ctr" fontAlgn="ctr"/>
                      <a:r>
                        <a:rPr lang="en-US" sz="800" b="0" i="0" u="none" strike="noStrike">
                          <a:effectLst/>
                          <a:latin typeface="Arial" panose="020B0604020202020204" pitchFamily="34" charset="0"/>
                        </a:rPr>
                        <a:t>OU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467138"/>
                  </a:ext>
                </a:extLst>
              </a:tr>
              <a:tr h="125343">
                <a:tc>
                  <a:txBody>
                    <a:bodyPr/>
                    <a:lstStyle/>
                    <a:p>
                      <a:pPr algn="ctr" fontAlgn="ctr"/>
                      <a:r>
                        <a:rPr lang="en-US" sz="800" b="0" i="0" u="none" strike="noStrike">
                          <a:effectLst/>
                          <a:latin typeface="Arial" panose="020B0604020202020204" pitchFamily="34" charset="0"/>
                        </a:rPr>
                        <a:t>UD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29861575"/>
                  </a:ext>
                </a:extLst>
              </a:tr>
              <a:tr h="125343">
                <a:tc>
                  <a:txBody>
                    <a:bodyPr/>
                    <a:lstStyle/>
                    <a:p>
                      <a:pPr algn="ctr" fontAlgn="ctr"/>
                      <a:r>
                        <a:rPr lang="en-US" sz="800" b="0" i="0" u="none" strike="noStrike">
                          <a:effectLst/>
                          <a:latin typeface="Arial" panose="020B0604020202020204" pitchFamily="34" charset="0"/>
                        </a:rPr>
                        <a:t>QR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14170524"/>
                  </a:ext>
                </a:extLst>
              </a:tr>
              <a:tr h="125343">
                <a:tc>
                  <a:txBody>
                    <a:bodyPr/>
                    <a:lstStyle/>
                    <a:p>
                      <a:pPr algn="ctr" fontAlgn="ctr"/>
                      <a:r>
                        <a:rPr lang="en-US" sz="800" b="0" i="0" u="none" strike="noStrike">
                          <a:effectLst/>
                          <a:latin typeface="Arial" panose="020B0604020202020204" pitchFamily="34" charset="0"/>
                        </a:rPr>
                        <a:t>GJ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dirty="0">
                          <a:effectLst/>
                          <a:latin typeface="Arial" panose="020B0604020202020204" pitchFamily="34" charset="0"/>
                        </a:rPr>
                        <a:t>$8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34288839"/>
                  </a:ext>
                </a:extLst>
              </a:tr>
            </a:tbl>
          </a:graphicData>
        </a:graphic>
      </p:graphicFrame>
      <p:sp>
        <p:nvSpPr>
          <p:cNvPr id="2" name="Title 1"/>
          <p:cNvSpPr>
            <a:spLocks noGrp="1"/>
          </p:cNvSpPr>
          <p:nvPr>
            <p:ph type="title"/>
            <p:custDataLst>
              <p:tags r:id="rId3"/>
            </p:custDataLst>
          </p:nvPr>
        </p:nvSpPr>
        <p:spPr/>
        <p:txBody>
          <a:bodyPr/>
          <a:lstStyle/>
          <a:p>
            <a:r>
              <a:rPr lang="en-US" dirty="0"/>
              <a:t>Vision Benefits (Employee Contributions)</a:t>
            </a:r>
          </a:p>
        </p:txBody>
      </p:sp>
      <p:sp>
        <p:nvSpPr>
          <p:cNvPr id="6" name="Text Placeholder 5"/>
          <p:cNvSpPr>
            <a:spLocks noGrp="1"/>
          </p:cNvSpPr>
          <p:nvPr>
            <p:ph type="body" sz="quarter" idx="13"/>
            <p:custDataLst>
              <p:tags r:id="rId4"/>
            </p:custDataLst>
          </p:nvPr>
        </p:nvSpPr>
        <p:spPr/>
        <p:txBody>
          <a:bodyPr/>
          <a:lstStyle/>
          <a:p>
            <a:endParaRPr lang="en-US"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24</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spTree>
    <p:custDataLst>
      <p:tags r:id="rId1"/>
    </p:custDataLst>
    <p:extLst>
      <p:ext uri="{BB962C8B-B14F-4D97-AF65-F5344CB8AC3E}">
        <p14:creationId xmlns:p14="http://schemas.microsoft.com/office/powerpoint/2010/main" val="973249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VISText (3)">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Vision Benefits (Employee Contributions) Continued</a:t>
            </a:r>
          </a:p>
        </p:txBody>
      </p:sp>
      <p:sp>
        <p:nvSpPr>
          <p:cNvPr id="11" name="Text Placeholder 10">
            <a:extLst>
              <a:ext uri="{FF2B5EF4-FFF2-40B4-BE49-F238E27FC236}">
                <a16:creationId xmlns:a16="http://schemas.microsoft.com/office/drawing/2014/main" id="{6B9E3C3E-2604-4285-A1DE-57A88DDE8DB2}"/>
              </a:ext>
            </a:extLst>
          </p:cNvPr>
          <p:cNvSpPr>
            <a:spLocks noGrp="1"/>
          </p:cNvSpPr>
          <p:nvPr>
            <p:ph type="body" sz="quarter" idx="13"/>
          </p:nvPr>
        </p:nvSpPr>
        <p:spPr/>
        <p:txBody>
          <a:bodyPr/>
          <a:lstStyle/>
          <a:p>
            <a:endParaRPr lang="en-US"/>
          </a:p>
        </p:txBody>
      </p:sp>
      <p:sp>
        <p:nvSpPr>
          <p:cNvPr id="4" name="Slide Number Placeholder 3"/>
          <p:cNvSpPr>
            <a:spLocks noGrp="1"/>
          </p:cNvSpPr>
          <p:nvPr>
            <p:ph type="sldNum" sz="quarter" idx="4"/>
          </p:nvPr>
        </p:nvSpPr>
        <p:spPr/>
        <p:txBody>
          <a:bodyPr/>
          <a:lstStyle/>
          <a:p>
            <a:fld id="{2083E393-C0BF-4ED8-8545-7E4C90AFF831}" type="slidenum">
              <a:rPr lang="en-US" smtClean="0"/>
              <a:pPr/>
              <a:t>25</a:t>
            </a:fld>
            <a:endParaRPr lang="en-US"/>
          </a:p>
        </p:txBody>
      </p:sp>
      <p:sp>
        <p:nvSpPr>
          <p:cNvPr id="3" name="Footer Placeholder 2"/>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5" name="VT3_Table1">
            <a:extLst>
              <a:ext uri="{FF2B5EF4-FFF2-40B4-BE49-F238E27FC236}">
                <a16:creationId xmlns:a16="http://schemas.microsoft.com/office/drawing/2014/main" id="{2C2E56CE-AD3F-4CB0-9DF8-70AB9941AB83}"/>
              </a:ext>
            </a:extLst>
          </p:cNvPr>
          <p:cNvGraphicFramePr>
            <a:graphicFrameLocks noGrp="1"/>
          </p:cNvGraphicFramePr>
          <p:nvPr>
            <p:extLst>
              <p:ext uri="{D42A27DB-BD31-4B8C-83A1-F6EECF244321}">
                <p14:modId xmlns:p14="http://schemas.microsoft.com/office/powerpoint/2010/main" val="396388214"/>
              </p:ext>
            </p:extLst>
          </p:nvPr>
        </p:nvGraphicFramePr>
        <p:xfrm>
          <a:off x="449262" y="1140760"/>
          <a:ext cx="8237537" cy="4939017"/>
        </p:xfrm>
        <a:graphic>
          <a:graphicData uri="http://schemas.openxmlformats.org/drawingml/2006/table">
            <a:tbl>
              <a:tblPr/>
              <a:tblGrid>
                <a:gridCol w="3838073">
                  <a:extLst>
                    <a:ext uri="{9D8B030D-6E8A-4147-A177-3AD203B41FA5}">
                      <a16:colId xmlns:a16="http://schemas.microsoft.com/office/drawing/2014/main" val="3080789832"/>
                    </a:ext>
                  </a:extLst>
                </a:gridCol>
                <a:gridCol w="2199732">
                  <a:extLst>
                    <a:ext uri="{9D8B030D-6E8A-4147-A177-3AD203B41FA5}">
                      <a16:colId xmlns:a16="http://schemas.microsoft.com/office/drawing/2014/main" val="3077325049"/>
                    </a:ext>
                  </a:extLst>
                </a:gridCol>
                <a:gridCol w="2199732">
                  <a:extLst>
                    <a:ext uri="{9D8B030D-6E8A-4147-A177-3AD203B41FA5}">
                      <a16:colId xmlns:a16="http://schemas.microsoft.com/office/drawing/2014/main" val="2992463579"/>
                    </a:ext>
                  </a:extLst>
                </a:gridCol>
              </a:tblGrid>
              <a:tr h="128000">
                <a:tc>
                  <a:txBody>
                    <a:bodyPr/>
                    <a:lstStyle/>
                    <a:p>
                      <a:pPr algn="l" fontAlgn="b"/>
                      <a:r>
                        <a:rPr lang="en-US" sz="800" b="0" i="1" u="none" strike="noStrike">
                          <a:effectLst/>
                          <a:latin typeface="Arial" panose="020B0604020202020204" pitchFamily="34" charset="0"/>
                        </a:rPr>
                        <a:t>Monthly Contributions for Highest-Enrolled Plans</a:t>
                      </a: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US" sz="800" b="0" i="0" u="none" strike="noStrike">
                        <a:effectLst/>
                        <a:latin typeface="Arial" panose="020B0604020202020204" pitchFamily="34" charset="0"/>
                      </a:endParaRPr>
                    </a:p>
                  </a:txBody>
                  <a:tcPr marL="0" marR="0" marT="0" marB="0" anchor="b">
                    <a:lnL>
                      <a:noFill/>
                    </a:lnL>
                    <a:lnR>
                      <a:noFill/>
                    </a:lnR>
                    <a:lnT>
                      <a:noFill/>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136740509"/>
                  </a:ext>
                </a:extLst>
              </a:tr>
              <a:tr h="123060">
                <a:tc>
                  <a:txBody>
                    <a:bodyPr/>
                    <a:lstStyle/>
                    <a:p>
                      <a:pPr algn="ctr" fontAlgn="ctr"/>
                      <a:r>
                        <a:rPr lang="en-US" sz="800" b="1" i="0" u="none" strike="noStrike">
                          <a:solidFill>
                            <a:srgbClr val="FFFFFF"/>
                          </a:solidFill>
                          <a:effectLst/>
                          <a:latin typeface="Arial" panose="020B0604020202020204" pitchFamily="34" charset="0"/>
                        </a:rPr>
                        <a:t>Companies with Dental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Only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800" b="1" i="0" u="none" strike="noStrike">
                          <a:solidFill>
                            <a:srgbClr val="FFFFFF"/>
                          </a:solidFill>
                          <a:effectLst/>
                          <a:latin typeface="Arial" panose="020B0604020202020204" pitchFamily="34" charset="0"/>
                        </a:rPr>
                        <a:t>EE + Family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1322920667"/>
                  </a:ext>
                </a:extLst>
              </a:tr>
              <a:tr h="123060">
                <a:tc>
                  <a:txBody>
                    <a:bodyPr/>
                    <a:lstStyle/>
                    <a:p>
                      <a:pPr algn="ctr" fontAlgn="ctr"/>
                      <a:r>
                        <a:rPr lang="en-US" sz="800" b="0" i="0" u="none" strike="noStrike" dirty="0">
                          <a:effectLst/>
                          <a:latin typeface="Arial" panose="020B0604020202020204" pitchFamily="34" charset="0"/>
                        </a:rPr>
                        <a:t>QO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17423318"/>
                  </a:ext>
                </a:extLst>
              </a:tr>
              <a:tr h="123060">
                <a:tc>
                  <a:txBody>
                    <a:bodyPr/>
                    <a:lstStyle/>
                    <a:p>
                      <a:pPr algn="ctr" fontAlgn="ctr"/>
                      <a:r>
                        <a:rPr lang="en-US" sz="800" b="0" i="0" u="none" strike="noStrike">
                          <a:effectLst/>
                          <a:latin typeface="Arial" panose="020B0604020202020204" pitchFamily="34" charset="0"/>
                        </a:rPr>
                        <a:t>JW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15023022"/>
                  </a:ext>
                </a:extLst>
              </a:tr>
              <a:tr h="123060">
                <a:tc>
                  <a:txBody>
                    <a:bodyPr/>
                    <a:lstStyle/>
                    <a:p>
                      <a:pPr algn="ctr" fontAlgn="ctr"/>
                      <a:r>
                        <a:rPr lang="en-US" sz="800" b="0" i="0" u="none" strike="noStrike">
                          <a:effectLst/>
                          <a:latin typeface="Arial" panose="020B0604020202020204" pitchFamily="34" charset="0"/>
                        </a:rPr>
                        <a:t>EO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0983135"/>
                  </a:ext>
                </a:extLst>
              </a:tr>
              <a:tr h="123060">
                <a:tc>
                  <a:txBody>
                    <a:bodyPr/>
                    <a:lstStyle/>
                    <a:p>
                      <a:pPr algn="ctr" fontAlgn="ctr"/>
                      <a:r>
                        <a:rPr lang="en-US" sz="800" b="0" i="0" u="none" strike="noStrike">
                          <a:effectLst/>
                          <a:latin typeface="Arial" panose="020B0604020202020204" pitchFamily="34" charset="0"/>
                        </a:rPr>
                        <a:t>FM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71340112"/>
                  </a:ext>
                </a:extLst>
              </a:tr>
              <a:tr h="123060">
                <a:tc>
                  <a:txBody>
                    <a:bodyPr/>
                    <a:lstStyle/>
                    <a:p>
                      <a:pPr algn="ctr" fontAlgn="ctr"/>
                      <a:r>
                        <a:rPr lang="en-US" sz="800" b="0" i="0" u="none" strike="noStrike" dirty="0">
                          <a:effectLst/>
                          <a:latin typeface="Arial" panose="020B0604020202020204" pitchFamily="34" charset="0"/>
                        </a:rPr>
                        <a:t>IF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89499053"/>
                  </a:ext>
                </a:extLst>
              </a:tr>
              <a:tr h="123060">
                <a:tc>
                  <a:txBody>
                    <a:bodyPr/>
                    <a:lstStyle/>
                    <a:p>
                      <a:pPr algn="ctr" fontAlgn="ctr"/>
                      <a:r>
                        <a:rPr lang="en-US" sz="800" b="0" i="0" u="none" strike="noStrike">
                          <a:effectLst/>
                          <a:latin typeface="Arial" panose="020B0604020202020204" pitchFamily="34" charset="0"/>
                        </a:rPr>
                        <a:t>LC</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ctr" fontAlgn="ctr"/>
                      <a:r>
                        <a:rPr lang="en-US" sz="800" b="0" i="0" u="none" strike="noStrike" dirty="0">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ctr" fontAlgn="ctr"/>
                      <a:r>
                        <a:rPr lang="en-US" sz="800" b="0" i="0" u="none" strike="noStrike" dirty="0">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271627883"/>
                  </a:ext>
                </a:extLst>
              </a:tr>
              <a:tr h="123060">
                <a:tc>
                  <a:txBody>
                    <a:bodyPr/>
                    <a:lstStyle/>
                    <a:p>
                      <a:pPr algn="ctr" fontAlgn="ctr"/>
                      <a:r>
                        <a:rPr lang="en-US" sz="800" b="0" i="0" u="none" strike="noStrike">
                          <a:effectLst/>
                          <a:latin typeface="Arial" panose="020B0604020202020204" pitchFamily="34" charset="0"/>
                        </a:rPr>
                        <a:t>GK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tc>
                  <a:txBody>
                    <a:bodyPr/>
                    <a:lstStyle/>
                    <a:p>
                      <a:pPr algn="ctr" fontAlgn="ctr"/>
                      <a:r>
                        <a:rPr lang="en-US" sz="800" b="0" i="0" u="none" strike="noStrike" dirty="0">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07077798"/>
                  </a:ext>
                </a:extLst>
              </a:tr>
              <a:tr h="123060">
                <a:tc>
                  <a:txBody>
                    <a:bodyPr/>
                    <a:lstStyle/>
                    <a:p>
                      <a:pPr algn="ctr" fontAlgn="ctr"/>
                      <a:r>
                        <a:rPr lang="en-US" sz="800" b="0" i="0" u="none" strike="noStrike">
                          <a:effectLst/>
                          <a:latin typeface="Arial" panose="020B0604020202020204" pitchFamily="34" charset="0"/>
                        </a:rPr>
                        <a:t>MJ</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3203044"/>
                  </a:ext>
                </a:extLst>
              </a:tr>
              <a:tr h="123060">
                <a:tc>
                  <a:txBody>
                    <a:bodyPr/>
                    <a:lstStyle/>
                    <a:p>
                      <a:pPr algn="ctr" fontAlgn="ctr"/>
                      <a:r>
                        <a:rPr lang="en-US" sz="800" b="0" i="0" u="none" strike="noStrike">
                          <a:effectLst/>
                          <a:latin typeface="Arial" panose="020B0604020202020204" pitchFamily="34" charset="0"/>
                        </a:rPr>
                        <a:t>SK</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01200468"/>
                  </a:ext>
                </a:extLst>
              </a:tr>
              <a:tr h="123060">
                <a:tc>
                  <a:txBody>
                    <a:bodyPr/>
                    <a:lstStyle/>
                    <a:p>
                      <a:pPr algn="ctr" fontAlgn="ctr"/>
                      <a:r>
                        <a:rPr lang="en-US" sz="800" b="0" i="0" u="none" strike="noStrike">
                          <a:effectLst/>
                          <a:latin typeface="Arial" panose="020B0604020202020204" pitchFamily="34" charset="0"/>
                        </a:rPr>
                        <a:t>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71168154"/>
                  </a:ext>
                </a:extLst>
              </a:tr>
              <a:tr h="123060">
                <a:tc>
                  <a:txBody>
                    <a:bodyPr/>
                    <a:lstStyle/>
                    <a:p>
                      <a:pPr algn="ctr" fontAlgn="ctr"/>
                      <a:r>
                        <a:rPr lang="en-US" sz="800" b="0" i="0" u="none" strike="noStrike">
                          <a:effectLst/>
                          <a:latin typeface="Arial" panose="020B0604020202020204" pitchFamily="34" charset="0"/>
                        </a:rPr>
                        <a:t>HF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97570886"/>
                  </a:ext>
                </a:extLst>
              </a:tr>
              <a:tr h="123060">
                <a:tc>
                  <a:txBody>
                    <a:bodyPr/>
                    <a:lstStyle/>
                    <a:p>
                      <a:pPr algn="ctr" fontAlgn="ctr"/>
                      <a:r>
                        <a:rPr lang="en-US" sz="800" b="0" i="0" u="none" strike="noStrike">
                          <a:effectLst/>
                          <a:latin typeface="Arial" panose="020B0604020202020204" pitchFamily="34" charset="0"/>
                        </a:rPr>
                        <a:t>BV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30466101"/>
                  </a:ext>
                </a:extLst>
              </a:tr>
              <a:tr h="123060">
                <a:tc>
                  <a:txBody>
                    <a:bodyPr/>
                    <a:lstStyle/>
                    <a:p>
                      <a:pPr algn="ctr" fontAlgn="ctr"/>
                      <a:r>
                        <a:rPr lang="en-US" sz="800" b="0" i="0" u="none" strike="noStrike">
                          <a:effectLst/>
                          <a:latin typeface="Arial" panose="020B0604020202020204" pitchFamily="34" charset="0"/>
                        </a:rPr>
                        <a:t>TN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39527837"/>
                  </a:ext>
                </a:extLst>
              </a:tr>
              <a:tr h="123060">
                <a:tc>
                  <a:txBody>
                    <a:bodyPr/>
                    <a:lstStyle/>
                    <a:p>
                      <a:pPr algn="ctr" fontAlgn="ctr"/>
                      <a:r>
                        <a:rPr lang="en-US" sz="800" b="0" i="0" u="none" strike="noStrike">
                          <a:effectLst/>
                          <a:latin typeface="Arial" panose="020B0604020202020204" pitchFamily="34" charset="0"/>
                        </a:rPr>
                        <a:t>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8908330"/>
                  </a:ext>
                </a:extLst>
              </a:tr>
              <a:tr h="123060">
                <a:tc>
                  <a:txBody>
                    <a:bodyPr/>
                    <a:lstStyle/>
                    <a:p>
                      <a:pPr algn="ctr" fontAlgn="ctr"/>
                      <a:r>
                        <a:rPr lang="en-US" sz="800" b="0" i="0" u="none" strike="noStrike">
                          <a:effectLst/>
                          <a:latin typeface="Arial" panose="020B0604020202020204" pitchFamily="34" charset="0"/>
                        </a:rPr>
                        <a:t>NH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49122117"/>
                  </a:ext>
                </a:extLst>
              </a:tr>
              <a:tr h="123060">
                <a:tc>
                  <a:txBody>
                    <a:bodyPr/>
                    <a:lstStyle/>
                    <a:p>
                      <a:pPr algn="ctr" fontAlgn="ctr"/>
                      <a:r>
                        <a:rPr lang="en-US" sz="800" b="0" i="0" u="none" strike="noStrike">
                          <a:effectLst/>
                          <a:latin typeface="Arial" panose="020B0604020202020204" pitchFamily="34" charset="0"/>
                        </a:rPr>
                        <a:t>BR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112462397"/>
                  </a:ext>
                </a:extLst>
              </a:tr>
              <a:tr h="123060">
                <a:tc>
                  <a:txBody>
                    <a:bodyPr/>
                    <a:lstStyle/>
                    <a:p>
                      <a:pPr algn="ctr" fontAlgn="ctr"/>
                      <a:r>
                        <a:rPr lang="en-US" sz="800" b="0" i="0" u="none" strike="noStrike">
                          <a:effectLst/>
                          <a:latin typeface="Arial" panose="020B0604020202020204" pitchFamily="34" charset="0"/>
                        </a:rPr>
                        <a:t>AW</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91010432"/>
                  </a:ext>
                </a:extLst>
              </a:tr>
              <a:tr h="123060">
                <a:tc>
                  <a:txBody>
                    <a:bodyPr/>
                    <a:lstStyle/>
                    <a:p>
                      <a:pPr algn="ctr" fontAlgn="ctr"/>
                      <a:r>
                        <a:rPr lang="en-US" sz="800" b="0" i="0" u="none" strike="noStrike">
                          <a:effectLst/>
                          <a:latin typeface="Arial" panose="020B0604020202020204" pitchFamily="34" charset="0"/>
                        </a:rPr>
                        <a:t>LB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14657302"/>
                  </a:ext>
                </a:extLst>
              </a:tr>
              <a:tr h="123060">
                <a:tc>
                  <a:txBody>
                    <a:bodyPr/>
                    <a:lstStyle/>
                    <a:p>
                      <a:pPr algn="ctr" fontAlgn="ctr"/>
                      <a:r>
                        <a:rPr lang="en-US" sz="800" b="0" i="0" u="none" strike="noStrike">
                          <a:effectLst/>
                          <a:latin typeface="Arial" panose="020B0604020202020204" pitchFamily="34" charset="0"/>
                        </a:rPr>
                        <a:t>PX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55378860"/>
                  </a:ext>
                </a:extLst>
              </a:tr>
              <a:tr h="123060">
                <a:tc>
                  <a:txBody>
                    <a:bodyPr/>
                    <a:lstStyle/>
                    <a:p>
                      <a:pPr algn="ctr" fontAlgn="ctr"/>
                      <a:r>
                        <a:rPr lang="en-US" sz="800" b="0" i="0" u="none" strike="noStrike">
                          <a:effectLst/>
                          <a:latin typeface="Arial" panose="020B0604020202020204" pitchFamily="34" charset="0"/>
                        </a:rPr>
                        <a:t>LS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36845158"/>
                  </a:ext>
                </a:extLst>
              </a:tr>
              <a:tr h="123060">
                <a:tc>
                  <a:txBody>
                    <a:bodyPr/>
                    <a:lstStyle/>
                    <a:p>
                      <a:pPr algn="ctr" fontAlgn="ctr"/>
                      <a:r>
                        <a:rPr lang="en-US" sz="800" b="0" i="0" u="none" strike="noStrike">
                          <a:effectLst/>
                          <a:latin typeface="Arial" panose="020B0604020202020204" pitchFamily="34" charset="0"/>
                        </a:rPr>
                        <a:t>TB</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$8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044526214"/>
                  </a:ext>
                </a:extLst>
              </a:tr>
              <a:tr h="123060">
                <a:tc>
                  <a:txBody>
                    <a:bodyPr/>
                    <a:lstStyle/>
                    <a:p>
                      <a:pPr algn="ctr" fontAlgn="ctr"/>
                      <a:r>
                        <a:rPr lang="en-US" sz="800" b="0" i="0" u="none" strike="noStrike">
                          <a:effectLst/>
                          <a:latin typeface="Arial" panose="020B0604020202020204" pitchFamily="34" charset="0"/>
                        </a:rPr>
                        <a:t>XE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84416146"/>
                  </a:ext>
                </a:extLst>
              </a:tr>
              <a:tr h="123060">
                <a:tc>
                  <a:txBody>
                    <a:bodyPr/>
                    <a:lstStyle/>
                    <a:p>
                      <a:pPr algn="ctr" fontAlgn="ctr"/>
                      <a:r>
                        <a:rPr lang="en-US" sz="800" b="0" i="0" u="none" strike="noStrike">
                          <a:effectLst/>
                          <a:latin typeface="Arial" panose="020B0604020202020204" pitchFamily="34" charset="0"/>
                        </a:rPr>
                        <a:t>NL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70341113"/>
                  </a:ext>
                </a:extLst>
              </a:tr>
              <a:tr h="123060">
                <a:tc>
                  <a:txBody>
                    <a:bodyPr/>
                    <a:lstStyle/>
                    <a:p>
                      <a:pPr algn="ctr" fontAlgn="ctr"/>
                      <a:r>
                        <a:rPr lang="en-US" sz="800" b="0" i="0" u="none" strike="noStrike">
                          <a:effectLst/>
                          <a:latin typeface="Arial" panose="020B0604020202020204" pitchFamily="34" charset="0"/>
                        </a:rPr>
                        <a:t>IP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18144147"/>
                  </a:ext>
                </a:extLst>
              </a:tr>
              <a:tr h="123060">
                <a:tc>
                  <a:txBody>
                    <a:bodyPr/>
                    <a:lstStyle/>
                    <a:p>
                      <a:pPr algn="ctr" fontAlgn="ctr"/>
                      <a:r>
                        <a:rPr lang="en-US" sz="800" b="0" i="0" u="none" strike="noStrike">
                          <a:effectLst/>
                          <a:latin typeface="Arial" panose="020B0604020202020204" pitchFamily="34" charset="0"/>
                        </a:rPr>
                        <a:t>WQ</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25009877"/>
                  </a:ext>
                </a:extLst>
              </a:tr>
              <a:tr h="123060">
                <a:tc>
                  <a:txBody>
                    <a:bodyPr/>
                    <a:lstStyle/>
                    <a:p>
                      <a:pPr algn="ctr" fontAlgn="ctr"/>
                      <a:r>
                        <a:rPr lang="en-US" sz="800" b="0" i="0" u="none" strike="noStrike">
                          <a:effectLst/>
                          <a:latin typeface="Arial" panose="020B0604020202020204" pitchFamily="34" charset="0"/>
                        </a:rPr>
                        <a:t>NP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13012268"/>
                  </a:ext>
                </a:extLst>
              </a:tr>
              <a:tr h="123060">
                <a:tc>
                  <a:txBody>
                    <a:bodyPr/>
                    <a:lstStyle/>
                    <a:p>
                      <a:pPr algn="ctr" fontAlgn="ctr"/>
                      <a:r>
                        <a:rPr lang="en-US" sz="800" b="0" i="0" u="none" strike="noStrike">
                          <a:effectLst/>
                          <a:latin typeface="Arial" panose="020B0604020202020204" pitchFamily="34" charset="0"/>
                        </a:rPr>
                        <a:t>JV</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60001812"/>
                  </a:ext>
                </a:extLst>
              </a:tr>
              <a:tr h="123060">
                <a:tc>
                  <a:txBody>
                    <a:bodyPr/>
                    <a:lstStyle/>
                    <a:p>
                      <a:pPr algn="ctr" fontAlgn="ctr"/>
                      <a:r>
                        <a:rPr lang="en-US" sz="800" b="0" i="0" u="none" strike="noStrike">
                          <a:effectLst/>
                          <a:latin typeface="Arial" panose="020B0604020202020204" pitchFamily="34" charset="0"/>
                        </a:rPr>
                        <a:t>WX</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08474412"/>
                  </a:ext>
                </a:extLst>
              </a:tr>
              <a:tr h="123060">
                <a:tc>
                  <a:txBody>
                    <a:bodyPr/>
                    <a:lstStyle/>
                    <a:p>
                      <a:pPr algn="ctr" fontAlgn="ctr"/>
                      <a:r>
                        <a:rPr lang="en-US" sz="800" b="0" i="0" u="none" strike="noStrike">
                          <a:effectLst/>
                          <a:latin typeface="Arial" panose="020B0604020202020204" pitchFamily="34" charset="0"/>
                        </a:rPr>
                        <a:t>HH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426090331"/>
                  </a:ext>
                </a:extLst>
              </a:tr>
              <a:tr h="123060">
                <a:tc>
                  <a:txBody>
                    <a:bodyPr/>
                    <a:lstStyle/>
                    <a:p>
                      <a:pPr algn="ctr" fontAlgn="ctr"/>
                      <a:r>
                        <a:rPr lang="en-US" sz="800" b="0" i="0" u="none" strike="noStrike">
                          <a:effectLst/>
                          <a:latin typeface="Arial" panose="020B0604020202020204" pitchFamily="34" charset="0"/>
                        </a:rPr>
                        <a:t>RU</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313410837"/>
                  </a:ext>
                </a:extLst>
              </a:tr>
              <a:tr h="123060">
                <a:tc>
                  <a:txBody>
                    <a:bodyPr/>
                    <a:lstStyle/>
                    <a:p>
                      <a:pPr algn="ctr" fontAlgn="ctr"/>
                      <a:r>
                        <a:rPr lang="en-US" sz="800" b="0" i="0" u="none" strike="noStrike">
                          <a:effectLst/>
                          <a:latin typeface="Arial" panose="020B0604020202020204" pitchFamily="34" charset="0"/>
                        </a:rPr>
                        <a:t>FA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83109832"/>
                  </a:ext>
                </a:extLst>
              </a:tr>
              <a:tr h="123060">
                <a:tc>
                  <a:txBody>
                    <a:bodyPr/>
                    <a:lstStyle/>
                    <a:p>
                      <a:pPr algn="ctr" fontAlgn="ctr"/>
                      <a:r>
                        <a:rPr lang="en-US" sz="800" b="0" i="0" u="none" strike="noStrike">
                          <a:effectLst/>
                          <a:latin typeface="Arial" panose="020B0604020202020204" pitchFamily="34" charset="0"/>
                        </a:rPr>
                        <a:t>CL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$23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523617"/>
                  </a:ext>
                </a:extLst>
              </a:tr>
              <a:tr h="123060">
                <a:tc>
                  <a:txBody>
                    <a:bodyPr/>
                    <a:lstStyle/>
                    <a:p>
                      <a:pPr algn="ctr" fontAlgn="ctr"/>
                      <a:r>
                        <a:rPr lang="en-US" sz="800" b="0" i="0" u="none" strike="noStrike">
                          <a:effectLst/>
                          <a:latin typeface="Arial" panose="020B0604020202020204" pitchFamily="34" charset="0"/>
                        </a:rPr>
                        <a:t>VS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$31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02124438"/>
                  </a:ext>
                </a:extLst>
              </a:tr>
              <a:tr h="123060">
                <a:tc>
                  <a:txBody>
                    <a:bodyPr/>
                    <a:lstStyle/>
                    <a:p>
                      <a:pPr algn="ctr" fontAlgn="ctr"/>
                      <a:r>
                        <a:rPr lang="en-US" sz="800" b="0" i="0" u="none" strike="noStrike">
                          <a:effectLst/>
                          <a:latin typeface="Arial" panose="020B0604020202020204" pitchFamily="34" charset="0"/>
                        </a:rPr>
                        <a:t>AI</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$37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93508311"/>
                  </a:ext>
                </a:extLst>
              </a:tr>
              <a:tr h="123060">
                <a:tc>
                  <a:txBody>
                    <a:bodyPr/>
                    <a:lstStyle/>
                    <a:p>
                      <a:pPr algn="ctr" fontAlgn="ctr"/>
                      <a:r>
                        <a:rPr lang="en-US" sz="800" b="0" i="0" u="none" strike="noStrike">
                          <a:effectLst/>
                          <a:latin typeface="Arial" panose="020B0604020202020204" pitchFamily="34" charset="0"/>
                        </a:rPr>
                        <a:t>UY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$32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5800694"/>
                  </a:ext>
                </a:extLst>
              </a:tr>
              <a:tr h="123060">
                <a:tc>
                  <a:txBody>
                    <a:bodyPr/>
                    <a:lstStyle/>
                    <a:p>
                      <a:pPr algn="ctr" fontAlgn="ctr"/>
                      <a:r>
                        <a:rPr lang="en-US" sz="800" b="0" i="0" u="none" strike="noStrike">
                          <a:effectLst/>
                          <a:latin typeface="Arial" panose="020B0604020202020204" pitchFamily="34" charset="0"/>
                        </a:rPr>
                        <a:t>BY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$13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$39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12142047"/>
                  </a:ext>
                </a:extLst>
              </a:tr>
              <a:tr h="123060">
                <a:tc>
                  <a:txBody>
                    <a:bodyPr/>
                    <a:lstStyle/>
                    <a:p>
                      <a:pPr algn="ctr" fontAlgn="ctr"/>
                      <a:r>
                        <a:rPr lang="en-US" sz="800" b="0" i="0" u="none" strike="noStrike">
                          <a:effectLst/>
                          <a:latin typeface="Arial" panose="020B0604020202020204" pitchFamily="34" charset="0"/>
                        </a:rPr>
                        <a:t>CF</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$15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800" b="0" i="0" u="none" strike="noStrike">
                          <a:effectLst/>
                          <a:latin typeface="Arial" panose="020B0604020202020204" pitchFamily="34" charset="0"/>
                        </a:rPr>
                        <a:t>$46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06256221"/>
                  </a:ext>
                </a:extLst>
              </a:tr>
              <a:tr h="134737">
                <a:tc>
                  <a:txBody>
                    <a:bodyPr/>
                    <a:lstStyle/>
                    <a:p>
                      <a:pPr algn="ctr" fontAlgn="ctr"/>
                      <a:r>
                        <a:rPr lang="en-US" sz="800" b="1" i="0" u="none" strike="noStrike">
                          <a:solidFill>
                            <a:srgbClr val="FFFFFF"/>
                          </a:solidFill>
                          <a:effectLst/>
                          <a:latin typeface="Arial" panose="020B0604020202020204" pitchFamily="34" charset="0"/>
                        </a:rPr>
                        <a:t>Average Contribution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800" b="1" i="0" u="none" strike="noStrike">
                          <a:solidFill>
                            <a:srgbClr val="FFFFFF"/>
                          </a:solidFill>
                          <a:effectLst/>
                          <a:latin typeface="Arial" panose="020B0604020202020204" pitchFamily="34" charset="0"/>
                        </a:rPr>
                        <a:t>$4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tc>
                  <a:txBody>
                    <a:bodyPr/>
                    <a:lstStyle/>
                    <a:p>
                      <a:pPr algn="ctr" fontAlgn="ctr"/>
                      <a:r>
                        <a:rPr lang="en-US" sz="800" b="1" i="0" u="none" strike="noStrike" dirty="0">
                          <a:solidFill>
                            <a:srgbClr val="FFFFFF"/>
                          </a:solidFill>
                          <a:effectLst/>
                          <a:latin typeface="Arial" panose="020B0604020202020204" pitchFamily="34" charset="0"/>
                        </a:rPr>
                        <a:t>$14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3666A"/>
                    </a:solidFill>
                  </a:tcPr>
                </a:tc>
                <a:extLst>
                  <a:ext uri="{0D108BD9-81ED-4DB2-BD59-A6C34878D82A}">
                    <a16:rowId xmlns:a16="http://schemas.microsoft.com/office/drawing/2014/main" val="933642543"/>
                  </a:ext>
                </a:extLst>
              </a:tr>
            </a:tbl>
          </a:graphicData>
        </a:graphic>
      </p:graphicFrame>
    </p:spTree>
    <p:custDataLst>
      <p:tags r:id="rId1"/>
    </p:custDataLst>
    <p:extLst>
      <p:ext uri="{BB962C8B-B14F-4D97-AF65-F5344CB8AC3E}">
        <p14:creationId xmlns:p14="http://schemas.microsoft.com/office/powerpoint/2010/main" val="3062949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C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Retirement (Defined Contribution)</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26</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DC1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1601184110"/>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DC1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4114182475"/>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39662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CTex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57200" y="394855"/>
            <a:ext cx="8229600" cy="307777"/>
          </a:xfrm>
        </p:spPr>
        <p:txBody>
          <a:bodyPr/>
          <a:lstStyle/>
          <a:p>
            <a:r>
              <a:rPr lang="en-US" dirty="0"/>
              <a:t>Retirement (Defined Contribution)</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526627"/>
            <a:ext cx="8229600" cy="4389120"/>
          </a:xfrm>
        </p:spPr>
        <p:txBody>
          <a:bodyPr/>
          <a:lstStyle/>
          <a:p>
            <a:pPr lvl="2"/>
            <a:r>
              <a:rPr lang="en-US" sz="1200" dirty="0"/>
              <a:t>{{COMPANY1}} defined contribution (DC) program ranks {{RANK1}} in employer-provided value ({{PERC1}}% of average) and {{RANK2}} in total value ({{PERC2}}%)</a:t>
            </a:r>
          </a:p>
          <a:p>
            <a:pPr lvl="2"/>
            <a:r>
              <a:rPr lang="en-US" sz="1200" dirty="0"/>
              <a:t>The chart below summarizes the key plan design features for the most prevalent vision plan design within {{COMPANY1}} peer group:</a:t>
            </a:r>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27</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9" name="DC1_Table1">
            <a:extLst>
              <a:ext uri="{FF2B5EF4-FFF2-40B4-BE49-F238E27FC236}">
                <a16:creationId xmlns:a16="http://schemas.microsoft.com/office/drawing/2014/main" id="{3869C4DD-E73A-4BAD-9FCC-D801BB7E708F}"/>
              </a:ext>
            </a:extLst>
          </p:cNvPr>
          <p:cNvGraphicFramePr>
            <a:graphicFrameLocks noGrp="1"/>
          </p:cNvGraphicFramePr>
          <p:nvPr>
            <p:extLst>
              <p:ext uri="{D42A27DB-BD31-4B8C-83A1-F6EECF244321}">
                <p14:modId xmlns:p14="http://schemas.microsoft.com/office/powerpoint/2010/main" val="3199387106"/>
              </p:ext>
            </p:extLst>
          </p:nvPr>
        </p:nvGraphicFramePr>
        <p:xfrm>
          <a:off x="457200" y="2535982"/>
          <a:ext cx="8229601" cy="3512370"/>
        </p:xfrm>
        <a:graphic>
          <a:graphicData uri="http://schemas.openxmlformats.org/drawingml/2006/table">
            <a:tbl>
              <a:tblPr/>
              <a:tblGrid>
                <a:gridCol w="3160031">
                  <a:extLst>
                    <a:ext uri="{9D8B030D-6E8A-4147-A177-3AD203B41FA5}">
                      <a16:colId xmlns:a16="http://schemas.microsoft.com/office/drawing/2014/main" val="620068414"/>
                    </a:ext>
                  </a:extLst>
                </a:gridCol>
                <a:gridCol w="2534785">
                  <a:extLst>
                    <a:ext uri="{9D8B030D-6E8A-4147-A177-3AD203B41FA5}">
                      <a16:colId xmlns:a16="http://schemas.microsoft.com/office/drawing/2014/main" val="3755795793"/>
                    </a:ext>
                  </a:extLst>
                </a:gridCol>
                <a:gridCol w="2534785">
                  <a:extLst>
                    <a:ext uri="{9D8B030D-6E8A-4147-A177-3AD203B41FA5}">
                      <a16:colId xmlns:a16="http://schemas.microsoft.com/office/drawing/2014/main" val="1337388076"/>
                    </a:ext>
                  </a:extLst>
                </a:gridCol>
              </a:tblGrid>
              <a:tr h="24407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Arial" panose="020B0604020202020204" pitchFamily="34" charset="0"/>
                        </a:rPr>
                        <a:t>Plan Feature </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0000"/>
                          </a:solidFill>
                          <a:effectLst/>
                          <a:latin typeface="Arial" panose="020B0604020202020204" pitchFamily="34" charset="0"/>
                        </a:rPr>
                        <a:t>AMD's</a:t>
                      </a:r>
                      <a:r>
                        <a:rPr lang="en-US" sz="1000" b="1" i="0" u="none" strike="noStrike" dirty="0">
                          <a:solidFill>
                            <a:srgbClr val="FFFFFF"/>
                          </a:solidFill>
                          <a:effectLst/>
                          <a:latin typeface="Arial" panose="020B0604020202020204" pitchFamily="34" charset="0"/>
                        </a:rPr>
                        <a:t> Plan</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chemeClr val="bg1"/>
                          </a:solidFill>
                          <a:effectLst/>
                          <a:latin typeface="Arial" panose="020B0604020202020204" pitchFamily="34" charset="0"/>
                        </a:rPr>
                        <a:t>Typical Peer Group Plan</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16352118"/>
                  </a:ext>
                </a:extLst>
              </a:tr>
              <a:tr h="250726">
                <a:tc>
                  <a:txBody>
                    <a:bodyPr/>
                    <a:lstStyle/>
                    <a:p>
                      <a:pPr algn="l" fontAlgn="ctr"/>
                      <a:r>
                        <a:rPr lang="en-US" sz="1000" b="1" i="0" u="none" strike="noStrike">
                          <a:solidFill>
                            <a:srgbClr val="000000"/>
                          </a:solidFill>
                          <a:effectLst/>
                          <a:latin typeface="Arial" panose="020B0604020202020204" pitchFamily="34" charset="0"/>
                        </a:rPr>
                        <a:t>Allowed Matched Contribution</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 – 6%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 – 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17922759"/>
                  </a:ext>
                </a:extLst>
              </a:tr>
              <a:tr h="250726">
                <a:tc>
                  <a:txBody>
                    <a:bodyPr/>
                    <a:lstStyle/>
                    <a:p>
                      <a:pPr algn="l" fontAlgn="ctr"/>
                      <a:r>
                        <a:rPr lang="en-US" sz="1000" b="1" i="0" u="none" strike="noStrike" dirty="0">
                          <a:solidFill>
                            <a:srgbClr val="000000"/>
                          </a:solidFill>
                          <a:effectLst/>
                          <a:latin typeface="Arial" panose="020B0604020202020204" pitchFamily="34" charset="0"/>
                        </a:rPr>
                        <a:t>Employer Match</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 – 100%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181066164"/>
                  </a:ext>
                </a:extLst>
              </a:tr>
              <a:tr h="250726">
                <a:tc>
                  <a:txBody>
                    <a:bodyPr/>
                    <a:lstStyle/>
                    <a:p>
                      <a:pPr algn="l" fontAlgn="ctr"/>
                      <a:r>
                        <a:rPr lang="en-US" sz="1000" b="1" i="0" u="none" strike="noStrike">
                          <a:solidFill>
                            <a:srgbClr val="000000"/>
                          </a:solidFill>
                          <a:effectLst/>
                          <a:latin typeface="Arial" panose="020B0604020202020204" pitchFamily="34" charset="0"/>
                        </a:rPr>
                        <a:t>Allowed Unmatched Contribution*</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 – 94%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 – 44%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57655287"/>
                  </a:ext>
                </a:extLst>
              </a:tr>
              <a:tr h="250726">
                <a:tc>
                  <a:txBody>
                    <a:bodyPr/>
                    <a:lstStyle/>
                    <a:p>
                      <a:pPr algn="l" fontAlgn="ctr"/>
                      <a:r>
                        <a:rPr lang="en-US" sz="1000" b="1" i="0" u="none" strike="noStrike">
                          <a:solidFill>
                            <a:srgbClr val="000000"/>
                          </a:solidFill>
                          <a:effectLst/>
                          <a:latin typeface="Arial" panose="020B0604020202020204" pitchFamily="34" charset="0"/>
                        </a:rPr>
                        <a:t>Total Allowed*</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40693660"/>
                  </a:ext>
                </a:extLst>
              </a:tr>
              <a:tr h="250726">
                <a:tc>
                  <a:txBody>
                    <a:bodyPr/>
                    <a:lstStyle/>
                    <a:p>
                      <a:pPr algn="l" fontAlgn="ctr"/>
                      <a:r>
                        <a:rPr lang="en-US" sz="1000" b="1" i="0" u="none" strike="noStrike">
                          <a:solidFill>
                            <a:srgbClr val="000000"/>
                          </a:solidFill>
                          <a:effectLst/>
                          <a:latin typeface="Arial" panose="020B0604020202020204" pitchFamily="34" charset="0"/>
                        </a:rPr>
                        <a:t>Roth Offering</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Yes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51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46460998"/>
                  </a:ext>
                </a:extLst>
              </a:tr>
              <a:tr h="250726">
                <a:tc>
                  <a:txBody>
                    <a:bodyPr/>
                    <a:lstStyle/>
                    <a:p>
                      <a:pPr algn="l" fontAlgn="ctr"/>
                      <a:r>
                        <a:rPr lang="en-US" sz="1000" b="1" i="0" u="none" strike="noStrike">
                          <a:solidFill>
                            <a:srgbClr val="000000"/>
                          </a:solidFill>
                          <a:effectLst/>
                          <a:latin typeface="Arial" panose="020B0604020202020204" pitchFamily="34" charset="0"/>
                        </a:rPr>
                        <a:t>Auto Enrollment</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3 – 6%, 44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40574422"/>
                  </a:ext>
                </a:extLst>
              </a:tr>
              <a:tr h="250726">
                <a:tc>
                  <a:txBody>
                    <a:bodyPr/>
                    <a:lstStyle/>
                    <a:p>
                      <a:pPr algn="l" fontAlgn="ctr"/>
                      <a:r>
                        <a:rPr lang="en-US" sz="1000" b="1" i="0" u="none" strike="noStrike">
                          <a:solidFill>
                            <a:srgbClr val="000000"/>
                          </a:solidFill>
                          <a:effectLst/>
                          <a:latin typeface="Arial" panose="020B0604020202020204" pitchFamily="34" charset="0"/>
                        </a:rPr>
                        <a:t>Auto Escalation</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None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3 – 10%, 20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50188150"/>
                  </a:ext>
                </a:extLst>
              </a:tr>
              <a:tr h="250726">
                <a:tc>
                  <a:txBody>
                    <a:bodyPr/>
                    <a:lstStyle/>
                    <a:p>
                      <a:pPr algn="l" fontAlgn="ctr"/>
                      <a:r>
                        <a:rPr lang="en-US" sz="1000" b="1" i="0" u="none" strike="noStrike">
                          <a:solidFill>
                            <a:srgbClr val="000000"/>
                          </a:solidFill>
                          <a:effectLst/>
                          <a:latin typeface="Arial" panose="020B0604020202020204" pitchFamily="34" charset="0"/>
                        </a:rPr>
                        <a:t>Vesting</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100% immediately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 immediately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95579694"/>
                  </a:ext>
                </a:extLst>
              </a:tr>
              <a:tr h="250726">
                <a:tc>
                  <a:txBody>
                    <a:bodyPr/>
                    <a:lstStyle/>
                    <a:p>
                      <a:pPr algn="l" fontAlgn="ctr"/>
                      <a:r>
                        <a:rPr lang="en-US" sz="1000" b="1" i="0" u="none" strike="noStrike">
                          <a:solidFill>
                            <a:srgbClr val="000000"/>
                          </a:solidFill>
                          <a:effectLst/>
                          <a:latin typeface="Arial" panose="020B0604020202020204" pitchFamily="34" charset="0"/>
                        </a:rPr>
                        <a:t>Traditional After-Tax Contribution</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Yes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0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36421756"/>
                  </a:ext>
                </a:extLst>
              </a:tr>
              <a:tr h="244072">
                <a:tc>
                  <a:txBody>
                    <a:bodyPr/>
                    <a:lstStyle/>
                    <a:p>
                      <a:pPr algn="l" fontAlgn="ctr"/>
                      <a:r>
                        <a:rPr lang="en-US" sz="1000" b="1" i="1" u="none" strike="noStrike" dirty="0">
                          <a:solidFill>
                            <a:srgbClr val="000000"/>
                          </a:solidFill>
                          <a:effectLst/>
                          <a:latin typeface="Arial" panose="020B0604020202020204" pitchFamily="34" charset="0"/>
                        </a:rPr>
                        <a:t>Other Retirement Provisions</a:t>
                      </a:r>
                    </a:p>
                  </a:txBody>
                  <a:tcPr marL="94112"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endParaRPr lang="en-US" dirty="0"/>
                    </a:p>
                  </a:txBody>
                  <a:tcPr marL="94112"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tc>
                  <a:txBody>
                    <a:bodyPr/>
                    <a:lstStyle/>
                    <a:p>
                      <a:endParaRPr lang="en-US" sz="1000" dirty="0"/>
                    </a:p>
                  </a:txBody>
                  <a:tcPr marL="94112"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C1C4"/>
                    </a:solidFill>
                  </a:tcPr>
                </a:tc>
                <a:extLst>
                  <a:ext uri="{0D108BD9-81ED-4DB2-BD59-A6C34878D82A}">
                    <a16:rowId xmlns:a16="http://schemas.microsoft.com/office/drawing/2014/main" val="3951095586"/>
                  </a:ext>
                </a:extLst>
              </a:tr>
              <a:tr h="244072">
                <a:tc>
                  <a:txBody>
                    <a:bodyPr/>
                    <a:lstStyle/>
                    <a:p>
                      <a:pPr algn="l" fontAlgn="ctr"/>
                      <a:r>
                        <a:rPr lang="en-US" sz="1000" b="1" i="0" u="none" strike="noStrike">
                          <a:solidFill>
                            <a:srgbClr val="000000"/>
                          </a:solidFill>
                          <a:effectLst/>
                          <a:latin typeface="Arial" panose="020B0604020202020204" pitchFamily="34" charset="0"/>
                        </a:rPr>
                        <a:t>Stock Purchase</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Yes</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37 of 54</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61245705"/>
                  </a:ext>
                </a:extLst>
              </a:tr>
              <a:tr h="244072">
                <a:tc>
                  <a:txBody>
                    <a:bodyPr/>
                    <a:lstStyle/>
                    <a:p>
                      <a:pPr algn="l" fontAlgn="ctr"/>
                      <a:r>
                        <a:rPr lang="en-US" sz="1000" b="1" i="0" u="none" strike="noStrike" dirty="0">
                          <a:solidFill>
                            <a:srgbClr val="000000"/>
                          </a:solidFill>
                          <a:effectLst/>
                          <a:latin typeface="Arial" panose="020B0604020202020204" pitchFamily="34" charset="0"/>
                        </a:rPr>
                        <a:t>Profit Sharing Program</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No</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15 of 54</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81845650"/>
                  </a:ext>
                </a:extLst>
              </a:tr>
              <a:tr h="244072">
                <a:tc>
                  <a:txBody>
                    <a:bodyPr/>
                    <a:lstStyle/>
                    <a:p>
                      <a:pPr algn="l" fontAlgn="ctr"/>
                      <a:r>
                        <a:rPr lang="en-US" sz="1000" b="1" i="0" u="none" strike="noStrike" dirty="0">
                          <a:solidFill>
                            <a:srgbClr val="000000"/>
                          </a:solidFill>
                          <a:effectLst/>
                          <a:latin typeface="Arial" panose="020B0604020202020204" pitchFamily="34" charset="0"/>
                        </a:rPr>
                        <a:t>Defined Benefit Plan</a:t>
                      </a:r>
                    </a:p>
                  </a:txBody>
                  <a:tcPr marL="188225"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no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No</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no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0 of 54</a:t>
                      </a:r>
                    </a:p>
                  </a:txBody>
                  <a:tcPr marL="5228" marR="5228" marT="5228"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noFill/>
                      <a:prstDash val="solid"/>
                      <a:round/>
                      <a:headEnd type="none" w="med" len="med"/>
                      <a:tailEnd type="none" w="med" len="med"/>
                    </a:lnB>
                    <a:solidFill>
                      <a:srgbClr val="DFE0E1"/>
                    </a:solidFill>
                  </a:tcPr>
                </a:tc>
                <a:extLst>
                  <a:ext uri="{0D108BD9-81ED-4DB2-BD59-A6C34878D82A}">
                    <a16:rowId xmlns:a16="http://schemas.microsoft.com/office/drawing/2014/main" val="3897703477"/>
                  </a:ext>
                </a:extLst>
              </a:tr>
            </a:tbl>
          </a:graphicData>
        </a:graphic>
      </p:graphicFrame>
      <p:sp>
        <p:nvSpPr>
          <p:cNvPr id="7" name="Rectangle 6">
            <a:extLst>
              <a:ext uri="{FF2B5EF4-FFF2-40B4-BE49-F238E27FC236}">
                <a16:creationId xmlns:a16="http://schemas.microsoft.com/office/drawing/2014/main" id="{8A44B856-6812-40A0-81FD-5463A27D6FB9}"/>
              </a:ext>
            </a:extLst>
          </p:cNvPr>
          <p:cNvSpPr/>
          <p:nvPr/>
        </p:nvSpPr>
        <p:spPr>
          <a:xfrm>
            <a:off x="419100" y="6080581"/>
            <a:ext cx="962123" cy="215444"/>
          </a:xfrm>
          <a:prstGeom prst="rect">
            <a:avLst/>
          </a:prstGeom>
        </p:spPr>
        <p:txBody>
          <a:bodyPr wrap="none">
            <a:spAutoFit/>
          </a:bodyPr>
          <a:lstStyle/>
          <a:p>
            <a:r>
              <a:rPr lang="en-US" sz="800" dirty="0">
                <a:latin typeface="Arial" panose="020B0604020202020204" pitchFamily="34" charset="0"/>
              </a:rPr>
              <a:t>*Up to IRS limits</a:t>
            </a:r>
            <a:r>
              <a:rPr lang="en-US" sz="800" dirty="0"/>
              <a:t> </a:t>
            </a:r>
          </a:p>
        </p:txBody>
      </p:sp>
    </p:spTree>
    <p:custDataLst>
      <p:tags r:id="rId1"/>
    </p:custDataLst>
    <p:extLst>
      <p:ext uri="{BB962C8B-B14F-4D97-AF65-F5344CB8AC3E}">
        <p14:creationId xmlns:p14="http://schemas.microsoft.com/office/powerpoint/2010/main" val="4185525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TOCK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Retirement (Stock Purchase)</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28</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STOCK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2263509901"/>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STOCK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2770625242"/>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0460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RET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Retirement (Defined Contribution and Stock Purchase)</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29</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RET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3071784894"/>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RET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3379248512"/>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79432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B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Retirement (Defined Benefit)</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30</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DB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405035545"/>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DB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699059582"/>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06194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RETMED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Retirement (Retiree Medical)</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31</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RETMED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1026386348"/>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RETMED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703577613"/>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48886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TDLTD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Total Disability Program (Short-Term + Long-Term Disability)</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32</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STDLTD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2706164041"/>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STDLTD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904580202"/>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49408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TDLTDText-1">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0A6D64B7-CA7C-4E0C-B4AE-E5A0CE48D16D}"/>
              </a:ext>
            </a:extLst>
          </p:cNvPr>
          <p:cNvGraphicFramePr>
            <a:graphicFrameLocks noChangeAspect="1"/>
          </p:cNvGraphicFramePr>
          <p:nvPr>
            <p:custDataLst>
              <p:tags r:id="rId3"/>
            </p:custDataLst>
            <p:extLst>
              <p:ext uri="{D42A27DB-BD31-4B8C-83A1-F6EECF244321}">
                <p14:modId xmlns:p14="http://schemas.microsoft.com/office/powerpoint/2010/main" val="1733017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79" name="think-cell Slide" r:id="rId8" imgW="347" imgH="348" progId="TCLayout.ActiveDocument.1">
                  <p:embed/>
                </p:oleObj>
              </mc:Choice>
              <mc:Fallback>
                <p:oleObj name="think-cell Slide" r:id="rId8" imgW="347" imgH="348" progId="TCLayout.ActiveDocument.1">
                  <p:embed/>
                  <p:pic>
                    <p:nvPicPr>
                      <p:cNvPr id="10" name="Object 9" hidden="1">
                        <a:extLst>
                          <a:ext uri="{FF2B5EF4-FFF2-40B4-BE49-F238E27FC236}">
                            <a16:creationId xmlns:a16="http://schemas.microsoft.com/office/drawing/2014/main" id="{0A6D64B7-CA7C-4E0C-B4AE-E5A0CE48D16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Text Placeholder 4"/>
          <p:cNvSpPr>
            <a:spLocks noGrp="1"/>
          </p:cNvSpPr>
          <p:nvPr>
            <p:ph type="body" sz="quarter" idx="1"/>
            <p:custDataLst>
              <p:tags r:id="rId4"/>
            </p:custDataLst>
          </p:nvPr>
        </p:nvSpPr>
        <p:spPr>
          <a:xfrm>
            <a:off x="457200" y="1533426"/>
            <a:ext cx="8229600" cy="4389120"/>
          </a:xfrm>
        </p:spPr>
        <p:txBody>
          <a:bodyPr/>
          <a:lstStyle/>
          <a:p>
            <a:pPr lvl="2"/>
            <a:r>
              <a:rPr lang="en-US" sz="1200" dirty="0"/>
              <a:t>Due to variations in the elimination period for LTD (90 – 365 days), the combined STD and LTD valuation is the best assessment of a company’s disability benefit</a:t>
            </a:r>
          </a:p>
          <a:p>
            <a:pPr lvl="2"/>
            <a:r>
              <a:rPr lang="en-US" sz="1200" dirty="0"/>
              <a:t>For companies with PTO, 5 days are valued as sick days as part of the STD benefit</a:t>
            </a:r>
          </a:p>
          <a:p>
            <a:pPr lvl="2"/>
            <a:r>
              <a:rPr lang="en-US" sz="1200" dirty="0"/>
              <a:t>{{COMPANY1}} combined STD and LTD benefit ranks {{RANK1}} in employer-provided value ({{PERC1}}% of average) and {{RANK2}} in total value ({{PERC2}}%)</a:t>
            </a:r>
          </a:p>
          <a:p>
            <a:pPr lvl="2"/>
            <a:r>
              <a:rPr lang="en-US" sz="1200" dirty="0"/>
              <a:t>The chart below show {{COMPANY1}} total disability program compared with the typical design in the peer group:</a:t>
            </a:r>
          </a:p>
        </p:txBody>
      </p:sp>
      <p:sp>
        <p:nvSpPr>
          <p:cNvPr id="2" name="Title 1"/>
          <p:cNvSpPr>
            <a:spLocks noGrp="1"/>
          </p:cNvSpPr>
          <p:nvPr>
            <p:ph type="title"/>
            <p:custDataLst>
              <p:tags r:id="rId5"/>
            </p:custDataLst>
          </p:nvPr>
        </p:nvSpPr>
        <p:spPr/>
        <p:txBody>
          <a:bodyPr vert="horz"/>
          <a:lstStyle/>
          <a:p>
            <a:r>
              <a:rPr lang="en-US" dirty="0"/>
              <a:t>Total Disability Program (Short-Term + Long-Term Disability)</a:t>
            </a:r>
          </a:p>
        </p:txBody>
      </p:sp>
      <p:sp>
        <p:nvSpPr>
          <p:cNvPr id="6" name="Text Placeholder 5"/>
          <p:cNvSpPr>
            <a:spLocks noGrp="1"/>
          </p:cNvSpPr>
          <p:nvPr>
            <p:ph type="body" sz="quarter" idx="13"/>
            <p:custDataLst>
              <p:tags r:id="rId6"/>
            </p:custDataLst>
          </p:nvPr>
        </p:nvSpPr>
        <p:spPr/>
        <p:txBody>
          <a:bodyPr/>
          <a:lstStyle/>
          <a:p>
            <a:endParaRPr lang="en-US"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33</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9" name="Table 8" hidden="1">
            <a:extLst>
              <a:ext uri="{FF2B5EF4-FFF2-40B4-BE49-F238E27FC236}">
                <a16:creationId xmlns:a16="http://schemas.microsoft.com/office/drawing/2014/main" id="{CE077CFC-7CCF-4C0D-B581-7AAE1768FE36}"/>
              </a:ext>
            </a:extLst>
          </p:cNvPr>
          <p:cNvGraphicFramePr>
            <a:graphicFrameLocks noGrp="1"/>
          </p:cNvGraphicFramePr>
          <p:nvPr>
            <p:extLst>
              <p:ext uri="{D42A27DB-BD31-4B8C-83A1-F6EECF244321}">
                <p14:modId xmlns:p14="http://schemas.microsoft.com/office/powerpoint/2010/main" val="2016456717"/>
              </p:ext>
            </p:extLst>
          </p:nvPr>
        </p:nvGraphicFramePr>
        <p:xfrm>
          <a:off x="831850" y="3198669"/>
          <a:ext cx="7480300" cy="2518410"/>
        </p:xfrm>
        <a:graphic>
          <a:graphicData uri="http://schemas.openxmlformats.org/drawingml/2006/table">
            <a:tbl>
              <a:tblPr/>
              <a:tblGrid>
                <a:gridCol w="444500">
                  <a:extLst>
                    <a:ext uri="{9D8B030D-6E8A-4147-A177-3AD203B41FA5}">
                      <a16:colId xmlns:a16="http://schemas.microsoft.com/office/drawing/2014/main" val="4127930570"/>
                    </a:ext>
                  </a:extLst>
                </a:gridCol>
                <a:gridCol w="304800">
                  <a:extLst>
                    <a:ext uri="{9D8B030D-6E8A-4147-A177-3AD203B41FA5}">
                      <a16:colId xmlns:a16="http://schemas.microsoft.com/office/drawing/2014/main" val="1017645981"/>
                    </a:ext>
                  </a:extLst>
                </a:gridCol>
                <a:gridCol w="609600">
                  <a:extLst>
                    <a:ext uri="{9D8B030D-6E8A-4147-A177-3AD203B41FA5}">
                      <a16:colId xmlns:a16="http://schemas.microsoft.com/office/drawing/2014/main" val="560662290"/>
                    </a:ext>
                  </a:extLst>
                </a:gridCol>
                <a:gridCol w="609600">
                  <a:extLst>
                    <a:ext uri="{9D8B030D-6E8A-4147-A177-3AD203B41FA5}">
                      <a16:colId xmlns:a16="http://schemas.microsoft.com/office/drawing/2014/main" val="4222331555"/>
                    </a:ext>
                  </a:extLst>
                </a:gridCol>
                <a:gridCol w="609600">
                  <a:extLst>
                    <a:ext uri="{9D8B030D-6E8A-4147-A177-3AD203B41FA5}">
                      <a16:colId xmlns:a16="http://schemas.microsoft.com/office/drawing/2014/main" val="1093457411"/>
                    </a:ext>
                  </a:extLst>
                </a:gridCol>
                <a:gridCol w="304800">
                  <a:extLst>
                    <a:ext uri="{9D8B030D-6E8A-4147-A177-3AD203B41FA5}">
                      <a16:colId xmlns:a16="http://schemas.microsoft.com/office/drawing/2014/main" val="4067154471"/>
                    </a:ext>
                  </a:extLst>
                </a:gridCol>
                <a:gridCol w="304800">
                  <a:extLst>
                    <a:ext uri="{9D8B030D-6E8A-4147-A177-3AD203B41FA5}">
                      <a16:colId xmlns:a16="http://schemas.microsoft.com/office/drawing/2014/main" val="2169032350"/>
                    </a:ext>
                  </a:extLst>
                </a:gridCol>
                <a:gridCol w="609600">
                  <a:extLst>
                    <a:ext uri="{9D8B030D-6E8A-4147-A177-3AD203B41FA5}">
                      <a16:colId xmlns:a16="http://schemas.microsoft.com/office/drawing/2014/main" val="3510777850"/>
                    </a:ext>
                  </a:extLst>
                </a:gridCol>
                <a:gridCol w="609600">
                  <a:extLst>
                    <a:ext uri="{9D8B030D-6E8A-4147-A177-3AD203B41FA5}">
                      <a16:colId xmlns:a16="http://schemas.microsoft.com/office/drawing/2014/main" val="2316725361"/>
                    </a:ext>
                  </a:extLst>
                </a:gridCol>
                <a:gridCol w="609600">
                  <a:extLst>
                    <a:ext uri="{9D8B030D-6E8A-4147-A177-3AD203B41FA5}">
                      <a16:colId xmlns:a16="http://schemas.microsoft.com/office/drawing/2014/main" val="3175327620"/>
                    </a:ext>
                  </a:extLst>
                </a:gridCol>
                <a:gridCol w="609600">
                  <a:extLst>
                    <a:ext uri="{9D8B030D-6E8A-4147-A177-3AD203B41FA5}">
                      <a16:colId xmlns:a16="http://schemas.microsoft.com/office/drawing/2014/main" val="3704470882"/>
                    </a:ext>
                  </a:extLst>
                </a:gridCol>
                <a:gridCol w="609600">
                  <a:extLst>
                    <a:ext uri="{9D8B030D-6E8A-4147-A177-3AD203B41FA5}">
                      <a16:colId xmlns:a16="http://schemas.microsoft.com/office/drawing/2014/main" val="2247358874"/>
                    </a:ext>
                  </a:extLst>
                </a:gridCol>
                <a:gridCol w="1244600">
                  <a:extLst>
                    <a:ext uri="{9D8B030D-6E8A-4147-A177-3AD203B41FA5}">
                      <a16:colId xmlns:a16="http://schemas.microsoft.com/office/drawing/2014/main" val="1807806509"/>
                    </a:ext>
                  </a:extLst>
                </a:gridCol>
              </a:tblGrid>
              <a:tr h="161925">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677741616"/>
                  </a:ext>
                </a:extLst>
              </a:tr>
              <a:tr h="152400">
                <a:tc>
                  <a:txBody>
                    <a:bodyPr/>
                    <a:lstStyle/>
                    <a:p>
                      <a:pPr algn="l" fontAlgn="b"/>
                      <a:endParaRPr lang="en-US" sz="10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10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extLst>
                  <a:ext uri="{0D108BD9-81ED-4DB2-BD59-A6C34878D82A}">
                    <a16:rowId xmlns:a16="http://schemas.microsoft.com/office/drawing/2014/main" val="3179050391"/>
                  </a:ext>
                </a:extLst>
              </a:tr>
              <a:tr h="161925">
                <a:tc rowSpan="2" gridSpan="2">
                  <a:txBody>
                    <a:bodyPr/>
                    <a:lstStyle/>
                    <a:p>
                      <a:pPr algn="r" fontAlgn="ctr"/>
                      <a:r>
                        <a:rPr lang="en-US" sz="1000" b="0" i="0" u="none" strike="noStrike" dirty="0">
                          <a:solidFill>
                            <a:srgbClr val="FF0000"/>
                          </a:solidFill>
                          <a:effectLst/>
                          <a:latin typeface="Arial" panose="020B0604020202020204" pitchFamily="34" charset="0"/>
                        </a:rPr>
                        <a:t>Intuit's</a:t>
                      </a:r>
                      <a:r>
                        <a:rPr lang="en-US" sz="1000" b="0" i="0" u="none" strike="noStrike" dirty="0">
                          <a:effectLst/>
                          <a:latin typeface="Arial" panose="020B0604020202020204" pitchFamily="34" charset="0"/>
                        </a:rPr>
                        <a:t> Plan</a:t>
                      </a:r>
                    </a:p>
                  </a:txBody>
                  <a:tcPr marL="0" marR="0" marT="0" marB="0" anchor="ctr">
                    <a:lnL>
                      <a:noFill/>
                    </a:lnL>
                    <a:lnR>
                      <a:noFill/>
                    </a:lnR>
                    <a:lnT>
                      <a:noFill/>
                    </a:lnT>
                    <a:lnB>
                      <a:noFill/>
                    </a:lnB>
                  </a:tcPr>
                </a:tc>
                <a:tc rowSpan="2" hMerge="1">
                  <a:txBody>
                    <a:bodyPr/>
                    <a:lstStyle/>
                    <a:p>
                      <a:endParaRPr lang="en-US"/>
                    </a:p>
                  </a:txBody>
                  <a:tcPr/>
                </a:tc>
                <a:tc>
                  <a:txBody>
                    <a:bodyPr/>
                    <a:lstStyle/>
                    <a:p>
                      <a:pPr algn="ctr" fontAlgn="b"/>
                      <a:r>
                        <a:rPr lang="en-US" sz="1000" b="0" i="0" u="none" strike="noStrike">
                          <a:effectLst/>
                          <a:latin typeface="Arial" panose="020B0604020202020204" pitchFamily="34" charset="0"/>
                        </a:rPr>
                        <a:t>STD</a:t>
                      </a:r>
                    </a:p>
                  </a:txBody>
                  <a:tcPr marL="0" marR="0" marT="0" marB="0" anchor="b">
                    <a:lnL>
                      <a:noFill/>
                    </a:lnL>
                    <a:lnR>
                      <a:noFill/>
                    </a:lnR>
                    <a:lnT>
                      <a:noFill/>
                    </a:lnT>
                    <a:lnB>
                      <a:noFill/>
                    </a:lnB>
                  </a:tcPr>
                </a:tc>
                <a:tc>
                  <a:txBody>
                    <a:bodyPr/>
                    <a:lstStyle/>
                    <a:p>
                      <a:pPr algn="l" fontAlgn="b"/>
                      <a:r>
                        <a:rPr lang="en-US" sz="1000" b="0" i="0" u="none" strike="noStrike">
                          <a:effectLst/>
                          <a:latin typeface="Arial" panose="020B0604020202020204" pitchFamily="34" charset="0"/>
                        </a:rPr>
                        <a:t> </a:t>
                      </a:r>
                    </a:p>
                  </a:txBody>
                  <a:tcPr marL="0" marR="0" marT="0" marB="0" anchor="b">
                    <a:lnL>
                      <a:noFill/>
                    </a:lnL>
                    <a:lnR>
                      <a:noFill/>
                    </a:lnR>
                    <a:lnT>
                      <a:noFill/>
                    </a:lnT>
                    <a:lnB>
                      <a:noFill/>
                    </a:lnB>
                    <a:solidFill>
                      <a:srgbClr val="702082"/>
                    </a:solidFill>
                  </a:tcPr>
                </a:tc>
                <a:tc>
                  <a:txBody>
                    <a:bodyPr/>
                    <a:lstStyle/>
                    <a:p>
                      <a:pPr algn="r" fontAlgn="b"/>
                      <a:r>
                        <a:rPr lang="en-US" sz="1000" b="0" i="0" u="none" strike="noStrike">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dirty="0">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dirty="0">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extLst>
                  <a:ext uri="{0D108BD9-81ED-4DB2-BD59-A6C34878D82A}">
                    <a16:rowId xmlns:a16="http://schemas.microsoft.com/office/drawing/2014/main" val="4266133841"/>
                  </a:ext>
                </a:extLst>
              </a:tr>
              <a:tr h="161925">
                <a:tc gridSpan="2" vMerge="1">
                  <a:txBody>
                    <a:bodyPr/>
                    <a:lstStyle/>
                    <a:p>
                      <a:endParaRPr lang="en-US"/>
                    </a:p>
                  </a:txBody>
                  <a:tcPr/>
                </a:tc>
                <a:tc hMerge="1" vMerge="1">
                  <a:txBody>
                    <a:bodyPr/>
                    <a:lstStyle/>
                    <a:p>
                      <a:endParaRPr lang="en-US"/>
                    </a:p>
                  </a:txBody>
                  <a:tcPr/>
                </a:tc>
                <a:tc>
                  <a:txBody>
                    <a:bodyPr/>
                    <a:lstStyle/>
                    <a:p>
                      <a:pPr algn="ctr" fontAlgn="b"/>
                      <a:r>
                        <a:rPr lang="en-US" sz="1000" b="0" i="0" u="none" strike="noStrike" dirty="0">
                          <a:effectLst/>
                          <a:latin typeface="Arial" panose="020B0604020202020204" pitchFamily="34" charset="0"/>
                        </a:rPr>
                        <a:t>SDI</a:t>
                      </a:r>
                    </a:p>
                  </a:txBody>
                  <a:tcPr marL="0" marR="0" marT="0" marB="0" anchor="b">
                    <a:lnL>
                      <a:noFill/>
                    </a:lnL>
                    <a:lnR>
                      <a:noFill/>
                    </a:lnR>
                    <a:lnT>
                      <a:noFill/>
                    </a:lnT>
                    <a:lnB>
                      <a:noFill/>
                    </a:lnB>
                  </a:tcPr>
                </a:tc>
                <a:tc>
                  <a:txBody>
                    <a:bodyPr/>
                    <a:lstStyle/>
                    <a:p>
                      <a:pPr algn="l" fontAlgn="b"/>
                      <a:r>
                        <a:rPr lang="en-US" sz="1000" b="0" i="0" u="none" strike="noStrike" dirty="0">
                          <a:effectLst/>
                          <a:latin typeface="Arial" panose="020B0604020202020204" pitchFamily="34" charset="0"/>
                        </a:rPr>
                        <a:t> </a:t>
                      </a:r>
                    </a:p>
                  </a:txBody>
                  <a:tcPr marL="0" marR="0" marT="0" marB="0" anchor="b">
                    <a:lnL>
                      <a:noFill/>
                    </a:lnL>
                    <a:lnR>
                      <a:noFill/>
                    </a:lnR>
                    <a:lnT>
                      <a:noFill/>
                    </a:lnT>
                    <a:lnB>
                      <a:noFill/>
                    </a:lnB>
                    <a:solidFill>
                      <a:srgbClr val="702082"/>
                    </a:solidFill>
                  </a:tcPr>
                </a:tc>
                <a:tc>
                  <a:txBody>
                    <a:bodyPr/>
                    <a:lstStyle/>
                    <a:p>
                      <a:pPr algn="r" fontAlgn="b"/>
                      <a:r>
                        <a:rPr lang="en-US" sz="1000" b="0" i="0" u="none" strike="noStrike" dirty="0">
                          <a:solidFill>
                            <a:srgbClr val="00C389"/>
                          </a:solidFill>
                          <a:effectLst/>
                          <a:latin typeface="Arial" panose="020B0604020202020204" pitchFamily="34" charset="0"/>
                        </a:rPr>
                        <a:t>365</a:t>
                      </a:r>
                    </a:p>
                  </a:txBody>
                  <a:tcPr marL="0" marR="0" marT="0" marB="0" anchor="b">
                    <a:lnL>
                      <a:noFill/>
                    </a:lnL>
                    <a:lnR>
                      <a:noFill/>
                    </a:lnR>
                    <a:lnT>
                      <a:noFill/>
                    </a:lnT>
                    <a:lnB>
                      <a:noFill/>
                    </a:lnB>
                    <a:solidFill>
                      <a:srgbClr val="00C389"/>
                    </a:solidFill>
                  </a:tcPr>
                </a:tc>
                <a:tc>
                  <a:txBody>
                    <a:bodyPr/>
                    <a:lstStyle/>
                    <a:p>
                      <a:pPr algn="r" fontAlgn="b"/>
                      <a:r>
                        <a:rPr lang="en-US" sz="1000" b="0" i="0" u="none" strike="noStrike" dirty="0">
                          <a:solidFill>
                            <a:srgbClr val="00C389"/>
                          </a:solidFill>
                          <a:effectLst/>
                          <a:latin typeface="Arial" panose="020B0604020202020204" pitchFamily="34" charset="0"/>
                        </a:rPr>
                        <a:t>365</a:t>
                      </a:r>
                    </a:p>
                  </a:txBody>
                  <a:tcPr marL="0" marR="0" marT="0" marB="0" anchor="b">
                    <a:lnL>
                      <a:noFill/>
                    </a:lnL>
                    <a:lnR>
                      <a:noFill/>
                    </a:lnR>
                    <a:lnT>
                      <a:noFill/>
                    </a:lnT>
                    <a:lnB>
                      <a:noFill/>
                    </a:lnB>
                    <a:solidFill>
                      <a:srgbClr val="00C389"/>
                    </a:solidFill>
                  </a:tcPr>
                </a:tc>
                <a:tc>
                  <a:txBody>
                    <a:bodyPr/>
                    <a:lstStyle/>
                    <a:p>
                      <a:pPr algn="r" fontAlgn="b"/>
                      <a:r>
                        <a:rPr lang="en-US" sz="1000" b="0" i="0" u="none" strike="noStrike" dirty="0">
                          <a:solidFill>
                            <a:srgbClr val="00C389"/>
                          </a:solidFill>
                          <a:effectLst/>
                          <a:latin typeface="Arial" panose="020B0604020202020204" pitchFamily="34" charset="0"/>
                        </a:rPr>
                        <a:t>365</a:t>
                      </a:r>
                    </a:p>
                  </a:txBody>
                  <a:tcPr marL="0" marR="0" marT="0" marB="0" anchor="b">
                    <a:lnL>
                      <a:noFill/>
                    </a:lnL>
                    <a:lnR>
                      <a:noFill/>
                    </a:lnR>
                    <a:lnT>
                      <a:noFill/>
                    </a:lnT>
                    <a:lnB>
                      <a:noFill/>
                    </a:lnB>
                    <a:solidFill>
                      <a:srgbClr val="00C389"/>
                    </a:solidFill>
                  </a:tcPr>
                </a:tc>
                <a:tc>
                  <a:txBody>
                    <a:bodyPr/>
                    <a:lstStyle/>
                    <a:p>
                      <a:pPr algn="r" fontAlgn="b"/>
                      <a:r>
                        <a:rPr lang="en-US" sz="1000" b="0" i="0" u="none" strike="noStrike" dirty="0">
                          <a:solidFill>
                            <a:srgbClr val="00C389"/>
                          </a:solidFill>
                          <a:effectLst/>
                          <a:latin typeface="Arial" panose="020B0604020202020204" pitchFamily="34" charset="0"/>
                        </a:rPr>
                        <a:t>365</a:t>
                      </a:r>
                    </a:p>
                  </a:txBody>
                  <a:tcPr marL="0" marR="0" marT="0" marB="0" anchor="b">
                    <a:lnL>
                      <a:noFill/>
                    </a:lnL>
                    <a:lnR>
                      <a:noFill/>
                    </a:lnR>
                    <a:lnT>
                      <a:noFill/>
                    </a:lnT>
                    <a:lnB>
                      <a:noFill/>
                    </a:lnB>
                    <a:solidFill>
                      <a:srgbClr val="00C389"/>
                    </a:solidFill>
                  </a:tcPr>
                </a:tc>
                <a:tc>
                  <a:txBody>
                    <a:bodyPr/>
                    <a:lstStyle/>
                    <a:p>
                      <a:pPr algn="r" fontAlgn="b"/>
                      <a:r>
                        <a:rPr lang="en-US" sz="1000" b="0" i="0" u="none" strike="noStrike" dirty="0">
                          <a:solidFill>
                            <a:srgbClr val="00C389"/>
                          </a:solidFill>
                          <a:effectLst/>
                          <a:latin typeface="Arial" panose="020B0604020202020204" pitchFamily="34" charset="0"/>
                        </a:rPr>
                        <a:t>365</a:t>
                      </a:r>
                    </a:p>
                  </a:txBody>
                  <a:tcPr marL="0" marR="0" marT="0" marB="0" anchor="b">
                    <a:lnL>
                      <a:noFill/>
                    </a:lnL>
                    <a:lnR>
                      <a:noFill/>
                    </a:lnR>
                    <a:lnT>
                      <a:noFill/>
                    </a:lnT>
                    <a:lnB>
                      <a:noFill/>
                    </a:lnB>
                    <a:solidFill>
                      <a:srgbClr val="00C389"/>
                    </a:solidFill>
                  </a:tcPr>
                </a:tc>
                <a:tc>
                  <a:txBody>
                    <a:bodyPr/>
                    <a:lstStyle/>
                    <a:p>
                      <a:pPr algn="r" fontAlgn="b"/>
                      <a:r>
                        <a:rPr lang="en-US" sz="1000" b="0" i="0" u="none" strike="noStrike" dirty="0">
                          <a:solidFill>
                            <a:srgbClr val="00C389"/>
                          </a:solidFill>
                          <a:effectLst/>
                          <a:latin typeface="Arial" panose="020B0604020202020204" pitchFamily="34" charset="0"/>
                        </a:rPr>
                        <a:t>365</a:t>
                      </a:r>
                    </a:p>
                  </a:txBody>
                  <a:tcPr marL="0" marR="0" marT="0" marB="0" anchor="b">
                    <a:lnL>
                      <a:noFill/>
                    </a:lnL>
                    <a:lnR>
                      <a:noFill/>
                    </a:lnR>
                    <a:lnT>
                      <a:noFill/>
                    </a:lnT>
                    <a:lnB>
                      <a:noFill/>
                    </a:lnB>
                    <a:solidFill>
                      <a:srgbClr val="00C389"/>
                    </a:solidFill>
                  </a:tcPr>
                </a:tc>
                <a:tc>
                  <a:txBody>
                    <a:bodyPr/>
                    <a:lstStyle/>
                    <a:p>
                      <a:pPr algn="r" fontAlgn="b"/>
                      <a:r>
                        <a:rPr lang="en-US" sz="1000" b="0" i="0" u="none" strike="noStrike" dirty="0">
                          <a:solidFill>
                            <a:srgbClr val="00C389"/>
                          </a:solidFill>
                          <a:effectLst/>
                          <a:latin typeface="Arial" panose="020B0604020202020204" pitchFamily="34" charset="0"/>
                        </a:rPr>
                        <a:t>365</a:t>
                      </a:r>
                    </a:p>
                  </a:txBody>
                  <a:tcPr marL="0" marR="0" marT="0" marB="0" anchor="b">
                    <a:lnL>
                      <a:noFill/>
                    </a:lnL>
                    <a:lnR>
                      <a:noFill/>
                    </a:lnR>
                    <a:lnT>
                      <a:noFill/>
                    </a:lnT>
                    <a:lnB>
                      <a:noFill/>
                    </a:lnB>
                    <a:solidFill>
                      <a:srgbClr val="00C389"/>
                    </a:solidFill>
                  </a:tcPr>
                </a:tc>
                <a:tc>
                  <a:txBody>
                    <a:bodyPr/>
                    <a:lstStyle/>
                    <a:p>
                      <a:pPr algn="r" fontAlgn="b"/>
                      <a:r>
                        <a:rPr lang="en-US" sz="1000" b="0" i="0" u="none" strike="noStrike" dirty="0">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dirty="0">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extLst>
                  <a:ext uri="{0D108BD9-81ED-4DB2-BD59-A6C34878D82A}">
                    <a16:rowId xmlns:a16="http://schemas.microsoft.com/office/drawing/2014/main" val="531239949"/>
                  </a:ext>
                </a:extLst>
              </a:tr>
              <a:tr h="314325">
                <a:tc>
                  <a:txBody>
                    <a:bodyPr/>
                    <a:lstStyle/>
                    <a:p>
                      <a:pPr algn="l" fontAlgn="ctr"/>
                      <a:endParaRPr lang="en-US" sz="10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10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10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t"/>
                      <a:r>
                        <a:rPr lang="en-US" sz="900" b="1" i="0" u="none" strike="noStrike" dirty="0">
                          <a:solidFill>
                            <a:schemeClr val="accent1"/>
                          </a:solidFill>
                          <a:effectLst/>
                          <a:latin typeface="Arial" panose="020B0604020202020204" pitchFamily="34" charset="0"/>
                        </a:rPr>
                        <a:t>100%</a:t>
                      </a:r>
                    </a:p>
                  </a:txBody>
                  <a:tcPr marL="0" marR="0" marT="0" marB="0">
                    <a:lnL>
                      <a:noFill/>
                    </a:lnL>
                    <a:lnR>
                      <a:noFill/>
                    </a:lnR>
                    <a:lnT>
                      <a:noFill/>
                    </a:lnT>
                    <a:lnB>
                      <a:noFill/>
                    </a:lnB>
                  </a:tcPr>
                </a:tc>
                <a:tc gridSpan="7">
                  <a:txBody>
                    <a:bodyPr/>
                    <a:lstStyle/>
                    <a:p>
                      <a:pPr algn="l" fontAlgn="t"/>
                      <a:r>
                        <a:rPr lang="en-US" sz="900" b="1" i="0" u="none" strike="noStrike" dirty="0">
                          <a:solidFill>
                            <a:schemeClr val="accent3"/>
                          </a:solidFill>
                          <a:effectLst/>
                          <a:latin typeface="Arial" panose="020B0604020202020204" pitchFamily="34" charset="0"/>
                        </a:rPr>
                        <a:t>STD Benefit:  8 weeks at 100% of pay;  17 weeks at 70% of pay</a:t>
                      </a:r>
                    </a:p>
                  </a:txBody>
                  <a:tcPr marL="0" marR="0" marT="0" marB="0">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l" fontAlgn="t"/>
                      <a:r>
                        <a:rPr lang="en-US" sz="900" b="1" i="0" u="none" strike="noStrike" dirty="0">
                          <a:effectLst/>
                          <a:latin typeface="Arial" panose="020B0604020202020204" pitchFamily="34" charset="0"/>
                        </a:rPr>
                        <a:t>LTD Benefit: 66.7%</a:t>
                      </a:r>
                    </a:p>
                  </a:txBody>
                  <a:tcPr marL="0" marR="0" marT="0" marB="0">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1344499866"/>
                  </a:ext>
                </a:extLst>
              </a:tr>
              <a:tr h="314325">
                <a:tc>
                  <a:txBody>
                    <a:bodyPr/>
                    <a:lstStyle/>
                    <a:p>
                      <a:pPr algn="l" fontAlgn="ctr"/>
                      <a:endParaRPr lang="en-US" sz="10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10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10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t"/>
                      <a:endParaRPr lang="en-US" sz="900" b="1" i="0" u="none" strike="noStrike" dirty="0">
                        <a:effectLst/>
                        <a:latin typeface="Arial" panose="020B0604020202020204" pitchFamily="34" charset="0"/>
                      </a:endParaRPr>
                    </a:p>
                  </a:txBody>
                  <a:tcPr marL="0" marR="0" marT="0" marB="0">
                    <a:lnL>
                      <a:noFill/>
                    </a:lnL>
                    <a:lnR>
                      <a:noFill/>
                    </a:lnR>
                    <a:lnT>
                      <a:noFill/>
                    </a:lnT>
                    <a:lnB>
                      <a:noFill/>
                    </a:lnB>
                  </a:tcPr>
                </a:tc>
                <a:tc gridSpan="7">
                  <a:txBody>
                    <a:bodyPr/>
                    <a:lstStyle/>
                    <a:p>
                      <a:pPr algn="l" fontAlgn="t"/>
                      <a:r>
                        <a:rPr lang="en-US" sz="900" b="1" i="0" u="none" strike="noStrike" dirty="0">
                          <a:solidFill>
                            <a:schemeClr val="accent5"/>
                          </a:solidFill>
                          <a:effectLst/>
                          <a:latin typeface="Arial" panose="020B0604020202020204" pitchFamily="34" charset="0"/>
                        </a:rPr>
                        <a:t>SDI Benefit:  8 weeks at 100% of pay;  17 weeks at 70% of pay</a:t>
                      </a:r>
                    </a:p>
                  </a:txBody>
                  <a:tcPr marL="0" marR="0" marT="0" marB="0">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endParaRPr lang="en-US" sz="10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t"/>
                      <a:endParaRPr lang="en-US" sz="900" b="1" i="0" u="none" strike="noStrike">
                        <a:effectLst/>
                        <a:latin typeface="Arial" panose="020B0604020202020204" pitchFamily="34" charset="0"/>
                      </a:endParaRPr>
                    </a:p>
                  </a:txBody>
                  <a:tcPr marL="0" marR="0" marT="0" marB="0">
                    <a:lnL>
                      <a:noFill/>
                    </a:lnL>
                    <a:lnR>
                      <a:noFill/>
                    </a:lnR>
                    <a:lnT>
                      <a:noFill/>
                    </a:lnT>
                    <a:lnB>
                      <a:noFill/>
                    </a:lnB>
                  </a:tcPr>
                </a:tc>
                <a:extLst>
                  <a:ext uri="{0D108BD9-81ED-4DB2-BD59-A6C34878D82A}">
                    <a16:rowId xmlns:a16="http://schemas.microsoft.com/office/drawing/2014/main" val="2404779673"/>
                  </a:ext>
                </a:extLst>
              </a:tr>
              <a:tr h="161925">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3748838044"/>
                  </a:ext>
                </a:extLst>
              </a:tr>
              <a:tr h="152400">
                <a:tc>
                  <a:txBody>
                    <a:bodyPr/>
                    <a:lstStyle/>
                    <a:p>
                      <a:pPr algn="l" fontAlgn="b"/>
                      <a:endParaRPr lang="en-US" sz="10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10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l" fontAlgn="ctr"/>
                      <a:endParaRPr lang="en-US" sz="800" b="1" i="0" u="none" strike="noStrike">
                        <a:effectLst/>
                        <a:latin typeface="Arial" panose="020B0604020202020204" pitchFamily="34" charset="0"/>
                      </a:endParaRPr>
                    </a:p>
                  </a:txBody>
                  <a:tcPr marL="0" marR="0" marT="0" marB="0" anchor="ctr">
                    <a:lnL>
                      <a:noFill/>
                    </a:lnL>
                    <a:lnR>
                      <a:noFill/>
                    </a:lnR>
                    <a:lnT>
                      <a:noFill/>
                    </a:lnT>
                    <a:lnB>
                      <a:noFill/>
                    </a:lnB>
                  </a:tcPr>
                </a:tc>
                <a:tc>
                  <a:txBody>
                    <a:bodyPr/>
                    <a:lstStyle/>
                    <a:p>
                      <a:pPr algn="ctr" fontAlgn="b"/>
                      <a:endParaRPr lang="en-US" sz="8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8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8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8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800" b="1"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800" b="1" i="0" u="none" strike="noStrike">
                        <a:effectLst/>
                        <a:latin typeface="Arial" panose="020B060402020202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2583236628"/>
                  </a:ext>
                </a:extLst>
              </a:tr>
              <a:tr h="161925">
                <a:tc rowSpan="2" gridSpan="2">
                  <a:txBody>
                    <a:bodyPr/>
                    <a:lstStyle/>
                    <a:p>
                      <a:pPr algn="l" fontAlgn="ctr"/>
                      <a:r>
                        <a:rPr lang="en-US" sz="1000" b="0" i="0" u="none" strike="noStrike">
                          <a:effectLst/>
                          <a:latin typeface="Arial" panose="020B0604020202020204" pitchFamily="34" charset="0"/>
                        </a:rPr>
                        <a:t>Typical Peer Group Plan</a:t>
                      </a:r>
                    </a:p>
                  </a:txBody>
                  <a:tcPr marL="0" marR="0" marT="0" marB="0" anchor="ctr">
                    <a:lnL>
                      <a:noFill/>
                    </a:lnL>
                    <a:lnR>
                      <a:noFill/>
                    </a:lnR>
                    <a:lnT>
                      <a:noFill/>
                    </a:lnT>
                    <a:lnB>
                      <a:noFill/>
                    </a:lnB>
                  </a:tcPr>
                </a:tc>
                <a:tc rowSpan="2" hMerge="1">
                  <a:txBody>
                    <a:bodyPr/>
                    <a:lstStyle/>
                    <a:p>
                      <a:endParaRPr lang="en-US"/>
                    </a:p>
                  </a:txBody>
                  <a:tcPr/>
                </a:tc>
                <a:tc>
                  <a:txBody>
                    <a:bodyPr/>
                    <a:lstStyle/>
                    <a:p>
                      <a:pPr algn="ctr" fontAlgn="b"/>
                      <a:r>
                        <a:rPr lang="en-US" sz="1000" b="0" i="0" u="none" strike="noStrike">
                          <a:effectLst/>
                          <a:latin typeface="Arial" panose="020B0604020202020204" pitchFamily="34" charset="0"/>
                        </a:rPr>
                        <a:t>STD</a:t>
                      </a:r>
                    </a:p>
                  </a:txBody>
                  <a:tcPr marL="0" marR="0" marT="0" marB="0" anchor="b">
                    <a:lnL>
                      <a:noFill/>
                    </a:lnL>
                    <a:lnR>
                      <a:noFill/>
                    </a:lnR>
                    <a:lnT>
                      <a:noFill/>
                    </a:lnT>
                    <a:lnB>
                      <a:noFill/>
                    </a:lnB>
                  </a:tcPr>
                </a:tc>
                <a:tc>
                  <a:txBody>
                    <a:bodyPr/>
                    <a:lstStyle/>
                    <a:p>
                      <a:pPr algn="l" fontAlgn="b"/>
                      <a:r>
                        <a:rPr lang="en-US" sz="1000" b="0" i="0" u="none" strike="noStrike">
                          <a:effectLst/>
                          <a:latin typeface="Arial" panose="020B0604020202020204" pitchFamily="34" charset="0"/>
                        </a:rPr>
                        <a:t> </a:t>
                      </a:r>
                    </a:p>
                  </a:txBody>
                  <a:tcPr marL="0" marR="0" marT="0" marB="0" anchor="b">
                    <a:lnL>
                      <a:noFill/>
                    </a:lnL>
                    <a:lnR>
                      <a:noFill/>
                    </a:lnR>
                    <a:lnT>
                      <a:noFill/>
                    </a:lnT>
                    <a:lnB>
                      <a:noFill/>
                    </a:lnB>
                    <a:solidFill>
                      <a:srgbClr val="702082"/>
                    </a:solidFill>
                  </a:tcPr>
                </a:tc>
                <a:tc>
                  <a:txBody>
                    <a:bodyPr/>
                    <a:lstStyle/>
                    <a:p>
                      <a:pPr algn="r" fontAlgn="b"/>
                      <a:r>
                        <a:rPr lang="en-US" sz="1000" b="0" i="0" u="none" strike="noStrike">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a:solidFill>
                            <a:srgbClr val="00A0D2"/>
                          </a:solidFill>
                          <a:effectLst/>
                          <a:latin typeface="Arial" panose="020B0604020202020204" pitchFamily="34" charset="0"/>
                        </a:rPr>
                        <a:t>180</a:t>
                      </a:r>
                    </a:p>
                  </a:txBody>
                  <a:tcPr marL="0" marR="0" marT="0" marB="0" anchor="b">
                    <a:lnL>
                      <a:noFill/>
                    </a:lnL>
                    <a:lnR>
                      <a:noFill/>
                    </a:lnR>
                    <a:lnT>
                      <a:noFill/>
                    </a:lnT>
                    <a:lnB>
                      <a:noFill/>
                    </a:lnB>
                    <a:solidFill>
                      <a:srgbClr val="00A0D2"/>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extLst>
                  <a:ext uri="{0D108BD9-81ED-4DB2-BD59-A6C34878D82A}">
                    <a16:rowId xmlns:a16="http://schemas.microsoft.com/office/drawing/2014/main" val="3822271076"/>
                  </a:ext>
                </a:extLst>
              </a:tr>
              <a:tr h="161925">
                <a:tc gridSpan="2" vMerge="1">
                  <a:txBody>
                    <a:bodyPr/>
                    <a:lstStyle/>
                    <a:p>
                      <a:endParaRPr lang="en-US"/>
                    </a:p>
                  </a:txBody>
                  <a:tcPr/>
                </a:tc>
                <a:tc hMerge="1" vMerge="1">
                  <a:txBody>
                    <a:bodyPr/>
                    <a:lstStyle/>
                    <a:p>
                      <a:endParaRPr lang="en-US"/>
                    </a:p>
                  </a:txBody>
                  <a:tcPr/>
                </a:tc>
                <a:tc>
                  <a:txBody>
                    <a:bodyPr/>
                    <a:lstStyle/>
                    <a:p>
                      <a:pPr algn="ctr" fontAlgn="b"/>
                      <a:endParaRPr lang="en-US" sz="1000" b="0" i="0" u="none" strike="noStrike" dirty="0">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r>
                        <a:rPr lang="en-US" sz="1000" b="0" i="0" u="none" strike="noStrike">
                          <a:effectLst/>
                          <a:latin typeface="Arial" panose="020B0604020202020204" pitchFamily="34" charset="0"/>
                        </a:rPr>
                        <a:t> </a:t>
                      </a:r>
                    </a:p>
                  </a:txBody>
                  <a:tcPr marL="0" marR="0" marT="0" marB="0" anchor="b">
                    <a:lnL>
                      <a:noFill/>
                    </a:lnL>
                    <a:lnR>
                      <a:noFill/>
                    </a:lnR>
                    <a:lnT>
                      <a:noFill/>
                    </a:lnT>
                    <a:lnB>
                      <a:noFill/>
                    </a:lnB>
                    <a:solidFill>
                      <a:srgbClr val="702082"/>
                    </a:solidFill>
                  </a:tcPr>
                </a:tc>
                <a:tc>
                  <a:txBody>
                    <a:bodyPr/>
                    <a:lstStyle/>
                    <a:p>
                      <a:pPr algn="r" fontAlgn="b"/>
                      <a:endParaRPr lang="en-US" sz="1000" b="0" i="0" u="none" strike="noStrike" dirty="0">
                        <a:solidFill>
                          <a:schemeClr val="accent3"/>
                        </a:solidFill>
                        <a:effectLst/>
                        <a:latin typeface="Arial" panose="020B0604020202020204" pitchFamily="34" charset="0"/>
                      </a:endParaRPr>
                    </a:p>
                  </a:txBody>
                  <a:tcPr marL="0" marR="0" marT="0" marB="0" anchor="b">
                    <a:lnL>
                      <a:noFill/>
                    </a:lnL>
                    <a:lnR>
                      <a:noFill/>
                    </a:lnR>
                    <a:lnT>
                      <a:noFill/>
                    </a:lnT>
                    <a:lnB>
                      <a:noFill/>
                    </a:lnB>
                    <a:solidFill>
                      <a:schemeClr val="accent3"/>
                    </a:solidFill>
                  </a:tcPr>
                </a:tc>
                <a:tc>
                  <a:txBody>
                    <a:bodyPr/>
                    <a:lstStyle/>
                    <a:p>
                      <a:pPr algn="r" fontAlgn="b"/>
                      <a:endParaRPr lang="en-US" sz="1000" b="0" i="0" u="none" strike="noStrike" dirty="0">
                        <a:solidFill>
                          <a:schemeClr val="accent3"/>
                        </a:solidFill>
                        <a:effectLst/>
                        <a:latin typeface="Arial" panose="020B0604020202020204" pitchFamily="34" charset="0"/>
                      </a:endParaRPr>
                    </a:p>
                  </a:txBody>
                  <a:tcPr marL="0" marR="0" marT="0" marB="0" anchor="b">
                    <a:lnL>
                      <a:noFill/>
                    </a:lnL>
                    <a:lnR>
                      <a:noFill/>
                    </a:lnR>
                    <a:lnT>
                      <a:noFill/>
                    </a:lnT>
                    <a:lnB>
                      <a:noFill/>
                    </a:lnB>
                    <a:solidFill>
                      <a:schemeClr val="accent3"/>
                    </a:solidFill>
                  </a:tcPr>
                </a:tc>
                <a:tc>
                  <a:txBody>
                    <a:bodyPr/>
                    <a:lstStyle/>
                    <a:p>
                      <a:pPr algn="r" fontAlgn="b"/>
                      <a:endParaRPr lang="en-US" sz="1000" b="0" i="0" u="none" strike="noStrike" dirty="0">
                        <a:solidFill>
                          <a:schemeClr val="accent3"/>
                        </a:solidFill>
                        <a:effectLst/>
                        <a:latin typeface="Arial" panose="020B0604020202020204" pitchFamily="34" charset="0"/>
                      </a:endParaRPr>
                    </a:p>
                  </a:txBody>
                  <a:tcPr marL="0" marR="0" marT="0" marB="0" anchor="b">
                    <a:lnL>
                      <a:noFill/>
                    </a:lnL>
                    <a:lnR>
                      <a:noFill/>
                    </a:lnR>
                    <a:lnT>
                      <a:noFill/>
                    </a:lnT>
                    <a:lnB>
                      <a:noFill/>
                    </a:lnB>
                    <a:solidFill>
                      <a:schemeClr val="accent3"/>
                    </a:solidFill>
                  </a:tcPr>
                </a:tc>
                <a:tc>
                  <a:txBody>
                    <a:bodyPr/>
                    <a:lstStyle/>
                    <a:p>
                      <a:pPr algn="r" fontAlgn="b"/>
                      <a:endParaRPr lang="en-US" sz="1000" b="0" i="0" u="none" strike="noStrike" dirty="0">
                        <a:solidFill>
                          <a:schemeClr val="accent3"/>
                        </a:solidFill>
                        <a:effectLst/>
                        <a:latin typeface="Arial" panose="020B0604020202020204" pitchFamily="34" charset="0"/>
                      </a:endParaRPr>
                    </a:p>
                  </a:txBody>
                  <a:tcPr marL="0" marR="0" marT="0" marB="0" anchor="b">
                    <a:lnL>
                      <a:noFill/>
                    </a:lnL>
                    <a:lnR>
                      <a:noFill/>
                    </a:lnR>
                    <a:lnT>
                      <a:noFill/>
                    </a:lnT>
                    <a:lnB>
                      <a:noFill/>
                    </a:lnB>
                    <a:solidFill>
                      <a:schemeClr val="accent3"/>
                    </a:solidFill>
                  </a:tcPr>
                </a:tc>
                <a:tc>
                  <a:txBody>
                    <a:bodyPr/>
                    <a:lstStyle/>
                    <a:p>
                      <a:pPr algn="r" fontAlgn="b"/>
                      <a:r>
                        <a:rPr lang="en-US" sz="1000" b="0" i="0" u="none" strike="noStrike">
                          <a:solidFill>
                            <a:srgbClr val="404040"/>
                          </a:solidFill>
                          <a:effectLst/>
                          <a:latin typeface="Arial" panose="020B0604020202020204" pitchFamily="34" charset="0"/>
                        </a:rPr>
                        <a:t>180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180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180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tc>
                  <a:txBody>
                    <a:bodyPr/>
                    <a:lstStyle/>
                    <a:p>
                      <a:pPr algn="r" fontAlgn="b"/>
                      <a:r>
                        <a:rPr lang="en-US" sz="1000" b="0" i="0" u="none" strike="noStrike">
                          <a:solidFill>
                            <a:srgbClr val="404040"/>
                          </a:solidFill>
                          <a:effectLst/>
                          <a:latin typeface="Arial" panose="020B0604020202020204" pitchFamily="34" charset="0"/>
                        </a:rPr>
                        <a:t>730</a:t>
                      </a:r>
                    </a:p>
                  </a:txBody>
                  <a:tcPr marL="0" marR="0" marT="0" marB="0" anchor="b">
                    <a:lnL>
                      <a:noFill/>
                    </a:lnL>
                    <a:lnR>
                      <a:noFill/>
                    </a:lnR>
                    <a:lnT>
                      <a:noFill/>
                    </a:lnT>
                    <a:lnB>
                      <a:noFill/>
                    </a:lnB>
                    <a:solidFill>
                      <a:srgbClr val="404040"/>
                    </a:solidFill>
                  </a:tcPr>
                </a:tc>
                <a:extLst>
                  <a:ext uri="{0D108BD9-81ED-4DB2-BD59-A6C34878D82A}">
                    <a16:rowId xmlns:a16="http://schemas.microsoft.com/office/drawing/2014/main" val="163763938"/>
                  </a:ext>
                </a:extLst>
              </a:tr>
              <a:tr h="161925">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solidFill>
                          <a:srgbClr val="63666A"/>
                        </a:solidFill>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t"/>
                      <a:r>
                        <a:rPr lang="en-US" sz="900" b="1" i="0" u="none" strike="noStrike" dirty="0">
                          <a:solidFill>
                            <a:schemeClr val="accent1"/>
                          </a:solidFill>
                          <a:effectLst/>
                          <a:latin typeface="Arial" panose="020B0604020202020204" pitchFamily="34" charset="0"/>
                        </a:rPr>
                        <a:t>100%</a:t>
                      </a:r>
                    </a:p>
                  </a:txBody>
                  <a:tcPr marL="0" marR="0" marT="0" marB="0">
                    <a:lnL>
                      <a:noFill/>
                    </a:lnL>
                    <a:lnR>
                      <a:noFill/>
                    </a:lnR>
                    <a:lnT>
                      <a:noFill/>
                    </a:lnT>
                    <a:lnB>
                      <a:noFill/>
                    </a:lnB>
                  </a:tcPr>
                </a:tc>
                <a:tc gridSpan="4">
                  <a:txBody>
                    <a:bodyPr/>
                    <a:lstStyle/>
                    <a:p>
                      <a:pPr algn="l" fontAlgn="t"/>
                      <a:r>
                        <a:rPr lang="en-US" sz="900" b="1" i="0" u="none" strike="noStrike" dirty="0">
                          <a:solidFill>
                            <a:schemeClr val="accent3"/>
                          </a:solidFill>
                          <a:effectLst/>
                          <a:latin typeface="Arial" panose="020B0604020202020204" pitchFamily="34" charset="0"/>
                        </a:rPr>
                        <a:t>STD Benefit: 60% – 67%</a:t>
                      </a:r>
                    </a:p>
                  </a:txBody>
                  <a:tcPr marL="0" marR="0" marT="0" marB="0">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l" fontAlgn="t"/>
                      <a:endParaRPr lang="en-US" sz="900" b="1" i="0" u="none" strike="noStrike" dirty="0">
                        <a:effectLst/>
                        <a:latin typeface="Arial" panose="020B0604020202020204" pitchFamily="34" charset="0"/>
                      </a:endParaRPr>
                    </a:p>
                  </a:txBody>
                  <a:tcPr marL="0" marR="0" marT="0" marB="0">
                    <a:lnL>
                      <a:noFill/>
                    </a:lnL>
                    <a:lnR>
                      <a:noFill/>
                    </a:lnR>
                    <a:lnT>
                      <a:noFill/>
                    </a:lnT>
                    <a:lnB>
                      <a:noFill/>
                    </a:lnB>
                  </a:tcPr>
                </a:tc>
                <a:tc hMerge="1">
                  <a:txBody>
                    <a:bodyPr/>
                    <a:lstStyle/>
                    <a:p>
                      <a:endParaRPr lang="en-US"/>
                    </a:p>
                  </a:txBody>
                  <a:tcPr/>
                </a:tc>
                <a:tc hMerge="1">
                  <a:txBody>
                    <a:bodyPr/>
                    <a:lstStyle/>
                    <a:p>
                      <a:endParaRPr lang="en-US"/>
                    </a:p>
                  </a:txBody>
                  <a:tcPr/>
                </a:tc>
                <a:tc grid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b="1" i="0" u="none" strike="noStrike" dirty="0">
                          <a:effectLst/>
                          <a:latin typeface="Arial" panose="020B0604020202020204" pitchFamily="34" charset="0"/>
                        </a:rPr>
                        <a:t>LTD Benefit: 60% – 67%</a:t>
                      </a:r>
                    </a:p>
                    <a:p>
                      <a:pPr algn="l" fontAlgn="b"/>
                      <a:endParaRPr lang="en-US" sz="1000" b="0" i="0" u="none" strike="noStrike" dirty="0">
                        <a:effectLst/>
                        <a:latin typeface="Arial" panose="020B0604020202020204" pitchFamily="34" charset="0"/>
                      </a:endParaRPr>
                    </a:p>
                  </a:txBody>
                  <a:tcPr marL="0" marR="0" marT="0" marB="0" anchor="b">
                    <a:lnL>
                      <a:noFill/>
                    </a:lnL>
                    <a:lnR>
                      <a:noFill/>
                    </a:lnR>
                    <a:lnT>
                      <a:noFill/>
                    </a:lnT>
                    <a:lnB>
                      <a:noFill/>
                    </a:lnB>
                  </a:tcPr>
                </a:tc>
                <a:tc hMerge="1">
                  <a:txBody>
                    <a:bodyPr/>
                    <a:lstStyle/>
                    <a:p>
                      <a:pPr algn="l" fontAlgn="t"/>
                      <a:endParaRPr lang="en-US" sz="900" b="1" i="0" u="none" strike="noStrike" dirty="0">
                        <a:effectLst/>
                        <a:latin typeface="Arial" panose="020B0604020202020204" pitchFamily="34" charset="0"/>
                      </a:endParaRPr>
                    </a:p>
                  </a:txBody>
                  <a:tcPr marL="0" marR="0" marT="0" marB="0">
                    <a:lnL>
                      <a:noFill/>
                    </a:lnL>
                    <a:lnR>
                      <a:noFill/>
                    </a:lnR>
                    <a:lnT>
                      <a:noFill/>
                    </a:lnT>
                    <a:lnB>
                      <a:noFill/>
                    </a:lnB>
                  </a:tcPr>
                </a:tc>
                <a:extLst>
                  <a:ext uri="{0D108BD9-81ED-4DB2-BD59-A6C34878D82A}">
                    <a16:rowId xmlns:a16="http://schemas.microsoft.com/office/drawing/2014/main" val="3227013410"/>
                  </a:ext>
                </a:extLst>
              </a:tr>
              <a:tr h="161925">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1092925787"/>
                  </a:ext>
                </a:extLst>
              </a:tr>
              <a:tr h="161925">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ctr"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a:effectLst/>
                        <a:latin typeface="Arial" panose="020B0604020202020204" pitchFamily="34" charset="0"/>
                      </a:endParaRPr>
                    </a:p>
                  </a:txBody>
                  <a:tcPr marL="0" marR="0" marT="0" marB="0" anchor="b">
                    <a:lnL>
                      <a:noFill/>
                    </a:lnL>
                    <a:lnR>
                      <a:noFill/>
                    </a:lnR>
                    <a:lnT>
                      <a:noFill/>
                    </a:lnT>
                    <a:lnB>
                      <a:noFill/>
                    </a:lnB>
                  </a:tcPr>
                </a:tc>
                <a:tc>
                  <a:txBody>
                    <a:bodyPr/>
                    <a:lstStyle/>
                    <a:p>
                      <a:pPr algn="l" fontAlgn="b"/>
                      <a:endParaRPr lang="en-US" sz="1000" b="0" i="0" u="none" strike="noStrike" dirty="0">
                        <a:effectLst/>
                        <a:latin typeface="Arial" panose="020B060402020202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3094153306"/>
                  </a:ext>
                </a:extLst>
              </a:tr>
            </a:tbl>
          </a:graphicData>
        </a:graphic>
      </p:graphicFrame>
      <p:grpSp>
        <p:nvGrpSpPr>
          <p:cNvPr id="28" name="Group 27" hidden="1">
            <a:extLst>
              <a:ext uri="{FF2B5EF4-FFF2-40B4-BE49-F238E27FC236}">
                <a16:creationId xmlns:a16="http://schemas.microsoft.com/office/drawing/2014/main" id="{5A68CBD9-EE92-4300-B80E-993748FDD170}"/>
              </a:ext>
            </a:extLst>
          </p:cNvPr>
          <p:cNvGrpSpPr/>
          <p:nvPr/>
        </p:nvGrpSpPr>
        <p:grpSpPr>
          <a:xfrm>
            <a:off x="3078207" y="5541821"/>
            <a:ext cx="3175000" cy="209550"/>
            <a:chOff x="0" y="0"/>
            <a:chExt cx="3174603" cy="210006"/>
          </a:xfrm>
        </p:grpSpPr>
        <p:sp>
          <p:nvSpPr>
            <p:cNvPr id="29" name="Rectangle 28">
              <a:extLst>
                <a:ext uri="{FF2B5EF4-FFF2-40B4-BE49-F238E27FC236}">
                  <a16:creationId xmlns:a16="http://schemas.microsoft.com/office/drawing/2014/main" id="{00000000-0008-0000-2300-000010000000}"/>
                </a:ext>
              </a:extLst>
            </p:cNvPr>
            <p:cNvSpPr/>
            <p:nvPr/>
          </p:nvSpPr>
          <p:spPr>
            <a:xfrm>
              <a:off x="0" y="64522"/>
              <a:ext cx="76200" cy="762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30" name="Rectangle 29">
              <a:extLst>
                <a:ext uri="{FF2B5EF4-FFF2-40B4-BE49-F238E27FC236}">
                  <a16:creationId xmlns:a16="http://schemas.microsoft.com/office/drawing/2014/main" id="{00000000-0008-0000-2300-00002D000000}"/>
                </a:ext>
              </a:extLst>
            </p:cNvPr>
            <p:cNvSpPr/>
            <p:nvPr/>
          </p:nvSpPr>
          <p:spPr>
            <a:xfrm>
              <a:off x="934360" y="66287"/>
              <a:ext cx="60288" cy="7267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31" name="Rectangle 30">
              <a:extLst>
                <a:ext uri="{FF2B5EF4-FFF2-40B4-BE49-F238E27FC236}">
                  <a16:creationId xmlns:a16="http://schemas.microsoft.com/office/drawing/2014/main" id="{00000000-0008-0000-2300-00002E000000}"/>
                </a:ext>
              </a:extLst>
            </p:cNvPr>
            <p:cNvSpPr/>
            <p:nvPr/>
          </p:nvSpPr>
          <p:spPr>
            <a:xfrm>
              <a:off x="1609487" y="64522"/>
              <a:ext cx="76200" cy="76200"/>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32" name="TextBox 43">
              <a:extLst>
                <a:ext uri="{FF2B5EF4-FFF2-40B4-BE49-F238E27FC236}">
                  <a16:creationId xmlns:a16="http://schemas.microsoft.com/office/drawing/2014/main" id="{00000000-0008-0000-2300-00002C000000}"/>
                </a:ext>
              </a:extLst>
            </p:cNvPr>
            <p:cNvSpPr txBox="1"/>
            <p:nvPr/>
          </p:nvSpPr>
          <p:spPr>
            <a:xfrm>
              <a:off x="19049" y="9525"/>
              <a:ext cx="767953" cy="18619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a:t>Sick Pay</a:t>
              </a:r>
            </a:p>
          </p:txBody>
        </p:sp>
        <p:sp>
          <p:nvSpPr>
            <p:cNvPr id="33" name="TextBox 47">
              <a:extLst>
                <a:ext uri="{FF2B5EF4-FFF2-40B4-BE49-F238E27FC236}">
                  <a16:creationId xmlns:a16="http://schemas.microsoft.com/office/drawing/2014/main" id="{00000000-0008-0000-2300-000030000000}"/>
                </a:ext>
              </a:extLst>
            </p:cNvPr>
            <p:cNvSpPr txBox="1"/>
            <p:nvPr/>
          </p:nvSpPr>
          <p:spPr>
            <a:xfrm>
              <a:off x="987028" y="9525"/>
              <a:ext cx="461398" cy="18619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a:t>STD</a:t>
              </a:r>
            </a:p>
          </p:txBody>
        </p:sp>
        <p:sp>
          <p:nvSpPr>
            <p:cNvPr id="34" name="TextBox 48">
              <a:extLst>
                <a:ext uri="{FF2B5EF4-FFF2-40B4-BE49-F238E27FC236}">
                  <a16:creationId xmlns:a16="http://schemas.microsoft.com/office/drawing/2014/main" id="{00000000-0008-0000-2300-000031000000}"/>
                </a:ext>
              </a:extLst>
            </p:cNvPr>
            <p:cNvSpPr txBox="1"/>
            <p:nvPr/>
          </p:nvSpPr>
          <p:spPr>
            <a:xfrm>
              <a:off x="1670447" y="0"/>
              <a:ext cx="471055" cy="20524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dirty="0"/>
                <a:t>LTD</a:t>
              </a:r>
            </a:p>
          </p:txBody>
        </p:sp>
        <p:sp>
          <p:nvSpPr>
            <p:cNvPr id="35" name="Rectangle 34">
              <a:extLst>
                <a:ext uri="{FF2B5EF4-FFF2-40B4-BE49-F238E27FC236}">
                  <a16:creationId xmlns:a16="http://schemas.microsoft.com/office/drawing/2014/main" id="{00000000-0008-0000-2300-000048000000}"/>
                </a:ext>
              </a:extLst>
            </p:cNvPr>
            <p:cNvSpPr/>
            <p:nvPr/>
          </p:nvSpPr>
          <p:spPr>
            <a:xfrm>
              <a:off x="2305606" y="64522"/>
              <a:ext cx="76200" cy="76200"/>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36" name="TextBox 72">
              <a:extLst>
                <a:ext uri="{FF2B5EF4-FFF2-40B4-BE49-F238E27FC236}">
                  <a16:creationId xmlns:a16="http://schemas.microsoft.com/office/drawing/2014/main" id="{00000000-0008-0000-2300-000049000000}"/>
                </a:ext>
              </a:extLst>
            </p:cNvPr>
            <p:cNvSpPr txBox="1"/>
            <p:nvPr/>
          </p:nvSpPr>
          <p:spPr>
            <a:xfrm>
              <a:off x="2360216" y="0"/>
              <a:ext cx="814387" cy="21000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a:t>SDI / VDI</a:t>
              </a:r>
            </a:p>
          </p:txBody>
        </p:sp>
      </p:grpSp>
      <p:grpSp>
        <p:nvGrpSpPr>
          <p:cNvPr id="67" name="Group 66" hidden="1">
            <a:extLst>
              <a:ext uri="{FF2B5EF4-FFF2-40B4-BE49-F238E27FC236}">
                <a16:creationId xmlns:a16="http://schemas.microsoft.com/office/drawing/2014/main" id="{0B15E3FE-FF3A-4943-8F6B-5CF39C390AA2}"/>
              </a:ext>
            </a:extLst>
          </p:cNvPr>
          <p:cNvGrpSpPr/>
          <p:nvPr/>
        </p:nvGrpSpPr>
        <p:grpSpPr>
          <a:xfrm>
            <a:off x="2629212" y="3198669"/>
            <a:ext cx="4097010" cy="304805"/>
            <a:chOff x="2620503" y="2963536"/>
            <a:chExt cx="4097010" cy="304805"/>
          </a:xfrm>
        </p:grpSpPr>
        <p:grpSp>
          <p:nvGrpSpPr>
            <p:cNvPr id="40" name="Group 39">
              <a:extLst>
                <a:ext uri="{FF2B5EF4-FFF2-40B4-BE49-F238E27FC236}">
                  <a16:creationId xmlns:a16="http://schemas.microsoft.com/office/drawing/2014/main" id="{00000000-0008-0000-2300-000071A84000}"/>
                </a:ext>
              </a:extLst>
            </p:cNvPr>
            <p:cNvGrpSpPr>
              <a:grpSpLocks/>
            </p:cNvGrpSpPr>
            <p:nvPr/>
          </p:nvGrpSpPr>
          <p:grpSpPr bwMode="auto">
            <a:xfrm>
              <a:off x="2620503" y="2963536"/>
              <a:ext cx="351745" cy="304805"/>
              <a:chOff x="0" y="-59"/>
              <a:chExt cx="351745" cy="305430"/>
            </a:xfrm>
          </p:grpSpPr>
          <p:cxnSp>
            <p:nvCxnSpPr>
              <p:cNvPr id="50" name="Straight Connector 49">
                <a:extLst>
                  <a:ext uri="{FF2B5EF4-FFF2-40B4-BE49-F238E27FC236}">
                    <a16:creationId xmlns:a16="http://schemas.microsoft.com/office/drawing/2014/main" id="{00000000-0008-0000-2300-000021000000}"/>
                  </a:ext>
                </a:extLst>
              </p:cNvPr>
              <p:cNvCxnSpPr/>
              <p:nvPr/>
            </p:nvCxnSpPr>
            <p:spPr>
              <a:xfrm>
                <a:off x="166102" y="209926"/>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1" name="TextBox 33">
                <a:extLst>
                  <a:ext uri="{FF2B5EF4-FFF2-40B4-BE49-F238E27FC236}">
                    <a16:creationId xmlns:a16="http://schemas.microsoft.com/office/drawing/2014/main" id="{00000000-0008-0000-2300-000022000000}"/>
                  </a:ext>
                </a:extLst>
              </p:cNvPr>
              <p:cNvSpPr txBox="1"/>
              <p:nvPr/>
            </p:nvSpPr>
            <p:spPr>
              <a:xfrm>
                <a:off x="0" y="-59"/>
                <a:ext cx="351745"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8</a:t>
                </a:r>
              </a:p>
            </p:txBody>
          </p:sp>
        </p:grpSp>
        <p:grpSp>
          <p:nvGrpSpPr>
            <p:cNvPr id="41" name="Group 40">
              <a:extLst>
                <a:ext uri="{FF2B5EF4-FFF2-40B4-BE49-F238E27FC236}">
                  <a16:creationId xmlns:a16="http://schemas.microsoft.com/office/drawing/2014/main" id="{00000000-0008-0000-2300-000078A84000}"/>
                </a:ext>
              </a:extLst>
            </p:cNvPr>
            <p:cNvGrpSpPr>
              <a:grpSpLocks/>
            </p:cNvGrpSpPr>
            <p:nvPr/>
          </p:nvGrpSpPr>
          <p:grpSpPr bwMode="auto">
            <a:xfrm>
              <a:off x="3527415" y="2963536"/>
              <a:ext cx="420140" cy="304802"/>
              <a:chOff x="883918" y="-39"/>
              <a:chExt cx="420140" cy="305426"/>
            </a:xfrm>
          </p:grpSpPr>
          <p:cxnSp>
            <p:nvCxnSpPr>
              <p:cNvPr id="48" name="Straight Connector 47">
                <a:extLst>
                  <a:ext uri="{FF2B5EF4-FFF2-40B4-BE49-F238E27FC236}">
                    <a16:creationId xmlns:a16="http://schemas.microsoft.com/office/drawing/2014/main" id="{00000000-0008-0000-2300-000033000000}"/>
                  </a:ext>
                </a:extLst>
              </p:cNvPr>
              <p:cNvCxnSpPr/>
              <p:nvPr/>
            </p:nvCxnSpPr>
            <p:spPr>
              <a:xfrm>
                <a:off x="105002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9" name="TextBox 51">
                <a:extLst>
                  <a:ext uri="{FF2B5EF4-FFF2-40B4-BE49-F238E27FC236}">
                    <a16:creationId xmlns:a16="http://schemas.microsoft.com/office/drawing/2014/main" id="{00000000-0008-0000-2300-000034000000}"/>
                  </a:ext>
                </a:extLst>
              </p:cNvPr>
              <p:cNvSpPr txBox="1"/>
              <p:nvPr/>
            </p:nvSpPr>
            <p:spPr>
              <a:xfrm>
                <a:off x="883918" y="-39"/>
                <a:ext cx="420140" cy="12407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90</a:t>
                </a:r>
              </a:p>
            </p:txBody>
          </p:sp>
        </p:grpSp>
        <p:grpSp>
          <p:nvGrpSpPr>
            <p:cNvPr id="42" name="Group 41">
              <a:extLst>
                <a:ext uri="{FF2B5EF4-FFF2-40B4-BE49-F238E27FC236}">
                  <a16:creationId xmlns:a16="http://schemas.microsoft.com/office/drawing/2014/main" id="{00000000-0008-0000-2300-000079A84000}"/>
                </a:ext>
              </a:extLst>
            </p:cNvPr>
            <p:cNvGrpSpPr>
              <a:grpSpLocks/>
            </p:cNvGrpSpPr>
            <p:nvPr/>
          </p:nvGrpSpPr>
          <p:grpSpPr bwMode="auto">
            <a:xfrm>
              <a:off x="4401777" y="2963536"/>
              <a:ext cx="459223" cy="304802"/>
              <a:chOff x="1736723" y="-39"/>
              <a:chExt cx="459223" cy="305426"/>
            </a:xfrm>
          </p:grpSpPr>
          <p:cxnSp>
            <p:nvCxnSpPr>
              <p:cNvPr id="46" name="Straight Connector 45">
                <a:extLst>
                  <a:ext uri="{FF2B5EF4-FFF2-40B4-BE49-F238E27FC236}">
                    <a16:creationId xmlns:a16="http://schemas.microsoft.com/office/drawing/2014/main" id="{00000000-0008-0000-2300-000036000000}"/>
                  </a:ext>
                </a:extLst>
              </p:cNvPr>
              <p:cNvCxnSpPr/>
              <p:nvPr/>
            </p:nvCxnSpPr>
            <p:spPr>
              <a:xfrm>
                <a:off x="196145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54">
                <a:extLst>
                  <a:ext uri="{FF2B5EF4-FFF2-40B4-BE49-F238E27FC236}">
                    <a16:creationId xmlns:a16="http://schemas.microsoft.com/office/drawing/2014/main" id="{00000000-0008-0000-2300-000037000000}"/>
                  </a:ext>
                </a:extLst>
              </p:cNvPr>
              <p:cNvSpPr txBox="1"/>
              <p:nvPr/>
            </p:nvSpPr>
            <p:spPr>
              <a:xfrm>
                <a:off x="1736723" y="-39"/>
                <a:ext cx="459223"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a:t>Day 180</a:t>
                </a:r>
              </a:p>
            </p:txBody>
          </p:sp>
        </p:grpSp>
        <p:grpSp>
          <p:nvGrpSpPr>
            <p:cNvPr id="43" name="Group 42">
              <a:extLst>
                <a:ext uri="{FF2B5EF4-FFF2-40B4-BE49-F238E27FC236}">
                  <a16:creationId xmlns:a16="http://schemas.microsoft.com/office/drawing/2014/main" id="{00000000-0008-0000-2300-00007AA84000}"/>
                </a:ext>
              </a:extLst>
            </p:cNvPr>
            <p:cNvGrpSpPr>
              <a:grpSpLocks/>
            </p:cNvGrpSpPr>
            <p:nvPr/>
          </p:nvGrpSpPr>
          <p:grpSpPr bwMode="auto">
            <a:xfrm>
              <a:off x="6209434" y="2963536"/>
              <a:ext cx="508079" cy="304802"/>
              <a:chOff x="3498628" y="0"/>
              <a:chExt cx="508079" cy="305426"/>
            </a:xfrm>
          </p:grpSpPr>
          <p:cxnSp>
            <p:nvCxnSpPr>
              <p:cNvPr id="44" name="Straight Connector 43">
                <a:extLst>
                  <a:ext uri="{FF2B5EF4-FFF2-40B4-BE49-F238E27FC236}">
                    <a16:creationId xmlns:a16="http://schemas.microsoft.com/office/drawing/2014/main" id="{00000000-0008-0000-2300-000039000000}"/>
                  </a:ext>
                </a:extLst>
              </p:cNvPr>
              <p:cNvCxnSpPr/>
              <p:nvPr/>
            </p:nvCxnSpPr>
            <p:spPr>
              <a:xfrm>
                <a:off x="3733125" y="209981"/>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5" name="TextBox 57">
                <a:extLst>
                  <a:ext uri="{FF2B5EF4-FFF2-40B4-BE49-F238E27FC236}">
                    <a16:creationId xmlns:a16="http://schemas.microsoft.com/office/drawing/2014/main" id="{00000000-0008-0000-2300-00003A000000}"/>
                  </a:ext>
                </a:extLst>
              </p:cNvPr>
              <p:cNvSpPr txBox="1"/>
              <p:nvPr/>
            </p:nvSpPr>
            <p:spPr>
              <a:xfrm>
                <a:off x="3498628" y="0"/>
                <a:ext cx="508079" cy="1527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365</a:t>
                </a:r>
              </a:p>
            </p:txBody>
          </p:sp>
        </p:grpSp>
      </p:grpSp>
      <p:grpSp>
        <p:nvGrpSpPr>
          <p:cNvPr id="66" name="Group 65" hidden="1">
            <a:extLst>
              <a:ext uri="{FF2B5EF4-FFF2-40B4-BE49-F238E27FC236}">
                <a16:creationId xmlns:a16="http://schemas.microsoft.com/office/drawing/2014/main" id="{D721E8E0-E28E-45D6-BA0B-0277F221A791}"/>
              </a:ext>
            </a:extLst>
          </p:cNvPr>
          <p:cNvGrpSpPr/>
          <p:nvPr/>
        </p:nvGrpSpPr>
        <p:grpSpPr>
          <a:xfrm>
            <a:off x="2629212" y="4474627"/>
            <a:ext cx="4097010" cy="304805"/>
            <a:chOff x="2620503" y="4239494"/>
            <a:chExt cx="4097010" cy="304805"/>
          </a:xfrm>
        </p:grpSpPr>
        <p:grpSp>
          <p:nvGrpSpPr>
            <p:cNvPr id="54" name="Group 53">
              <a:extLst>
                <a:ext uri="{FF2B5EF4-FFF2-40B4-BE49-F238E27FC236}">
                  <a16:creationId xmlns:a16="http://schemas.microsoft.com/office/drawing/2014/main" id="{92676DC6-94A0-40FC-9E4C-F1D6EF03BB03}"/>
                </a:ext>
              </a:extLst>
            </p:cNvPr>
            <p:cNvGrpSpPr>
              <a:grpSpLocks/>
            </p:cNvGrpSpPr>
            <p:nvPr/>
          </p:nvGrpSpPr>
          <p:grpSpPr bwMode="auto">
            <a:xfrm>
              <a:off x="2620503" y="4239494"/>
              <a:ext cx="351745" cy="304805"/>
              <a:chOff x="0" y="-59"/>
              <a:chExt cx="351745" cy="305430"/>
            </a:xfrm>
          </p:grpSpPr>
          <p:cxnSp>
            <p:nvCxnSpPr>
              <p:cNvPr id="64" name="Straight Connector 63">
                <a:extLst>
                  <a:ext uri="{FF2B5EF4-FFF2-40B4-BE49-F238E27FC236}">
                    <a16:creationId xmlns:a16="http://schemas.microsoft.com/office/drawing/2014/main" id="{FA03A4A4-5FB4-4B14-8177-D07519E824C1}"/>
                  </a:ext>
                </a:extLst>
              </p:cNvPr>
              <p:cNvCxnSpPr/>
              <p:nvPr/>
            </p:nvCxnSpPr>
            <p:spPr>
              <a:xfrm>
                <a:off x="166102" y="209926"/>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33">
                <a:extLst>
                  <a:ext uri="{FF2B5EF4-FFF2-40B4-BE49-F238E27FC236}">
                    <a16:creationId xmlns:a16="http://schemas.microsoft.com/office/drawing/2014/main" id="{C6265CCC-3DF9-468E-928B-D701047C4641}"/>
                  </a:ext>
                </a:extLst>
              </p:cNvPr>
              <p:cNvSpPr txBox="1"/>
              <p:nvPr/>
            </p:nvSpPr>
            <p:spPr>
              <a:xfrm>
                <a:off x="0" y="-59"/>
                <a:ext cx="351745"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8</a:t>
                </a:r>
              </a:p>
            </p:txBody>
          </p:sp>
        </p:grpSp>
        <p:grpSp>
          <p:nvGrpSpPr>
            <p:cNvPr id="55" name="Group 54">
              <a:extLst>
                <a:ext uri="{FF2B5EF4-FFF2-40B4-BE49-F238E27FC236}">
                  <a16:creationId xmlns:a16="http://schemas.microsoft.com/office/drawing/2014/main" id="{1C2E7A05-B4A0-4279-89C1-6873A2B97927}"/>
                </a:ext>
              </a:extLst>
            </p:cNvPr>
            <p:cNvGrpSpPr>
              <a:grpSpLocks/>
            </p:cNvGrpSpPr>
            <p:nvPr/>
          </p:nvGrpSpPr>
          <p:grpSpPr bwMode="auto">
            <a:xfrm>
              <a:off x="3527415" y="4239494"/>
              <a:ext cx="420140" cy="304802"/>
              <a:chOff x="883918" y="-39"/>
              <a:chExt cx="420140" cy="305426"/>
            </a:xfrm>
          </p:grpSpPr>
          <p:cxnSp>
            <p:nvCxnSpPr>
              <p:cNvPr id="62" name="Straight Connector 61">
                <a:extLst>
                  <a:ext uri="{FF2B5EF4-FFF2-40B4-BE49-F238E27FC236}">
                    <a16:creationId xmlns:a16="http://schemas.microsoft.com/office/drawing/2014/main" id="{777642F9-5262-409E-9996-1EE7B97D8802}"/>
                  </a:ext>
                </a:extLst>
              </p:cNvPr>
              <p:cNvCxnSpPr/>
              <p:nvPr/>
            </p:nvCxnSpPr>
            <p:spPr>
              <a:xfrm>
                <a:off x="105002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3" name="TextBox 51">
                <a:extLst>
                  <a:ext uri="{FF2B5EF4-FFF2-40B4-BE49-F238E27FC236}">
                    <a16:creationId xmlns:a16="http://schemas.microsoft.com/office/drawing/2014/main" id="{89E721F3-87FA-46EE-891D-13ABE1B8B6D0}"/>
                  </a:ext>
                </a:extLst>
              </p:cNvPr>
              <p:cNvSpPr txBox="1"/>
              <p:nvPr/>
            </p:nvSpPr>
            <p:spPr>
              <a:xfrm>
                <a:off x="883918" y="-39"/>
                <a:ext cx="420140" cy="12407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90</a:t>
                </a:r>
              </a:p>
            </p:txBody>
          </p:sp>
        </p:grpSp>
        <p:grpSp>
          <p:nvGrpSpPr>
            <p:cNvPr id="56" name="Group 55">
              <a:extLst>
                <a:ext uri="{FF2B5EF4-FFF2-40B4-BE49-F238E27FC236}">
                  <a16:creationId xmlns:a16="http://schemas.microsoft.com/office/drawing/2014/main" id="{1D435FAC-E63F-4171-A493-50FA4B7952EE}"/>
                </a:ext>
              </a:extLst>
            </p:cNvPr>
            <p:cNvGrpSpPr>
              <a:grpSpLocks/>
            </p:cNvGrpSpPr>
            <p:nvPr/>
          </p:nvGrpSpPr>
          <p:grpSpPr bwMode="auto">
            <a:xfrm>
              <a:off x="4401777" y="4239494"/>
              <a:ext cx="459223" cy="304802"/>
              <a:chOff x="1736723" y="-39"/>
              <a:chExt cx="459223" cy="305426"/>
            </a:xfrm>
          </p:grpSpPr>
          <p:cxnSp>
            <p:nvCxnSpPr>
              <p:cNvPr id="60" name="Straight Connector 59">
                <a:extLst>
                  <a:ext uri="{FF2B5EF4-FFF2-40B4-BE49-F238E27FC236}">
                    <a16:creationId xmlns:a16="http://schemas.microsoft.com/office/drawing/2014/main" id="{95B2F6EE-F66B-4271-971C-8677559288E2}"/>
                  </a:ext>
                </a:extLst>
              </p:cNvPr>
              <p:cNvCxnSpPr/>
              <p:nvPr/>
            </p:nvCxnSpPr>
            <p:spPr>
              <a:xfrm>
                <a:off x="196145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54">
                <a:extLst>
                  <a:ext uri="{FF2B5EF4-FFF2-40B4-BE49-F238E27FC236}">
                    <a16:creationId xmlns:a16="http://schemas.microsoft.com/office/drawing/2014/main" id="{A18E08CB-3606-4DF1-B2A0-51318F6B1F2B}"/>
                  </a:ext>
                </a:extLst>
              </p:cNvPr>
              <p:cNvSpPr txBox="1"/>
              <p:nvPr/>
            </p:nvSpPr>
            <p:spPr>
              <a:xfrm>
                <a:off x="1736723" y="-39"/>
                <a:ext cx="459223"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a:t>Day 180</a:t>
                </a:r>
              </a:p>
            </p:txBody>
          </p:sp>
        </p:grpSp>
        <p:grpSp>
          <p:nvGrpSpPr>
            <p:cNvPr id="57" name="Group 56">
              <a:extLst>
                <a:ext uri="{FF2B5EF4-FFF2-40B4-BE49-F238E27FC236}">
                  <a16:creationId xmlns:a16="http://schemas.microsoft.com/office/drawing/2014/main" id="{5C6F8802-7EB7-451F-A870-C4509A458925}"/>
                </a:ext>
              </a:extLst>
            </p:cNvPr>
            <p:cNvGrpSpPr>
              <a:grpSpLocks/>
            </p:cNvGrpSpPr>
            <p:nvPr/>
          </p:nvGrpSpPr>
          <p:grpSpPr bwMode="auto">
            <a:xfrm>
              <a:off x="6209434" y="4239494"/>
              <a:ext cx="508079" cy="304802"/>
              <a:chOff x="3498628" y="0"/>
              <a:chExt cx="508079" cy="305426"/>
            </a:xfrm>
          </p:grpSpPr>
          <p:cxnSp>
            <p:nvCxnSpPr>
              <p:cNvPr id="58" name="Straight Connector 57">
                <a:extLst>
                  <a:ext uri="{FF2B5EF4-FFF2-40B4-BE49-F238E27FC236}">
                    <a16:creationId xmlns:a16="http://schemas.microsoft.com/office/drawing/2014/main" id="{26E677AA-40CF-4C41-8E3B-B50337EAEEBC}"/>
                  </a:ext>
                </a:extLst>
              </p:cNvPr>
              <p:cNvCxnSpPr/>
              <p:nvPr/>
            </p:nvCxnSpPr>
            <p:spPr>
              <a:xfrm>
                <a:off x="3733125" y="209981"/>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9" name="TextBox 57">
                <a:extLst>
                  <a:ext uri="{FF2B5EF4-FFF2-40B4-BE49-F238E27FC236}">
                    <a16:creationId xmlns:a16="http://schemas.microsoft.com/office/drawing/2014/main" id="{8B1E4226-FDB3-4E48-9EA6-438BAC988BD4}"/>
                  </a:ext>
                </a:extLst>
              </p:cNvPr>
              <p:cNvSpPr txBox="1"/>
              <p:nvPr/>
            </p:nvSpPr>
            <p:spPr>
              <a:xfrm>
                <a:off x="3498628" y="0"/>
                <a:ext cx="508079" cy="1527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365</a:t>
                </a:r>
              </a:p>
            </p:txBody>
          </p:sp>
        </p:grpSp>
      </p:grpSp>
      <p:grpSp>
        <p:nvGrpSpPr>
          <p:cNvPr id="52" name="Group 51" hidden="1">
            <a:extLst>
              <a:ext uri="{FF2B5EF4-FFF2-40B4-BE49-F238E27FC236}">
                <a16:creationId xmlns:a16="http://schemas.microsoft.com/office/drawing/2014/main" id="{42326E56-4884-4873-8D53-9537E05F176D}"/>
              </a:ext>
            </a:extLst>
          </p:cNvPr>
          <p:cNvGrpSpPr/>
          <p:nvPr/>
        </p:nvGrpSpPr>
        <p:grpSpPr>
          <a:xfrm>
            <a:off x="2342385" y="3179108"/>
            <a:ext cx="4097010" cy="304805"/>
            <a:chOff x="2620503" y="2963536"/>
            <a:chExt cx="4097010" cy="304805"/>
          </a:xfrm>
        </p:grpSpPr>
        <p:grpSp>
          <p:nvGrpSpPr>
            <p:cNvPr id="53" name="Group 52">
              <a:extLst>
                <a:ext uri="{FF2B5EF4-FFF2-40B4-BE49-F238E27FC236}">
                  <a16:creationId xmlns:a16="http://schemas.microsoft.com/office/drawing/2014/main" id="{F22DB1CF-449B-4DEB-9A8B-155F975AE8C3}"/>
                </a:ext>
              </a:extLst>
            </p:cNvPr>
            <p:cNvGrpSpPr>
              <a:grpSpLocks/>
            </p:cNvGrpSpPr>
            <p:nvPr/>
          </p:nvGrpSpPr>
          <p:grpSpPr bwMode="auto">
            <a:xfrm>
              <a:off x="2620503" y="2963536"/>
              <a:ext cx="351745" cy="304805"/>
              <a:chOff x="0" y="-59"/>
              <a:chExt cx="351745" cy="305430"/>
            </a:xfrm>
          </p:grpSpPr>
          <p:cxnSp>
            <p:nvCxnSpPr>
              <p:cNvPr id="77" name="Straight Connector 76">
                <a:extLst>
                  <a:ext uri="{FF2B5EF4-FFF2-40B4-BE49-F238E27FC236}">
                    <a16:creationId xmlns:a16="http://schemas.microsoft.com/office/drawing/2014/main" id="{83BD42CF-3E5F-4A73-A583-8117F140262B}"/>
                  </a:ext>
                </a:extLst>
              </p:cNvPr>
              <p:cNvCxnSpPr/>
              <p:nvPr/>
            </p:nvCxnSpPr>
            <p:spPr>
              <a:xfrm>
                <a:off x="166102" y="209926"/>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8" name="TextBox 33">
                <a:extLst>
                  <a:ext uri="{FF2B5EF4-FFF2-40B4-BE49-F238E27FC236}">
                    <a16:creationId xmlns:a16="http://schemas.microsoft.com/office/drawing/2014/main" id="{59C48E88-F9D5-473E-92B7-BB318BB89AEF}"/>
                  </a:ext>
                </a:extLst>
              </p:cNvPr>
              <p:cNvSpPr txBox="1"/>
              <p:nvPr/>
            </p:nvSpPr>
            <p:spPr>
              <a:xfrm>
                <a:off x="0" y="-59"/>
                <a:ext cx="351745"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8</a:t>
                </a:r>
              </a:p>
            </p:txBody>
          </p:sp>
        </p:grpSp>
        <p:grpSp>
          <p:nvGrpSpPr>
            <p:cNvPr id="68" name="Group 67">
              <a:extLst>
                <a:ext uri="{FF2B5EF4-FFF2-40B4-BE49-F238E27FC236}">
                  <a16:creationId xmlns:a16="http://schemas.microsoft.com/office/drawing/2014/main" id="{68F55E6E-507D-4491-A103-5F774B6061BA}"/>
                </a:ext>
              </a:extLst>
            </p:cNvPr>
            <p:cNvGrpSpPr>
              <a:grpSpLocks/>
            </p:cNvGrpSpPr>
            <p:nvPr/>
          </p:nvGrpSpPr>
          <p:grpSpPr bwMode="auto">
            <a:xfrm>
              <a:off x="3527415" y="2963536"/>
              <a:ext cx="420140" cy="304802"/>
              <a:chOff x="883918" y="-39"/>
              <a:chExt cx="420140" cy="305426"/>
            </a:xfrm>
          </p:grpSpPr>
          <p:cxnSp>
            <p:nvCxnSpPr>
              <p:cNvPr id="75" name="Straight Connector 74">
                <a:extLst>
                  <a:ext uri="{FF2B5EF4-FFF2-40B4-BE49-F238E27FC236}">
                    <a16:creationId xmlns:a16="http://schemas.microsoft.com/office/drawing/2014/main" id="{1B3B2402-C519-4BE2-8D29-F25ACA2CB6CB}"/>
                  </a:ext>
                </a:extLst>
              </p:cNvPr>
              <p:cNvCxnSpPr/>
              <p:nvPr/>
            </p:nvCxnSpPr>
            <p:spPr>
              <a:xfrm>
                <a:off x="105002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6" name="TextBox 51">
                <a:extLst>
                  <a:ext uri="{FF2B5EF4-FFF2-40B4-BE49-F238E27FC236}">
                    <a16:creationId xmlns:a16="http://schemas.microsoft.com/office/drawing/2014/main" id="{53F8846F-B467-42D8-B01D-8189EFFC6B97}"/>
                  </a:ext>
                </a:extLst>
              </p:cNvPr>
              <p:cNvSpPr txBox="1"/>
              <p:nvPr/>
            </p:nvSpPr>
            <p:spPr>
              <a:xfrm>
                <a:off x="883918" y="-39"/>
                <a:ext cx="420140" cy="12407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90</a:t>
                </a:r>
              </a:p>
            </p:txBody>
          </p:sp>
        </p:grpSp>
        <p:grpSp>
          <p:nvGrpSpPr>
            <p:cNvPr id="69" name="Group 68">
              <a:extLst>
                <a:ext uri="{FF2B5EF4-FFF2-40B4-BE49-F238E27FC236}">
                  <a16:creationId xmlns:a16="http://schemas.microsoft.com/office/drawing/2014/main" id="{98E1EC02-9A06-4433-A4D3-AAFAB31A3C01}"/>
                </a:ext>
              </a:extLst>
            </p:cNvPr>
            <p:cNvGrpSpPr>
              <a:grpSpLocks/>
            </p:cNvGrpSpPr>
            <p:nvPr/>
          </p:nvGrpSpPr>
          <p:grpSpPr bwMode="auto">
            <a:xfrm>
              <a:off x="4401777" y="2963536"/>
              <a:ext cx="459223" cy="304802"/>
              <a:chOff x="1736723" y="-39"/>
              <a:chExt cx="459223" cy="305426"/>
            </a:xfrm>
          </p:grpSpPr>
          <p:cxnSp>
            <p:nvCxnSpPr>
              <p:cNvPr id="73" name="Straight Connector 72">
                <a:extLst>
                  <a:ext uri="{FF2B5EF4-FFF2-40B4-BE49-F238E27FC236}">
                    <a16:creationId xmlns:a16="http://schemas.microsoft.com/office/drawing/2014/main" id="{A542AD6F-A3B8-4559-8C32-2A2572937BE4}"/>
                  </a:ext>
                </a:extLst>
              </p:cNvPr>
              <p:cNvCxnSpPr/>
              <p:nvPr/>
            </p:nvCxnSpPr>
            <p:spPr>
              <a:xfrm>
                <a:off x="196145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4" name="TextBox 54">
                <a:extLst>
                  <a:ext uri="{FF2B5EF4-FFF2-40B4-BE49-F238E27FC236}">
                    <a16:creationId xmlns:a16="http://schemas.microsoft.com/office/drawing/2014/main" id="{7AF35B04-DCB7-4857-9620-C77E6693F51B}"/>
                  </a:ext>
                </a:extLst>
              </p:cNvPr>
              <p:cNvSpPr txBox="1"/>
              <p:nvPr/>
            </p:nvSpPr>
            <p:spPr>
              <a:xfrm>
                <a:off x="1736723" y="-39"/>
                <a:ext cx="459223"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180</a:t>
                </a:r>
              </a:p>
            </p:txBody>
          </p:sp>
        </p:grpSp>
        <p:grpSp>
          <p:nvGrpSpPr>
            <p:cNvPr id="70" name="Group 69">
              <a:extLst>
                <a:ext uri="{FF2B5EF4-FFF2-40B4-BE49-F238E27FC236}">
                  <a16:creationId xmlns:a16="http://schemas.microsoft.com/office/drawing/2014/main" id="{EAA721B1-7D95-4E48-9887-7A564569EB20}"/>
                </a:ext>
              </a:extLst>
            </p:cNvPr>
            <p:cNvGrpSpPr>
              <a:grpSpLocks/>
            </p:cNvGrpSpPr>
            <p:nvPr/>
          </p:nvGrpSpPr>
          <p:grpSpPr bwMode="auto">
            <a:xfrm>
              <a:off x="6209434" y="2963536"/>
              <a:ext cx="508079" cy="304802"/>
              <a:chOff x="3498628" y="0"/>
              <a:chExt cx="508079" cy="305426"/>
            </a:xfrm>
          </p:grpSpPr>
          <p:cxnSp>
            <p:nvCxnSpPr>
              <p:cNvPr id="71" name="Straight Connector 70">
                <a:extLst>
                  <a:ext uri="{FF2B5EF4-FFF2-40B4-BE49-F238E27FC236}">
                    <a16:creationId xmlns:a16="http://schemas.microsoft.com/office/drawing/2014/main" id="{9C1E8812-2A88-4725-AF15-FB16B1B5425C}"/>
                  </a:ext>
                </a:extLst>
              </p:cNvPr>
              <p:cNvCxnSpPr/>
              <p:nvPr/>
            </p:nvCxnSpPr>
            <p:spPr>
              <a:xfrm>
                <a:off x="3733125" y="209981"/>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2" name="TextBox 57">
                <a:extLst>
                  <a:ext uri="{FF2B5EF4-FFF2-40B4-BE49-F238E27FC236}">
                    <a16:creationId xmlns:a16="http://schemas.microsoft.com/office/drawing/2014/main" id="{D33883FA-4F97-4FD2-9613-86757960F2DB}"/>
                  </a:ext>
                </a:extLst>
              </p:cNvPr>
              <p:cNvSpPr txBox="1"/>
              <p:nvPr/>
            </p:nvSpPr>
            <p:spPr>
              <a:xfrm>
                <a:off x="3498628" y="0"/>
                <a:ext cx="508079" cy="1527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365</a:t>
                </a:r>
              </a:p>
            </p:txBody>
          </p:sp>
        </p:grpSp>
      </p:grpSp>
      <p:grpSp>
        <p:nvGrpSpPr>
          <p:cNvPr id="79" name="Group 78" hidden="1">
            <a:extLst>
              <a:ext uri="{FF2B5EF4-FFF2-40B4-BE49-F238E27FC236}">
                <a16:creationId xmlns:a16="http://schemas.microsoft.com/office/drawing/2014/main" id="{FB96F3B9-72F4-4775-8A28-30408355CF8F}"/>
              </a:ext>
            </a:extLst>
          </p:cNvPr>
          <p:cNvGrpSpPr/>
          <p:nvPr/>
        </p:nvGrpSpPr>
        <p:grpSpPr>
          <a:xfrm>
            <a:off x="2375172" y="4522244"/>
            <a:ext cx="4097010" cy="304805"/>
            <a:chOff x="2620503" y="4239494"/>
            <a:chExt cx="4097010" cy="304805"/>
          </a:xfrm>
        </p:grpSpPr>
        <p:grpSp>
          <p:nvGrpSpPr>
            <p:cNvPr id="80" name="Group 79">
              <a:extLst>
                <a:ext uri="{FF2B5EF4-FFF2-40B4-BE49-F238E27FC236}">
                  <a16:creationId xmlns:a16="http://schemas.microsoft.com/office/drawing/2014/main" id="{B56B9512-50F0-4D13-9D2B-462B91BA7C1C}"/>
                </a:ext>
              </a:extLst>
            </p:cNvPr>
            <p:cNvGrpSpPr>
              <a:grpSpLocks/>
            </p:cNvGrpSpPr>
            <p:nvPr/>
          </p:nvGrpSpPr>
          <p:grpSpPr bwMode="auto">
            <a:xfrm>
              <a:off x="2620503" y="4239494"/>
              <a:ext cx="351745" cy="304805"/>
              <a:chOff x="0" y="-59"/>
              <a:chExt cx="351745" cy="305430"/>
            </a:xfrm>
          </p:grpSpPr>
          <p:cxnSp>
            <p:nvCxnSpPr>
              <p:cNvPr id="90" name="Straight Connector 89">
                <a:extLst>
                  <a:ext uri="{FF2B5EF4-FFF2-40B4-BE49-F238E27FC236}">
                    <a16:creationId xmlns:a16="http://schemas.microsoft.com/office/drawing/2014/main" id="{E21C62D9-C515-4D9E-B478-120EDE0B3C12}"/>
                  </a:ext>
                </a:extLst>
              </p:cNvPr>
              <p:cNvCxnSpPr/>
              <p:nvPr/>
            </p:nvCxnSpPr>
            <p:spPr>
              <a:xfrm>
                <a:off x="166102" y="209926"/>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91" name="TextBox 33">
                <a:extLst>
                  <a:ext uri="{FF2B5EF4-FFF2-40B4-BE49-F238E27FC236}">
                    <a16:creationId xmlns:a16="http://schemas.microsoft.com/office/drawing/2014/main" id="{79AB7B0B-CDC5-4449-8859-B17BB150824C}"/>
                  </a:ext>
                </a:extLst>
              </p:cNvPr>
              <p:cNvSpPr txBox="1"/>
              <p:nvPr/>
            </p:nvSpPr>
            <p:spPr>
              <a:xfrm>
                <a:off x="0" y="-59"/>
                <a:ext cx="351745"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8</a:t>
                </a:r>
              </a:p>
            </p:txBody>
          </p:sp>
        </p:grpSp>
        <p:grpSp>
          <p:nvGrpSpPr>
            <p:cNvPr id="81" name="Group 80">
              <a:extLst>
                <a:ext uri="{FF2B5EF4-FFF2-40B4-BE49-F238E27FC236}">
                  <a16:creationId xmlns:a16="http://schemas.microsoft.com/office/drawing/2014/main" id="{59E019D4-E894-485E-93CA-3D78EB46551D}"/>
                </a:ext>
              </a:extLst>
            </p:cNvPr>
            <p:cNvGrpSpPr>
              <a:grpSpLocks/>
            </p:cNvGrpSpPr>
            <p:nvPr/>
          </p:nvGrpSpPr>
          <p:grpSpPr bwMode="auto">
            <a:xfrm>
              <a:off x="3527415" y="4239494"/>
              <a:ext cx="420140" cy="304802"/>
              <a:chOff x="883918" y="-39"/>
              <a:chExt cx="420140" cy="305426"/>
            </a:xfrm>
          </p:grpSpPr>
          <p:cxnSp>
            <p:nvCxnSpPr>
              <p:cNvPr id="88" name="Straight Connector 87">
                <a:extLst>
                  <a:ext uri="{FF2B5EF4-FFF2-40B4-BE49-F238E27FC236}">
                    <a16:creationId xmlns:a16="http://schemas.microsoft.com/office/drawing/2014/main" id="{2FA335A1-DEDD-4E3C-8F35-A978C505875A}"/>
                  </a:ext>
                </a:extLst>
              </p:cNvPr>
              <p:cNvCxnSpPr/>
              <p:nvPr/>
            </p:nvCxnSpPr>
            <p:spPr>
              <a:xfrm>
                <a:off x="105002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9" name="TextBox 51">
                <a:extLst>
                  <a:ext uri="{FF2B5EF4-FFF2-40B4-BE49-F238E27FC236}">
                    <a16:creationId xmlns:a16="http://schemas.microsoft.com/office/drawing/2014/main" id="{4AD70ED0-D18F-4F1C-9059-CA941EDB3B11}"/>
                  </a:ext>
                </a:extLst>
              </p:cNvPr>
              <p:cNvSpPr txBox="1"/>
              <p:nvPr/>
            </p:nvSpPr>
            <p:spPr>
              <a:xfrm>
                <a:off x="883918" y="-39"/>
                <a:ext cx="420140" cy="12407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90</a:t>
                </a:r>
              </a:p>
            </p:txBody>
          </p:sp>
        </p:grpSp>
        <p:grpSp>
          <p:nvGrpSpPr>
            <p:cNvPr id="82" name="Group 81">
              <a:extLst>
                <a:ext uri="{FF2B5EF4-FFF2-40B4-BE49-F238E27FC236}">
                  <a16:creationId xmlns:a16="http://schemas.microsoft.com/office/drawing/2014/main" id="{6C47994E-23C7-4B52-B688-2A1D4D84C2F8}"/>
                </a:ext>
              </a:extLst>
            </p:cNvPr>
            <p:cNvGrpSpPr>
              <a:grpSpLocks/>
            </p:cNvGrpSpPr>
            <p:nvPr/>
          </p:nvGrpSpPr>
          <p:grpSpPr bwMode="auto">
            <a:xfrm>
              <a:off x="4401777" y="4239494"/>
              <a:ext cx="459223" cy="304802"/>
              <a:chOff x="1736723" y="-39"/>
              <a:chExt cx="459223" cy="305426"/>
            </a:xfrm>
          </p:grpSpPr>
          <p:cxnSp>
            <p:nvCxnSpPr>
              <p:cNvPr id="86" name="Straight Connector 85">
                <a:extLst>
                  <a:ext uri="{FF2B5EF4-FFF2-40B4-BE49-F238E27FC236}">
                    <a16:creationId xmlns:a16="http://schemas.microsoft.com/office/drawing/2014/main" id="{430FF0BD-8999-4A68-A571-8E3B49F2D174}"/>
                  </a:ext>
                </a:extLst>
              </p:cNvPr>
              <p:cNvCxnSpPr/>
              <p:nvPr/>
            </p:nvCxnSpPr>
            <p:spPr>
              <a:xfrm>
                <a:off x="1961451" y="209942"/>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7" name="TextBox 54">
                <a:extLst>
                  <a:ext uri="{FF2B5EF4-FFF2-40B4-BE49-F238E27FC236}">
                    <a16:creationId xmlns:a16="http://schemas.microsoft.com/office/drawing/2014/main" id="{9EFD8DF5-DC72-427F-9C47-40B09AAAB7E7}"/>
                  </a:ext>
                </a:extLst>
              </p:cNvPr>
              <p:cNvSpPr txBox="1"/>
              <p:nvPr/>
            </p:nvSpPr>
            <p:spPr>
              <a:xfrm>
                <a:off x="1736723" y="-39"/>
                <a:ext cx="459223" cy="1527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180</a:t>
                </a:r>
              </a:p>
            </p:txBody>
          </p:sp>
        </p:grpSp>
        <p:grpSp>
          <p:nvGrpSpPr>
            <p:cNvPr id="83" name="Group 82">
              <a:extLst>
                <a:ext uri="{FF2B5EF4-FFF2-40B4-BE49-F238E27FC236}">
                  <a16:creationId xmlns:a16="http://schemas.microsoft.com/office/drawing/2014/main" id="{9CDAE135-0E82-4258-A59C-498239EEB833}"/>
                </a:ext>
              </a:extLst>
            </p:cNvPr>
            <p:cNvGrpSpPr>
              <a:grpSpLocks/>
            </p:cNvGrpSpPr>
            <p:nvPr/>
          </p:nvGrpSpPr>
          <p:grpSpPr bwMode="auto">
            <a:xfrm>
              <a:off x="6209434" y="4239494"/>
              <a:ext cx="508079" cy="304802"/>
              <a:chOff x="3498628" y="0"/>
              <a:chExt cx="508079" cy="305426"/>
            </a:xfrm>
          </p:grpSpPr>
          <p:cxnSp>
            <p:nvCxnSpPr>
              <p:cNvPr id="84" name="Straight Connector 83">
                <a:extLst>
                  <a:ext uri="{FF2B5EF4-FFF2-40B4-BE49-F238E27FC236}">
                    <a16:creationId xmlns:a16="http://schemas.microsoft.com/office/drawing/2014/main" id="{4CBCC488-1BF4-4F1A-9CD7-F8ED223BE8DD}"/>
                  </a:ext>
                </a:extLst>
              </p:cNvPr>
              <p:cNvCxnSpPr/>
              <p:nvPr/>
            </p:nvCxnSpPr>
            <p:spPr>
              <a:xfrm>
                <a:off x="3733125" y="209981"/>
                <a:ext cx="0" cy="9544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5" name="TextBox 57">
                <a:extLst>
                  <a:ext uri="{FF2B5EF4-FFF2-40B4-BE49-F238E27FC236}">
                    <a16:creationId xmlns:a16="http://schemas.microsoft.com/office/drawing/2014/main" id="{DDA2F547-2575-4D94-A14A-97F3D6AF163F}"/>
                  </a:ext>
                </a:extLst>
              </p:cNvPr>
              <p:cNvSpPr txBox="1"/>
              <p:nvPr/>
            </p:nvSpPr>
            <p:spPr>
              <a:xfrm>
                <a:off x="3498628" y="0"/>
                <a:ext cx="508079" cy="1527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900" b="1" dirty="0"/>
                  <a:t>Day 365</a:t>
                </a:r>
              </a:p>
            </p:txBody>
          </p:sp>
        </p:grpSp>
      </p:grpSp>
      <p:grpSp>
        <p:nvGrpSpPr>
          <p:cNvPr id="92" name="Group 91">
            <a:extLst>
              <a:ext uri="{FF2B5EF4-FFF2-40B4-BE49-F238E27FC236}">
                <a16:creationId xmlns:a16="http://schemas.microsoft.com/office/drawing/2014/main" id="{82E07879-38EB-4CBB-B3E1-C816F7FAEF06}"/>
              </a:ext>
            </a:extLst>
          </p:cNvPr>
          <p:cNvGrpSpPr/>
          <p:nvPr/>
        </p:nvGrpSpPr>
        <p:grpSpPr>
          <a:xfrm>
            <a:off x="3010355" y="5806222"/>
            <a:ext cx="3175000" cy="209550"/>
            <a:chOff x="0" y="0"/>
            <a:chExt cx="3174603" cy="210006"/>
          </a:xfrm>
        </p:grpSpPr>
        <p:sp>
          <p:nvSpPr>
            <p:cNvPr id="93" name="Rectangle 92">
              <a:extLst>
                <a:ext uri="{FF2B5EF4-FFF2-40B4-BE49-F238E27FC236}">
                  <a16:creationId xmlns:a16="http://schemas.microsoft.com/office/drawing/2014/main" id="{DDD48857-4A5A-4D34-89D0-950D6F88C6DD}"/>
                </a:ext>
              </a:extLst>
            </p:cNvPr>
            <p:cNvSpPr/>
            <p:nvPr/>
          </p:nvSpPr>
          <p:spPr>
            <a:xfrm>
              <a:off x="0" y="64522"/>
              <a:ext cx="76200" cy="762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94" name="Rectangle 93">
              <a:extLst>
                <a:ext uri="{FF2B5EF4-FFF2-40B4-BE49-F238E27FC236}">
                  <a16:creationId xmlns:a16="http://schemas.microsoft.com/office/drawing/2014/main" id="{27C61160-EEE6-4432-977E-33C5EC698C08}"/>
                </a:ext>
              </a:extLst>
            </p:cNvPr>
            <p:cNvSpPr/>
            <p:nvPr/>
          </p:nvSpPr>
          <p:spPr>
            <a:xfrm>
              <a:off x="934360" y="66287"/>
              <a:ext cx="60288" cy="7267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95" name="Rectangle 94">
              <a:extLst>
                <a:ext uri="{FF2B5EF4-FFF2-40B4-BE49-F238E27FC236}">
                  <a16:creationId xmlns:a16="http://schemas.microsoft.com/office/drawing/2014/main" id="{C2686702-6C5D-430E-A1D7-450E7F87E157}"/>
                </a:ext>
              </a:extLst>
            </p:cNvPr>
            <p:cNvSpPr/>
            <p:nvPr/>
          </p:nvSpPr>
          <p:spPr>
            <a:xfrm>
              <a:off x="1609487" y="64522"/>
              <a:ext cx="76200" cy="76200"/>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96" name="TextBox 43">
              <a:extLst>
                <a:ext uri="{FF2B5EF4-FFF2-40B4-BE49-F238E27FC236}">
                  <a16:creationId xmlns:a16="http://schemas.microsoft.com/office/drawing/2014/main" id="{E341E1F4-14B7-477E-AF14-037E7442E526}"/>
                </a:ext>
              </a:extLst>
            </p:cNvPr>
            <p:cNvSpPr txBox="1"/>
            <p:nvPr/>
          </p:nvSpPr>
          <p:spPr>
            <a:xfrm>
              <a:off x="19049" y="9525"/>
              <a:ext cx="767953" cy="18619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a:t>Sick Pay</a:t>
              </a:r>
            </a:p>
          </p:txBody>
        </p:sp>
        <p:sp>
          <p:nvSpPr>
            <p:cNvPr id="97" name="TextBox 47">
              <a:extLst>
                <a:ext uri="{FF2B5EF4-FFF2-40B4-BE49-F238E27FC236}">
                  <a16:creationId xmlns:a16="http://schemas.microsoft.com/office/drawing/2014/main" id="{F54C355C-E216-4684-96A7-C936CBAE43E6}"/>
                </a:ext>
              </a:extLst>
            </p:cNvPr>
            <p:cNvSpPr txBox="1"/>
            <p:nvPr/>
          </p:nvSpPr>
          <p:spPr>
            <a:xfrm>
              <a:off x="987028" y="9525"/>
              <a:ext cx="461398" cy="18619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a:t>STD</a:t>
              </a:r>
            </a:p>
          </p:txBody>
        </p:sp>
        <p:sp>
          <p:nvSpPr>
            <p:cNvPr id="98" name="TextBox 48">
              <a:extLst>
                <a:ext uri="{FF2B5EF4-FFF2-40B4-BE49-F238E27FC236}">
                  <a16:creationId xmlns:a16="http://schemas.microsoft.com/office/drawing/2014/main" id="{76C9E79E-AF5B-4DD9-90B3-299AD174FD51}"/>
                </a:ext>
              </a:extLst>
            </p:cNvPr>
            <p:cNvSpPr txBox="1"/>
            <p:nvPr/>
          </p:nvSpPr>
          <p:spPr>
            <a:xfrm>
              <a:off x="1670447" y="0"/>
              <a:ext cx="471055" cy="20524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dirty="0"/>
                <a:t>LTD</a:t>
              </a:r>
            </a:p>
          </p:txBody>
        </p:sp>
        <p:sp>
          <p:nvSpPr>
            <p:cNvPr id="99" name="Rectangle 98">
              <a:extLst>
                <a:ext uri="{FF2B5EF4-FFF2-40B4-BE49-F238E27FC236}">
                  <a16:creationId xmlns:a16="http://schemas.microsoft.com/office/drawing/2014/main" id="{4FFC2E74-7BB8-4E78-AD24-1728E91FDBBD}"/>
                </a:ext>
              </a:extLst>
            </p:cNvPr>
            <p:cNvSpPr/>
            <p:nvPr/>
          </p:nvSpPr>
          <p:spPr>
            <a:xfrm>
              <a:off x="2305606" y="64522"/>
              <a:ext cx="76200" cy="76200"/>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sz="1200"/>
            </a:p>
          </p:txBody>
        </p:sp>
        <p:sp>
          <p:nvSpPr>
            <p:cNvPr id="100" name="TextBox 72">
              <a:extLst>
                <a:ext uri="{FF2B5EF4-FFF2-40B4-BE49-F238E27FC236}">
                  <a16:creationId xmlns:a16="http://schemas.microsoft.com/office/drawing/2014/main" id="{28B6F554-9B3A-423B-BF41-114ADEEB3E8F}"/>
                </a:ext>
              </a:extLst>
            </p:cNvPr>
            <p:cNvSpPr txBox="1"/>
            <p:nvPr/>
          </p:nvSpPr>
          <p:spPr>
            <a:xfrm>
              <a:off x="2360216" y="0"/>
              <a:ext cx="814387" cy="21000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050"/>
                <a:t>SDI / VDI</a:t>
              </a:r>
            </a:p>
          </p:txBody>
        </p:sp>
      </p:grpSp>
    </p:spTree>
    <p:custDataLst>
      <p:tags r:id="rId2"/>
    </p:custDataLst>
    <p:extLst>
      <p:ext uri="{BB962C8B-B14F-4D97-AF65-F5344CB8AC3E}">
        <p14:creationId xmlns:p14="http://schemas.microsoft.com/office/powerpoint/2010/main" val="37061733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TDLTDText-2">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Total Disability Program (Short-Term + Long-Term Disability)</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532560"/>
            <a:ext cx="8229600" cy="4389120"/>
          </a:xfrm>
        </p:spPr>
        <p:txBody>
          <a:bodyPr/>
          <a:lstStyle/>
          <a:p>
            <a:pPr lvl="2"/>
            <a:r>
              <a:rPr lang="en-US" sz="1200" dirty="0"/>
              <a:t>The chart below show {{COMPANY1}} total disability program compared with the typical design in the peer group:</a:t>
            </a:r>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34</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7" name="STDLTD_Prevalence_Table1">
            <a:extLst>
              <a:ext uri="{FF2B5EF4-FFF2-40B4-BE49-F238E27FC236}">
                <a16:creationId xmlns:a16="http://schemas.microsoft.com/office/drawing/2014/main" id="{AE176F18-7D8B-476B-9EA1-FEADA4D1E3CE}"/>
              </a:ext>
            </a:extLst>
          </p:cNvPr>
          <p:cNvGraphicFramePr>
            <a:graphicFrameLocks noGrp="1"/>
          </p:cNvGraphicFramePr>
          <p:nvPr>
            <p:extLst>
              <p:ext uri="{D42A27DB-BD31-4B8C-83A1-F6EECF244321}">
                <p14:modId xmlns:p14="http://schemas.microsoft.com/office/powerpoint/2010/main" val="16964464"/>
              </p:ext>
            </p:extLst>
          </p:nvPr>
        </p:nvGraphicFramePr>
        <p:xfrm>
          <a:off x="449263" y="1787479"/>
          <a:ext cx="8229599" cy="4042609"/>
        </p:xfrm>
        <a:graphic>
          <a:graphicData uri="http://schemas.openxmlformats.org/drawingml/2006/table">
            <a:tbl>
              <a:tblPr/>
              <a:tblGrid>
                <a:gridCol w="2664995">
                  <a:extLst>
                    <a:ext uri="{9D8B030D-6E8A-4147-A177-3AD203B41FA5}">
                      <a16:colId xmlns:a16="http://schemas.microsoft.com/office/drawing/2014/main" val="3081370847"/>
                    </a:ext>
                  </a:extLst>
                </a:gridCol>
                <a:gridCol w="2782302">
                  <a:extLst>
                    <a:ext uri="{9D8B030D-6E8A-4147-A177-3AD203B41FA5}">
                      <a16:colId xmlns:a16="http://schemas.microsoft.com/office/drawing/2014/main" val="3524454293"/>
                    </a:ext>
                  </a:extLst>
                </a:gridCol>
                <a:gridCol w="2782302">
                  <a:extLst>
                    <a:ext uri="{9D8B030D-6E8A-4147-A177-3AD203B41FA5}">
                      <a16:colId xmlns:a16="http://schemas.microsoft.com/office/drawing/2014/main" val="3886348425"/>
                    </a:ext>
                  </a:extLst>
                </a:gridCol>
              </a:tblGrid>
              <a:tr h="192505">
                <a:tc>
                  <a:txBody>
                    <a:bodyPr/>
                    <a:lstStyle/>
                    <a:p>
                      <a:pPr algn="ctr" fontAlgn="ctr"/>
                      <a:r>
                        <a:rPr lang="en-US" sz="1000" b="1" i="0" u="none" strike="noStrike" dirty="0">
                          <a:solidFill>
                            <a:srgbClr val="FFFFFF"/>
                          </a:solidFill>
                          <a:effectLst/>
                          <a:latin typeface="Arial" panose="020B0604020202020204" pitchFamily="34" charset="0"/>
                        </a:rPr>
                        <a:t>Plan Feature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0000"/>
                          </a:solidFill>
                          <a:effectLst/>
                          <a:latin typeface="Arial" panose="020B0604020202020204" pitchFamily="34" charset="0"/>
                        </a:rPr>
                        <a:t>AMD's</a:t>
                      </a:r>
                      <a:r>
                        <a:rPr lang="en-US" sz="1000" b="1" i="0" u="none" strike="noStrike" dirty="0">
                          <a:solidFill>
                            <a:srgbClr val="FFFFFF"/>
                          </a:solidFill>
                          <a:effectLst/>
                          <a:latin typeface="Arial" panose="020B0604020202020204" pitchFamily="34" charset="0"/>
                        </a:rPr>
                        <a:t> STD Plan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Typical Peer Group Disability Plan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4241181689"/>
                  </a:ext>
                </a:extLst>
              </a:tr>
              <a:tr h="192505">
                <a:tc>
                  <a:txBody>
                    <a:bodyPr/>
                    <a:lstStyle/>
                    <a:p>
                      <a:pPr algn="l" fontAlgn="ctr"/>
                      <a:r>
                        <a:rPr lang="en-US" sz="1000" b="1" i="1" u="none" strike="noStrike" dirty="0">
                          <a:effectLst/>
                          <a:latin typeface="Arial" panose="020B0604020202020204" pitchFamily="34" charset="0"/>
                        </a:rPr>
                        <a:t>Short-Term Disability</a:t>
                      </a:r>
                    </a:p>
                  </a:txBody>
                  <a:tcPr marL="228600" marR="0" marT="0" marB="0"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1270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024350297"/>
                  </a:ext>
                </a:extLst>
              </a:tr>
              <a:tr h="192505">
                <a:tc>
                  <a:txBody>
                    <a:bodyPr/>
                    <a:lstStyle/>
                    <a:p>
                      <a:pPr algn="l" fontAlgn="ctr"/>
                      <a:r>
                        <a:rPr lang="en-US" sz="1000" b="1" i="0" u="none" strike="noStrike" dirty="0">
                          <a:effectLst/>
                          <a:latin typeface="Arial" panose="020B0604020202020204" pitchFamily="34" charset="0"/>
                        </a:rPr>
                        <a:t>Sick Pay</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Sick Leave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0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58572684"/>
                  </a:ext>
                </a:extLst>
              </a:tr>
              <a:tr h="385011">
                <a:tc>
                  <a:txBody>
                    <a:bodyPr/>
                    <a:lstStyle/>
                    <a:p>
                      <a:pPr algn="l" fontAlgn="ctr"/>
                      <a:r>
                        <a:rPr lang="en-US" sz="1000" b="1" i="0" u="none" strike="noStrike">
                          <a:effectLst/>
                          <a:latin typeface="Arial" panose="020B0604020202020204" pitchFamily="34" charset="0"/>
                        </a:rPr>
                        <a:t>Sick Pay Duration</a:t>
                      </a:r>
                      <a:br>
                        <a:rPr lang="en-US" sz="1000" b="1" i="0" u="none" strike="noStrike">
                          <a:effectLst/>
                          <a:latin typeface="Arial" panose="020B0604020202020204" pitchFamily="34" charset="0"/>
                        </a:rPr>
                      </a:br>
                      <a:r>
                        <a:rPr lang="en-US" sz="1000" b="1" i="0" u="none" strike="noStrike">
                          <a:effectLst/>
                          <a:latin typeface="Arial" panose="020B0604020202020204" pitchFamily="34" charset="0"/>
                        </a:rPr>
                        <a:t>(Working Days)</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20 days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5 days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79098656"/>
                  </a:ext>
                </a:extLst>
              </a:tr>
              <a:tr h="192505">
                <a:tc>
                  <a:txBody>
                    <a:bodyPr/>
                    <a:lstStyle/>
                    <a:p>
                      <a:pPr algn="l" fontAlgn="ctr"/>
                      <a:r>
                        <a:rPr lang="en-US" sz="1000" b="1" i="0" u="none" strike="noStrike" dirty="0">
                          <a:effectLst/>
                          <a:latin typeface="Arial" panose="020B0604020202020204" pitchFamily="34" charset="0"/>
                        </a:rPr>
                        <a:t>STD Employee Contribution</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0.30% of pay to $16,500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33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85790746"/>
                  </a:ext>
                </a:extLst>
              </a:tr>
              <a:tr h="192505">
                <a:tc>
                  <a:txBody>
                    <a:bodyPr/>
                    <a:lstStyle/>
                    <a:p>
                      <a:pPr algn="l" fontAlgn="ctr"/>
                      <a:r>
                        <a:rPr lang="en-US" sz="1000" b="1" i="0" u="none" strike="noStrike" dirty="0">
                          <a:effectLst/>
                          <a:latin typeface="Arial" panose="020B0604020202020204" pitchFamily="34" charset="0"/>
                        </a:rPr>
                        <a:t>STD Benefit</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67%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60% – 67%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58262053"/>
                  </a:ext>
                </a:extLst>
              </a:tr>
              <a:tr h="192505">
                <a:tc>
                  <a:txBody>
                    <a:bodyPr/>
                    <a:lstStyle/>
                    <a:p>
                      <a:pPr algn="l" fontAlgn="ctr"/>
                      <a:r>
                        <a:rPr lang="en-US" sz="1000" b="1" i="0" u="none" strike="noStrike" dirty="0">
                          <a:effectLst/>
                          <a:latin typeface="Arial" panose="020B0604020202020204" pitchFamily="34" charset="0"/>
                        </a:rPr>
                        <a:t>STD Maximum Benefit</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$11,000/month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54339462"/>
                  </a:ext>
                </a:extLst>
              </a:tr>
              <a:tr h="192505">
                <a:tc>
                  <a:txBody>
                    <a:bodyPr/>
                    <a:lstStyle/>
                    <a:p>
                      <a:pPr algn="l" fontAlgn="ctr"/>
                      <a:r>
                        <a:rPr lang="en-US" sz="1000" b="1" i="0" u="none" strike="noStrike" dirty="0">
                          <a:effectLst/>
                          <a:latin typeface="Arial" panose="020B0604020202020204" pitchFamily="34" charset="0"/>
                        </a:rPr>
                        <a:t>SDI Employee Contribution</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180 days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52 weeks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58985137"/>
                  </a:ext>
                </a:extLst>
              </a:tr>
              <a:tr h="192505">
                <a:tc>
                  <a:txBody>
                    <a:bodyPr/>
                    <a:lstStyle/>
                    <a:p>
                      <a:pPr algn="l" fontAlgn="ctr"/>
                      <a:r>
                        <a:rPr lang="en-US" sz="1000" b="1" i="0" u="none" strike="noStrike" dirty="0">
                          <a:effectLst/>
                          <a:latin typeface="Arial" panose="020B0604020202020204" pitchFamily="34" charset="0"/>
                        </a:rPr>
                        <a:t>SDI Benefit</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endParaRPr lang="en-US" sz="10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09831888"/>
                  </a:ext>
                </a:extLst>
              </a:tr>
              <a:tr h="192505">
                <a:tc>
                  <a:txBody>
                    <a:bodyPr/>
                    <a:lstStyle/>
                    <a:p>
                      <a:pPr algn="l" fontAlgn="ctr"/>
                      <a:r>
                        <a:rPr lang="en-US" sz="1000" b="1" i="0" u="none" strike="noStrike">
                          <a:effectLst/>
                          <a:latin typeface="Arial" panose="020B0604020202020204" pitchFamily="34" charset="0"/>
                        </a:rPr>
                        <a:t>SDI </a:t>
                      </a:r>
                      <a:r>
                        <a:rPr lang="en-US" sz="1000" b="1" i="0" u="none" strike="noStrike" dirty="0">
                          <a:effectLst/>
                          <a:latin typeface="Arial" panose="020B0604020202020204" pitchFamily="34" charset="0"/>
                        </a:rPr>
                        <a:t>Maximum Benefit</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endParaRPr lang="en-US" sz="10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079315017"/>
                  </a:ext>
                </a:extLst>
              </a:tr>
              <a:tr h="19250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1" i="1" u="none" strike="noStrike" dirty="0">
                          <a:effectLst/>
                          <a:latin typeface="Arial" panose="020B0604020202020204" pitchFamily="34" charset="0"/>
                        </a:rPr>
                        <a:t>Long-Term Disability</a:t>
                      </a:r>
                      <a:endParaRPr lang="en-US" sz="1000" b="1" i="0" u="none" strike="noStrike" dirty="0">
                        <a:effectLst/>
                        <a:latin typeface="Arial" panose="020B0604020202020204" pitchFamily="34" charset="0"/>
                      </a:endParaRPr>
                    </a:p>
                  </a:txBody>
                  <a:tcPr marL="228600" marR="0" marT="0" marB="0"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1270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274929679"/>
                  </a:ext>
                </a:extLst>
              </a:tr>
              <a:tr h="385011">
                <a:tc>
                  <a:txBody>
                    <a:bodyPr/>
                    <a:lstStyle/>
                    <a:p>
                      <a:pPr algn="l" fontAlgn="ctr"/>
                      <a:r>
                        <a:rPr lang="en-US" sz="1000" b="1" i="0" u="none" strike="noStrike" dirty="0">
                          <a:effectLst/>
                          <a:latin typeface="Arial" panose="020B0604020202020204" pitchFamily="34" charset="0"/>
                        </a:rPr>
                        <a:t>Definition of Pay</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Base Salary &amp; Sales Incentives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Base Salary;</a:t>
                      </a:r>
                      <a:br>
                        <a:rPr lang="en-US" sz="1000" b="0" i="0" u="none" strike="noStrike">
                          <a:effectLst/>
                          <a:latin typeface="Arial" panose="020B0604020202020204" pitchFamily="34" charset="0"/>
                        </a:rPr>
                      </a:br>
                      <a:r>
                        <a:rPr lang="en-US" sz="1000" b="0" i="0" u="none" strike="noStrike">
                          <a:effectLst/>
                          <a:latin typeface="Arial" panose="020B0604020202020204" pitchFamily="34" charset="0"/>
                        </a:rPr>
                        <a:t>Base Salary &amp; Sales Incentive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6299309"/>
                  </a:ext>
                </a:extLst>
              </a:tr>
              <a:tr h="385011">
                <a:tc>
                  <a:txBody>
                    <a:bodyPr/>
                    <a:lstStyle/>
                    <a:p>
                      <a:pPr algn="l" fontAlgn="ctr"/>
                      <a:r>
                        <a:rPr lang="en-US" sz="1000" b="1" i="0" u="none" strike="noStrike">
                          <a:effectLst/>
                          <a:latin typeface="Arial" panose="020B0604020202020204" pitchFamily="34" charset="0"/>
                        </a:rPr>
                        <a:t>Definition of Disability</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Own occupation first 24 months of </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STD &amp; LTD, any occupation thereafter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Own occupation first 24 months of LTD, </a:t>
                      </a:r>
                      <a:br>
                        <a:rPr lang="en-US" sz="1000" b="0" i="0" u="none" strike="noStrike">
                          <a:effectLst/>
                          <a:latin typeface="Arial" panose="020B0604020202020204" pitchFamily="34" charset="0"/>
                        </a:rPr>
                      </a:br>
                      <a:r>
                        <a:rPr lang="en-US" sz="1000" b="0" i="0" u="none" strike="noStrike">
                          <a:effectLst/>
                          <a:latin typeface="Arial" panose="020B0604020202020204" pitchFamily="34" charset="0"/>
                        </a:rPr>
                        <a:t>any occupation thereafter</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02763303"/>
                  </a:ext>
                </a:extLst>
              </a:tr>
              <a:tr h="192505">
                <a:tc>
                  <a:txBody>
                    <a:bodyPr/>
                    <a:lstStyle/>
                    <a:p>
                      <a:pPr algn="l" fontAlgn="ctr"/>
                      <a:r>
                        <a:rPr lang="en-US" sz="1000" b="1" i="0" u="none" strike="noStrike">
                          <a:effectLst/>
                          <a:latin typeface="Arial" panose="020B0604020202020204" pitchFamily="34" charset="0"/>
                        </a:rPr>
                        <a:t>LTD Benefit</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67%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60% – 67%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58920540"/>
                  </a:ext>
                </a:extLst>
              </a:tr>
              <a:tr h="385011">
                <a:tc>
                  <a:txBody>
                    <a:bodyPr/>
                    <a:lstStyle/>
                    <a:p>
                      <a:pPr algn="l" fontAlgn="ctr"/>
                      <a:r>
                        <a:rPr lang="en-US" sz="1000" b="1" i="0" u="none" strike="noStrike">
                          <a:effectLst/>
                          <a:latin typeface="Arial" panose="020B0604020202020204" pitchFamily="34" charset="0"/>
                        </a:rPr>
                        <a:t>Benefit Maximum </a:t>
                      </a:r>
                      <a:br>
                        <a:rPr lang="en-US" sz="1000" b="1" i="0" u="none" strike="noStrike">
                          <a:effectLst/>
                          <a:latin typeface="Arial" panose="020B0604020202020204" pitchFamily="34" charset="0"/>
                        </a:rPr>
                      </a:br>
                      <a:r>
                        <a:rPr lang="en-US" sz="1000" b="1" i="0" u="none" strike="noStrike">
                          <a:effectLst/>
                          <a:latin typeface="Arial" panose="020B0604020202020204" pitchFamily="34" charset="0"/>
                        </a:rPr>
                        <a:t>(Per Month)</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$11,000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$15,000 – $20,000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653007715"/>
                  </a:ext>
                </a:extLst>
              </a:tr>
              <a:tr h="192505">
                <a:tc>
                  <a:txBody>
                    <a:bodyPr/>
                    <a:lstStyle/>
                    <a:p>
                      <a:pPr algn="l" fontAlgn="ctr"/>
                      <a:r>
                        <a:rPr lang="en-US" sz="1000" b="1" i="0" u="none" strike="noStrike">
                          <a:effectLst/>
                          <a:latin typeface="Arial" panose="020B0604020202020204" pitchFamily="34" charset="0"/>
                        </a:rPr>
                        <a:t>Waiting Period</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180 days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180 days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714282886"/>
                  </a:ext>
                </a:extLst>
              </a:tr>
              <a:tr h="192505">
                <a:tc>
                  <a:txBody>
                    <a:bodyPr/>
                    <a:lstStyle/>
                    <a:p>
                      <a:pPr algn="l" fontAlgn="ctr"/>
                      <a:r>
                        <a:rPr lang="en-US" sz="1000" b="1" i="0" u="none" strike="noStrike">
                          <a:effectLst/>
                          <a:latin typeface="Arial" panose="020B0604020202020204" pitchFamily="34" charset="0"/>
                        </a:rPr>
                        <a:t>Cost-of-Living Adjustment</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0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497016011"/>
                  </a:ext>
                </a:extLst>
              </a:tr>
            </a:tbl>
          </a:graphicData>
        </a:graphic>
      </p:graphicFrame>
    </p:spTree>
    <p:custDataLst>
      <p:tags r:id="rId1"/>
    </p:custDataLst>
    <p:extLst>
      <p:ext uri="{BB962C8B-B14F-4D97-AF65-F5344CB8AC3E}">
        <p14:creationId xmlns:p14="http://schemas.microsoft.com/office/powerpoint/2010/main" val="2122629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TDPage">
    <p:spTree>
      <p:nvGrpSpPr>
        <p:cNvPr id="1" name=""/>
        <p:cNvGrpSpPr/>
        <p:nvPr/>
      </p:nvGrpSpPr>
      <p:grpSpPr>
        <a:xfrm>
          <a:off x="0" y="0"/>
          <a:ext cx="0" cy="0"/>
          <a:chOff x="0" y="0"/>
          <a:chExt cx="0" cy="0"/>
        </a:xfrm>
      </p:grpSpPr>
      <p:graphicFrame>
        <p:nvGraphicFramePr>
          <p:cNvPr id="10" name="STD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2882876808"/>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Short-Term Disability</a:t>
            </a:r>
          </a:p>
        </p:txBody>
      </p:sp>
      <p:sp>
        <p:nvSpPr>
          <p:cNvPr id="9" name="Text Placeholder 8">
            <a:extLst>
              <a:ext uri="{FF2B5EF4-FFF2-40B4-BE49-F238E27FC236}">
                <a16:creationId xmlns:a16="http://schemas.microsoft.com/office/drawing/2014/main" id="{F022C920-FE65-412A-8A23-2325A9C09E3A}"/>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35</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1" name="STD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1396203028"/>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36872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LTD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Long-Term Disability</a:t>
            </a:r>
          </a:p>
        </p:txBody>
      </p:sp>
      <p:sp>
        <p:nvSpPr>
          <p:cNvPr id="3" name="Text Placeholder 2">
            <a:extLst>
              <a:ext uri="{FF2B5EF4-FFF2-40B4-BE49-F238E27FC236}">
                <a16:creationId xmlns:a16="http://schemas.microsoft.com/office/drawing/2014/main" id="{5292D17E-2737-4468-9C4F-52AF33B4AA7E}"/>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36</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9" name="LTDPage_Chart2">
            <a:extLst>
              <a:ext uri="{FF2B5EF4-FFF2-40B4-BE49-F238E27FC236}">
                <a16:creationId xmlns:a16="http://schemas.microsoft.com/office/drawing/2014/main" id="{B57ACCA7-97F3-4AD2-A830-7F7268D7CDD5}"/>
              </a:ext>
            </a:extLst>
          </p:cNvPr>
          <p:cNvGraphicFramePr/>
          <p:nvPr>
            <p:extLst>
              <p:ext uri="{D42A27DB-BD31-4B8C-83A1-F6EECF244321}">
                <p14:modId xmlns:p14="http://schemas.microsoft.com/office/powerpoint/2010/main" val="2078314732"/>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LTDPage_Chart1">
            <a:extLst>
              <a:ext uri="{FF2B5EF4-FFF2-40B4-BE49-F238E27FC236}">
                <a16:creationId xmlns:a16="http://schemas.microsoft.com/office/drawing/2014/main" id="{428D77D1-B162-49A8-8C2D-D5C3BBB5F22D}"/>
              </a:ext>
            </a:extLst>
          </p:cNvPr>
          <p:cNvGraphicFramePr/>
          <p:nvPr>
            <p:extLst>
              <p:ext uri="{D42A27DB-BD31-4B8C-83A1-F6EECF244321}">
                <p14:modId xmlns:p14="http://schemas.microsoft.com/office/powerpoint/2010/main" val="357770591"/>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48324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LIFE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Active Life Program</a:t>
            </a:r>
          </a:p>
        </p:txBody>
      </p:sp>
      <p:sp>
        <p:nvSpPr>
          <p:cNvPr id="3" name="Text Placeholder 2">
            <a:extLst>
              <a:ext uri="{FF2B5EF4-FFF2-40B4-BE49-F238E27FC236}">
                <a16:creationId xmlns:a16="http://schemas.microsoft.com/office/drawing/2014/main" id="{44870C75-2607-4187-B8C5-0208BFFAF172}"/>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37</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a:t>© 2020 Willis Towers Watson. All rights reserved. Proprietary and Confidential. For Willis Towers Watson and Willis Towers Watson client use only.</a:t>
            </a:r>
            <a:endParaRPr lang="en-US" dirty="0"/>
          </a:p>
        </p:txBody>
      </p:sp>
      <p:graphicFrame>
        <p:nvGraphicFramePr>
          <p:cNvPr id="10" name="LIFEPage_Chart2">
            <a:extLst>
              <a:ext uri="{FF2B5EF4-FFF2-40B4-BE49-F238E27FC236}">
                <a16:creationId xmlns:a16="http://schemas.microsoft.com/office/drawing/2014/main" id="{1E967CAD-F85D-42D2-BD93-FC0004A4DB11}"/>
              </a:ext>
            </a:extLst>
          </p:cNvPr>
          <p:cNvGraphicFramePr/>
          <p:nvPr>
            <p:extLst>
              <p:ext uri="{D42A27DB-BD31-4B8C-83A1-F6EECF244321}">
                <p14:modId xmlns:p14="http://schemas.microsoft.com/office/powerpoint/2010/main" val="1697661408"/>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LIFEPage_Chart1">
            <a:extLst>
              <a:ext uri="{FF2B5EF4-FFF2-40B4-BE49-F238E27FC236}">
                <a16:creationId xmlns:a16="http://schemas.microsoft.com/office/drawing/2014/main" id="{9C97F032-1BAD-4A29-87E3-EC8C2A5DC751}"/>
              </a:ext>
            </a:extLst>
          </p:cNvPr>
          <p:cNvGraphicFramePr/>
          <p:nvPr>
            <p:extLst>
              <p:ext uri="{D42A27DB-BD31-4B8C-83A1-F6EECF244321}">
                <p14:modId xmlns:p14="http://schemas.microsoft.com/office/powerpoint/2010/main" val="1575337142"/>
              </p:ext>
            </p:extLst>
          </p:nvPr>
        </p:nvGraphicFramePr>
        <p:xfrm>
          <a:off x="419100" y="3768985"/>
          <a:ext cx="8267700" cy="23717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60750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LIFETex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Active Life Program</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526627"/>
            <a:ext cx="8229600" cy="4389120"/>
          </a:xfrm>
        </p:spPr>
        <p:txBody>
          <a:bodyPr/>
          <a:lstStyle/>
          <a:p>
            <a:pPr lvl="2"/>
            <a:r>
              <a:rPr lang="en-US" sz="1200" dirty="0"/>
              <a:t>{{COMPANY1}} ranks {{RANK1}} in employer-provided value ({{PERC1}}% of average) and {{RANK2}} in total value ({{PERC2}}%) for active employee life insurance</a:t>
            </a:r>
          </a:p>
          <a:p>
            <a:pPr lvl="2"/>
            <a:r>
              <a:rPr lang="en-US" sz="1200" dirty="0"/>
              <a:t>The chart below shows {{COMPANY1}}'s benefit compared with the typical design in the peer group:</a:t>
            </a:r>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38</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9" name="LIFEText_Table1">
            <a:extLst>
              <a:ext uri="{FF2B5EF4-FFF2-40B4-BE49-F238E27FC236}">
                <a16:creationId xmlns:a16="http://schemas.microsoft.com/office/drawing/2014/main" id="{3869C4DD-E73A-4BAD-9FCC-D801BB7E708F}"/>
              </a:ext>
            </a:extLst>
          </p:cNvPr>
          <p:cNvGraphicFramePr>
            <a:graphicFrameLocks noGrp="1"/>
          </p:cNvGraphicFramePr>
          <p:nvPr>
            <p:extLst>
              <p:ext uri="{D42A27DB-BD31-4B8C-83A1-F6EECF244321}">
                <p14:modId xmlns:p14="http://schemas.microsoft.com/office/powerpoint/2010/main" val="4075797296"/>
              </p:ext>
            </p:extLst>
          </p:nvPr>
        </p:nvGraphicFramePr>
        <p:xfrm>
          <a:off x="457200" y="2323831"/>
          <a:ext cx="8229601" cy="2486294"/>
        </p:xfrm>
        <a:graphic>
          <a:graphicData uri="http://schemas.openxmlformats.org/drawingml/2006/table">
            <a:tbl>
              <a:tblPr/>
              <a:tblGrid>
                <a:gridCol w="3160031">
                  <a:extLst>
                    <a:ext uri="{9D8B030D-6E8A-4147-A177-3AD203B41FA5}">
                      <a16:colId xmlns:a16="http://schemas.microsoft.com/office/drawing/2014/main" val="620068414"/>
                    </a:ext>
                  </a:extLst>
                </a:gridCol>
                <a:gridCol w="2534785">
                  <a:extLst>
                    <a:ext uri="{9D8B030D-6E8A-4147-A177-3AD203B41FA5}">
                      <a16:colId xmlns:a16="http://schemas.microsoft.com/office/drawing/2014/main" val="3755795793"/>
                    </a:ext>
                  </a:extLst>
                </a:gridCol>
                <a:gridCol w="2534785">
                  <a:extLst>
                    <a:ext uri="{9D8B030D-6E8A-4147-A177-3AD203B41FA5}">
                      <a16:colId xmlns:a16="http://schemas.microsoft.com/office/drawing/2014/main" val="1337388076"/>
                    </a:ext>
                  </a:extLst>
                </a:gridCol>
              </a:tblGrid>
              <a:tr h="263388">
                <a:tc>
                  <a:txBody>
                    <a:bodyPr/>
                    <a:lstStyle/>
                    <a:p>
                      <a:pPr algn="ctr" fontAlgn="ctr"/>
                      <a:r>
                        <a:rPr lang="en-US" sz="1000" b="1" i="0" u="none" strike="noStrike" dirty="0">
                          <a:solidFill>
                            <a:srgbClr val="FFFFFF"/>
                          </a:solidFill>
                          <a:effectLst/>
                          <a:latin typeface="Arial" panose="020B0604020202020204" pitchFamily="34" charset="0"/>
                        </a:rPr>
                        <a:t>Plan Feature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0000"/>
                          </a:solidFill>
                          <a:effectLst/>
                          <a:latin typeface="Arial" panose="020B0604020202020204" pitchFamily="34" charset="0"/>
                        </a:rPr>
                        <a:t>AMD's</a:t>
                      </a:r>
                      <a:r>
                        <a:rPr lang="en-US" sz="1000" b="1" i="0" u="none" strike="noStrike" dirty="0">
                          <a:solidFill>
                            <a:srgbClr val="FFFFFF"/>
                          </a:solidFill>
                          <a:effectLst/>
                          <a:latin typeface="Arial" panose="020B0604020202020204" pitchFamily="34" charset="0"/>
                        </a:rPr>
                        <a:t> Life Coverage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FFFF"/>
                          </a:solidFill>
                          <a:effectLst/>
                          <a:latin typeface="Arial" panose="020B0604020202020204" pitchFamily="34" charset="0"/>
                        </a:rPr>
                        <a:t>Typical Peer Group Life Coverage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16352118"/>
                  </a:ext>
                </a:extLst>
              </a:tr>
              <a:tr h="270569">
                <a:tc>
                  <a:txBody>
                    <a:bodyPr/>
                    <a:lstStyle/>
                    <a:p>
                      <a:pPr algn="l" fontAlgn="ctr"/>
                      <a:r>
                        <a:rPr lang="en-US" sz="1000" b="1" i="0" u="none" strike="noStrike" dirty="0">
                          <a:effectLst/>
                          <a:latin typeface="Arial" panose="020B0604020202020204" pitchFamily="34" charset="0"/>
                        </a:rPr>
                        <a:t>Basic Life Benefit</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2x Salary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2x Salary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17922759"/>
                  </a:ext>
                </a:extLst>
              </a:tr>
              <a:tr h="270569">
                <a:tc>
                  <a:txBody>
                    <a:bodyPr/>
                    <a:lstStyle/>
                    <a:p>
                      <a:pPr algn="l" fontAlgn="ctr"/>
                      <a:r>
                        <a:rPr lang="en-US" sz="1000" b="1" i="0" u="none" strike="noStrike">
                          <a:effectLst/>
                          <a:latin typeface="Arial" panose="020B0604020202020204" pitchFamily="34" charset="0"/>
                        </a:rPr>
                        <a:t>Basic Benefit Maximum</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$1,000,000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$1,000,000 – $2,000,000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181066164"/>
                  </a:ext>
                </a:extLst>
              </a:tr>
              <a:tr h="270569">
                <a:tc>
                  <a:txBody>
                    <a:bodyPr/>
                    <a:lstStyle/>
                    <a:p>
                      <a:pPr algn="l" fontAlgn="ctr"/>
                      <a:r>
                        <a:rPr lang="en-US" sz="1000" b="1" i="0" u="none" strike="noStrike">
                          <a:effectLst/>
                          <a:latin typeface="Arial" panose="020B0604020202020204" pitchFamily="34" charset="0"/>
                        </a:rPr>
                        <a:t>Supplemental Life Coverage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1x – 8x Salary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1x – 8x Salary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57655287"/>
                  </a:ext>
                </a:extLst>
              </a:tr>
              <a:tr h="270569">
                <a:tc>
                  <a:txBody>
                    <a:bodyPr/>
                    <a:lstStyle/>
                    <a:p>
                      <a:pPr algn="l" fontAlgn="ctr"/>
                      <a:r>
                        <a:rPr lang="en-US" sz="1000" b="1" i="0" u="none" strike="noStrike">
                          <a:effectLst/>
                          <a:latin typeface="Arial" panose="020B0604020202020204" pitchFamily="34" charset="0"/>
                        </a:rPr>
                        <a:t>Maximum Benefit (Basic+Sup)</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$4,000,000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$2,000,000 – $4,000,000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40693660"/>
                  </a:ext>
                </a:extLst>
              </a:tr>
              <a:tr h="328923">
                <a:tc>
                  <a:txBody>
                    <a:bodyPr/>
                    <a:lstStyle/>
                    <a:p>
                      <a:pPr algn="l" fontAlgn="ctr"/>
                      <a:r>
                        <a:rPr lang="en-US" sz="1000" b="1" i="0" u="none" strike="noStrike">
                          <a:effectLst/>
                          <a:latin typeface="Arial" panose="020B0604020202020204" pitchFamily="34" charset="0"/>
                        </a:rPr>
                        <a:t>Definition of Covered Pay</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Base Salary &amp; Sales Incentive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Base Salary;</a:t>
                      </a:r>
                      <a:br>
                        <a:rPr lang="en-US" sz="1000" b="0" i="0" u="none" strike="noStrike">
                          <a:effectLst/>
                          <a:latin typeface="Arial" panose="020B0604020202020204" pitchFamily="34" charset="0"/>
                        </a:rPr>
                      </a:br>
                      <a:r>
                        <a:rPr lang="en-US" sz="1000" b="0" i="0" u="none" strike="noStrike">
                          <a:effectLst/>
                          <a:latin typeface="Arial" panose="020B0604020202020204" pitchFamily="34" charset="0"/>
                        </a:rPr>
                        <a:t>Base Salary &amp; Sales Incentive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46460998"/>
                  </a:ext>
                </a:extLst>
              </a:tr>
              <a:tr h="270569">
                <a:tc>
                  <a:txBody>
                    <a:bodyPr/>
                    <a:lstStyle/>
                    <a:p>
                      <a:pPr algn="l" fontAlgn="ctr"/>
                      <a:r>
                        <a:rPr lang="en-US" sz="1000" b="1" i="0" u="none" strike="noStrike">
                          <a:effectLst/>
                          <a:latin typeface="Arial" panose="020B0604020202020204" pitchFamily="34" charset="0"/>
                        </a:rPr>
                        <a:t>Maximum Spousal Life Coverage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100% of employee benefit up to $500,000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$250,000 – $500,000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40574422"/>
                  </a:ext>
                </a:extLst>
              </a:tr>
              <a:tr h="270569">
                <a:tc>
                  <a:txBody>
                    <a:bodyPr/>
                    <a:lstStyle/>
                    <a:p>
                      <a:pPr algn="l" fontAlgn="ctr"/>
                      <a:r>
                        <a:rPr lang="en-US" sz="1000" b="1" i="0" u="none" strike="noStrike">
                          <a:effectLst/>
                          <a:latin typeface="Arial" panose="020B0604020202020204" pitchFamily="34" charset="0"/>
                        </a:rPr>
                        <a:t>Maximum Child Life Coverage</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solidFill>
                            <a:srgbClr val="000000"/>
                          </a:solidFill>
                          <a:effectLst/>
                          <a:latin typeface="Arial" panose="020B0604020202020204" pitchFamily="34" charset="0"/>
                        </a:rPr>
                        <a:t>$25,000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$10,000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550188150"/>
                  </a:ext>
                </a:extLst>
              </a:tr>
              <a:tr h="270569">
                <a:tc>
                  <a:txBody>
                    <a:bodyPr/>
                    <a:lstStyle/>
                    <a:p>
                      <a:pPr algn="l" fontAlgn="ctr"/>
                      <a:r>
                        <a:rPr lang="en-US" sz="1000" b="1" i="0" u="none" strike="noStrike">
                          <a:effectLst/>
                          <a:latin typeface="Arial" panose="020B0604020202020204" pitchFamily="34" charset="0"/>
                        </a:rPr>
                        <a:t>Postretirement Benefits</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solidFill>
                            <a:srgbClr val="000000"/>
                          </a:solidFill>
                          <a:effectLst/>
                          <a:latin typeface="Arial" panose="020B0604020202020204" pitchFamily="34" charset="0"/>
                        </a:rPr>
                        <a:t>No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95579694"/>
                  </a:ext>
                </a:extLst>
              </a:tr>
            </a:tbl>
          </a:graphicData>
        </a:graphic>
      </p:graphicFrame>
    </p:spTree>
    <p:custDataLst>
      <p:tags r:id="rId1"/>
    </p:custDataLst>
    <p:extLst>
      <p:ext uri="{BB962C8B-B14F-4D97-AF65-F5344CB8AC3E}">
        <p14:creationId xmlns:p14="http://schemas.microsoft.com/office/powerpoint/2010/main" val="17344455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PTO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2E0D8-6185-4AD2-8BCF-6383E65DC31D}"/>
              </a:ext>
            </a:extLst>
          </p:cNvPr>
          <p:cNvSpPr>
            <a:spLocks noGrp="1"/>
          </p:cNvSpPr>
          <p:nvPr>
            <p:ph type="title"/>
          </p:nvPr>
        </p:nvSpPr>
        <p:spPr/>
        <p:txBody>
          <a:bodyPr/>
          <a:lstStyle/>
          <a:p>
            <a:r>
              <a:rPr lang="en-US" dirty="0"/>
              <a:t>Paid Time Off Benefits</a:t>
            </a:r>
          </a:p>
        </p:txBody>
      </p:sp>
      <p:sp>
        <p:nvSpPr>
          <p:cNvPr id="7" name="Text Placeholder 6">
            <a:extLst>
              <a:ext uri="{FF2B5EF4-FFF2-40B4-BE49-F238E27FC236}">
                <a16:creationId xmlns:a16="http://schemas.microsoft.com/office/drawing/2014/main" id="{0F2B5AC1-00F5-4C9F-ACB4-5A5A542AF6DF}"/>
              </a:ext>
            </a:extLst>
          </p:cNvPr>
          <p:cNvSpPr>
            <a:spLocks noGrp="1"/>
          </p:cNvSpPr>
          <p:nvPr>
            <p:ph type="body" sz="quarter" idx="13"/>
          </p:nvPr>
        </p:nvSpPr>
        <p:spPr/>
        <p:txBody>
          <a:bodyPr/>
          <a:lstStyle/>
          <a:p>
            <a:endParaRPr lang="en-US"/>
          </a:p>
        </p:txBody>
      </p:sp>
      <p:sp>
        <p:nvSpPr>
          <p:cNvPr id="6" name="Content Placeholder 5">
            <a:extLst>
              <a:ext uri="{FF2B5EF4-FFF2-40B4-BE49-F238E27FC236}">
                <a16:creationId xmlns:a16="http://schemas.microsoft.com/office/drawing/2014/main" id="{5134C2C1-2645-4A6B-8AB3-1F5034AD1625}"/>
              </a:ext>
            </a:extLst>
          </p:cNvPr>
          <p:cNvSpPr>
            <a:spLocks noGrp="1"/>
          </p:cNvSpPr>
          <p:nvPr>
            <p:ph idx="1"/>
          </p:nvPr>
        </p:nvSpPr>
        <p:spPr>
          <a:xfrm>
            <a:off x="457200" y="1095375"/>
            <a:ext cx="8229600" cy="4389120"/>
          </a:xfrm>
        </p:spPr>
        <p:txBody>
          <a:bodyPr/>
          <a:lstStyle/>
          <a:p>
            <a:pPr lvl="2"/>
            <a:r>
              <a:rPr lang="en-US" sz="1200" dirty="0"/>
              <a:t>{{COMPANY1}} ranks {{RANK1}} in employer-provided and total value ({{PERC1}}% of average) for paid time off (vacation and holiday)</a:t>
            </a:r>
          </a:p>
          <a:p>
            <a:pPr lvl="2"/>
            <a:endParaRPr lang="en-US" sz="1200" dirty="0"/>
          </a:p>
        </p:txBody>
      </p:sp>
      <p:sp>
        <p:nvSpPr>
          <p:cNvPr id="4" name="Slide Number Placeholder 3">
            <a:extLst>
              <a:ext uri="{FF2B5EF4-FFF2-40B4-BE49-F238E27FC236}">
                <a16:creationId xmlns:a16="http://schemas.microsoft.com/office/drawing/2014/main" id="{B4F5C0B8-526B-49A4-84F4-58D792FC2BD3}"/>
              </a:ext>
            </a:extLst>
          </p:cNvPr>
          <p:cNvSpPr>
            <a:spLocks noGrp="1"/>
          </p:cNvSpPr>
          <p:nvPr>
            <p:ph type="sldNum" sz="quarter" idx="4"/>
          </p:nvPr>
        </p:nvSpPr>
        <p:spPr/>
        <p:txBody>
          <a:bodyPr/>
          <a:lstStyle/>
          <a:p>
            <a:fld id="{2083E393-C0BF-4ED8-8545-7E4C90AFF831}" type="slidenum">
              <a:rPr lang="en-US" smtClean="0"/>
              <a:pPr/>
              <a:t>39</a:t>
            </a:fld>
            <a:endParaRPr lang="en-US" dirty="0"/>
          </a:p>
        </p:txBody>
      </p:sp>
      <p:sp>
        <p:nvSpPr>
          <p:cNvPr id="5" name="Footer Placeholder 4">
            <a:extLst>
              <a:ext uri="{FF2B5EF4-FFF2-40B4-BE49-F238E27FC236}">
                <a16:creationId xmlns:a16="http://schemas.microsoft.com/office/drawing/2014/main" id="{C93A9A19-CEA0-4D13-8475-B41CDFF68E8B}"/>
              </a:ext>
            </a:extLst>
          </p:cNvPr>
          <p:cNvSpPr>
            <a:spLocks noGrp="1"/>
          </p:cNvSpPr>
          <p:nvPr>
            <p:ph type="ftr" sz="quarter" idx="3"/>
          </p:nvPr>
        </p:nvSpPr>
        <p:spPr/>
        <p:txBody>
          <a:bodyPr/>
          <a:lstStyle/>
          <a:p>
            <a:r>
              <a:rPr lang="en-US" dirty="0"/>
              <a:t>© 2020 Willis Towers Watson. All rights reserved. Proprietary and Confidential. For Willis Towers Watson and Willis Towers Watson client use only.</a:t>
            </a:r>
          </a:p>
        </p:txBody>
      </p:sp>
      <p:graphicFrame>
        <p:nvGraphicFramePr>
          <p:cNvPr id="10" name="PTOPage_Chart1">
            <a:extLst>
              <a:ext uri="{FF2B5EF4-FFF2-40B4-BE49-F238E27FC236}">
                <a16:creationId xmlns:a16="http://schemas.microsoft.com/office/drawing/2014/main" id="{B0344A0B-2707-467D-ABA6-BDC3D7DBA413}"/>
              </a:ext>
            </a:extLst>
          </p:cNvPr>
          <p:cNvGraphicFramePr/>
          <p:nvPr>
            <p:extLst>
              <p:ext uri="{D42A27DB-BD31-4B8C-83A1-F6EECF244321}">
                <p14:modId xmlns:p14="http://schemas.microsoft.com/office/powerpoint/2010/main" val="70265258"/>
              </p:ext>
            </p:extLst>
          </p:nvPr>
        </p:nvGraphicFramePr>
        <p:xfrm>
          <a:off x="419100" y="1504951"/>
          <a:ext cx="8267700" cy="23717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PTO_Graph">
            <a:extLst>
              <a:ext uri="{FF2B5EF4-FFF2-40B4-BE49-F238E27FC236}">
                <a16:creationId xmlns:a16="http://schemas.microsoft.com/office/drawing/2014/main" id="{9C05119B-B06D-4BBE-AC83-C8F4E201C4F5}"/>
              </a:ext>
            </a:extLst>
          </p:cNvPr>
          <p:cNvGraphicFramePr/>
          <p:nvPr>
            <p:extLst>
              <p:ext uri="{D42A27DB-BD31-4B8C-83A1-F6EECF244321}">
                <p14:modId xmlns:p14="http://schemas.microsoft.com/office/powerpoint/2010/main" val="1207648674"/>
              </p:ext>
            </p:extLst>
          </p:nvPr>
        </p:nvGraphicFramePr>
        <p:xfrm>
          <a:off x="438150" y="3727527"/>
          <a:ext cx="8229599" cy="249694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90620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PTOTex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Paid Time Off Benefits Continued</a:t>
            </a:r>
          </a:p>
        </p:txBody>
      </p:sp>
      <p:sp>
        <p:nvSpPr>
          <p:cNvPr id="6" name="Text Placeholder 5"/>
          <p:cNvSpPr>
            <a:spLocks noGrp="1"/>
          </p:cNvSpPr>
          <p:nvPr>
            <p:ph type="body" sz="quarter" idx="13"/>
            <p:custDataLst>
              <p:tags r:id="rId3"/>
            </p:custDataLst>
          </p:nvPr>
        </p:nvSpPr>
        <p:spPr/>
        <p:txBody>
          <a:bodyPr/>
          <a:lstStyle/>
          <a:p>
            <a:endParaRPr lang="en-US" dirty="0"/>
          </a:p>
        </p:txBody>
      </p:sp>
      <p:sp>
        <p:nvSpPr>
          <p:cNvPr id="5" name="Text Placeholder 4"/>
          <p:cNvSpPr>
            <a:spLocks noGrp="1"/>
          </p:cNvSpPr>
          <p:nvPr>
            <p:ph type="body" sz="quarter" idx="1"/>
            <p:custDataLst>
              <p:tags r:id="rId4"/>
            </p:custDataLst>
          </p:nvPr>
        </p:nvSpPr>
        <p:spPr>
          <a:xfrm>
            <a:off x="457200" y="1526627"/>
            <a:ext cx="8229600" cy="4389120"/>
          </a:xfrm>
        </p:spPr>
        <p:txBody>
          <a:bodyPr/>
          <a:lstStyle/>
          <a:p>
            <a:pPr lvl="2"/>
            <a:r>
              <a:rPr lang="en-US" sz="1200" dirty="0"/>
              <a:t>There is a significant range in values across the peer group for vacation and holiday programs</a:t>
            </a:r>
          </a:p>
          <a:p>
            <a:pPr lvl="2"/>
            <a:r>
              <a:rPr lang="en-US" sz="1200" dirty="0"/>
              <a:t>The chart below summarizes the key features of the vacation and holiday benefit for {{COMPANY}} and the most prevalent plan design within the peer group:</a:t>
            </a:r>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a:p>
            <a:pPr lvl="2"/>
            <a:endParaRPr lang="en-US" sz="1200" dirty="0"/>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40</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8"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10" name="PTOText_Table1">
            <a:extLst>
              <a:ext uri="{FF2B5EF4-FFF2-40B4-BE49-F238E27FC236}">
                <a16:creationId xmlns:a16="http://schemas.microsoft.com/office/drawing/2014/main" id="{9AA39D77-DC93-43E0-8BBB-18D6F01E10A4}"/>
              </a:ext>
            </a:extLst>
          </p:cNvPr>
          <p:cNvGraphicFramePr>
            <a:graphicFrameLocks noGrp="1"/>
          </p:cNvGraphicFramePr>
          <p:nvPr>
            <p:extLst>
              <p:ext uri="{D42A27DB-BD31-4B8C-83A1-F6EECF244321}">
                <p14:modId xmlns:p14="http://schemas.microsoft.com/office/powerpoint/2010/main" val="1029715330"/>
              </p:ext>
            </p:extLst>
          </p:nvPr>
        </p:nvGraphicFramePr>
        <p:xfrm>
          <a:off x="457200" y="2199352"/>
          <a:ext cx="8229601" cy="3578042"/>
        </p:xfrm>
        <a:graphic>
          <a:graphicData uri="http://schemas.openxmlformats.org/drawingml/2006/table">
            <a:tbl>
              <a:tblPr/>
              <a:tblGrid>
                <a:gridCol w="2714625">
                  <a:extLst>
                    <a:ext uri="{9D8B030D-6E8A-4147-A177-3AD203B41FA5}">
                      <a16:colId xmlns:a16="http://schemas.microsoft.com/office/drawing/2014/main" val="1882134037"/>
                    </a:ext>
                  </a:extLst>
                </a:gridCol>
                <a:gridCol w="2509838">
                  <a:extLst>
                    <a:ext uri="{9D8B030D-6E8A-4147-A177-3AD203B41FA5}">
                      <a16:colId xmlns:a16="http://schemas.microsoft.com/office/drawing/2014/main" val="2074242894"/>
                    </a:ext>
                  </a:extLst>
                </a:gridCol>
                <a:gridCol w="3005138">
                  <a:extLst>
                    <a:ext uri="{9D8B030D-6E8A-4147-A177-3AD203B41FA5}">
                      <a16:colId xmlns:a16="http://schemas.microsoft.com/office/drawing/2014/main" val="137102650"/>
                    </a:ext>
                  </a:extLst>
                </a:gridCol>
              </a:tblGrid>
              <a:tr h="188318">
                <a:tc>
                  <a:txBody>
                    <a:bodyPr/>
                    <a:lstStyle/>
                    <a:p>
                      <a:pPr algn="ctr" fontAlgn="ctr"/>
                      <a:r>
                        <a:rPr lang="en-US" sz="1000" b="1" i="0" u="none" strike="noStrike">
                          <a:solidFill>
                            <a:srgbClr val="FFFFFF"/>
                          </a:solidFill>
                          <a:effectLst/>
                          <a:latin typeface="Arial" panose="020B0604020202020204" pitchFamily="34" charset="0"/>
                        </a:rPr>
                        <a:t>Plan Feature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dirty="0">
                          <a:solidFill>
                            <a:srgbClr val="FF0000"/>
                          </a:solidFill>
                          <a:effectLst/>
                          <a:latin typeface="Arial" panose="020B0604020202020204" pitchFamily="34" charset="0"/>
                        </a:rPr>
                        <a:t>AMD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1000" b="1" i="0" u="none" strike="noStrike">
                          <a:solidFill>
                            <a:srgbClr val="FFFFFF"/>
                          </a:solidFill>
                          <a:effectLst/>
                          <a:latin typeface="Arial" panose="020B0604020202020204" pitchFamily="34" charset="0"/>
                        </a:rPr>
                        <a:t>Typical Peer Design</a:t>
                      </a:r>
                      <a:r>
                        <a:rPr lang="en-US" sz="1000" b="1" i="0" u="none" strike="noStrike" baseline="30000">
                          <a:solidFill>
                            <a:srgbClr val="FFFFFF"/>
                          </a:solidFill>
                          <a:effectLst/>
                          <a:latin typeface="Arial" panose="020B0604020202020204" pitchFamily="34" charset="0"/>
                        </a:rPr>
                        <a:t>1</a:t>
                      </a:r>
                      <a:endParaRPr lang="en-US" sz="1000" b="1" i="0" u="none" strike="noStrike">
                        <a:solidFill>
                          <a:srgbClr val="FFFFFF"/>
                        </a:solidFill>
                        <a:effectLst/>
                        <a:latin typeface="Arial" panose="020B0604020202020204" pitchFamily="34" charset="0"/>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2162311904"/>
                  </a:ext>
                </a:extLst>
              </a:tr>
              <a:tr h="188318">
                <a:tc>
                  <a:txBody>
                    <a:bodyPr/>
                    <a:lstStyle/>
                    <a:p>
                      <a:pPr algn="l" fontAlgn="ctr"/>
                      <a:r>
                        <a:rPr lang="en-US" sz="1000" b="1" i="0" u="none" strike="noStrike" dirty="0">
                          <a:effectLst/>
                          <a:latin typeface="Arial" panose="020B0604020202020204" pitchFamily="34" charset="0"/>
                        </a:rPr>
                        <a:t>Discretionary Time Off</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19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174061199"/>
                  </a:ext>
                </a:extLst>
              </a:tr>
              <a:tr h="188318">
                <a:tc>
                  <a:txBody>
                    <a:bodyPr/>
                    <a:lstStyle/>
                    <a:p>
                      <a:pPr algn="l" fontAlgn="ctr"/>
                      <a:r>
                        <a:rPr lang="en-US" sz="1000" b="1" i="0" u="none" strike="noStrike" dirty="0">
                          <a:effectLst/>
                          <a:latin typeface="Arial" panose="020B0604020202020204" pitchFamily="34" charset="0"/>
                        </a:rPr>
                        <a:t>PTO</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95141360"/>
                  </a:ext>
                </a:extLst>
              </a:tr>
              <a:tr h="188318">
                <a:tc>
                  <a:txBody>
                    <a:bodyPr/>
                    <a:lstStyle/>
                    <a:p>
                      <a:pPr algn="l" fontAlgn="ctr"/>
                      <a:r>
                        <a:rPr lang="en-US" sz="1000" b="1" i="1" u="none" strike="noStrike" dirty="0">
                          <a:effectLst/>
                          <a:latin typeface="Arial" panose="020B0604020202020204" pitchFamily="34" charset="0"/>
                        </a:rPr>
                        <a:t>Vacation Schedule</a:t>
                      </a:r>
                    </a:p>
                  </a:txBody>
                  <a:tcPr marL="11430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1000" dirty="0"/>
                    </a:p>
                  </a:txBody>
                  <a:tcPr marL="114300" marR="0" marT="0" marB="0" anchor="ctr">
                    <a:lnL w="6350" cap="flat" cmpd="sng" algn="ctr">
                      <a:no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l" fontAlgn="ctr"/>
                      <a:r>
                        <a:rPr lang="en-US" sz="1000" b="1" i="1" u="none" strike="noStrike" dirty="0">
                          <a:effectLst/>
                          <a:latin typeface="Arial" panose="020B0604020202020204" pitchFamily="34" charset="0"/>
                        </a:rPr>
                        <a:t> </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529952114"/>
                  </a:ext>
                </a:extLst>
              </a:tr>
              <a:tr h="188318">
                <a:tc>
                  <a:txBody>
                    <a:bodyPr/>
                    <a:lstStyle/>
                    <a:p>
                      <a:pPr algn="l" fontAlgn="ctr"/>
                      <a:r>
                        <a:rPr lang="en-US" sz="1000" b="1" i="0" u="none" strike="noStrike" dirty="0">
                          <a:effectLst/>
                          <a:latin typeface="Arial" panose="020B0604020202020204" pitchFamily="34" charset="0"/>
                        </a:rPr>
                        <a:t>0 – 1 Years of Service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65299053"/>
                  </a:ext>
                </a:extLst>
              </a:tr>
              <a:tr h="188318">
                <a:tc>
                  <a:txBody>
                    <a:bodyPr/>
                    <a:lstStyle/>
                    <a:p>
                      <a:pPr algn="l" fontAlgn="ctr"/>
                      <a:r>
                        <a:rPr lang="en-US" sz="1000" b="1" i="0" u="none" strike="noStrike" dirty="0">
                          <a:effectLst/>
                          <a:latin typeface="Arial" panose="020B0604020202020204" pitchFamily="34" charset="0"/>
                        </a:rPr>
                        <a:t>1 Year of Service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61107862"/>
                  </a:ext>
                </a:extLst>
              </a:tr>
              <a:tr h="188318">
                <a:tc>
                  <a:txBody>
                    <a:bodyPr/>
                    <a:lstStyle/>
                    <a:p>
                      <a:pPr algn="l" fontAlgn="ctr"/>
                      <a:r>
                        <a:rPr lang="en-US" sz="1000" b="1" i="0" u="none" strike="noStrike">
                          <a:effectLst/>
                          <a:latin typeface="Arial" panose="020B0604020202020204" pitchFamily="34" charset="0"/>
                        </a:rPr>
                        <a:t>3 Years of Service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787598431"/>
                  </a:ext>
                </a:extLst>
              </a:tr>
              <a:tr h="188318">
                <a:tc>
                  <a:txBody>
                    <a:bodyPr/>
                    <a:lstStyle/>
                    <a:p>
                      <a:pPr algn="l" fontAlgn="ctr"/>
                      <a:r>
                        <a:rPr lang="en-US" sz="1000" b="1" i="0" u="none" strike="noStrike" dirty="0">
                          <a:effectLst/>
                          <a:latin typeface="Arial" panose="020B0604020202020204" pitchFamily="34" charset="0"/>
                        </a:rPr>
                        <a:t>7 Years of Service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511725458"/>
                  </a:ext>
                </a:extLst>
              </a:tr>
              <a:tr h="188318">
                <a:tc>
                  <a:txBody>
                    <a:bodyPr/>
                    <a:lstStyle/>
                    <a:p>
                      <a:pPr algn="l" fontAlgn="ctr"/>
                      <a:r>
                        <a:rPr lang="en-US" sz="1000" b="1" i="0" u="none" strike="noStrike" dirty="0">
                          <a:effectLst/>
                          <a:latin typeface="Arial" panose="020B0604020202020204" pitchFamily="34" charset="0"/>
                        </a:rPr>
                        <a:t>15 Years of Service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97287056"/>
                  </a:ext>
                </a:extLst>
              </a:tr>
              <a:tr h="188318">
                <a:tc>
                  <a:txBody>
                    <a:bodyPr/>
                    <a:lstStyle/>
                    <a:p>
                      <a:pPr algn="l" fontAlgn="ctr"/>
                      <a:r>
                        <a:rPr lang="en-US" sz="1000" b="1" i="0" u="none" strike="noStrike" dirty="0">
                          <a:effectLst/>
                          <a:latin typeface="Arial" panose="020B0604020202020204" pitchFamily="34" charset="0"/>
                        </a:rPr>
                        <a:t>25 Years of Service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24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33315466"/>
                  </a:ext>
                </a:extLst>
              </a:tr>
              <a:tr h="188318">
                <a:tc>
                  <a:txBody>
                    <a:bodyPr/>
                    <a:lstStyle/>
                    <a:p>
                      <a:pPr algn="l" fontAlgn="ctr"/>
                      <a:r>
                        <a:rPr lang="en-US" sz="1000" b="1" i="1" u="none" strike="noStrike" dirty="0">
                          <a:effectLst/>
                          <a:latin typeface="Arial" panose="020B0604020202020204" pitchFamily="34" charset="0"/>
                        </a:rPr>
                        <a:t>Holidays</a:t>
                      </a:r>
                    </a:p>
                  </a:txBody>
                  <a:tcPr marL="114300" marR="0" marT="0"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l" fontAlgn="ctr"/>
                      <a:r>
                        <a:rPr lang="en-US" sz="1000" b="1" i="1" u="none" strike="noStrike" dirty="0">
                          <a:effectLst/>
                          <a:latin typeface="Arial" panose="020B0604020202020204" pitchFamily="34" charset="0"/>
                        </a:rPr>
                        <a:t> </a:t>
                      </a:r>
                    </a:p>
                  </a:txBody>
                  <a:tcPr marL="114300" marR="0" marT="0" marB="0" anchor="ctr">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l" fontAlgn="ctr"/>
                      <a:r>
                        <a:rPr lang="en-US" sz="1000" b="1" i="1" u="none" strike="noStrike" dirty="0">
                          <a:effectLst/>
                          <a:latin typeface="Arial" panose="020B0604020202020204" pitchFamily="34" charset="0"/>
                        </a:rPr>
                        <a:t> </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230880032"/>
                  </a:ext>
                </a:extLst>
              </a:tr>
              <a:tr h="188318">
                <a:tc>
                  <a:txBody>
                    <a:bodyPr/>
                    <a:lstStyle/>
                    <a:p>
                      <a:pPr algn="l" fontAlgn="ctr"/>
                      <a:r>
                        <a:rPr lang="en-US" sz="1000" b="1" i="0" u="none" strike="noStrike" dirty="0">
                          <a:effectLst/>
                          <a:latin typeface="Arial" panose="020B0604020202020204" pitchFamily="34" charset="0"/>
                        </a:rPr>
                        <a:t>Company-scheduled</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10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858040435"/>
                  </a:ext>
                </a:extLst>
              </a:tr>
              <a:tr h="188318">
                <a:tc>
                  <a:txBody>
                    <a:bodyPr/>
                    <a:lstStyle/>
                    <a:p>
                      <a:pPr algn="l" fontAlgn="ctr"/>
                      <a:r>
                        <a:rPr lang="en-US" sz="1000" b="1" i="0" u="none" strike="noStrike" dirty="0">
                          <a:effectLst/>
                          <a:latin typeface="Arial" panose="020B0604020202020204" pitchFamily="34" charset="0"/>
                        </a:rPr>
                        <a:t>Employee-scheduled</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None</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63623114"/>
                  </a:ext>
                </a:extLst>
              </a:tr>
              <a:tr h="188318">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1" i="1" u="none" strike="noStrike" dirty="0">
                          <a:solidFill>
                            <a:srgbClr val="000000"/>
                          </a:solidFill>
                          <a:effectLst/>
                          <a:latin typeface="Arial" panose="020B0604020202020204" pitchFamily="34" charset="0"/>
                        </a:rPr>
                        <a:t>Additional Benefits (Not Valued in </a:t>
                      </a:r>
                      <a:r>
                        <a:rPr lang="en-US" sz="1000" b="1" i="1" u="none" strike="noStrike" dirty="0" err="1">
                          <a:solidFill>
                            <a:srgbClr val="000000"/>
                          </a:solidFill>
                          <a:effectLst/>
                          <a:latin typeface="Arial" panose="020B0604020202020204" pitchFamily="34" charset="0"/>
                        </a:rPr>
                        <a:t>BenVal</a:t>
                      </a:r>
                      <a:r>
                        <a:rPr lang="en-US" sz="1000" b="1" i="1" u="none" strike="noStrike" dirty="0">
                          <a:solidFill>
                            <a:srgbClr val="000000"/>
                          </a:solidFill>
                          <a:effectLst/>
                          <a:latin typeface="Arial" panose="020B0604020202020204" pitchFamily="34" charset="0"/>
                        </a:rPr>
                        <a:t>)</a:t>
                      </a:r>
                    </a:p>
                  </a:txBody>
                  <a:tcPr marL="114300" marR="0" marT="0" marB="0" anchor="ctr">
                    <a:lnL w="6350" cap="flat" cmpd="sng" algn="ctr">
                      <a:solidFill>
                        <a:srgbClr val="FFFFFF"/>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pPr algn="ctr" fontAlgn="ctr"/>
                      <a:endParaRPr lang="en-US" sz="1000" b="0" i="0" u="none" strike="noStrike" dirty="0">
                        <a:effectLst/>
                        <a:latin typeface="Arial" panose="020B0604020202020204" pitchFamily="34" charset="0"/>
                      </a:endParaRPr>
                    </a:p>
                  </a:txBody>
                  <a:tcPr marL="0" marR="0" marT="0" marB="0" anchor="ctr">
                    <a:lnL w="1270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964018339"/>
                  </a:ext>
                </a:extLst>
              </a:tr>
              <a:tr h="188318">
                <a:tc>
                  <a:txBody>
                    <a:bodyPr/>
                    <a:lstStyle/>
                    <a:p>
                      <a:pPr algn="l" fontAlgn="ctr"/>
                      <a:r>
                        <a:rPr lang="en-US" sz="1000" b="1" i="0" u="none" strike="noStrike" dirty="0">
                          <a:effectLst/>
                          <a:latin typeface="Arial" panose="020B0604020202020204" pitchFamily="34" charset="0"/>
                        </a:rPr>
                        <a:t>Vacation Buy Feature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0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04204660"/>
                  </a:ext>
                </a:extLst>
              </a:tr>
              <a:tr h="188318">
                <a:tc>
                  <a:txBody>
                    <a:bodyPr/>
                    <a:lstStyle/>
                    <a:p>
                      <a:pPr algn="l" fontAlgn="ctr"/>
                      <a:r>
                        <a:rPr lang="en-US" sz="1000" b="1" i="0" u="none" strike="noStrike" dirty="0">
                          <a:effectLst/>
                          <a:latin typeface="Arial" panose="020B0604020202020204" pitchFamily="34" charset="0"/>
                        </a:rPr>
                        <a:t>Vacation Sell Feature</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29928457"/>
                  </a:ext>
                </a:extLst>
              </a:tr>
              <a:tr h="188318">
                <a:tc>
                  <a:txBody>
                    <a:bodyPr/>
                    <a:lstStyle/>
                    <a:p>
                      <a:pPr algn="l" fontAlgn="ctr"/>
                      <a:r>
                        <a:rPr lang="en-US" sz="1000" b="1" i="0" u="none" strike="noStrike" dirty="0">
                          <a:effectLst/>
                          <a:latin typeface="Arial" panose="020B0604020202020204" pitchFamily="34" charset="0"/>
                        </a:rPr>
                        <a:t>Allows Carryover of Unused Days</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29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3265117"/>
                  </a:ext>
                </a:extLst>
              </a:tr>
              <a:tr h="188318">
                <a:tc>
                  <a:txBody>
                    <a:bodyPr/>
                    <a:lstStyle/>
                    <a:p>
                      <a:pPr algn="l" fontAlgn="ctr"/>
                      <a:r>
                        <a:rPr lang="en-US" sz="1000" b="1" i="0" u="none" strike="noStrike" dirty="0">
                          <a:effectLst/>
                          <a:latin typeface="Arial" panose="020B0604020202020204" pitchFamily="34" charset="0"/>
                        </a:rPr>
                        <a:t>Pays Out for Unused Days</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4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222820694"/>
                  </a:ext>
                </a:extLst>
              </a:tr>
              <a:tr h="188318">
                <a:tc>
                  <a:txBody>
                    <a:bodyPr/>
                    <a:lstStyle/>
                    <a:p>
                      <a:pPr algn="l" fontAlgn="ctr"/>
                      <a:r>
                        <a:rPr lang="en-US" sz="1000" b="1" i="0" u="none" strike="noStrike" dirty="0">
                          <a:effectLst/>
                          <a:latin typeface="Arial" panose="020B0604020202020204" pitchFamily="34" charset="0"/>
                        </a:rPr>
                        <a:t>Sabbatical Offered</a:t>
                      </a:r>
                    </a:p>
                  </a:txBody>
                  <a:tcPr marL="2286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a:effectLst/>
                          <a:latin typeface="Arial" panose="020B0604020202020204" pitchFamily="34" charset="0"/>
                        </a:rPr>
                        <a:t>No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1000" b="0" i="0" u="none" strike="noStrike" dirty="0">
                          <a:effectLst/>
                          <a:latin typeface="Arial" panose="020B0604020202020204" pitchFamily="34" charset="0"/>
                        </a:rPr>
                        <a:t>5 of 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868109901"/>
                  </a:ext>
                </a:extLst>
              </a:tr>
            </a:tbl>
          </a:graphicData>
        </a:graphic>
      </p:graphicFrame>
      <p:sp>
        <p:nvSpPr>
          <p:cNvPr id="7" name="Rectangle 6">
            <a:extLst>
              <a:ext uri="{FF2B5EF4-FFF2-40B4-BE49-F238E27FC236}">
                <a16:creationId xmlns:a16="http://schemas.microsoft.com/office/drawing/2014/main" id="{214D8DBF-D34E-48E0-BEC9-402082EB4925}"/>
              </a:ext>
            </a:extLst>
          </p:cNvPr>
          <p:cNvSpPr/>
          <p:nvPr/>
        </p:nvSpPr>
        <p:spPr>
          <a:xfrm>
            <a:off x="419100" y="5802140"/>
            <a:ext cx="8248650" cy="460307"/>
          </a:xfrm>
          <a:prstGeom prst="rect">
            <a:avLst/>
          </a:prstGeom>
        </p:spPr>
        <p:txBody>
          <a:bodyPr wrap="square">
            <a:spAutoFit/>
          </a:bodyPr>
          <a:lstStyle/>
          <a:p>
            <a:pPr fontAlgn="b"/>
            <a:r>
              <a:rPr lang="en-US" sz="800" baseline="30000" dirty="0">
                <a:latin typeface="Arial" panose="020B0604020202020204" pitchFamily="34" charset="0"/>
              </a:rPr>
              <a:t>1</a:t>
            </a:r>
            <a:r>
              <a:rPr lang="en-US" sz="800" dirty="0">
                <a:latin typeface="Arial" panose="020B0604020202020204" pitchFamily="34" charset="0"/>
              </a:rPr>
              <a:t>Reflects typical peer design for companies without discretionary time off only</a:t>
            </a:r>
            <a:br>
              <a:rPr lang="en-US" sz="800" dirty="0">
                <a:latin typeface="Arial" panose="020B0604020202020204" pitchFamily="34" charset="0"/>
              </a:rPr>
            </a:br>
            <a:r>
              <a:rPr lang="en-US" sz="800" dirty="0">
                <a:latin typeface="Arial" panose="020B0604020202020204" pitchFamily="34" charset="0"/>
              </a:rPr>
              <a:t>Note: For companies with PTO, 5 days are valued as sick days as part of the STD benefit and if PTO days can be used for personal absence or holidays, the holiday allocation amount is 10 days minus the number of specified employer scheduled plus specified employee scheduled holidays.</a:t>
            </a:r>
          </a:p>
        </p:txBody>
      </p:sp>
    </p:spTree>
    <p:custDataLst>
      <p:tags r:id="rId1"/>
    </p:custDataLst>
    <p:extLst>
      <p:ext uri="{BB962C8B-B14F-4D97-AF65-F5344CB8AC3E}">
        <p14:creationId xmlns:p14="http://schemas.microsoft.com/office/powerpoint/2010/main" val="4201727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Lifestyle1">
    <p:spTree>
      <p:nvGrpSpPr>
        <p:cNvPr id="1" name=""/>
        <p:cNvGrpSpPr/>
        <p:nvPr/>
      </p:nvGrpSpPr>
      <p:grpSpPr>
        <a:xfrm>
          <a:off x="0" y="0"/>
          <a:ext cx="0" cy="0"/>
          <a:chOff x="0" y="0"/>
          <a:chExt cx="0" cy="0"/>
        </a:xfrm>
      </p:grpSpPr>
      <p:sp>
        <p:nvSpPr>
          <p:cNvPr id="7" name="Title 6"/>
          <p:cNvSpPr>
            <a:spLocks noGrp="1"/>
          </p:cNvSpPr>
          <p:nvPr>
            <p:ph type="title"/>
            <p:custDataLst>
              <p:tags r:id="rId2"/>
            </p:custDataLst>
          </p:nvPr>
        </p:nvSpPr>
        <p:spPr/>
        <p:txBody>
          <a:bodyPr/>
          <a:lstStyle/>
          <a:p>
            <a:r>
              <a:rPr lang="en-GB" dirty="0"/>
              <a:t>Lifestyle Benefits</a:t>
            </a:r>
          </a:p>
        </p:txBody>
      </p:sp>
      <p:sp>
        <p:nvSpPr>
          <p:cNvPr id="9" name="Text Placeholder 8"/>
          <p:cNvSpPr>
            <a:spLocks noGrp="1"/>
          </p:cNvSpPr>
          <p:nvPr>
            <p:ph type="body" sz="quarter" idx="13"/>
          </p:nvPr>
        </p:nvSpPr>
        <p:spPr/>
        <p:txBody>
          <a:bodyPr/>
          <a:lstStyle/>
          <a:p>
            <a:endParaRPr lang="en-GB"/>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41</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11"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5" name="Lifestyle1_Table1">
            <a:extLst>
              <a:ext uri="{FF2B5EF4-FFF2-40B4-BE49-F238E27FC236}">
                <a16:creationId xmlns:a16="http://schemas.microsoft.com/office/drawing/2014/main" id="{82E9E8C8-D03F-4900-A3E6-627EFDBB40A4}"/>
              </a:ext>
            </a:extLst>
          </p:cNvPr>
          <p:cNvGraphicFramePr>
            <a:graphicFrameLocks noGrp="1"/>
          </p:cNvGraphicFramePr>
          <p:nvPr>
            <p:extLst>
              <p:ext uri="{D42A27DB-BD31-4B8C-83A1-F6EECF244321}">
                <p14:modId xmlns:p14="http://schemas.microsoft.com/office/powerpoint/2010/main" val="568412825"/>
              </p:ext>
            </p:extLst>
          </p:nvPr>
        </p:nvGraphicFramePr>
        <p:xfrm>
          <a:off x="457199" y="1222086"/>
          <a:ext cx="8229600" cy="5018777"/>
        </p:xfrm>
        <a:graphic>
          <a:graphicData uri="http://schemas.openxmlformats.org/drawingml/2006/table">
            <a:tbl>
              <a:tblPr/>
              <a:tblGrid>
                <a:gridCol w="3051424">
                  <a:extLst>
                    <a:ext uri="{9D8B030D-6E8A-4147-A177-3AD203B41FA5}">
                      <a16:colId xmlns:a16="http://schemas.microsoft.com/office/drawing/2014/main" val="3783483505"/>
                    </a:ext>
                  </a:extLst>
                </a:gridCol>
                <a:gridCol w="1849348">
                  <a:extLst>
                    <a:ext uri="{9D8B030D-6E8A-4147-A177-3AD203B41FA5}">
                      <a16:colId xmlns:a16="http://schemas.microsoft.com/office/drawing/2014/main" val="4135727957"/>
                    </a:ext>
                  </a:extLst>
                </a:gridCol>
                <a:gridCol w="832207">
                  <a:extLst>
                    <a:ext uri="{9D8B030D-6E8A-4147-A177-3AD203B41FA5}">
                      <a16:colId xmlns:a16="http://schemas.microsoft.com/office/drawing/2014/main" val="1273693541"/>
                    </a:ext>
                  </a:extLst>
                </a:gridCol>
                <a:gridCol w="832207">
                  <a:extLst>
                    <a:ext uri="{9D8B030D-6E8A-4147-A177-3AD203B41FA5}">
                      <a16:colId xmlns:a16="http://schemas.microsoft.com/office/drawing/2014/main" val="754459996"/>
                    </a:ext>
                  </a:extLst>
                </a:gridCol>
                <a:gridCol w="832207">
                  <a:extLst>
                    <a:ext uri="{9D8B030D-6E8A-4147-A177-3AD203B41FA5}">
                      <a16:colId xmlns:a16="http://schemas.microsoft.com/office/drawing/2014/main" val="93311335"/>
                    </a:ext>
                  </a:extLst>
                </a:gridCol>
                <a:gridCol w="832207">
                  <a:extLst>
                    <a:ext uri="{9D8B030D-6E8A-4147-A177-3AD203B41FA5}">
                      <a16:colId xmlns:a16="http://schemas.microsoft.com/office/drawing/2014/main" val="558205558"/>
                    </a:ext>
                  </a:extLst>
                </a:gridCol>
              </a:tblGrid>
              <a:tr h="149591">
                <a:tc rowSpan="2">
                  <a:txBody>
                    <a:bodyPr/>
                    <a:lstStyle/>
                    <a:p>
                      <a:pPr algn="ctr" fontAlgn="ctr"/>
                      <a:r>
                        <a:rPr lang="en-US" sz="900" b="1" i="0" u="none" strike="noStrike" dirty="0">
                          <a:solidFill>
                            <a:srgbClr val="FFFFFF"/>
                          </a:solidFill>
                          <a:effectLst/>
                          <a:latin typeface="Arial" panose="020B0604020202020204" pitchFamily="34" charset="0"/>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rowSpan="2">
                  <a:txBody>
                    <a:bodyPr/>
                    <a:lstStyle/>
                    <a:p>
                      <a:pPr algn="ctr" fontAlgn="ctr"/>
                      <a:r>
                        <a:rPr lang="en-US" sz="900" b="1" i="0" u="none" strike="noStrike">
                          <a:solidFill>
                            <a:srgbClr val="FFFFFF"/>
                          </a:solidFill>
                          <a:effectLst/>
                          <a:latin typeface="Arial" panose="020B0604020202020204" pitchFamily="34" charset="0"/>
                        </a:rPr>
                        <a:t>Advanced Micro Devices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gridSpan="4">
                  <a:txBody>
                    <a:bodyPr/>
                    <a:lstStyle/>
                    <a:p>
                      <a:pPr algn="ctr" fontAlgn="ctr"/>
                      <a:r>
                        <a:rPr lang="en-US" sz="900" b="1" i="0" u="none" strike="noStrike">
                          <a:solidFill>
                            <a:srgbClr val="FFFFFF"/>
                          </a:solidFill>
                          <a:effectLst/>
                          <a:latin typeface="Arial" panose="020B0604020202020204" pitchFamily="34" charset="0"/>
                        </a:rPr>
                        <a:t>AMD's Peer Group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lnL w="6350" cap="flat" cmpd="sng" algn="ctr">
                      <a:solidFill>
                        <a:srgbClr val="FFFFFF"/>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1299238"/>
                  </a:ext>
                </a:extLst>
              </a:tr>
              <a:tr h="381456">
                <a:tc vMerge="1">
                  <a:txBody>
                    <a:bodyPr/>
                    <a:lstStyle/>
                    <a:p>
                      <a:endParaRPr lang="en-US"/>
                    </a:p>
                  </a:txBody>
                  <a:tcPr/>
                </a:tc>
                <a:tc vMerge="1">
                  <a:txBody>
                    <a:bodyPr/>
                    <a:lstStyle/>
                    <a:p>
                      <a:endParaRPr lang="en-US"/>
                    </a:p>
                  </a:txBody>
                  <a:tcPr/>
                </a:tc>
                <a:tc>
                  <a:txBody>
                    <a:bodyPr/>
                    <a:lstStyle/>
                    <a:p>
                      <a:pPr algn="ctr" fontAlgn="ctr"/>
                      <a:r>
                        <a:rPr lang="en-US" sz="900" b="1" i="0" u="none" strike="noStrike">
                          <a:solidFill>
                            <a:srgbClr val="FFFFFF"/>
                          </a:solidFill>
                          <a:effectLst/>
                          <a:latin typeface="Arial" panose="020B0604020202020204" pitchFamily="34" charset="0"/>
                        </a:rPr>
                        <a:t>Provided w/ 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900" b="1" i="0" u="none" strike="noStrike" dirty="0">
                          <a:solidFill>
                            <a:srgbClr val="FFFFFF"/>
                          </a:solidFill>
                          <a:effectLst/>
                          <a:latin typeface="Arial" panose="020B0604020202020204" pitchFamily="34" charset="0"/>
                        </a:rPr>
                        <a:t>Provided w/ 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900" b="1" i="0" u="none" strike="noStrike">
                          <a:solidFill>
                            <a:srgbClr val="FFFFFF"/>
                          </a:solidFill>
                          <a:effectLst/>
                          <a:latin typeface="Arial" panose="020B0604020202020204" pitchFamily="34" charset="0"/>
                        </a:rPr>
                        <a:t>Provided w/ No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900" b="1" i="0" u="none" strike="noStrike">
                          <a:solidFill>
                            <a:srgbClr val="FFFFFF"/>
                          </a:solidFill>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857569881"/>
                  </a:ext>
                </a:extLst>
              </a:tr>
              <a:tr h="149591">
                <a:tc>
                  <a:txBody>
                    <a:bodyPr/>
                    <a:lstStyle/>
                    <a:p>
                      <a:pPr algn="l" fontAlgn="ctr"/>
                      <a:r>
                        <a:rPr lang="en-US" sz="900" b="1" i="1" u="none" strike="noStrike" dirty="0">
                          <a:effectLst/>
                          <a:latin typeface="Arial" panose="020B0604020202020204" pitchFamily="34" charset="0"/>
                        </a:rPr>
                        <a:t>Family and Personal Life</a:t>
                      </a:r>
                    </a:p>
                  </a:txBody>
                  <a:tcPr marL="81765" marR="0" marT="0" marB="0" anchor="ctr">
                    <a:lnL w="635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731373879"/>
                  </a:ext>
                </a:extLst>
              </a:tr>
              <a:tr h="149591">
                <a:tc>
                  <a:txBody>
                    <a:bodyPr/>
                    <a:lstStyle/>
                    <a:p>
                      <a:pPr algn="l" fontAlgn="ctr"/>
                      <a:r>
                        <a:rPr lang="en-US" sz="900" b="0" i="0" u="none" strike="noStrike" dirty="0">
                          <a:effectLst/>
                          <a:latin typeface="Arial" panose="020B0604020202020204" pitchFamily="34" charset="0"/>
                        </a:rPr>
                        <a:t>Child / Elder Care Referrals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92455129"/>
                  </a:ext>
                </a:extLst>
              </a:tr>
              <a:tr h="149591">
                <a:tc>
                  <a:txBody>
                    <a:bodyPr/>
                    <a:lstStyle/>
                    <a:p>
                      <a:pPr algn="l" fontAlgn="ctr"/>
                      <a:r>
                        <a:rPr lang="en-US" sz="900" b="0" i="0" u="none" strike="noStrike">
                          <a:effectLst/>
                          <a:latin typeface="Arial" panose="020B0604020202020204" pitchFamily="34" charset="0"/>
                        </a:rPr>
                        <a:t>Pet Care Referrals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58428011"/>
                  </a:ext>
                </a:extLst>
              </a:tr>
              <a:tr h="149591">
                <a:tc>
                  <a:txBody>
                    <a:bodyPr/>
                    <a:lstStyle/>
                    <a:p>
                      <a:pPr algn="l" fontAlgn="ctr"/>
                      <a:r>
                        <a:rPr lang="en-US" sz="900" b="0" i="0" u="none" strike="noStrike">
                          <a:effectLst/>
                          <a:latin typeface="Arial" panose="020B0604020202020204" pitchFamily="34" charset="0"/>
                        </a:rPr>
                        <a:t>Moving Assistance Referrals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48640730"/>
                  </a:ext>
                </a:extLst>
              </a:tr>
              <a:tr h="149591">
                <a:tc>
                  <a:txBody>
                    <a:bodyPr/>
                    <a:lstStyle/>
                    <a:p>
                      <a:pPr algn="l" fontAlgn="ctr"/>
                      <a:r>
                        <a:rPr lang="en-US" sz="900" b="0" i="0" u="none" strike="noStrike">
                          <a:effectLst/>
                          <a:latin typeface="Arial" panose="020B0604020202020204" pitchFamily="34" charset="0"/>
                        </a:rPr>
                        <a:t>Home Repair Referrals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49443095"/>
                  </a:ext>
                </a:extLst>
              </a:tr>
              <a:tr h="149591">
                <a:tc>
                  <a:txBody>
                    <a:bodyPr/>
                    <a:lstStyle/>
                    <a:p>
                      <a:pPr algn="l" fontAlgn="ctr"/>
                      <a:r>
                        <a:rPr lang="en-US" sz="900" b="0" i="0" u="none" strike="noStrike" dirty="0">
                          <a:effectLst/>
                          <a:latin typeface="Arial" panose="020B0604020202020204" pitchFamily="34" charset="0"/>
                        </a:rPr>
                        <a:t>Subsidy for Home Office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81627218"/>
                  </a:ext>
                </a:extLst>
              </a:tr>
              <a:tr h="149591">
                <a:tc>
                  <a:txBody>
                    <a:bodyPr/>
                    <a:lstStyle/>
                    <a:p>
                      <a:pPr algn="l" fontAlgn="ctr"/>
                      <a:r>
                        <a:rPr lang="en-US" sz="900" b="0" i="0" u="none" strike="noStrike">
                          <a:effectLst/>
                          <a:latin typeface="Arial" panose="020B0604020202020204" pitchFamily="34" charset="0"/>
                        </a:rPr>
                        <a:t>Child Care Reimbursement for Business Travel</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83%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93691707"/>
                  </a:ext>
                </a:extLst>
              </a:tr>
              <a:tr h="149591">
                <a:tc>
                  <a:txBody>
                    <a:bodyPr/>
                    <a:lstStyle/>
                    <a:p>
                      <a:pPr algn="l" fontAlgn="ctr"/>
                      <a:r>
                        <a:rPr lang="en-US" sz="900" b="0" i="0" u="none" strike="noStrike">
                          <a:effectLst/>
                          <a:latin typeface="Arial" panose="020B0604020202020204" pitchFamily="34" charset="0"/>
                        </a:rPr>
                        <a:t>Emergency Child Care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82842307"/>
                  </a:ext>
                </a:extLst>
              </a:tr>
              <a:tr h="149591">
                <a:tc>
                  <a:txBody>
                    <a:bodyPr/>
                    <a:lstStyle/>
                    <a:p>
                      <a:pPr algn="l" fontAlgn="ctr"/>
                      <a:r>
                        <a:rPr lang="en-US" sz="900" b="0" i="0" u="none" strike="noStrike">
                          <a:effectLst/>
                          <a:latin typeface="Arial" panose="020B0604020202020204" pitchFamily="34" charset="0"/>
                        </a:rPr>
                        <a:t>Outside Child Care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50098926"/>
                  </a:ext>
                </a:extLst>
              </a:tr>
              <a:tr h="149591">
                <a:tc>
                  <a:txBody>
                    <a:bodyPr/>
                    <a:lstStyle/>
                    <a:p>
                      <a:pPr algn="l" fontAlgn="ctr"/>
                      <a:r>
                        <a:rPr lang="en-US" sz="900" b="0" i="0" u="none" strike="noStrike">
                          <a:effectLst/>
                          <a:latin typeface="Arial" panose="020B0604020202020204" pitchFamily="34" charset="0"/>
                        </a:rPr>
                        <a:t>On-Site Child Care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65395552"/>
                  </a:ext>
                </a:extLst>
              </a:tr>
              <a:tr h="149591">
                <a:tc>
                  <a:txBody>
                    <a:bodyPr/>
                    <a:lstStyle/>
                    <a:p>
                      <a:pPr algn="l" fontAlgn="ctr"/>
                      <a:r>
                        <a:rPr lang="en-US" sz="900" b="0" i="0" u="none" strike="noStrike">
                          <a:effectLst/>
                          <a:latin typeface="Arial" panose="020B0604020202020204" pitchFamily="34" charset="0"/>
                        </a:rPr>
                        <a:t>Elder Care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341399156"/>
                  </a:ext>
                </a:extLst>
              </a:tr>
              <a:tr h="149591">
                <a:tc>
                  <a:txBody>
                    <a:bodyPr/>
                    <a:lstStyle/>
                    <a:p>
                      <a:pPr algn="l" fontAlgn="ctr"/>
                      <a:r>
                        <a:rPr lang="en-US" sz="900" b="0" i="0" u="none" strike="noStrike">
                          <a:effectLst/>
                          <a:latin typeface="Arial" panose="020B0604020202020204" pitchFamily="34" charset="0"/>
                        </a:rPr>
                        <a:t>Adoption Benefits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58739081"/>
                  </a:ext>
                </a:extLst>
              </a:tr>
              <a:tr h="149591">
                <a:tc>
                  <a:txBody>
                    <a:bodyPr/>
                    <a:lstStyle/>
                    <a:p>
                      <a:pPr algn="l" fontAlgn="ctr"/>
                      <a:r>
                        <a:rPr lang="en-US" sz="900" b="1" i="1" u="none" strike="noStrike" dirty="0">
                          <a:effectLst/>
                          <a:latin typeface="Arial" panose="020B0604020202020204" pitchFamily="34" charset="0"/>
                        </a:rPr>
                        <a:t>Work Environment</a:t>
                      </a:r>
                    </a:p>
                  </a:txBody>
                  <a:tcPr marL="81765" marR="0" marT="0" marB="0" anchor="ctr">
                    <a:lnL w="635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994996261"/>
                  </a:ext>
                </a:extLst>
              </a:tr>
              <a:tr h="149591">
                <a:tc>
                  <a:txBody>
                    <a:bodyPr/>
                    <a:lstStyle/>
                    <a:p>
                      <a:pPr algn="l" fontAlgn="ctr"/>
                      <a:r>
                        <a:rPr lang="en-US" sz="900" b="0" i="0" u="none" strike="noStrike" dirty="0">
                          <a:effectLst/>
                          <a:latin typeface="Arial" panose="020B0604020202020204" pitchFamily="34" charset="0"/>
                        </a:rPr>
                        <a:t>Compressed Workweek</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84291004"/>
                  </a:ext>
                </a:extLst>
              </a:tr>
              <a:tr h="149591">
                <a:tc>
                  <a:txBody>
                    <a:bodyPr/>
                    <a:lstStyle/>
                    <a:p>
                      <a:pPr algn="l" fontAlgn="ctr"/>
                      <a:r>
                        <a:rPr lang="en-US" sz="900" b="0" i="0" u="none" strike="noStrike">
                          <a:effectLst/>
                          <a:latin typeface="Arial" panose="020B0604020202020204" pitchFamily="34" charset="0"/>
                        </a:rPr>
                        <a:t>Flex-Time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64075530"/>
                  </a:ext>
                </a:extLst>
              </a:tr>
              <a:tr h="149591">
                <a:tc>
                  <a:txBody>
                    <a:bodyPr/>
                    <a:lstStyle/>
                    <a:p>
                      <a:pPr algn="l" fontAlgn="ctr"/>
                      <a:r>
                        <a:rPr lang="en-US" sz="900" b="0" i="0" u="none" strike="noStrike">
                          <a:effectLst/>
                          <a:latin typeface="Arial" panose="020B0604020202020204" pitchFamily="34" charset="0"/>
                        </a:rPr>
                        <a:t>Job Sharing</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538820086"/>
                  </a:ext>
                </a:extLst>
              </a:tr>
              <a:tr h="149591">
                <a:tc>
                  <a:txBody>
                    <a:bodyPr/>
                    <a:lstStyle/>
                    <a:p>
                      <a:pPr algn="l" fontAlgn="ctr"/>
                      <a:r>
                        <a:rPr lang="en-US" sz="900" b="0" i="0" u="none" strike="noStrike">
                          <a:effectLst/>
                          <a:latin typeface="Arial" panose="020B0604020202020204" pitchFamily="34" charset="0"/>
                        </a:rPr>
                        <a:t>Telecommuting</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85%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39304117"/>
                  </a:ext>
                </a:extLst>
              </a:tr>
              <a:tr h="149591">
                <a:tc>
                  <a:txBody>
                    <a:bodyPr/>
                    <a:lstStyle/>
                    <a:p>
                      <a:pPr algn="l" fontAlgn="ctr"/>
                      <a:r>
                        <a:rPr lang="en-US" sz="900" b="0" i="0" u="none" strike="noStrike">
                          <a:effectLst/>
                          <a:latin typeface="Arial" panose="020B0604020202020204" pitchFamily="34" charset="0"/>
                        </a:rPr>
                        <a:t>Reduced Summer Hours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676413693"/>
                  </a:ext>
                </a:extLst>
              </a:tr>
              <a:tr h="149591">
                <a:tc>
                  <a:txBody>
                    <a:bodyPr/>
                    <a:lstStyle/>
                    <a:p>
                      <a:pPr algn="l" fontAlgn="ctr"/>
                      <a:r>
                        <a:rPr lang="en-US" sz="900" b="0" i="0" u="none" strike="noStrike">
                          <a:effectLst/>
                          <a:latin typeface="Arial" panose="020B0604020202020204" pitchFamily="34" charset="0"/>
                        </a:rPr>
                        <a:t>Sabbaticals (Non-Educational)</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83%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88827490"/>
                  </a:ext>
                </a:extLst>
              </a:tr>
              <a:tr h="149591">
                <a:tc>
                  <a:txBody>
                    <a:bodyPr/>
                    <a:lstStyle/>
                    <a:p>
                      <a:pPr algn="l" fontAlgn="ctr"/>
                      <a:r>
                        <a:rPr lang="en-US" sz="900" b="0" i="0" u="none" strike="noStrike">
                          <a:effectLst/>
                          <a:latin typeface="Arial" panose="020B0604020202020204" pitchFamily="34" charset="0"/>
                        </a:rPr>
                        <a:t>Volunteer Time Off</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02076127"/>
                  </a:ext>
                </a:extLst>
              </a:tr>
              <a:tr h="149591">
                <a:tc>
                  <a:txBody>
                    <a:bodyPr/>
                    <a:lstStyle/>
                    <a:p>
                      <a:pPr algn="l" fontAlgn="ctr"/>
                      <a:r>
                        <a:rPr lang="en-US" sz="900" b="0" i="0" u="none" strike="noStrike">
                          <a:effectLst/>
                          <a:latin typeface="Arial" panose="020B0604020202020204" pitchFamily="34" charset="0"/>
                        </a:rPr>
                        <a:t>Corporate Matching Gift Program</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85800857"/>
                  </a:ext>
                </a:extLst>
              </a:tr>
              <a:tr h="149591">
                <a:tc>
                  <a:txBody>
                    <a:bodyPr/>
                    <a:lstStyle/>
                    <a:p>
                      <a:pPr algn="l" fontAlgn="ctr"/>
                      <a:r>
                        <a:rPr lang="en-US" sz="900" b="0" i="0" u="none" strike="noStrike">
                          <a:effectLst/>
                          <a:latin typeface="Arial" panose="020B0604020202020204" pitchFamily="34" charset="0"/>
                        </a:rPr>
                        <a:t>Parking Benefits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32420283"/>
                  </a:ext>
                </a:extLst>
              </a:tr>
              <a:tr h="149591">
                <a:tc>
                  <a:txBody>
                    <a:bodyPr/>
                    <a:lstStyle/>
                    <a:p>
                      <a:pPr algn="l" fontAlgn="ctr"/>
                      <a:r>
                        <a:rPr lang="en-US" sz="900" b="0" i="0" u="none" strike="noStrike">
                          <a:effectLst/>
                          <a:latin typeface="Arial" panose="020B0604020202020204" pitchFamily="34" charset="0"/>
                        </a:rPr>
                        <a:t>Commuter Benefits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55975285"/>
                  </a:ext>
                </a:extLst>
              </a:tr>
              <a:tr h="149591">
                <a:tc>
                  <a:txBody>
                    <a:bodyPr/>
                    <a:lstStyle/>
                    <a:p>
                      <a:pPr algn="l" fontAlgn="ctr"/>
                      <a:r>
                        <a:rPr lang="en-US" sz="900" b="0" i="0" u="none" strike="noStrike" dirty="0">
                          <a:effectLst/>
                          <a:latin typeface="Arial" panose="020B0604020202020204" pitchFamily="34" charset="0"/>
                        </a:rPr>
                        <a:t>Employer Cafeteria</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2860563"/>
                  </a:ext>
                </a:extLst>
              </a:tr>
              <a:tr h="149591">
                <a:tc>
                  <a:txBody>
                    <a:bodyPr/>
                    <a:lstStyle/>
                    <a:p>
                      <a:pPr algn="l" fontAlgn="ctr"/>
                      <a:r>
                        <a:rPr lang="en-US" sz="900" b="0" i="0" u="none" strike="noStrike" dirty="0">
                          <a:effectLst/>
                          <a:latin typeface="Arial" panose="020B0604020202020204" pitchFamily="34" charset="0"/>
                        </a:rPr>
                        <a:t>Take Home Meals</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93836957"/>
                  </a:ext>
                </a:extLst>
              </a:tr>
              <a:tr h="149591">
                <a:tc>
                  <a:txBody>
                    <a:bodyPr/>
                    <a:lstStyle/>
                    <a:p>
                      <a:pPr algn="l" fontAlgn="ctr"/>
                      <a:r>
                        <a:rPr lang="en-US" sz="900" b="0" i="0" u="none" strike="noStrike" dirty="0">
                          <a:effectLst/>
                          <a:latin typeface="Arial" panose="020B0604020202020204" pitchFamily="34" charset="0"/>
                        </a:rPr>
                        <a:t>On-Site Fitness Center</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20603243"/>
                  </a:ext>
                </a:extLst>
              </a:tr>
              <a:tr h="149591">
                <a:tc>
                  <a:txBody>
                    <a:bodyPr/>
                    <a:lstStyle/>
                    <a:p>
                      <a:pPr algn="l" fontAlgn="ctr"/>
                      <a:r>
                        <a:rPr lang="en-US" sz="900" b="0" i="0" u="none" strike="noStrike" dirty="0">
                          <a:effectLst/>
                          <a:latin typeface="Arial" panose="020B0604020202020204" pitchFamily="34" charset="0"/>
                        </a:rPr>
                        <a:t>On-Site Convenience Store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81%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90075456"/>
                  </a:ext>
                </a:extLst>
              </a:tr>
              <a:tr h="149591">
                <a:tc>
                  <a:txBody>
                    <a:bodyPr/>
                    <a:lstStyle/>
                    <a:p>
                      <a:pPr algn="l" fontAlgn="ctr"/>
                      <a:r>
                        <a:rPr lang="en-US" sz="900" b="0" i="0" u="none" strike="noStrike" dirty="0">
                          <a:effectLst/>
                          <a:latin typeface="Arial" panose="020B0604020202020204" pitchFamily="34" charset="0"/>
                        </a:rPr>
                        <a:t>On-Site Dry Cleaning</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50418882"/>
                  </a:ext>
                </a:extLst>
              </a:tr>
              <a:tr h="149591">
                <a:tc>
                  <a:txBody>
                    <a:bodyPr/>
                    <a:lstStyle/>
                    <a:p>
                      <a:pPr algn="l" fontAlgn="ctr"/>
                      <a:r>
                        <a:rPr lang="en-US" sz="900" b="0" i="0" u="none" strike="noStrike" dirty="0">
                          <a:effectLst/>
                          <a:latin typeface="Arial" panose="020B0604020202020204" pitchFamily="34" charset="0"/>
                        </a:rPr>
                        <a:t>On-Site Banking</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586997255"/>
                  </a:ext>
                </a:extLst>
              </a:tr>
              <a:tr h="149591">
                <a:tc>
                  <a:txBody>
                    <a:bodyPr/>
                    <a:lstStyle/>
                    <a:p>
                      <a:pPr algn="l" fontAlgn="ctr"/>
                      <a:r>
                        <a:rPr lang="en-US" sz="900" b="0" i="0" u="none" strike="noStrike" dirty="0">
                          <a:effectLst/>
                          <a:latin typeface="Arial" panose="020B0604020202020204" pitchFamily="34" charset="0"/>
                        </a:rPr>
                        <a:t>Car Wash Service</a:t>
                      </a:r>
                    </a:p>
                  </a:txBody>
                  <a:tcPr marL="16352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67%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449106116"/>
                  </a:ext>
                </a:extLst>
              </a:tr>
            </a:tbl>
          </a:graphicData>
        </a:graphic>
      </p:graphicFrame>
    </p:spTree>
    <p:custDataLst>
      <p:tags r:id="rId1"/>
    </p:custDataLst>
    <p:extLst>
      <p:ext uri="{BB962C8B-B14F-4D97-AF65-F5344CB8AC3E}">
        <p14:creationId xmlns:p14="http://schemas.microsoft.com/office/powerpoint/2010/main" val="1049858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Lifestyle2">
    <p:spTree>
      <p:nvGrpSpPr>
        <p:cNvPr id="1" name=""/>
        <p:cNvGrpSpPr/>
        <p:nvPr/>
      </p:nvGrpSpPr>
      <p:grpSpPr>
        <a:xfrm>
          <a:off x="0" y="0"/>
          <a:ext cx="0" cy="0"/>
          <a:chOff x="0" y="0"/>
          <a:chExt cx="0" cy="0"/>
        </a:xfrm>
      </p:grpSpPr>
      <p:sp>
        <p:nvSpPr>
          <p:cNvPr id="7" name="Title 6"/>
          <p:cNvSpPr>
            <a:spLocks noGrp="1"/>
          </p:cNvSpPr>
          <p:nvPr>
            <p:ph type="title"/>
            <p:custDataLst>
              <p:tags r:id="rId2"/>
            </p:custDataLst>
          </p:nvPr>
        </p:nvSpPr>
        <p:spPr/>
        <p:txBody>
          <a:bodyPr/>
          <a:lstStyle/>
          <a:p>
            <a:r>
              <a:rPr lang="en-GB" dirty="0"/>
              <a:t>Lifestyle Benefits Continued</a:t>
            </a:r>
          </a:p>
        </p:txBody>
      </p:sp>
      <p:sp>
        <p:nvSpPr>
          <p:cNvPr id="9" name="Text Placeholder 8"/>
          <p:cNvSpPr>
            <a:spLocks noGrp="1"/>
          </p:cNvSpPr>
          <p:nvPr>
            <p:ph type="body" sz="quarter" idx="13"/>
          </p:nvPr>
        </p:nvSpPr>
        <p:spPr/>
        <p:txBody>
          <a:bodyPr/>
          <a:lstStyle/>
          <a:p>
            <a:endParaRPr lang="en-GB"/>
          </a:p>
        </p:txBody>
      </p:sp>
      <p:sp>
        <p:nvSpPr>
          <p:cNvPr id="4" name="Slide Number Placeholder 3"/>
          <p:cNvSpPr>
            <a:spLocks noGrp="1"/>
          </p:cNvSpPr>
          <p:nvPr>
            <p:ph type="sldNum" sz="quarter" idx="4"/>
          </p:nvPr>
        </p:nvSpPr>
        <p:spPr>
          <a:xfrm>
            <a:off x="8305800" y="6400800"/>
            <a:ext cx="381000" cy="136525"/>
          </a:xfrm>
        </p:spPr>
        <p:txBody>
          <a:bodyPr/>
          <a:lstStyle/>
          <a:p>
            <a:fld id="{2083E393-C0BF-4ED8-8545-7E4C90AFF831}" type="slidenum">
              <a:rPr lang="en-US" smtClean="0"/>
              <a:pPr/>
              <a:t>42</a:t>
            </a:fld>
            <a:endParaRPr lang="en-US"/>
          </a:p>
        </p:txBody>
      </p:sp>
      <p:sp>
        <p:nvSpPr>
          <p:cNvPr id="3" name="Footer Placeholder 2"/>
          <p:cNvSpPr>
            <a:spLocks noGrp="1"/>
          </p:cNvSpPr>
          <p:nvPr>
            <p:ph type="ftr" sz="quarter" idx="3"/>
          </p:nvPr>
        </p:nvSpPr>
        <p:spPr>
          <a:xfrm>
            <a:off x="457200" y="6515100"/>
            <a:ext cx="5276850" cy="92075"/>
          </a:xfrm>
        </p:spPr>
        <p:txBody>
          <a:bodyPr/>
          <a:lstStyle/>
          <a:p>
            <a:r>
              <a:rPr lang="en-US"/>
              <a:t>© 2020 Willis Towers Watson. All rights reserved. Proprietary and Confidential. For Willis Towers Watson and Willis Towers Watson client use only.</a:t>
            </a:r>
            <a:endParaRPr lang="en-US" dirty="0"/>
          </a:p>
        </p:txBody>
      </p:sp>
      <p:sp>
        <p:nvSpPr>
          <p:cNvPr id="11" name="Path"/>
          <p:cNvSpPr/>
          <p:nvPr/>
        </p:nvSpPr>
        <p:spPr>
          <a:xfrm>
            <a:off x="449263" y="6631921"/>
            <a:ext cx="5570444" cy="225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t" anchorCtr="0"/>
          <a:lstStyle/>
          <a:p>
            <a:endParaRPr lang="en-GB" sz="700" b="1" dirty="0">
              <a:solidFill>
                <a:schemeClr val="tx1"/>
              </a:solidFill>
            </a:endParaRPr>
          </a:p>
        </p:txBody>
      </p:sp>
      <p:graphicFrame>
        <p:nvGraphicFramePr>
          <p:cNvPr id="5" name="Lifestyle2_Table1">
            <a:extLst>
              <a:ext uri="{FF2B5EF4-FFF2-40B4-BE49-F238E27FC236}">
                <a16:creationId xmlns:a16="http://schemas.microsoft.com/office/drawing/2014/main" id="{82E9E8C8-D03F-4900-A3E6-627EFDBB40A4}"/>
              </a:ext>
            </a:extLst>
          </p:cNvPr>
          <p:cNvGraphicFramePr>
            <a:graphicFrameLocks noGrp="1"/>
          </p:cNvGraphicFramePr>
          <p:nvPr>
            <p:extLst>
              <p:ext uri="{D42A27DB-BD31-4B8C-83A1-F6EECF244321}">
                <p14:modId xmlns:p14="http://schemas.microsoft.com/office/powerpoint/2010/main" val="4016383027"/>
              </p:ext>
            </p:extLst>
          </p:nvPr>
        </p:nvGraphicFramePr>
        <p:xfrm>
          <a:off x="457199" y="1222086"/>
          <a:ext cx="8229600" cy="3971640"/>
        </p:xfrm>
        <a:graphic>
          <a:graphicData uri="http://schemas.openxmlformats.org/drawingml/2006/table">
            <a:tbl>
              <a:tblPr/>
              <a:tblGrid>
                <a:gridCol w="3051424">
                  <a:extLst>
                    <a:ext uri="{9D8B030D-6E8A-4147-A177-3AD203B41FA5}">
                      <a16:colId xmlns:a16="http://schemas.microsoft.com/office/drawing/2014/main" val="3783483505"/>
                    </a:ext>
                  </a:extLst>
                </a:gridCol>
                <a:gridCol w="1849348">
                  <a:extLst>
                    <a:ext uri="{9D8B030D-6E8A-4147-A177-3AD203B41FA5}">
                      <a16:colId xmlns:a16="http://schemas.microsoft.com/office/drawing/2014/main" val="4135727957"/>
                    </a:ext>
                  </a:extLst>
                </a:gridCol>
                <a:gridCol w="832207">
                  <a:extLst>
                    <a:ext uri="{9D8B030D-6E8A-4147-A177-3AD203B41FA5}">
                      <a16:colId xmlns:a16="http://schemas.microsoft.com/office/drawing/2014/main" val="1273693541"/>
                    </a:ext>
                  </a:extLst>
                </a:gridCol>
                <a:gridCol w="832207">
                  <a:extLst>
                    <a:ext uri="{9D8B030D-6E8A-4147-A177-3AD203B41FA5}">
                      <a16:colId xmlns:a16="http://schemas.microsoft.com/office/drawing/2014/main" val="754459996"/>
                    </a:ext>
                  </a:extLst>
                </a:gridCol>
                <a:gridCol w="832207">
                  <a:extLst>
                    <a:ext uri="{9D8B030D-6E8A-4147-A177-3AD203B41FA5}">
                      <a16:colId xmlns:a16="http://schemas.microsoft.com/office/drawing/2014/main" val="93311335"/>
                    </a:ext>
                  </a:extLst>
                </a:gridCol>
                <a:gridCol w="832207">
                  <a:extLst>
                    <a:ext uri="{9D8B030D-6E8A-4147-A177-3AD203B41FA5}">
                      <a16:colId xmlns:a16="http://schemas.microsoft.com/office/drawing/2014/main" val="558205558"/>
                    </a:ext>
                  </a:extLst>
                </a:gridCol>
              </a:tblGrid>
              <a:tr h="149591">
                <a:tc rowSpan="2">
                  <a:txBody>
                    <a:bodyPr/>
                    <a:lstStyle/>
                    <a:p>
                      <a:pPr algn="ctr" fontAlgn="ctr"/>
                      <a:r>
                        <a:rPr lang="en-US" sz="900" b="1" i="0" u="none" strike="noStrike" dirty="0">
                          <a:solidFill>
                            <a:srgbClr val="FFFFFF"/>
                          </a:solidFill>
                          <a:effectLst/>
                          <a:latin typeface="Arial" panose="020B0604020202020204" pitchFamily="34" charset="0"/>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rowSpan="2">
                  <a:txBody>
                    <a:bodyPr/>
                    <a:lstStyle/>
                    <a:p>
                      <a:pPr algn="ctr" fontAlgn="ctr"/>
                      <a:r>
                        <a:rPr lang="en-US" sz="900" b="1" i="0" u="none" strike="noStrike" dirty="0">
                          <a:solidFill>
                            <a:srgbClr val="FFFFFF"/>
                          </a:solidFill>
                          <a:effectLst/>
                          <a:latin typeface="Arial" panose="020B0604020202020204" pitchFamily="34" charset="0"/>
                        </a:rPr>
                        <a:t>Advanced Micro Devices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gridSpan="4">
                  <a:txBody>
                    <a:bodyPr/>
                    <a:lstStyle/>
                    <a:p>
                      <a:pPr algn="ctr" fontAlgn="ctr"/>
                      <a:r>
                        <a:rPr lang="en-US" sz="900" b="1" i="0" u="none" strike="noStrike">
                          <a:solidFill>
                            <a:srgbClr val="FFFFFF"/>
                          </a:solidFill>
                          <a:effectLst/>
                          <a:latin typeface="Arial" panose="020B0604020202020204" pitchFamily="34" charset="0"/>
                        </a:rPr>
                        <a:t>AMD's Peer Group</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hMerge="1">
                  <a:txBody>
                    <a:bodyPr/>
                    <a:lstStyle/>
                    <a:p>
                      <a:endParaRPr lang="en-US"/>
                    </a:p>
                  </a:txBody>
                  <a:tcPr>
                    <a:lnL w="6350" cap="flat" cmpd="sng" algn="ctr">
                      <a:solidFill>
                        <a:srgbClr val="FFFFFF"/>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1299238"/>
                  </a:ext>
                </a:extLst>
              </a:tr>
              <a:tr h="381456">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FFFFFF"/>
                          </a:solidFill>
                          <a:effectLst/>
                          <a:latin typeface="Arial" panose="020B0604020202020204" pitchFamily="34" charset="0"/>
                        </a:rPr>
                        <a:t>Provided w/ 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900" b="1" i="0" u="none" strike="noStrike" dirty="0">
                          <a:solidFill>
                            <a:srgbClr val="FFFFFF"/>
                          </a:solidFill>
                          <a:effectLst/>
                          <a:latin typeface="Arial" panose="020B0604020202020204" pitchFamily="34" charset="0"/>
                        </a:rPr>
                        <a:t>Provided w/ 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900" b="1" i="0" u="none" strike="noStrike">
                          <a:solidFill>
                            <a:srgbClr val="FFFFFF"/>
                          </a:solidFill>
                          <a:effectLst/>
                          <a:latin typeface="Arial" panose="020B0604020202020204" pitchFamily="34" charset="0"/>
                        </a:rPr>
                        <a:t>Provided w/ No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tc>
                  <a:txBody>
                    <a:bodyPr/>
                    <a:lstStyle/>
                    <a:p>
                      <a:pPr algn="ctr" fontAlgn="ctr"/>
                      <a:r>
                        <a:rPr lang="en-US" sz="900" b="1" i="0" u="none" strike="noStrike">
                          <a:solidFill>
                            <a:srgbClr val="FFFFFF"/>
                          </a:solidFill>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2082"/>
                    </a:solidFill>
                  </a:tcPr>
                </a:tc>
                <a:extLst>
                  <a:ext uri="{0D108BD9-81ED-4DB2-BD59-A6C34878D82A}">
                    <a16:rowId xmlns:a16="http://schemas.microsoft.com/office/drawing/2014/main" val="3857569881"/>
                  </a:ext>
                </a:extLst>
              </a:tr>
              <a:tr h="149591">
                <a:tc gridSpan="2">
                  <a:txBody>
                    <a:bodyPr/>
                    <a:lstStyle/>
                    <a:p>
                      <a:pPr algn="l" fontAlgn="ctr"/>
                      <a:r>
                        <a:rPr lang="en-US" sz="900" b="1" i="1" u="none" strike="noStrike" dirty="0">
                          <a:effectLst/>
                          <a:latin typeface="Arial" panose="020B0604020202020204" pitchFamily="34" charset="0"/>
                        </a:rPr>
                        <a:t>Training &amp; Development Programs / Educational Assistance</a:t>
                      </a:r>
                    </a:p>
                  </a:txBody>
                  <a:tcPr marL="81765" marR="0" marT="0" marB="0" anchor="ctr">
                    <a:lnL w="635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hMerge="1">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731373879"/>
                  </a:ext>
                </a:extLst>
              </a:tr>
              <a:tr h="149591">
                <a:tc>
                  <a:txBody>
                    <a:bodyPr/>
                    <a:lstStyle/>
                    <a:p>
                      <a:pPr algn="l" fontAlgn="ctr"/>
                      <a:r>
                        <a:rPr lang="en-US" sz="900" b="0" i="0" u="none" strike="noStrike" dirty="0">
                          <a:effectLst/>
                          <a:latin typeface="Arial" panose="020B0604020202020204" pitchFamily="34" charset="0"/>
                        </a:rPr>
                        <a:t>Tuition Reimbursement</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92455129"/>
                  </a:ext>
                </a:extLst>
              </a:tr>
              <a:tr h="149591">
                <a:tc>
                  <a:txBody>
                    <a:bodyPr/>
                    <a:lstStyle/>
                    <a:p>
                      <a:pPr algn="l" fontAlgn="ctr"/>
                      <a:r>
                        <a:rPr lang="en-US" sz="900" b="0" i="0" u="none" strike="noStrike">
                          <a:effectLst/>
                          <a:latin typeface="Arial" panose="020B0604020202020204" pitchFamily="34" charset="0"/>
                        </a:rPr>
                        <a:t>Management Skills Development</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86%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258428011"/>
                  </a:ext>
                </a:extLst>
              </a:tr>
              <a:tr h="149591">
                <a:tc>
                  <a:txBody>
                    <a:bodyPr/>
                    <a:lstStyle/>
                    <a:p>
                      <a:pPr algn="l" fontAlgn="ctr"/>
                      <a:r>
                        <a:rPr lang="en-US" sz="900" b="0" i="0" u="none" strike="noStrike" dirty="0">
                          <a:effectLst/>
                          <a:latin typeface="Arial" panose="020B0604020202020204" pitchFamily="34" charset="0"/>
                        </a:rPr>
                        <a:t>Technical Skills Development</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948640730"/>
                  </a:ext>
                </a:extLst>
              </a:tr>
              <a:tr h="149591">
                <a:tc>
                  <a:txBody>
                    <a:bodyPr/>
                    <a:lstStyle/>
                    <a:p>
                      <a:pPr algn="l" fontAlgn="ctr"/>
                      <a:r>
                        <a:rPr lang="en-US" sz="900" b="0" i="0" u="none" strike="noStrike">
                          <a:effectLst/>
                          <a:latin typeface="Arial" panose="020B0604020202020204" pitchFamily="34" charset="0"/>
                        </a:rPr>
                        <a:t>New Product / Technology / Equipment Training</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149443095"/>
                  </a:ext>
                </a:extLst>
              </a:tr>
              <a:tr h="149591">
                <a:tc>
                  <a:txBody>
                    <a:bodyPr/>
                    <a:lstStyle/>
                    <a:p>
                      <a:pPr algn="l" fontAlgn="ctr"/>
                      <a:r>
                        <a:rPr lang="en-US" sz="900" b="0" i="0" u="none" strike="noStrike">
                          <a:effectLst/>
                          <a:latin typeface="Arial" panose="020B0604020202020204" pitchFamily="34" charset="0"/>
                        </a:rPr>
                        <a:t>Corporate University / Training Center</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81627218"/>
                  </a:ext>
                </a:extLst>
              </a:tr>
              <a:tr h="149591">
                <a:tc>
                  <a:txBody>
                    <a:bodyPr/>
                    <a:lstStyle/>
                    <a:p>
                      <a:pPr algn="l" fontAlgn="ctr"/>
                      <a:r>
                        <a:rPr lang="en-US" sz="900" b="0" i="0" u="none" strike="noStrike" dirty="0">
                          <a:effectLst/>
                          <a:latin typeface="Arial" panose="020B0604020202020204" pitchFamily="34" charset="0"/>
                        </a:rPr>
                        <a:t>Education Sabbaticals</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78%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93691707"/>
                  </a:ext>
                </a:extLst>
              </a:tr>
              <a:tr h="149591">
                <a:tc>
                  <a:txBody>
                    <a:bodyPr/>
                    <a:lstStyle/>
                    <a:p>
                      <a:pPr algn="l" fontAlgn="ctr"/>
                      <a:r>
                        <a:rPr lang="en-US" sz="900" b="1" i="1" u="none" strike="noStrike" dirty="0">
                          <a:effectLst/>
                          <a:latin typeface="Arial" panose="020B0604020202020204" pitchFamily="34" charset="0"/>
                        </a:rPr>
                        <a:t>Financial Planning / Assistance</a:t>
                      </a:r>
                    </a:p>
                  </a:txBody>
                  <a:tcPr marL="81765" marR="0" marT="0" marB="0" anchor="ctr">
                    <a:lnL w="635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tc>
                  <a:txBody>
                    <a:bodyPr/>
                    <a:lstStyle/>
                    <a:p>
                      <a:endParaRPr lang="en-US" sz="900" dirty="0"/>
                    </a:p>
                  </a:txBody>
                  <a:tcPr marL="81765"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994996261"/>
                  </a:ext>
                </a:extLst>
              </a:tr>
              <a:tr h="149591">
                <a:tc>
                  <a:txBody>
                    <a:bodyPr/>
                    <a:lstStyle/>
                    <a:p>
                      <a:pPr algn="l" fontAlgn="ctr"/>
                      <a:r>
                        <a:rPr lang="en-US" sz="900" b="0" i="0" u="none" strike="noStrike" dirty="0">
                          <a:effectLst/>
                          <a:latin typeface="Arial" panose="020B0604020202020204" pitchFamily="34" charset="0"/>
                        </a:rPr>
                        <a:t>Long-Term Care Insurance</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684291004"/>
                  </a:ext>
                </a:extLst>
              </a:tr>
              <a:tr h="149591">
                <a:tc>
                  <a:txBody>
                    <a:bodyPr/>
                    <a:lstStyle/>
                    <a:p>
                      <a:pPr algn="l" fontAlgn="ctr"/>
                      <a:r>
                        <a:rPr lang="en-US" sz="900" b="0" i="0" u="none" strike="noStrike" dirty="0">
                          <a:effectLst/>
                          <a:latin typeface="Arial" panose="020B0604020202020204" pitchFamily="34" charset="0"/>
                        </a:rPr>
                        <a:t>Group Financial Planning</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964075530"/>
                  </a:ext>
                </a:extLst>
              </a:tr>
              <a:tr h="149591">
                <a:tc>
                  <a:txBody>
                    <a:bodyPr/>
                    <a:lstStyle/>
                    <a:p>
                      <a:pPr algn="l" fontAlgn="ctr"/>
                      <a:r>
                        <a:rPr lang="en-US" sz="900" b="0" i="0" u="none" strike="noStrike">
                          <a:effectLst/>
                          <a:latin typeface="Arial" panose="020B0604020202020204" pitchFamily="34" charset="0"/>
                        </a:rPr>
                        <a:t>Prepaid Legal Services</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538820086"/>
                  </a:ext>
                </a:extLst>
              </a:tr>
              <a:tr h="149591">
                <a:tc>
                  <a:txBody>
                    <a:bodyPr/>
                    <a:lstStyle/>
                    <a:p>
                      <a:pPr algn="l" fontAlgn="ctr"/>
                      <a:r>
                        <a:rPr lang="en-US" sz="900" b="0" i="0" u="none" strike="noStrike" dirty="0">
                          <a:effectLst/>
                          <a:latin typeface="Arial" panose="020B0604020202020204" pitchFamily="34" charset="0"/>
                        </a:rPr>
                        <a:t>Group Auto Insurance</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339304117"/>
                  </a:ext>
                </a:extLst>
              </a:tr>
              <a:tr h="149591">
                <a:tc>
                  <a:txBody>
                    <a:bodyPr/>
                    <a:lstStyle/>
                    <a:p>
                      <a:pPr algn="l" fontAlgn="ctr"/>
                      <a:r>
                        <a:rPr lang="en-US" sz="900" b="0" i="0" u="none" strike="noStrike" dirty="0">
                          <a:effectLst/>
                          <a:latin typeface="Arial" panose="020B0604020202020204" pitchFamily="34" charset="0"/>
                        </a:rPr>
                        <a:t>Group Homeowners Insurance</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37%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669870238"/>
                  </a:ext>
                </a:extLst>
              </a:tr>
              <a:tr h="149591">
                <a:tc>
                  <a:txBody>
                    <a:bodyPr/>
                    <a:lstStyle/>
                    <a:p>
                      <a:pPr algn="l" fontAlgn="ctr"/>
                      <a:r>
                        <a:rPr lang="en-US" sz="900" b="0" i="0" u="none" strike="noStrike" dirty="0">
                          <a:effectLst/>
                          <a:latin typeface="Arial" panose="020B0604020202020204" pitchFamily="34" charset="0"/>
                        </a:rPr>
                        <a:t>Critical Illness Insurance</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37%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63%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988827490"/>
                  </a:ext>
                </a:extLst>
              </a:tr>
              <a:tr h="149591">
                <a:tc>
                  <a:txBody>
                    <a:bodyPr/>
                    <a:lstStyle/>
                    <a:p>
                      <a:pPr algn="l" fontAlgn="ctr"/>
                      <a:r>
                        <a:rPr lang="en-US" sz="900" b="0" i="0" u="none" strike="noStrike" dirty="0">
                          <a:effectLst/>
                          <a:latin typeface="Arial" panose="020B0604020202020204" pitchFamily="34" charset="0"/>
                        </a:rPr>
                        <a:t>Home Purchase Assistance</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93%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602076127"/>
                  </a:ext>
                </a:extLst>
              </a:tr>
              <a:tr h="149591">
                <a:tc>
                  <a:txBody>
                    <a:bodyPr/>
                    <a:lstStyle/>
                    <a:p>
                      <a:pPr algn="l" fontAlgn="ctr"/>
                      <a:r>
                        <a:rPr lang="en-US" sz="900" b="0" i="0" u="none" strike="noStrike">
                          <a:effectLst/>
                          <a:latin typeface="Arial" panose="020B0604020202020204" pitchFamily="34" charset="0"/>
                        </a:rPr>
                        <a:t>Pre-Retirement Planning</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Full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785800857"/>
                  </a:ext>
                </a:extLst>
              </a:tr>
              <a:tr h="149591">
                <a:tc>
                  <a:txBody>
                    <a:bodyPr/>
                    <a:lstStyle/>
                    <a:p>
                      <a:pPr algn="l" fontAlgn="ctr"/>
                      <a:r>
                        <a:rPr lang="en-US" sz="900" b="0" i="0" u="none" strike="noStrike" dirty="0">
                          <a:effectLst/>
                          <a:latin typeface="Arial" panose="020B0604020202020204" pitchFamily="34" charset="0"/>
                        </a:rPr>
                        <a:t>Pet Insurance</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232420283"/>
                  </a:ext>
                </a:extLst>
              </a:tr>
              <a:tr h="149591">
                <a:tc>
                  <a:txBody>
                    <a:bodyPr/>
                    <a:lstStyle/>
                    <a:p>
                      <a:pPr algn="l" fontAlgn="ctr"/>
                      <a:r>
                        <a:rPr lang="en-US" sz="900" b="0" i="0" u="none" strike="noStrike">
                          <a:effectLst/>
                          <a:latin typeface="Arial" panose="020B0604020202020204" pitchFamily="34" charset="0"/>
                        </a:rPr>
                        <a:t>Computer Purchase</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Partial subsidy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52%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4055975285"/>
                  </a:ext>
                </a:extLst>
              </a:tr>
              <a:tr h="149591">
                <a:tc>
                  <a:txBody>
                    <a:bodyPr/>
                    <a:lstStyle/>
                    <a:p>
                      <a:pPr algn="l" fontAlgn="ctr"/>
                      <a:r>
                        <a:rPr lang="en-US" sz="900" b="0" i="0" u="none" strike="noStrike" dirty="0">
                          <a:effectLst/>
                          <a:latin typeface="Arial" panose="020B0604020202020204" pitchFamily="34" charset="0"/>
                        </a:rPr>
                        <a:t>Financial Planning</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31%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282860563"/>
                  </a:ext>
                </a:extLst>
              </a:tr>
              <a:tr h="149591">
                <a:tc>
                  <a:txBody>
                    <a:bodyPr/>
                    <a:lstStyle/>
                    <a:p>
                      <a:pPr algn="l" fontAlgn="ctr"/>
                      <a:r>
                        <a:rPr lang="en-US" sz="900" b="0" i="0" u="none" strike="noStrike" dirty="0">
                          <a:effectLst/>
                          <a:latin typeface="Arial" panose="020B0604020202020204" pitchFamily="34" charset="0"/>
                        </a:rPr>
                        <a:t>Identity Theft Protection</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Provided but not subsidized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10%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43%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41%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1520603243"/>
                  </a:ext>
                </a:extLst>
              </a:tr>
              <a:tr h="149591">
                <a:tc gridSpan="6">
                  <a:txBody>
                    <a:bodyPr/>
                    <a:lstStyle/>
                    <a:p>
                      <a:pPr algn="l" fontAlgn="ctr"/>
                      <a:r>
                        <a:rPr lang="en-US" sz="900" b="1" i="1" u="none" strike="noStrike" dirty="0">
                          <a:effectLst/>
                          <a:latin typeface="Arial" panose="020B0604020202020204" pitchFamily="34" charset="0"/>
                        </a:rPr>
                        <a:t>Other</a:t>
                      </a:r>
                    </a:p>
                  </a:txBody>
                  <a:tcPr marL="114300" marR="0" marT="0" marB="0" anchor="ctr">
                    <a:lnL w="635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hMerge="1">
                  <a:txBody>
                    <a:bodyPr/>
                    <a:lstStyle/>
                    <a:p>
                      <a:endParaRPr lang="en-US"/>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hMerge="1">
                  <a:txBody>
                    <a:bodyPr/>
                    <a:lstStyle/>
                    <a:p>
                      <a:endParaRPr lang="en-US"/>
                    </a:p>
                  </a:txBody>
                  <a:tcPr>
                    <a:lnL w="635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hMerge="1">
                  <a:txBody>
                    <a:bodyPr/>
                    <a:lstStyle/>
                    <a:p>
                      <a:endParaRPr lang="en-US"/>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hMerge="1">
                  <a:txBody>
                    <a:bodyPr/>
                    <a:lstStyle/>
                    <a:p>
                      <a:endParaRPr lang="en-US"/>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tc hMerge="1">
                  <a:txBody>
                    <a:bodyPr/>
                    <a:lstStyle/>
                    <a:p>
                      <a:endParaRPr lang="en-US"/>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578709099"/>
                  </a:ext>
                </a:extLst>
              </a:tr>
              <a:tr h="149591">
                <a:tc>
                  <a:txBody>
                    <a:bodyPr/>
                    <a:lstStyle/>
                    <a:p>
                      <a:pPr algn="l" fontAlgn="ctr"/>
                      <a:r>
                        <a:rPr lang="en-US" sz="900" b="0" i="0" u="none" strike="noStrike" dirty="0">
                          <a:effectLst/>
                          <a:latin typeface="Arial" panose="020B0604020202020204" pitchFamily="34" charset="0"/>
                        </a:rPr>
                        <a:t>Concierge Services</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26%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74%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3090075456"/>
                  </a:ext>
                </a:extLst>
              </a:tr>
              <a:tr h="149591">
                <a:tc>
                  <a:txBody>
                    <a:bodyPr/>
                    <a:lstStyle/>
                    <a:p>
                      <a:pPr algn="l" fontAlgn="ctr"/>
                      <a:r>
                        <a:rPr lang="en-US" sz="900" b="0" i="0" u="none" strike="noStrike" dirty="0">
                          <a:effectLst/>
                          <a:latin typeface="Arial" panose="020B0604020202020204" pitchFamily="34" charset="0"/>
                        </a:rPr>
                        <a:t>Travel / Ticket Services</a:t>
                      </a:r>
                    </a:p>
                  </a:txBody>
                  <a:tcPr marL="16459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Not provided</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67%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a:effectLst/>
                          <a:latin typeface="Arial" panose="020B0604020202020204" pitchFamily="34" charset="0"/>
                        </a:rPr>
                        <a:t>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tc>
                  <a:txBody>
                    <a:bodyPr/>
                    <a:lstStyle/>
                    <a:p>
                      <a:pPr algn="ctr" fontAlgn="ctr"/>
                      <a:r>
                        <a:rPr lang="en-US" sz="900" b="0" i="0" u="none" strike="noStrike" dirty="0">
                          <a:effectLst/>
                          <a:latin typeface="Arial" panose="020B0604020202020204" pitchFamily="34" charset="0"/>
                        </a:rPr>
                        <a:t>33%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0E1"/>
                    </a:solidFill>
                  </a:tcPr>
                </a:tc>
                <a:extLst>
                  <a:ext uri="{0D108BD9-81ED-4DB2-BD59-A6C34878D82A}">
                    <a16:rowId xmlns:a16="http://schemas.microsoft.com/office/drawing/2014/main" val="850418882"/>
                  </a:ext>
                </a:extLst>
              </a:tr>
            </a:tbl>
          </a:graphicData>
        </a:graphic>
      </p:graphicFrame>
    </p:spTree>
    <p:custDataLst>
      <p:tags r:id="rId1"/>
    </p:custDataLst>
    <p:extLst>
      <p:ext uri="{BB962C8B-B14F-4D97-AF65-F5344CB8AC3E}">
        <p14:creationId xmlns:p14="http://schemas.microsoft.com/office/powerpoint/2010/main" val="36528290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T_FOOTER" val="Watermark"/>
  <p:tag name="TAGPREFIX" val="WT_"/>
  <p:tag name="WT_TEMPLATENAME" val="WTW.pptx"/>
  <p:tag name="WT_CREATEDATE" val="14 March 2017"/>
  <p:tag name="WT_DPI" val=""/>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W_FOOTER" val="Watermark"/>
  <p:tag name="WT_FOOTER" val="Watermark"/>
</p:tagLst>
</file>

<file path=ppt/tags/tag4.xml><?xml version="1.0" encoding="utf-8"?>
<p:tagLst xmlns:a="http://schemas.openxmlformats.org/drawingml/2006/main" xmlns:r="http://schemas.openxmlformats.org/officeDocument/2006/relationships" xmlns:p="http://schemas.openxmlformats.org/presentationml/2006/main">
  <p:tag name="WT_DIALOGNAME" val="Title Image Slide"/>
  <p:tag name="WT_SHORTNAME" val="BASIC"/>
  <p:tag name="WT_ASSOCIATEDSLIDES" val=""/>
  <p:tag name="WT_INNEWPRESENTATION" val="YES"/>
  <p:tag name="WT_ONINSERTSLIDEDLG" val="YES"/>
</p:tagLst>
</file>

<file path=ppt/tags/tag5.xml><?xml version="1.0" encoding="utf-8"?>
<p:tagLst xmlns:a="http://schemas.openxmlformats.org/drawingml/2006/main" xmlns:r="http://schemas.openxmlformats.org/officeDocument/2006/relationships" xmlns:p="http://schemas.openxmlformats.org/presentationml/2006/main">
  <p:tag name="WT_DELETETEXT" val="YES"/>
</p:tagLst>
</file>

<file path=ppt/tags/tag6.xml><?xml version="1.0" encoding="utf-8"?>
<p:tagLst xmlns:a="http://schemas.openxmlformats.org/drawingml/2006/main" xmlns:r="http://schemas.openxmlformats.org/officeDocument/2006/relationships" xmlns:p="http://schemas.openxmlformats.org/presentationml/2006/main">
  <p:tag name="WT_DELETETEXT" val="YES"/>
</p:tagLst>
</file>

<file path=ppt/tags/tag7.xml><?xml version="1.0" encoding="utf-8"?>
<p:tagLst xmlns:a="http://schemas.openxmlformats.org/drawingml/2006/main" xmlns:r="http://schemas.openxmlformats.org/officeDocument/2006/relationships" xmlns:p="http://schemas.openxmlformats.org/presentationml/2006/main">
  <p:tag name="WT_DELETETEXT" val="YES"/>
</p:tagLst>
</file>

<file path=ppt/tags/tag8.xml><?xml version="1.0" encoding="utf-8"?>
<p:tagLst xmlns:a="http://schemas.openxmlformats.org/drawingml/2006/main" xmlns:r="http://schemas.openxmlformats.org/officeDocument/2006/relationships" xmlns:p="http://schemas.openxmlformats.org/presentationml/2006/main">
  <p:tag name="WT_DELETETEXT" val="YES"/>
</p:tagLst>
</file>

<file path=ppt/tags/tag9.xml><?xml version="1.0" encoding="utf-8"?>
<p:tagLst xmlns:a="http://schemas.openxmlformats.org/drawingml/2006/main" xmlns:r="http://schemas.openxmlformats.org/officeDocument/2006/relationships" xmlns:p="http://schemas.openxmlformats.org/presentationml/2006/main">
  <p:tag name="WT_DIALOGNAME" val="Two-Column slide"/>
  <p:tag name="WT_SHORTNAME" val="BASIC"/>
  <p:tag name="WT_ASSOCIATEDSLIDES" val=""/>
  <p:tag name="WT_INNEWPRESENTATION" val="NO"/>
  <p:tag name="WT_ONINSERTSLIDEDLG" val="YES"/>
</p:tagLst>
</file>

<file path=ppt/tags/tag10.xml><?xml version="1.0" encoding="utf-8"?>
<p:tagLst xmlns:a="http://schemas.openxmlformats.org/drawingml/2006/main" xmlns:r="http://schemas.openxmlformats.org/officeDocument/2006/relationships" xmlns:p="http://schemas.openxmlformats.org/presentationml/2006/main">
  <p:tag name="WT_DELETETEXT" val="YES"/>
</p:tagLst>
</file>

<file path=ppt/tags/tag11.xml><?xml version="1.0" encoding="utf-8"?>
<p:tagLst xmlns:a="http://schemas.openxmlformats.org/drawingml/2006/main" xmlns:r="http://schemas.openxmlformats.org/officeDocument/2006/relationships" xmlns:p="http://schemas.openxmlformats.org/presentationml/2006/main">
  <p:tag name="WT_DELETETEXT" val="YES"/>
</p:tagLst>
</file>

<file path=ppt/tags/tag12.xml><?xml version="1.0" encoding="utf-8"?>
<p:tagLst xmlns:a="http://schemas.openxmlformats.org/drawingml/2006/main" xmlns:r="http://schemas.openxmlformats.org/officeDocument/2006/relationships" xmlns:p="http://schemas.openxmlformats.org/presentationml/2006/main">
  <p:tag name="WT_DELETETEXT" val="YES"/>
</p:tagLst>
</file>

<file path=ppt/tags/tag13.xml><?xml version="1.0" encoding="utf-8"?>
<p:tagLst xmlns:a="http://schemas.openxmlformats.org/drawingml/2006/main" xmlns:r="http://schemas.openxmlformats.org/officeDocument/2006/relationships" xmlns:p="http://schemas.openxmlformats.org/presentationml/2006/main">
  <p:tag name="WT_DELETETEXT" val="YES"/>
</p:tagLst>
</file>

<file path=ppt/tags/tag14.xml><?xml version="1.0" encoding="utf-8"?>
<p:tagLst xmlns:a="http://schemas.openxmlformats.org/drawingml/2006/main" xmlns:r="http://schemas.openxmlformats.org/officeDocument/2006/relationships" xmlns:p="http://schemas.openxmlformats.org/presentationml/2006/main">
  <p:tag name="WT_DIALOGNAME" val=""/>
  <p:tag name="WT_SHORTNAME" val=""/>
  <p:tag name="WT_ASSOCIATEDSLIDES" val=""/>
  <p:tag name="WT_INNEWPRESENTATION" val="YES"/>
  <p:tag name="WT_ONINSERTSLIDEDLG" val="NO"/>
</p:tagLst>
</file>

<file path=ppt/tags/tag15.xml><?xml version="1.0" encoding="utf-8"?>
<p:tagLst xmlns:a="http://schemas.openxmlformats.org/drawingml/2006/main" xmlns:r="http://schemas.openxmlformats.org/officeDocument/2006/relationships" xmlns:p="http://schemas.openxmlformats.org/presentationml/2006/main">
  <p:tag name="WT_DELETETEXT" val="YES"/>
</p:tagLst>
</file>

<file path=ppt/tags/tag16.xml><?xml version="1.0" encoding="utf-8"?>
<p:tagLst xmlns:a="http://schemas.openxmlformats.org/drawingml/2006/main" xmlns:r="http://schemas.openxmlformats.org/officeDocument/2006/relationships" xmlns:p="http://schemas.openxmlformats.org/presentationml/2006/main">
  <p:tag name="WT_DELETETEXT" val="YES"/>
</p:tagLst>
</file>

<file path=ppt/tags/tag17.xml><?xml version="1.0" encoding="utf-8"?>
<p:tagLst xmlns:a="http://schemas.openxmlformats.org/drawingml/2006/main" xmlns:r="http://schemas.openxmlformats.org/officeDocument/2006/relationships" xmlns:p="http://schemas.openxmlformats.org/presentationml/2006/main">
  <p:tag name="WT_DELETETEXT" val="NO"/>
</p:tagLst>
</file>

<file path=ppt/tags/tag18.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19.xml><?xml version="1.0" encoding="utf-8"?>
<p:tagLst xmlns:a="http://schemas.openxmlformats.org/drawingml/2006/main" xmlns:r="http://schemas.openxmlformats.org/officeDocument/2006/relationships" xmlns:p="http://schemas.openxmlformats.org/presentationml/2006/main">
  <p:tag name="WT_DELETETEXT" val="YES"/>
</p:tagLst>
</file>

<file path=ppt/tags/tag20.xml><?xml version="1.0" encoding="utf-8"?>
<p:tagLst xmlns:a="http://schemas.openxmlformats.org/drawingml/2006/main" xmlns:r="http://schemas.openxmlformats.org/officeDocument/2006/relationships" xmlns:p="http://schemas.openxmlformats.org/presentationml/2006/main">
  <p:tag name="WT_DELETETEXT" val="YES"/>
</p:tagLst>
</file>

<file path=ppt/tags/tag21.xml><?xml version="1.0" encoding="utf-8"?>
<p:tagLst xmlns:a="http://schemas.openxmlformats.org/drawingml/2006/main" xmlns:r="http://schemas.openxmlformats.org/officeDocument/2006/relationships" xmlns:p="http://schemas.openxmlformats.org/presentationml/2006/main">
  <p:tag name="WT_DELETETEXT" val="YES"/>
</p:tagLst>
</file>

<file path=ppt/tags/tag22.xml><?xml version="1.0" encoding="utf-8"?>
<p:tagLst xmlns:a="http://schemas.openxmlformats.org/drawingml/2006/main" xmlns:r="http://schemas.openxmlformats.org/officeDocument/2006/relationships" xmlns:p="http://schemas.openxmlformats.org/presentationml/2006/main">
  <p:tag name="WT_DIALOGNAME" val="Title only"/>
  <p:tag name="WT_SHORTNAME" val="BASIC"/>
  <p:tag name="WT_ASSOCIATEDSLIDES" val=""/>
  <p:tag name="WT_INNEWPRESENTATION" val="NO"/>
  <p:tag name="WT_ONINSERTSLIDEDLG" val="YES"/>
</p:tagLst>
</file>

<file path=ppt/tags/tag23.xml><?xml version="1.0" encoding="utf-8"?>
<p:tagLst xmlns:a="http://schemas.openxmlformats.org/drawingml/2006/main" xmlns:r="http://schemas.openxmlformats.org/officeDocument/2006/relationships" xmlns:p="http://schemas.openxmlformats.org/presentationml/2006/main">
  <p:tag name="WT_DELETETEXT" val="YES"/>
</p:tagLst>
</file>

<file path=ppt/tags/tag24.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25.xml><?xml version="1.0" encoding="utf-8"?>
<p:tagLst xmlns:a="http://schemas.openxmlformats.org/drawingml/2006/main" xmlns:r="http://schemas.openxmlformats.org/officeDocument/2006/relationships" xmlns:p="http://schemas.openxmlformats.org/presentationml/2006/main">
  <p:tag name="WT_DELETETEXT" val="YES"/>
</p:tagLst>
</file>

<file path=ppt/tags/tag26.xml><?xml version="1.0" encoding="utf-8"?>
<p:tagLst xmlns:a="http://schemas.openxmlformats.org/drawingml/2006/main" xmlns:r="http://schemas.openxmlformats.org/officeDocument/2006/relationships" xmlns:p="http://schemas.openxmlformats.org/presentationml/2006/main">
  <p:tag name="WT_DELETETEXT" val="YES"/>
</p:tagLst>
</file>

<file path=ppt/tags/tag27.xml><?xml version="1.0" encoding="utf-8"?>
<p:tagLst xmlns:a="http://schemas.openxmlformats.org/drawingml/2006/main" xmlns:r="http://schemas.openxmlformats.org/officeDocument/2006/relationships" xmlns:p="http://schemas.openxmlformats.org/presentationml/2006/main">
  <p:tag name="WT_DELETETEXT" val="YES"/>
</p:tagLst>
</file>

<file path=ppt/tags/tag28.xml><?xml version="1.0" encoding="utf-8"?>
<p:tagLst xmlns:a="http://schemas.openxmlformats.org/drawingml/2006/main" xmlns:r="http://schemas.openxmlformats.org/officeDocument/2006/relationships" xmlns:p="http://schemas.openxmlformats.org/presentationml/2006/main">
  <p:tag name="WT_DIALOGNAME" val="Title only"/>
  <p:tag name="WT_SHORTNAME" val="BASIC"/>
  <p:tag name="WT_ASSOCIATEDSLIDES" val=""/>
  <p:tag name="WT_INNEWPRESENTATION" val="NO"/>
  <p:tag name="WT_ONINSERTSLIDEDLG" val="YES"/>
</p:tagLst>
</file>

<file path=ppt/tags/tag29.xml><?xml version="1.0" encoding="utf-8"?>
<p:tagLst xmlns:a="http://schemas.openxmlformats.org/drawingml/2006/main" xmlns:r="http://schemas.openxmlformats.org/officeDocument/2006/relationships" xmlns:p="http://schemas.openxmlformats.org/presentationml/2006/main">
  <p:tag name="WT_DELETETEXT" val="YES"/>
</p:tagLst>
</file>

<file path=ppt/tags/tag30.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31.xml><?xml version="1.0" encoding="utf-8"?>
<p:tagLst xmlns:a="http://schemas.openxmlformats.org/drawingml/2006/main" xmlns:r="http://schemas.openxmlformats.org/officeDocument/2006/relationships" xmlns:p="http://schemas.openxmlformats.org/presentationml/2006/main">
  <p:tag name="WT_DELETETEXT" val="YES"/>
</p:tagLst>
</file>

<file path=ppt/tags/tag32.xml><?xml version="1.0" encoding="utf-8"?>
<p:tagLst xmlns:a="http://schemas.openxmlformats.org/drawingml/2006/main" xmlns:r="http://schemas.openxmlformats.org/officeDocument/2006/relationships" xmlns:p="http://schemas.openxmlformats.org/presentationml/2006/main">
  <p:tag name="WT_DELETETEXT" val="YES"/>
</p:tagLst>
</file>

<file path=ppt/tags/tag33.xml><?xml version="1.0" encoding="utf-8"?>
<p:tagLst xmlns:a="http://schemas.openxmlformats.org/drawingml/2006/main" xmlns:r="http://schemas.openxmlformats.org/officeDocument/2006/relationships" xmlns:p="http://schemas.openxmlformats.org/presentationml/2006/main">
  <p:tag name="WT_DELETETEXT" val="YES"/>
</p:tagLst>
</file>

<file path=ppt/tags/tag34.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35.xml><?xml version="1.0" encoding="utf-8"?>
<p:tagLst xmlns:a="http://schemas.openxmlformats.org/drawingml/2006/main" xmlns:r="http://schemas.openxmlformats.org/officeDocument/2006/relationships" xmlns:p="http://schemas.openxmlformats.org/presentationml/2006/main">
  <p:tag name="WT_DELETETEXT" val="YES"/>
</p:tagLst>
</file>

<file path=ppt/tags/tag36.xml><?xml version="1.0" encoding="utf-8"?>
<p:tagLst xmlns:a="http://schemas.openxmlformats.org/drawingml/2006/main" xmlns:r="http://schemas.openxmlformats.org/officeDocument/2006/relationships" xmlns:p="http://schemas.openxmlformats.org/presentationml/2006/main">
  <p:tag name="WT_DELETETEXT" val="YES"/>
</p:tagLst>
</file>

<file path=ppt/tags/tag37.xml><?xml version="1.0" encoding="utf-8"?>
<p:tagLst xmlns:a="http://schemas.openxmlformats.org/drawingml/2006/main" xmlns:r="http://schemas.openxmlformats.org/officeDocument/2006/relationships" xmlns:p="http://schemas.openxmlformats.org/presentationml/2006/main">
  <p:tag name="WT_DELETETEXT" val="YES"/>
</p:tagLst>
</file>

<file path=ppt/tags/tag38.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39.xml><?xml version="1.0" encoding="utf-8"?>
<p:tagLst xmlns:a="http://schemas.openxmlformats.org/drawingml/2006/main" xmlns:r="http://schemas.openxmlformats.org/officeDocument/2006/relationships" xmlns:p="http://schemas.openxmlformats.org/presentationml/2006/main">
  <p:tag name="WT_DELETETEXT" val="YES"/>
</p:tagLst>
</file>

<file path=ppt/tags/tag40.xml><?xml version="1.0" encoding="utf-8"?>
<p:tagLst xmlns:a="http://schemas.openxmlformats.org/drawingml/2006/main" xmlns:r="http://schemas.openxmlformats.org/officeDocument/2006/relationships" xmlns:p="http://schemas.openxmlformats.org/presentationml/2006/main">
  <p:tag name="WT_DELETETEXT" val="YES"/>
</p:tagLst>
</file>

<file path=ppt/tags/tag41.xml><?xml version="1.0" encoding="utf-8"?>
<p:tagLst xmlns:a="http://schemas.openxmlformats.org/drawingml/2006/main" xmlns:r="http://schemas.openxmlformats.org/officeDocument/2006/relationships" xmlns:p="http://schemas.openxmlformats.org/presentationml/2006/main">
  <p:tag name="WT_DELETETEXT" val="YES"/>
</p:tagLst>
</file>

<file path=ppt/tags/tag42.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43.xml><?xml version="1.0" encoding="utf-8"?>
<p:tagLst xmlns:a="http://schemas.openxmlformats.org/drawingml/2006/main" xmlns:r="http://schemas.openxmlformats.org/officeDocument/2006/relationships" xmlns:p="http://schemas.openxmlformats.org/presentationml/2006/main">
  <p:tag name="WT_DELETETEXT" val="YES"/>
</p:tagLst>
</file>

<file path=ppt/tags/tag44.xml><?xml version="1.0" encoding="utf-8"?>
<p:tagLst xmlns:a="http://schemas.openxmlformats.org/drawingml/2006/main" xmlns:r="http://schemas.openxmlformats.org/officeDocument/2006/relationships" xmlns:p="http://schemas.openxmlformats.org/presentationml/2006/main">
  <p:tag name="WT_DELETETEXT" val="YES"/>
</p:tagLst>
</file>

<file path=ppt/tags/tag45.xml><?xml version="1.0" encoding="utf-8"?>
<p:tagLst xmlns:a="http://schemas.openxmlformats.org/drawingml/2006/main" xmlns:r="http://schemas.openxmlformats.org/officeDocument/2006/relationships" xmlns:p="http://schemas.openxmlformats.org/presentationml/2006/main">
  <p:tag name="WT_DELETETEXT" val="YES"/>
</p:tagLst>
</file>

<file path=ppt/tags/tag46.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47.xml><?xml version="1.0" encoding="utf-8"?>
<p:tagLst xmlns:a="http://schemas.openxmlformats.org/drawingml/2006/main" xmlns:r="http://schemas.openxmlformats.org/officeDocument/2006/relationships" xmlns:p="http://schemas.openxmlformats.org/presentationml/2006/main">
  <p:tag name="WT_DELETETEXT" val="YES"/>
</p:tagLst>
</file>

<file path=ppt/tags/tag48.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49.xml><?xml version="1.0" encoding="utf-8"?>
<p:tagLst xmlns:a="http://schemas.openxmlformats.org/drawingml/2006/main" xmlns:r="http://schemas.openxmlformats.org/officeDocument/2006/relationships" xmlns:p="http://schemas.openxmlformats.org/presentationml/2006/main">
  <p:tag name="WT_DELETETEXT" val="YES"/>
</p:tagLst>
</file>

<file path=ppt/tags/tag50.xml><?xml version="1.0" encoding="utf-8"?>
<p:tagLst xmlns:a="http://schemas.openxmlformats.org/drawingml/2006/main" xmlns:r="http://schemas.openxmlformats.org/officeDocument/2006/relationships" xmlns:p="http://schemas.openxmlformats.org/presentationml/2006/main">
  <p:tag name="WT_DELETETEXT" val="YES"/>
</p:tagLst>
</file>

<file path=ppt/tags/tag51.xml><?xml version="1.0" encoding="utf-8"?>
<p:tagLst xmlns:a="http://schemas.openxmlformats.org/drawingml/2006/main" xmlns:r="http://schemas.openxmlformats.org/officeDocument/2006/relationships" xmlns:p="http://schemas.openxmlformats.org/presentationml/2006/main">
  <p:tag name="WT_DELETETEXT" val="YES"/>
</p:tagLst>
</file>

<file path=ppt/tags/tag52.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53.xml><?xml version="1.0" encoding="utf-8"?>
<p:tagLst xmlns:a="http://schemas.openxmlformats.org/drawingml/2006/main" xmlns:r="http://schemas.openxmlformats.org/officeDocument/2006/relationships" xmlns:p="http://schemas.openxmlformats.org/presentationml/2006/main">
  <p:tag name="WT_DELETETEXT" val="YES"/>
</p:tagLst>
</file>

<file path=ppt/tags/tag54.xml><?xml version="1.0" encoding="utf-8"?>
<p:tagLst xmlns:a="http://schemas.openxmlformats.org/drawingml/2006/main" xmlns:r="http://schemas.openxmlformats.org/officeDocument/2006/relationships" xmlns:p="http://schemas.openxmlformats.org/presentationml/2006/main">
  <p:tag name="WT_DELETETEXT" val="YES"/>
</p:tagLst>
</file>

<file path=ppt/tags/tag55.xml><?xml version="1.0" encoding="utf-8"?>
<p:tagLst xmlns:a="http://schemas.openxmlformats.org/drawingml/2006/main" xmlns:r="http://schemas.openxmlformats.org/officeDocument/2006/relationships" xmlns:p="http://schemas.openxmlformats.org/presentationml/2006/main">
  <p:tag name="WT_DELETETEXT" val="YES"/>
</p:tagLst>
</file>

<file path=ppt/tags/tag56.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57.xml><?xml version="1.0" encoding="utf-8"?>
<p:tagLst xmlns:a="http://schemas.openxmlformats.org/drawingml/2006/main" xmlns:r="http://schemas.openxmlformats.org/officeDocument/2006/relationships" xmlns:p="http://schemas.openxmlformats.org/presentationml/2006/main">
  <p:tag name="WT_DELETETEXT" val="YES"/>
</p:tagLst>
</file>

<file path=ppt/tags/tag58.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59.xml><?xml version="1.0" encoding="utf-8"?>
<p:tagLst xmlns:a="http://schemas.openxmlformats.org/drawingml/2006/main" xmlns:r="http://schemas.openxmlformats.org/officeDocument/2006/relationships" xmlns:p="http://schemas.openxmlformats.org/presentationml/2006/main">
  <p:tag name="WT_DELETETEXT" val="YES"/>
</p:tagLst>
</file>

<file path=ppt/tags/tag60.xml><?xml version="1.0" encoding="utf-8"?>
<p:tagLst xmlns:a="http://schemas.openxmlformats.org/drawingml/2006/main" xmlns:r="http://schemas.openxmlformats.org/officeDocument/2006/relationships" xmlns:p="http://schemas.openxmlformats.org/presentationml/2006/main">
  <p:tag name="WT_DELETETEXT" val="YES"/>
</p:tagLst>
</file>

<file path=ppt/tags/tag61.xml><?xml version="1.0" encoding="utf-8"?>
<p:tagLst xmlns:a="http://schemas.openxmlformats.org/drawingml/2006/main" xmlns:r="http://schemas.openxmlformats.org/officeDocument/2006/relationships" xmlns:p="http://schemas.openxmlformats.org/presentationml/2006/main">
  <p:tag name="WT_DELETETEXT" val="YES"/>
</p:tagLst>
</file>

<file path=ppt/tags/tag62.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63.xml><?xml version="1.0" encoding="utf-8"?>
<p:tagLst xmlns:a="http://schemas.openxmlformats.org/drawingml/2006/main" xmlns:r="http://schemas.openxmlformats.org/officeDocument/2006/relationships" xmlns:p="http://schemas.openxmlformats.org/presentationml/2006/main">
  <p:tag name="WT_DELETETEXT" val="YES"/>
</p:tagLst>
</file>

<file path=ppt/tags/tag64.xml><?xml version="1.0" encoding="utf-8"?>
<p:tagLst xmlns:a="http://schemas.openxmlformats.org/drawingml/2006/main" xmlns:r="http://schemas.openxmlformats.org/officeDocument/2006/relationships" xmlns:p="http://schemas.openxmlformats.org/presentationml/2006/main">
  <p:tag name="WT_DELETETEXT" val="YES"/>
</p:tagLst>
</file>

<file path=ppt/tags/tag65.xml><?xml version="1.0" encoding="utf-8"?>
<p:tagLst xmlns:a="http://schemas.openxmlformats.org/drawingml/2006/main" xmlns:r="http://schemas.openxmlformats.org/officeDocument/2006/relationships" xmlns:p="http://schemas.openxmlformats.org/presentationml/2006/main">
  <p:tag name="WT_DELETETEXT" val="YES"/>
</p:tagLst>
</file>

<file path=ppt/tags/tag66.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67.xml><?xml version="1.0" encoding="utf-8"?>
<p:tagLst xmlns:a="http://schemas.openxmlformats.org/drawingml/2006/main" xmlns:r="http://schemas.openxmlformats.org/officeDocument/2006/relationships" xmlns:p="http://schemas.openxmlformats.org/presentationml/2006/main">
  <p:tag name="WT_DELETETEXT" val="YES"/>
</p:tagLst>
</file>

<file path=ppt/tags/tag68.xml><?xml version="1.0" encoding="utf-8"?>
<p:tagLst xmlns:a="http://schemas.openxmlformats.org/drawingml/2006/main" xmlns:r="http://schemas.openxmlformats.org/officeDocument/2006/relationships" xmlns:p="http://schemas.openxmlformats.org/presentationml/2006/main">
  <p:tag name="WT_DELETETEXT" val="YES"/>
</p:tagLst>
</file>

<file path=ppt/tags/tag69.xml><?xml version="1.0" encoding="utf-8"?>
<p:tagLst xmlns:a="http://schemas.openxmlformats.org/drawingml/2006/main" xmlns:r="http://schemas.openxmlformats.org/officeDocument/2006/relationships" xmlns:p="http://schemas.openxmlformats.org/presentationml/2006/main">
  <p:tag name="WT_DELETETEXT" val="YES"/>
</p:tagLst>
</file>

<file path=ppt/tags/tag70.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71.xml><?xml version="1.0" encoding="utf-8"?>
<p:tagLst xmlns:a="http://schemas.openxmlformats.org/drawingml/2006/main" xmlns:r="http://schemas.openxmlformats.org/officeDocument/2006/relationships" xmlns:p="http://schemas.openxmlformats.org/presentationml/2006/main">
  <p:tag name="WT_DELETETEXT" val="YES"/>
</p:tagLst>
</file>

<file path=ppt/tags/tag72.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73.xml><?xml version="1.0" encoding="utf-8"?>
<p:tagLst xmlns:a="http://schemas.openxmlformats.org/drawingml/2006/main" xmlns:r="http://schemas.openxmlformats.org/officeDocument/2006/relationships" xmlns:p="http://schemas.openxmlformats.org/presentationml/2006/main">
  <p:tag name="WT_DELETETEXT" val="YES"/>
</p:tagLst>
</file>

<file path=ppt/tags/tag74.xml><?xml version="1.0" encoding="utf-8"?>
<p:tagLst xmlns:a="http://schemas.openxmlformats.org/drawingml/2006/main" xmlns:r="http://schemas.openxmlformats.org/officeDocument/2006/relationships" xmlns:p="http://schemas.openxmlformats.org/presentationml/2006/main">
  <p:tag name="WT_DELETETEXT" val="YES"/>
</p:tagLst>
</file>

<file path=ppt/tags/tag75.xml><?xml version="1.0" encoding="utf-8"?>
<p:tagLst xmlns:a="http://schemas.openxmlformats.org/drawingml/2006/main" xmlns:r="http://schemas.openxmlformats.org/officeDocument/2006/relationships" xmlns:p="http://schemas.openxmlformats.org/presentationml/2006/main">
  <p:tag name="WT_DELETETEXT" val="YES"/>
</p:tagLst>
</file>

<file path=ppt/tags/tag76.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WT_DELETETEXT" val="YES"/>
</p:tagLst>
</file>

<file path=ppt/tags/tag79.xml><?xml version="1.0" encoding="utf-8"?>
<p:tagLst xmlns:a="http://schemas.openxmlformats.org/drawingml/2006/main" xmlns:r="http://schemas.openxmlformats.org/officeDocument/2006/relationships" xmlns:p="http://schemas.openxmlformats.org/presentationml/2006/main">
  <p:tag name="WT_DELETETEXT" val="YES"/>
</p:tagLst>
</file>

<file path=ppt/tags/tag80.xml><?xml version="1.0" encoding="utf-8"?>
<p:tagLst xmlns:a="http://schemas.openxmlformats.org/drawingml/2006/main" xmlns:r="http://schemas.openxmlformats.org/officeDocument/2006/relationships" xmlns:p="http://schemas.openxmlformats.org/presentationml/2006/main">
  <p:tag name="WT_DELETETEXT" val="YES"/>
</p:tagLst>
</file>

<file path=ppt/tags/tag81.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82.xml><?xml version="1.0" encoding="utf-8"?>
<p:tagLst xmlns:a="http://schemas.openxmlformats.org/drawingml/2006/main" xmlns:r="http://schemas.openxmlformats.org/officeDocument/2006/relationships" xmlns:p="http://schemas.openxmlformats.org/presentationml/2006/main">
  <p:tag name="WT_DELETETEXT" val="YES"/>
</p:tagLst>
</file>

<file path=ppt/tags/tag83.xml><?xml version="1.0" encoding="utf-8"?>
<p:tagLst xmlns:a="http://schemas.openxmlformats.org/drawingml/2006/main" xmlns:r="http://schemas.openxmlformats.org/officeDocument/2006/relationships" xmlns:p="http://schemas.openxmlformats.org/presentationml/2006/main">
  <p:tag name="WT_DELETETEXT" val="YES"/>
</p:tagLst>
</file>

<file path=ppt/tags/tag84.xml><?xml version="1.0" encoding="utf-8"?>
<p:tagLst xmlns:a="http://schemas.openxmlformats.org/drawingml/2006/main" xmlns:r="http://schemas.openxmlformats.org/officeDocument/2006/relationships" xmlns:p="http://schemas.openxmlformats.org/presentationml/2006/main">
  <p:tag name="WT_DELETETEXT" val="YES"/>
</p:tagLst>
</file>

<file path=ppt/tags/tag85.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86.xml><?xml version="1.0" encoding="utf-8"?>
<p:tagLst xmlns:a="http://schemas.openxmlformats.org/drawingml/2006/main" xmlns:r="http://schemas.openxmlformats.org/officeDocument/2006/relationships" xmlns:p="http://schemas.openxmlformats.org/presentationml/2006/main">
  <p:tag name="WT_DELETETEXT" val="YES"/>
</p:tagLst>
</file>

<file path=ppt/tags/tag87.xml><?xml version="1.0" encoding="utf-8"?>
<p:tagLst xmlns:a="http://schemas.openxmlformats.org/drawingml/2006/main" xmlns:r="http://schemas.openxmlformats.org/officeDocument/2006/relationships" xmlns:p="http://schemas.openxmlformats.org/presentationml/2006/main">
  <p:tag name="WT_DELETETEXT" val="YES"/>
</p:tagLst>
</file>

<file path=ppt/tags/tag88.xml><?xml version="1.0" encoding="utf-8"?>
<p:tagLst xmlns:a="http://schemas.openxmlformats.org/drawingml/2006/main" xmlns:r="http://schemas.openxmlformats.org/officeDocument/2006/relationships" xmlns:p="http://schemas.openxmlformats.org/presentationml/2006/main">
  <p:tag name="WT_DELETETEXT" val="YES"/>
</p:tagLst>
</file>

<file path=ppt/tags/tag89.xml><?xml version="1.0" encoding="utf-8"?>
<p:tagLst xmlns:a="http://schemas.openxmlformats.org/drawingml/2006/main" xmlns:r="http://schemas.openxmlformats.org/officeDocument/2006/relationships" xmlns:p="http://schemas.openxmlformats.org/presentationml/2006/main">
  <p:tag name="WT_DIALOGNAME" val="One-Column Slide"/>
  <p:tag name="WT_SHORTNAME" val="BASIC"/>
  <p:tag name="WT_ASSOCIATEDSLIDES" val=""/>
  <p:tag name="WT_INNEWPRESENTATION" val="NO"/>
  <p:tag name="WT_ONINSERTSLIDEDLG" val="YES"/>
</p:tagLst>
</file>

<file path=ppt/tags/tag90.xml><?xml version="1.0" encoding="utf-8"?>
<p:tagLst xmlns:a="http://schemas.openxmlformats.org/drawingml/2006/main" xmlns:r="http://schemas.openxmlformats.org/officeDocument/2006/relationships" xmlns:p="http://schemas.openxmlformats.org/presentationml/2006/main">
  <p:tag name="WT_DELETETEXT" val="YES"/>
</p:tagLst>
</file>

<file path=ppt/tags/tag91.xml><?xml version="1.0" encoding="utf-8"?>
<p:tagLst xmlns:a="http://schemas.openxmlformats.org/drawingml/2006/main" xmlns:r="http://schemas.openxmlformats.org/officeDocument/2006/relationships" xmlns:p="http://schemas.openxmlformats.org/presentationml/2006/main">
  <p:tag name="WT_DELETETEXT" val="YES"/>
</p:tagLst>
</file>

<file path=ppt/tags/tag92.xml><?xml version="1.0" encoding="utf-8"?>
<p:tagLst xmlns:a="http://schemas.openxmlformats.org/drawingml/2006/main" xmlns:r="http://schemas.openxmlformats.org/officeDocument/2006/relationships" xmlns:p="http://schemas.openxmlformats.org/presentationml/2006/main">
  <p:tag name="WT_DELETETEXT" val="YES"/>
</p:tagLst>
</file>

<file path=ppt/tags/tag93.xml><?xml version="1.0" encoding="utf-8"?>
<p:tagLst xmlns:a="http://schemas.openxmlformats.org/drawingml/2006/main" xmlns:r="http://schemas.openxmlformats.org/officeDocument/2006/relationships" xmlns:p="http://schemas.openxmlformats.org/presentationml/2006/main">
  <p:tag name="WT_DIALOGNAME" val="Title only"/>
  <p:tag name="WT_SHORTNAME" val="BASIC"/>
  <p:tag name="WT_ASSOCIATEDSLIDES" val=""/>
  <p:tag name="WT_INNEWPRESENTATION" val="NO"/>
  <p:tag name="WT_ONINSERTSLIDEDLG" val="YES"/>
</p:tagLst>
</file>

<file path=ppt/tags/tag94.xml><?xml version="1.0" encoding="utf-8"?>
<p:tagLst xmlns:a="http://schemas.openxmlformats.org/drawingml/2006/main" xmlns:r="http://schemas.openxmlformats.org/officeDocument/2006/relationships" xmlns:p="http://schemas.openxmlformats.org/presentationml/2006/main">
  <p:tag name="WT_DELETETEXT" val="YES"/>
</p:tagLst>
</file>

<file path=ppt/tags/tag95.xml><?xml version="1.0" encoding="utf-8"?>
<p:tagLst xmlns:a="http://schemas.openxmlformats.org/drawingml/2006/main" xmlns:r="http://schemas.openxmlformats.org/officeDocument/2006/relationships" xmlns:p="http://schemas.openxmlformats.org/presentationml/2006/main">
  <p:tag name="WT_DIALOGNAME" val="Title only"/>
  <p:tag name="WT_SHORTNAME" val="BASIC"/>
  <p:tag name="WT_ASSOCIATEDSLIDES" val=""/>
  <p:tag name="WT_INNEWPRESENTATION" val="NO"/>
  <p:tag name="WT_ONINSERTSLIDEDLG" val="YES"/>
</p:tagLst>
</file>

<file path=ppt/tags/tag96.xml><?xml version="1.0" encoding="utf-8"?>
<p:tagLst xmlns:a="http://schemas.openxmlformats.org/drawingml/2006/main" xmlns:r="http://schemas.openxmlformats.org/officeDocument/2006/relationships" xmlns:p="http://schemas.openxmlformats.org/presentationml/2006/main">
  <p:tag name="WT_DELETETEXT" val="YES"/>
</p:tagLst>
</file>

<file path=ppt/theme/theme1.xml><?xml version="1.0" encoding="utf-8"?>
<a:theme xmlns:a="http://schemas.openxmlformats.org/drawingml/2006/main" name="WTW">
  <a:themeElements>
    <a:clrScheme name="WTW Theme">
      <a:dk1>
        <a:sysClr val="windowText" lastClr="000000"/>
      </a:dk1>
      <a:lt1>
        <a:sysClr val="window" lastClr="FFFFFF"/>
      </a:lt1>
      <a:dk2>
        <a:srgbClr val="63666A"/>
      </a:dk2>
      <a:lt2>
        <a:srgbClr val="EEECE1"/>
      </a:lt2>
      <a:accent1>
        <a:srgbClr val="702082"/>
      </a:accent1>
      <a:accent2>
        <a:srgbClr val="FFB81C"/>
      </a:accent2>
      <a:accent3>
        <a:srgbClr val="00A0D2"/>
      </a:accent3>
      <a:accent4>
        <a:srgbClr val="C110A0"/>
      </a:accent4>
      <a:accent5>
        <a:srgbClr val="00C389"/>
      </a:accent5>
      <a:accent6>
        <a:srgbClr val="63666A"/>
      </a:accent6>
      <a:hlink>
        <a:srgbClr val="00A0D2"/>
      </a:hlink>
      <a:folHlink>
        <a:srgbClr val="63666A"/>
      </a:folHlink>
    </a:clrScheme>
    <a:fontScheme name="Willis Towers Wats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WTW Light Gray">
      <a:srgbClr val="D8DBD8"/>
    </a:custClr>
    <a:custClr name="WTW Light Violet">
      <a:srgbClr val="D8D7DF"/>
    </a:custClr>
    <a:custClr name="WTW Pink">
      <a:srgbClr val="DDD0CF"/>
    </a:custClr>
    <a:custClr name="WTW Light Blue">
      <a:srgbClr val="C8D7DF"/>
    </a:custClr>
    <a:custClr name="WTW Light Green">
      <a:srgbClr val="D9E6DC"/>
    </a:custClr>
    <a:custClr name="WTW Light Sand">
      <a:srgbClr val="EFEEDE"/>
    </a:custClr>
  </a:custClrLst>
  <a:extLst>
    <a:ext uri="{05A4C25C-085E-4340-85A3-A5531E510DB2}">
      <thm15:themeFamily xmlns:thm15="http://schemas.microsoft.com/office/thememl/2012/main" name="Presentation461" id="{D9369743-1FF6-46BD-812F-C556575F0977}" vid="{2F04C674-D7EA-43AC-ABA7-288918924A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7BCC43762B6324A9F79BF50ADA03D43" ma:contentTypeVersion="13" ma:contentTypeDescription="Create a new document." ma:contentTypeScope="" ma:versionID="24fafb8b99de25738eeb5157350b8d18">
  <xsd:schema xmlns:xsd="http://www.w3.org/2001/XMLSchema" xmlns:xs="http://www.w3.org/2001/XMLSchema" xmlns:p="http://schemas.microsoft.com/office/2006/metadata/properties" xmlns:ns3="a81c5c38-a677-4c73-a47e-42c7d05cdcaa" xmlns:ns4="3bac85e9-fd86-427a-b010-7b9ad53df4dc" targetNamespace="http://schemas.microsoft.com/office/2006/metadata/properties" ma:root="true" ma:fieldsID="8a7bf6e8f66f8bf63c3be3f4eeb7a89b" ns3:_="" ns4:_="">
    <xsd:import namespace="a81c5c38-a677-4c73-a47e-42c7d05cdcaa"/>
    <xsd:import namespace="3bac85e9-fd86-427a-b010-7b9ad53df4d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1c5c38-a677-4c73-a47e-42c7d05cdca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ac85e9-fd86-427a-b010-7b9ad53df4d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264B3C-63AD-4489-8287-3BCB3D161FEE}">
  <ds:schemaRefs>
    <ds:schemaRef ds:uri="3bac85e9-fd86-427a-b010-7b9ad53df4dc"/>
    <ds:schemaRef ds:uri="http://purl.org/dc/terms/"/>
    <ds:schemaRef ds:uri="http://schemas.openxmlformats.org/package/2006/metadata/core-properties"/>
    <ds:schemaRef ds:uri="http://schemas.microsoft.com/office/2006/documentManagement/types"/>
    <ds:schemaRef ds:uri="a81c5c38-a677-4c73-a47e-42c7d05cdcaa"/>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D8199A06-BAFB-447F-A5C2-EBA4045267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1c5c38-a677-4c73-a47e-42c7d05cdcaa"/>
    <ds:schemaRef ds:uri="3bac85e9-fd86-427a-b010-7b9ad53df4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3FB2104-4DCF-4F7B-ABE5-DE33E9CE52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3666</TotalTime>
  <Words>7396</Words>
  <Application>Microsoft Office PowerPoint</Application>
  <PresentationFormat>On-screen Show (4:3)</PresentationFormat>
  <Paragraphs>2415</Paragraphs>
  <Slides>42</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7" baseType="lpstr">
      <vt:lpstr>Arial</vt:lpstr>
      <vt:lpstr>Calibri</vt:lpstr>
      <vt:lpstr>Wingdings</vt:lpstr>
      <vt:lpstr>WTW</vt:lpstr>
      <vt:lpstr>think-cell Slide</vt:lpstr>
      <vt:lpstr>Airbnb</vt:lpstr>
      <vt:lpstr>Table of Contents</vt:lpstr>
      <vt:lpstr>Introduction</vt:lpstr>
      <vt:lpstr>Introduction</vt:lpstr>
      <vt:lpstr>2020 High Tech BenVal Peer Group</vt:lpstr>
      <vt:lpstr>Summary of Benefit Changes for 2020</vt:lpstr>
      <vt:lpstr>Executive Summary</vt:lpstr>
      <vt:lpstr>BenVal Ranking Summary</vt:lpstr>
      <vt:lpstr>Entire Benefit Program</vt:lpstr>
      <vt:lpstr>Entire Benefit Program</vt:lpstr>
      <vt:lpstr>Active Medical Benefits </vt:lpstr>
      <vt:lpstr>Active Medical Benefits (Plan Design)</vt:lpstr>
      <vt:lpstr>Active Medical Benefits (Additional Benefits)</vt:lpstr>
      <vt:lpstr>Active Medical Benefits (Employer CDHP Seed)</vt:lpstr>
      <vt:lpstr>Active Medical Benefits (Employee Contributions)</vt:lpstr>
      <vt:lpstr>Active Medical Benefits (Employee Contributions) Continued</vt:lpstr>
      <vt:lpstr>Active Dental Benefits</vt:lpstr>
      <vt:lpstr>Active Dental Benefits (Plan Design)</vt:lpstr>
      <vt:lpstr>Active Dental Benefits (Employee Contributions)</vt:lpstr>
      <vt:lpstr>Active Dental Benefits (Employee Contributions) Continued</vt:lpstr>
      <vt:lpstr>Active Health Care</vt:lpstr>
      <vt:lpstr>Active Health Care</vt:lpstr>
      <vt:lpstr>Vision Benefits (Plan Design)</vt:lpstr>
      <vt:lpstr>Vision Benefits (Employee Contributions)</vt:lpstr>
      <vt:lpstr>Vision Benefits (Employee Contributions) Continued</vt:lpstr>
      <vt:lpstr>Retirement (Defined Contribution)</vt:lpstr>
      <vt:lpstr>Retirement (Defined Contribution)</vt:lpstr>
      <vt:lpstr>Retirement (Stock Purchase)</vt:lpstr>
      <vt:lpstr>Retirement (Defined Contribution and Stock Purchase)</vt:lpstr>
      <vt:lpstr>Retirement (Defined Benefit)</vt:lpstr>
      <vt:lpstr>Retirement (Retiree Medical)</vt:lpstr>
      <vt:lpstr>Total Disability Program (Short-Term + Long-Term Disability)</vt:lpstr>
      <vt:lpstr>Total Disability Program (Short-Term + Long-Term Disability)</vt:lpstr>
      <vt:lpstr>Total Disability Program (Short-Term + Long-Term Disability)</vt:lpstr>
      <vt:lpstr>Short-Term Disability</vt:lpstr>
      <vt:lpstr>Long-Term Disability</vt:lpstr>
      <vt:lpstr>Active Life Program</vt:lpstr>
      <vt:lpstr>Active Life Program</vt:lpstr>
      <vt:lpstr>Paid Time Off Benefits</vt:lpstr>
      <vt:lpstr>Paid Time Off Benefits Continued</vt:lpstr>
      <vt:lpstr>Lifestyle Benefits</vt:lpstr>
      <vt:lpstr>Lifestyle Benefits Continued</vt:lpstr>
    </vt:vector>
  </TitlesOfParts>
  <Company>Willis Towers Watson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 Gigi (San Francisco)</dc:creator>
  <cp:lastModifiedBy>Valdez, Ronald Kyle - CWK (Taguig City 1634)</cp:lastModifiedBy>
  <cp:revision>288</cp:revision>
  <cp:lastPrinted>2017-01-10T23:11:46Z</cp:lastPrinted>
  <dcterms:created xsi:type="dcterms:W3CDTF">2020-09-23T22:08:13Z</dcterms:created>
  <dcterms:modified xsi:type="dcterms:W3CDTF">2021-03-08T19:59:47Z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atermark">
    <vt:lpwstr/>
  </property>
  <property fmtid="{D5CDD505-2E9C-101B-9397-08002B2CF9AE}" pid="3" name="MSIP_Label_9c700311-1b20-487f-9129-30717d50ca8e_Enabled">
    <vt:lpwstr>True</vt:lpwstr>
  </property>
  <property fmtid="{D5CDD505-2E9C-101B-9397-08002B2CF9AE}" pid="4" name="MSIP_Label_9c700311-1b20-487f-9129-30717d50ca8e_SiteId">
    <vt:lpwstr>76e3921f-489b-4b7e-9547-9ea297add9b5</vt:lpwstr>
  </property>
  <property fmtid="{D5CDD505-2E9C-101B-9397-08002B2CF9AE}" pid="5" name="MSIP_Label_9c700311-1b20-487f-9129-30717d50ca8e_Owner">
    <vt:lpwstr>Gigi.Zhang@towerswatson.com</vt:lpwstr>
  </property>
  <property fmtid="{D5CDD505-2E9C-101B-9397-08002B2CF9AE}" pid="6" name="MSIP_Label_9c700311-1b20-487f-9129-30717d50ca8e_SetDate">
    <vt:lpwstr>2020-09-23T22:08:23.2537544Z</vt:lpwstr>
  </property>
  <property fmtid="{D5CDD505-2E9C-101B-9397-08002B2CF9AE}" pid="7" name="MSIP_Label_9c700311-1b20-487f-9129-30717d50ca8e_Name">
    <vt:lpwstr>Confidential</vt:lpwstr>
  </property>
  <property fmtid="{D5CDD505-2E9C-101B-9397-08002B2CF9AE}" pid="8" name="MSIP_Label_9c700311-1b20-487f-9129-30717d50ca8e_Application">
    <vt:lpwstr>Microsoft Azure Information Protection</vt:lpwstr>
  </property>
  <property fmtid="{D5CDD505-2E9C-101B-9397-08002B2CF9AE}" pid="9" name="MSIP_Label_9c700311-1b20-487f-9129-30717d50ca8e_ActionId">
    <vt:lpwstr>43b9f856-51bf-4729-934f-24f0c492ed8b</vt:lpwstr>
  </property>
  <property fmtid="{D5CDD505-2E9C-101B-9397-08002B2CF9AE}" pid="10" name="MSIP_Label_9c700311-1b20-487f-9129-30717d50ca8e_Extended_MSFT_Method">
    <vt:lpwstr>Automatic</vt:lpwstr>
  </property>
  <property fmtid="{D5CDD505-2E9C-101B-9397-08002B2CF9AE}" pid="11" name="MSIP_Label_d347b247-e90e-43a3-9d7b-004f14ae6873_Enabled">
    <vt:lpwstr>True</vt:lpwstr>
  </property>
  <property fmtid="{D5CDD505-2E9C-101B-9397-08002B2CF9AE}" pid="12" name="MSIP_Label_d347b247-e90e-43a3-9d7b-004f14ae6873_SiteId">
    <vt:lpwstr>76e3921f-489b-4b7e-9547-9ea297add9b5</vt:lpwstr>
  </property>
  <property fmtid="{D5CDD505-2E9C-101B-9397-08002B2CF9AE}" pid="13" name="MSIP_Label_d347b247-e90e-43a3-9d7b-004f14ae6873_Owner">
    <vt:lpwstr>Gigi.Zhang@towerswatson.com</vt:lpwstr>
  </property>
  <property fmtid="{D5CDD505-2E9C-101B-9397-08002B2CF9AE}" pid="14" name="MSIP_Label_d347b247-e90e-43a3-9d7b-004f14ae6873_SetDate">
    <vt:lpwstr>2020-09-23T22:08:23.2537544Z</vt:lpwstr>
  </property>
  <property fmtid="{D5CDD505-2E9C-101B-9397-08002B2CF9AE}" pid="15" name="MSIP_Label_d347b247-e90e-43a3-9d7b-004f14ae6873_Name">
    <vt:lpwstr>Anyone (No Protection)</vt:lpwstr>
  </property>
  <property fmtid="{D5CDD505-2E9C-101B-9397-08002B2CF9AE}" pid="16" name="MSIP_Label_d347b247-e90e-43a3-9d7b-004f14ae6873_Application">
    <vt:lpwstr>Microsoft Azure Information Protection</vt:lpwstr>
  </property>
  <property fmtid="{D5CDD505-2E9C-101B-9397-08002B2CF9AE}" pid="17" name="MSIP_Label_d347b247-e90e-43a3-9d7b-004f14ae6873_ActionId">
    <vt:lpwstr>43b9f856-51bf-4729-934f-24f0c492ed8b</vt:lpwstr>
  </property>
  <property fmtid="{D5CDD505-2E9C-101B-9397-08002B2CF9AE}" pid="18" name="MSIP_Label_d347b247-e90e-43a3-9d7b-004f14ae6873_Parent">
    <vt:lpwstr>9c700311-1b20-487f-9129-30717d50ca8e</vt:lpwstr>
  </property>
  <property fmtid="{D5CDD505-2E9C-101B-9397-08002B2CF9AE}" pid="19" name="MSIP_Label_d347b247-e90e-43a3-9d7b-004f14ae6873_Extended_MSFT_Method">
    <vt:lpwstr>Automatic</vt:lpwstr>
  </property>
  <property fmtid="{D5CDD505-2E9C-101B-9397-08002B2CF9AE}" pid="20" name="Sensitivity">
    <vt:lpwstr>Confidential Anyone (No Protection)</vt:lpwstr>
  </property>
  <property fmtid="{D5CDD505-2E9C-101B-9397-08002B2CF9AE}" pid="21" name="ContentTypeId">
    <vt:lpwstr>0x01010087BCC43762B6324A9F79BF50ADA03D43</vt:lpwstr>
  </property>
</Properties>
</file>