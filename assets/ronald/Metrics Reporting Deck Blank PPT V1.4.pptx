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notesSlides/notesSlide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4.xml" ContentType="application/vnd.openxmlformats-officedocument.themeOverrid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7.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1.xml" ContentType="application/vnd.openxmlformats-officedocument.drawingml.chartshapes+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5.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8.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2.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3.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14.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theme/themeOverride6.xml" ContentType="application/vnd.openxmlformats-officedocument.themeOverride+xml"/>
  <Override PartName="/ppt/notesSlides/notesSlide15.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theme/themeOverride7.xml" ContentType="application/vnd.openxmlformats-officedocument.themeOverride+xml"/>
  <Override PartName="/ppt/notesSlides/notesSlide16.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theme/themeOverride8.xml" ContentType="application/vnd.openxmlformats-officedocument.themeOverride+xml"/>
  <Override PartName="/ppt/notesSlides/notesSlide17.xml" ContentType="application/vnd.openxmlformats-officedocument.presentationml.notesSlid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9"/>
  </p:notesMasterIdLst>
  <p:handoutMasterIdLst>
    <p:handoutMasterId r:id="rId50"/>
  </p:handoutMasterIdLst>
  <p:sldIdLst>
    <p:sldId id="338" r:id="rId5"/>
    <p:sldId id="365" r:id="rId6"/>
    <p:sldId id="343" r:id="rId7"/>
    <p:sldId id="348" r:id="rId8"/>
    <p:sldId id="390" r:id="rId9"/>
    <p:sldId id="391" r:id="rId10"/>
    <p:sldId id="422" r:id="rId11"/>
    <p:sldId id="392" r:id="rId12"/>
    <p:sldId id="349" r:id="rId13"/>
    <p:sldId id="350" r:id="rId14"/>
    <p:sldId id="389" r:id="rId15"/>
    <p:sldId id="344" r:id="rId16"/>
    <p:sldId id="361" r:id="rId17"/>
    <p:sldId id="364" r:id="rId18"/>
    <p:sldId id="347" r:id="rId19"/>
    <p:sldId id="432" r:id="rId20"/>
    <p:sldId id="363" r:id="rId21"/>
    <p:sldId id="393" r:id="rId22"/>
    <p:sldId id="394" r:id="rId23"/>
    <p:sldId id="377" r:id="rId24"/>
    <p:sldId id="367" r:id="rId25"/>
    <p:sldId id="396" r:id="rId26"/>
    <p:sldId id="395" r:id="rId27"/>
    <p:sldId id="398" r:id="rId28"/>
    <p:sldId id="346" r:id="rId29"/>
    <p:sldId id="359" r:id="rId30"/>
    <p:sldId id="397" r:id="rId31"/>
    <p:sldId id="358" r:id="rId32"/>
    <p:sldId id="354" r:id="rId33"/>
    <p:sldId id="258" r:id="rId34"/>
    <p:sldId id="274" r:id="rId35"/>
    <p:sldId id="352" r:id="rId36"/>
    <p:sldId id="368" r:id="rId37"/>
    <p:sldId id="409" r:id="rId38"/>
    <p:sldId id="433" r:id="rId39"/>
    <p:sldId id="411" r:id="rId40"/>
    <p:sldId id="434" r:id="rId41"/>
    <p:sldId id="435" r:id="rId42"/>
    <p:sldId id="436" r:id="rId43"/>
    <p:sldId id="437" r:id="rId44"/>
    <p:sldId id="438" r:id="rId45"/>
    <p:sldId id="439" r:id="rId46"/>
    <p:sldId id="440" r:id="rId47"/>
    <p:sldId id="441" r:id="rId48"/>
  </p:sldIdLst>
  <p:sldSz cx="12192000" cy="6858000"/>
  <p:notesSz cx="6985000" cy="92837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300" userDrawn="1">
          <p15:clr>
            <a:srgbClr val="A4A3A4"/>
          </p15:clr>
        </p15:guide>
        <p15:guide id="3" orient="horz" pos="960" userDrawn="1">
          <p15:clr>
            <a:srgbClr val="A4A3A4"/>
          </p15:clr>
        </p15:guide>
        <p15:guide id="5" orient="horz" pos="4032" userDrawn="1">
          <p15:clr>
            <a:srgbClr val="A4A3A4"/>
          </p15:clr>
        </p15:guide>
        <p15:guide id="6" orient="horz" pos="3840" userDrawn="1">
          <p15:clr>
            <a:srgbClr val="A4A3A4"/>
          </p15:clr>
        </p15:guide>
        <p15:guide id="7" pos="4608" userDrawn="1">
          <p15:clr>
            <a:srgbClr val="A4A3A4"/>
          </p15:clr>
        </p15:guide>
        <p15:guide id="8" pos="363" userDrawn="1">
          <p15:clr>
            <a:srgbClr val="A4A3A4"/>
          </p15:clr>
        </p15:guide>
        <p15:guide id="9" pos="7296" userDrawn="1">
          <p15:clr>
            <a:srgbClr val="A4A3A4"/>
          </p15:clr>
        </p15:guide>
        <p15:guide id="10" pos="1663" userDrawn="1">
          <p15:clr>
            <a:srgbClr val="A4A3A4"/>
          </p15:clr>
        </p15:guide>
        <p15:guide id="11" pos="5888" userDrawn="1">
          <p15:clr>
            <a:srgbClr val="A4A3A4"/>
          </p15:clr>
        </p15:guide>
        <p15:guide id="12" pos="6016" userDrawn="1">
          <p15:clr>
            <a:srgbClr val="A4A3A4"/>
          </p15:clr>
        </p15:guide>
        <p15:guide id="13" pos="4480" userDrawn="1">
          <p15:clr>
            <a:srgbClr val="A4A3A4"/>
          </p15:clr>
        </p15:guide>
        <p15:guide id="14" pos="1792" userDrawn="1">
          <p15:clr>
            <a:srgbClr val="A4A3A4"/>
          </p15:clr>
        </p15:guide>
        <p15:guide id="15" pos="3053" userDrawn="1">
          <p15:clr>
            <a:srgbClr val="A4A3A4"/>
          </p15:clr>
        </p15:guide>
        <p15:guide id="16" pos="320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pulong, Adrian (Manila)" initials="CA(" lastIdx="16" clrIdx="0">
    <p:extLst>
      <p:ext uri="{19B8F6BF-5375-455C-9EA6-DF929625EA0E}">
        <p15:presenceInfo xmlns:p15="http://schemas.microsoft.com/office/powerpoint/2012/main" userId="S::adrian.capulong@towerswatson.com::d95a459d-ab5c-4c3f-8aba-5ec65f0dcd17" providerId="AD"/>
      </p:ext>
    </p:extLst>
  </p:cmAuthor>
  <p:cmAuthor id="2" name="Bautista, Marie (Taguig City 1634)" initials="BM(C1" lastIdx="11" clrIdx="1">
    <p:extLst>
      <p:ext uri="{19B8F6BF-5375-455C-9EA6-DF929625EA0E}">
        <p15:presenceInfo xmlns:p15="http://schemas.microsoft.com/office/powerpoint/2012/main" userId="S::marie.bautista@towerswatson.com::e8b68fde-58f8-4ffb-81e4-9f094c32875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C8D7DF"/>
    <a:srgbClr val="C0C0C0"/>
    <a:srgbClr val="702082"/>
    <a:srgbClr val="D8D7DF"/>
    <a:srgbClr val="D8DB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89286" autoAdjust="0"/>
  </p:normalViewPr>
  <p:slideViewPr>
    <p:cSldViewPr snapToGrid="0" showGuides="1">
      <p:cViewPr varScale="1">
        <p:scale>
          <a:sx n="65" d="100"/>
          <a:sy n="65" d="100"/>
        </p:scale>
        <p:origin x="240" y="58"/>
      </p:cViewPr>
      <p:guideLst>
        <p:guide orient="horz" pos="2160"/>
        <p:guide orient="horz" pos="300"/>
        <p:guide orient="horz" pos="960"/>
        <p:guide orient="horz" pos="4032"/>
        <p:guide orient="horz" pos="3840"/>
        <p:guide pos="4608"/>
        <p:guide pos="363"/>
        <p:guide pos="7296"/>
        <p:guide pos="1663"/>
        <p:guide pos="5888"/>
        <p:guide pos="6016"/>
        <p:guide pos="4480"/>
        <p:guide pos="1792"/>
        <p:guide pos="3053"/>
        <p:guide pos="320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7" d="100"/>
          <a:sy n="87" d="100"/>
        </p:scale>
        <p:origin x="2874"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tags" Target="tags/tag1.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1.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20.xml"/><Relationship Id="rId1" Type="http://schemas.microsoft.com/office/2011/relationships/chartStyle" Target="style20.xml"/><Relationship Id="rId4"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package" Target="../embeddings/Microsoft_Excel_Worksheet21.xlsx"/></Relationships>
</file>

<file path=ppt/charts/_rels/chart22.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22.xml"/><Relationship Id="rId1" Type="http://schemas.microsoft.com/office/2011/relationships/chartStyle" Target="style22.xml"/><Relationship Id="rId4" Type="http://schemas.openxmlformats.org/officeDocument/2006/relationships/package" Target="../embeddings/Microsoft_Excel_Worksheet22.xlsx"/></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3.xml"/><Relationship Id="rId1" Type="http://schemas.microsoft.com/office/2011/relationships/chartStyle" Target="style2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ser>
          <c:idx val="0"/>
          <c:order val="0"/>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13BC-4B85-9615-679F6D9C95D9}"/>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13BC-4B85-9615-679F6D9C95D9}"/>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13BC-4B85-9615-679F6D9C95D9}"/>
              </c:ext>
            </c:extLst>
          </c:dPt>
          <c:dPt>
            <c:idx val="3"/>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13BC-4B85-9615-679F6D9C95D9}"/>
              </c:ext>
            </c:extLst>
          </c:dPt>
          <c:dPt>
            <c:idx val="4"/>
            <c:bubble3D val="0"/>
            <c:spPr>
              <a:solidFill>
                <a:schemeClr val="accent5"/>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9-13BC-4B85-9615-679F6D9C95D9}"/>
              </c:ext>
            </c:extLst>
          </c:dPt>
          <c:dPt>
            <c:idx val="5"/>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B-13BC-4B85-9615-679F6D9C95D9}"/>
              </c:ext>
            </c:extLst>
          </c:dPt>
          <c:dPt>
            <c:idx val="6"/>
            <c:bubble3D val="0"/>
            <c:spPr>
              <a:solidFill>
                <a:schemeClr val="accent1">
                  <a:lumMod val="6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ED57-467E-B26E-9C63820DEACB}"/>
              </c:ext>
            </c:extLst>
          </c:dPt>
          <c:dLbls>
            <c:dLbl>
              <c:idx val="6"/>
              <c:layout>
                <c:manualLayout>
                  <c:x val="0.11628778841893596"/>
                  <c:y val="5.6399341162021582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D57-467E-B26E-9C63820DEACB}"/>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West</c:v>
                </c:pt>
                <c:pt idx="1">
                  <c:v>Midwest</c:v>
                </c:pt>
                <c:pt idx="2">
                  <c:v>Northeast</c:v>
                </c:pt>
                <c:pt idx="3">
                  <c:v>Southeast</c:v>
                </c:pt>
                <c:pt idx="4">
                  <c:v>CDT</c:v>
                </c:pt>
                <c:pt idx="5">
                  <c:v>RFP</c:v>
                </c:pt>
                <c:pt idx="6">
                  <c:v>Mngment</c:v>
                </c:pt>
              </c:strCache>
            </c:strRef>
          </c:cat>
          <c:val>
            <c:numRef>
              <c:f>Sheet1!$B$2:$B$8</c:f>
              <c:numCache>
                <c:formatCode>General</c:formatCode>
                <c:ptCount val="7"/>
              </c:numCache>
            </c:numRef>
          </c:val>
          <c:extLst>
            <c:ext xmlns:c16="http://schemas.microsoft.com/office/drawing/2014/chart" uri="{C3380CC4-5D6E-409C-BE32-E72D297353CC}">
              <c16:uniqueId val="{00000000-ED57-467E-B26E-9C63820DEACB}"/>
            </c:ext>
          </c:extLst>
        </c:ser>
        <c:dLbls>
          <c:dLblPos val="inEnd"/>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4-A06C-4245-998A-C3BBA9A01C00}"/>
              </c:ext>
            </c:extLst>
          </c:dPt>
          <c:dPt>
            <c:idx val="1"/>
            <c:invertIfNegative val="0"/>
            <c:bubble3D val="0"/>
            <c:spPr>
              <a:solidFill>
                <a:srgbClr val="FFC000"/>
              </a:solidFill>
              <a:ln>
                <a:noFill/>
              </a:ln>
              <a:effectLst/>
            </c:spPr>
            <c:extLst>
              <c:ext xmlns:c16="http://schemas.microsoft.com/office/drawing/2014/chart" uri="{C3380CC4-5D6E-409C-BE32-E72D297353CC}">
                <c16:uniqueId val="{00000005-A06C-4245-998A-C3BBA9A01C00}"/>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6-A06C-4245-998A-C3BBA9A01C00}"/>
              </c:ext>
            </c:extLst>
          </c:dPt>
          <c:dPt>
            <c:idx val="3"/>
            <c:invertIfNegative val="0"/>
            <c:bubble3D val="0"/>
            <c:spPr>
              <a:solidFill>
                <a:schemeClr val="tx2"/>
              </a:solidFill>
              <a:ln>
                <a:noFill/>
              </a:ln>
              <a:effectLst/>
            </c:spPr>
            <c:extLst>
              <c:ext xmlns:c16="http://schemas.microsoft.com/office/drawing/2014/chart" uri="{C3380CC4-5D6E-409C-BE32-E72D297353CC}">
                <c16:uniqueId val="{00000009-A06C-4245-998A-C3BBA9A01C00}"/>
              </c:ext>
            </c:extLst>
          </c:dPt>
          <c:dLbls>
            <c:delete val="1"/>
          </c:dLbls>
          <c:cat>
            <c:strRef>
              <c:f>Sheet1!$A$2:$B$4</c:f>
              <c:strCache>
                <c:ptCount val="3"/>
                <c:pt idx="0">
                  <c:v>DM</c:v>
                </c:pt>
                <c:pt idx="1">
                  <c:v>CDT</c:v>
                </c:pt>
                <c:pt idx="2">
                  <c:v>RFP</c:v>
                </c:pt>
              </c:strCache>
            </c:strRef>
          </c:cat>
          <c:val>
            <c:numRef>
              <c:f>Sheet1!$B$2:$B$4</c:f>
              <c:numCache>
                <c:formatCode>General</c:formatCode>
                <c:ptCount val="3"/>
              </c:numCache>
            </c:numRef>
          </c:val>
          <c:extLst>
            <c:ext xmlns:c16="http://schemas.microsoft.com/office/drawing/2014/chart" uri="{C3380CC4-5D6E-409C-BE32-E72D297353CC}">
              <c16:uniqueId val="{00000000-A06C-4245-998A-C3BBA9A01C00}"/>
            </c:ext>
          </c:extLst>
        </c:ser>
        <c:dLbls>
          <c:dLblPos val="outEnd"/>
          <c:showLegendKey val="0"/>
          <c:showVal val="1"/>
          <c:showCatName val="0"/>
          <c:showSerName val="0"/>
          <c:showPercent val="0"/>
          <c:showBubbleSize val="0"/>
        </c:dLbls>
        <c:gapWidth val="217"/>
        <c:overlap val="-27"/>
        <c:axId val="1178845104"/>
        <c:axId val="1178849040"/>
      </c:barChart>
      <c:catAx>
        <c:axId val="117884510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78849040"/>
        <c:crosses val="autoZero"/>
        <c:auto val="1"/>
        <c:lblAlgn val="ctr"/>
        <c:lblOffset val="100"/>
        <c:noMultiLvlLbl val="0"/>
      </c:catAx>
      <c:valAx>
        <c:axId val="1178849040"/>
        <c:scaling>
          <c:orientation val="minMax"/>
        </c:scaling>
        <c:delete val="1"/>
        <c:axPos val="l"/>
        <c:numFmt formatCode="General" sourceLinked="1"/>
        <c:majorTickMark val="out"/>
        <c:minorTickMark val="none"/>
        <c:tickLblPos val="nextTo"/>
        <c:crossAx val="11788451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400" b="1" dirty="0"/>
              <a:t>May 2021 YTD Productivity</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0593529673206371E-2"/>
          <c:y val="0.13833147083156411"/>
          <c:w val="0.93766705246242488"/>
          <c:h val="0.60955330160269894"/>
        </c:manualLayout>
      </c:layout>
      <c:barChart>
        <c:barDir val="col"/>
        <c:grouping val="clustered"/>
        <c:varyColors val="0"/>
        <c:ser>
          <c:idx val="0"/>
          <c:order val="0"/>
          <c:tx>
            <c:strRef>
              <c:f>Sheet1!$B$1</c:f>
              <c:strCache>
                <c:ptCount val="1"/>
                <c:pt idx="0">
                  <c:v>YTD 2021</c:v>
                </c:pt>
              </c:strCache>
            </c:strRef>
          </c:tx>
          <c:spPr>
            <a:solidFill>
              <a:srgbClr val="7030A0"/>
            </a:solidFill>
            <a:ln>
              <a:solidFill>
                <a:srgbClr val="7030A0"/>
              </a:solidFill>
            </a:ln>
            <a:effectLst/>
          </c:spPr>
          <c:invertIfNegative val="0"/>
          <c:dPt>
            <c:idx val="0"/>
            <c:invertIfNegative val="0"/>
            <c:bubble3D val="0"/>
            <c:spPr>
              <a:solidFill>
                <a:srgbClr val="7030A0"/>
              </a:solidFill>
              <a:ln>
                <a:solidFill>
                  <a:srgbClr val="7030A0"/>
                </a:solidFill>
              </a:ln>
              <a:effectLst/>
            </c:spPr>
            <c:extLst>
              <c:ext xmlns:c16="http://schemas.microsoft.com/office/drawing/2014/chart" uri="{C3380CC4-5D6E-409C-BE32-E72D297353CC}">
                <c16:uniqueId val="{00000013-6DAD-4FCA-89A9-4043B301473C}"/>
              </c:ext>
            </c:extLst>
          </c:dPt>
          <c:dPt>
            <c:idx val="1"/>
            <c:invertIfNegative val="0"/>
            <c:bubble3D val="0"/>
            <c:spPr>
              <a:solidFill>
                <a:srgbClr val="7030A0"/>
              </a:solidFill>
              <a:ln>
                <a:solidFill>
                  <a:srgbClr val="7030A0"/>
                </a:solidFill>
              </a:ln>
              <a:effectLst/>
            </c:spPr>
            <c:extLst>
              <c:ext xmlns:c16="http://schemas.microsoft.com/office/drawing/2014/chart" uri="{C3380CC4-5D6E-409C-BE32-E72D297353CC}">
                <c16:uniqueId val="{00000000-6DAD-4FCA-89A9-4043B301473C}"/>
              </c:ext>
            </c:extLst>
          </c:dPt>
          <c:dPt>
            <c:idx val="2"/>
            <c:invertIfNegative val="0"/>
            <c:bubble3D val="0"/>
            <c:spPr>
              <a:solidFill>
                <a:srgbClr val="7030A0"/>
              </a:solidFill>
              <a:ln>
                <a:solidFill>
                  <a:srgbClr val="7030A0"/>
                </a:solidFill>
              </a:ln>
              <a:effectLst/>
            </c:spPr>
            <c:extLst>
              <c:ext xmlns:c16="http://schemas.microsoft.com/office/drawing/2014/chart" uri="{C3380CC4-5D6E-409C-BE32-E72D297353CC}">
                <c16:uniqueId val="{00000004-6DAD-4FCA-89A9-4043B301473C}"/>
              </c:ext>
            </c:extLst>
          </c:dPt>
          <c:dPt>
            <c:idx val="3"/>
            <c:invertIfNegative val="0"/>
            <c:bubble3D val="0"/>
            <c:spPr>
              <a:solidFill>
                <a:srgbClr val="7030A0"/>
              </a:solidFill>
              <a:ln>
                <a:solidFill>
                  <a:srgbClr val="7030A0"/>
                </a:solidFill>
              </a:ln>
              <a:effectLst/>
            </c:spPr>
            <c:extLst>
              <c:ext xmlns:c16="http://schemas.microsoft.com/office/drawing/2014/chart" uri="{C3380CC4-5D6E-409C-BE32-E72D297353CC}">
                <c16:uniqueId val="{00000009-6DAD-4FCA-89A9-4043B301473C}"/>
              </c:ext>
            </c:extLst>
          </c:dPt>
          <c:dLbls>
            <c:spPr>
              <a:noFill/>
              <a:ln>
                <a:noFill/>
              </a:ln>
              <a:effectLst/>
            </c:spPr>
            <c:txPr>
              <a:bodyPr rot="0" spcFirstLastPara="1" vertOverflow="overflow" horzOverflow="overflow"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H&amp;B Manila</c:v>
                </c:pt>
                <c:pt idx="1">
                  <c:v>Data Management</c:v>
                </c:pt>
                <c:pt idx="2">
                  <c:v>CDT</c:v>
                </c:pt>
                <c:pt idx="3">
                  <c:v>RFP</c:v>
                </c:pt>
              </c:strCache>
            </c:strRef>
          </c:cat>
          <c:val>
            <c:numRef>
              <c:f>Sheet1!$B$2:$B$5</c:f>
              <c:numCache>
                <c:formatCode>0%</c:formatCode>
                <c:ptCount val="4"/>
                <c:pt idx="0">
                  <c:v>0</c:v>
                </c:pt>
                <c:pt idx="1">
                  <c:v>0</c:v>
                </c:pt>
                <c:pt idx="2">
                  <c:v>0</c:v>
                </c:pt>
                <c:pt idx="3">
                  <c:v>0</c:v>
                </c:pt>
              </c:numCache>
            </c:numRef>
          </c:val>
          <c:extLst>
            <c:ext xmlns:c16="http://schemas.microsoft.com/office/drawing/2014/chart" uri="{C3380CC4-5D6E-409C-BE32-E72D297353CC}">
              <c16:uniqueId val="{00000000-0CF4-4468-8356-FA99D380E509}"/>
            </c:ext>
          </c:extLst>
        </c:ser>
        <c:ser>
          <c:idx val="1"/>
          <c:order val="1"/>
          <c:tx>
            <c:strRef>
              <c:f>Sheet1!$C$1</c:f>
              <c:strCache>
                <c:ptCount val="1"/>
                <c:pt idx="0">
                  <c:v>Jan</c:v>
                </c:pt>
              </c:strCache>
            </c:strRef>
          </c:tx>
          <c:spPr>
            <a:solidFill>
              <a:schemeClr val="accent3">
                <a:tint val="62000"/>
              </a:schemeClr>
            </a:solidFill>
            <a:ln>
              <a:noFill/>
            </a:ln>
            <a:effectLst/>
          </c:spPr>
          <c:invertIfNegative val="0"/>
          <c:dPt>
            <c:idx val="0"/>
            <c:invertIfNegative val="0"/>
            <c:bubble3D val="0"/>
            <c:spPr>
              <a:solidFill>
                <a:schemeClr val="accent3">
                  <a:tint val="62000"/>
                </a:schemeClr>
              </a:solidFill>
              <a:ln>
                <a:noFill/>
              </a:ln>
              <a:effectLst/>
            </c:spPr>
            <c:extLst>
              <c:ext xmlns:c16="http://schemas.microsoft.com/office/drawing/2014/chart" uri="{C3380CC4-5D6E-409C-BE32-E72D297353CC}">
                <c16:uniqueId val="{00000014-6DAD-4FCA-89A9-4043B301473C}"/>
              </c:ext>
            </c:extLst>
          </c:dPt>
          <c:dPt>
            <c:idx val="2"/>
            <c:invertIfNegative val="0"/>
            <c:bubble3D val="0"/>
            <c:spPr>
              <a:solidFill>
                <a:schemeClr val="accent3">
                  <a:tint val="62000"/>
                </a:schemeClr>
              </a:solidFill>
              <a:ln>
                <a:noFill/>
              </a:ln>
              <a:effectLst/>
            </c:spPr>
            <c:extLst>
              <c:ext xmlns:c16="http://schemas.microsoft.com/office/drawing/2014/chart" uri="{C3380CC4-5D6E-409C-BE32-E72D297353CC}">
                <c16:uniqueId val="{00000005-6DAD-4FCA-89A9-4043B301473C}"/>
              </c:ext>
            </c:extLst>
          </c:dPt>
          <c:dPt>
            <c:idx val="3"/>
            <c:invertIfNegative val="0"/>
            <c:bubble3D val="0"/>
            <c:spPr>
              <a:solidFill>
                <a:schemeClr val="accent3">
                  <a:tint val="62000"/>
                </a:schemeClr>
              </a:solidFill>
              <a:ln>
                <a:noFill/>
              </a:ln>
              <a:effectLst/>
            </c:spPr>
            <c:extLst>
              <c:ext xmlns:c16="http://schemas.microsoft.com/office/drawing/2014/chart" uri="{C3380CC4-5D6E-409C-BE32-E72D297353CC}">
                <c16:uniqueId val="{0000000A-6DAD-4FCA-89A9-4043B301473C}"/>
              </c:ext>
            </c:extLst>
          </c:dPt>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H&amp;B Manila</c:v>
                </c:pt>
                <c:pt idx="1">
                  <c:v>Data Management</c:v>
                </c:pt>
                <c:pt idx="2">
                  <c:v>CDT</c:v>
                </c:pt>
                <c:pt idx="3">
                  <c:v>RFP</c:v>
                </c:pt>
              </c:strCache>
            </c:strRef>
          </c:cat>
          <c:val>
            <c:numRef>
              <c:f>Sheet1!$C$2:$C$5</c:f>
              <c:numCache>
                <c:formatCode>0%</c:formatCode>
                <c:ptCount val="4"/>
                <c:pt idx="0">
                  <c:v>0</c:v>
                </c:pt>
                <c:pt idx="1">
                  <c:v>0</c:v>
                </c:pt>
                <c:pt idx="2">
                  <c:v>0</c:v>
                </c:pt>
                <c:pt idx="3">
                  <c:v>0</c:v>
                </c:pt>
              </c:numCache>
            </c:numRef>
          </c:val>
          <c:extLst>
            <c:ext xmlns:c16="http://schemas.microsoft.com/office/drawing/2014/chart" uri="{C3380CC4-5D6E-409C-BE32-E72D297353CC}">
              <c16:uniqueId val="{00000001-0CF4-4468-8356-FA99D380E509}"/>
            </c:ext>
          </c:extLst>
        </c:ser>
        <c:ser>
          <c:idx val="2"/>
          <c:order val="2"/>
          <c:tx>
            <c:strRef>
              <c:f>Sheet1!$D$1</c:f>
              <c:strCache>
                <c:ptCount val="1"/>
                <c:pt idx="0">
                  <c:v>Feb</c:v>
                </c:pt>
              </c:strCache>
            </c:strRef>
          </c:tx>
          <c:spPr>
            <a:solidFill>
              <a:schemeClr val="accent3">
                <a:tint val="77000"/>
              </a:schemeClr>
            </a:solidFill>
            <a:ln>
              <a:noFill/>
            </a:ln>
            <a:effectLst/>
          </c:spPr>
          <c:invertIfNegative val="0"/>
          <c:dPt>
            <c:idx val="0"/>
            <c:invertIfNegative val="0"/>
            <c:bubble3D val="0"/>
            <c:spPr>
              <a:solidFill>
                <a:schemeClr val="accent3">
                  <a:tint val="72000"/>
                </a:schemeClr>
              </a:solidFill>
              <a:ln>
                <a:noFill/>
              </a:ln>
              <a:effectLst/>
            </c:spPr>
            <c:extLst>
              <c:ext xmlns:c16="http://schemas.microsoft.com/office/drawing/2014/chart" uri="{C3380CC4-5D6E-409C-BE32-E72D297353CC}">
                <c16:uniqueId val="{00000015-6DAD-4FCA-89A9-4043B301473C}"/>
              </c:ext>
            </c:extLst>
          </c:dPt>
          <c:dPt>
            <c:idx val="1"/>
            <c:invertIfNegative val="0"/>
            <c:bubble3D val="0"/>
            <c:spPr>
              <a:solidFill>
                <a:schemeClr val="accent3">
                  <a:tint val="72000"/>
                </a:schemeClr>
              </a:solidFill>
              <a:ln>
                <a:noFill/>
              </a:ln>
              <a:effectLst/>
            </c:spPr>
            <c:extLst>
              <c:ext xmlns:c16="http://schemas.microsoft.com/office/drawing/2014/chart" uri="{C3380CC4-5D6E-409C-BE32-E72D297353CC}">
                <c16:uniqueId val="{00000001-6DAD-4FCA-89A9-4043B301473C}"/>
              </c:ext>
            </c:extLst>
          </c:dPt>
          <c:dPt>
            <c:idx val="2"/>
            <c:invertIfNegative val="0"/>
            <c:bubble3D val="0"/>
            <c:spPr>
              <a:solidFill>
                <a:schemeClr val="accent3">
                  <a:tint val="72000"/>
                </a:schemeClr>
              </a:solidFill>
              <a:ln>
                <a:noFill/>
              </a:ln>
              <a:effectLst/>
            </c:spPr>
            <c:extLst>
              <c:ext xmlns:c16="http://schemas.microsoft.com/office/drawing/2014/chart" uri="{C3380CC4-5D6E-409C-BE32-E72D297353CC}">
                <c16:uniqueId val="{00000006-6DAD-4FCA-89A9-4043B301473C}"/>
              </c:ext>
            </c:extLst>
          </c:dPt>
          <c:dPt>
            <c:idx val="3"/>
            <c:invertIfNegative val="0"/>
            <c:bubble3D val="0"/>
            <c:spPr>
              <a:solidFill>
                <a:schemeClr val="accent3">
                  <a:tint val="72000"/>
                </a:schemeClr>
              </a:solidFill>
              <a:ln>
                <a:noFill/>
              </a:ln>
              <a:effectLst/>
            </c:spPr>
            <c:extLst>
              <c:ext xmlns:c16="http://schemas.microsoft.com/office/drawing/2014/chart" uri="{C3380CC4-5D6E-409C-BE32-E72D297353CC}">
                <c16:uniqueId val="{0000000B-6DAD-4FCA-89A9-4043B301473C}"/>
              </c:ext>
            </c:extLst>
          </c:dPt>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H&amp;B Manila</c:v>
                </c:pt>
                <c:pt idx="1">
                  <c:v>Data Management</c:v>
                </c:pt>
                <c:pt idx="2">
                  <c:v>CDT</c:v>
                </c:pt>
                <c:pt idx="3">
                  <c:v>RFP</c:v>
                </c:pt>
              </c:strCache>
            </c:strRef>
          </c:cat>
          <c:val>
            <c:numRef>
              <c:f>Sheet1!$D$2:$D$5</c:f>
              <c:numCache>
                <c:formatCode>0%</c:formatCode>
                <c:ptCount val="4"/>
                <c:pt idx="0">
                  <c:v>0</c:v>
                </c:pt>
                <c:pt idx="1">
                  <c:v>0</c:v>
                </c:pt>
                <c:pt idx="2">
                  <c:v>0</c:v>
                </c:pt>
                <c:pt idx="3">
                  <c:v>0</c:v>
                </c:pt>
              </c:numCache>
            </c:numRef>
          </c:val>
          <c:extLst>
            <c:ext xmlns:c16="http://schemas.microsoft.com/office/drawing/2014/chart" uri="{C3380CC4-5D6E-409C-BE32-E72D297353CC}">
              <c16:uniqueId val="{00000002-0CF4-4468-8356-FA99D380E509}"/>
            </c:ext>
          </c:extLst>
        </c:ser>
        <c:ser>
          <c:idx val="3"/>
          <c:order val="3"/>
          <c:tx>
            <c:strRef>
              <c:f>Sheet1!$E$1</c:f>
              <c:strCache>
                <c:ptCount val="1"/>
                <c:pt idx="0">
                  <c:v>Mar</c:v>
                </c:pt>
              </c:strCache>
            </c:strRef>
          </c:tx>
          <c:spPr>
            <a:solidFill>
              <a:schemeClr val="accent3">
                <a:tint val="93000"/>
              </a:schemeClr>
            </a:solidFill>
            <a:ln>
              <a:noFill/>
            </a:ln>
            <a:effectLst/>
          </c:spPr>
          <c:invertIfNegative val="0"/>
          <c:dPt>
            <c:idx val="0"/>
            <c:invertIfNegative val="0"/>
            <c:bubble3D val="0"/>
            <c:spPr>
              <a:solidFill>
                <a:schemeClr val="accent3">
                  <a:tint val="86000"/>
                </a:schemeClr>
              </a:solidFill>
              <a:ln>
                <a:noFill/>
              </a:ln>
              <a:effectLst/>
            </c:spPr>
            <c:extLst>
              <c:ext xmlns:c16="http://schemas.microsoft.com/office/drawing/2014/chart" uri="{C3380CC4-5D6E-409C-BE32-E72D297353CC}">
                <c16:uniqueId val="{00000016-6DAD-4FCA-89A9-4043B301473C}"/>
              </c:ext>
            </c:extLst>
          </c:dPt>
          <c:dPt>
            <c:idx val="1"/>
            <c:invertIfNegative val="0"/>
            <c:bubble3D val="0"/>
            <c:spPr>
              <a:solidFill>
                <a:schemeClr val="accent3">
                  <a:tint val="86000"/>
                </a:schemeClr>
              </a:solidFill>
              <a:ln>
                <a:noFill/>
              </a:ln>
              <a:effectLst/>
            </c:spPr>
            <c:extLst>
              <c:ext xmlns:c16="http://schemas.microsoft.com/office/drawing/2014/chart" uri="{C3380CC4-5D6E-409C-BE32-E72D297353CC}">
                <c16:uniqueId val="{00000002-6DAD-4FCA-89A9-4043B301473C}"/>
              </c:ext>
            </c:extLst>
          </c:dPt>
          <c:dPt>
            <c:idx val="2"/>
            <c:invertIfNegative val="0"/>
            <c:bubble3D val="0"/>
            <c:spPr>
              <a:solidFill>
                <a:schemeClr val="accent3">
                  <a:tint val="86000"/>
                </a:schemeClr>
              </a:solidFill>
              <a:ln>
                <a:noFill/>
              </a:ln>
              <a:effectLst/>
            </c:spPr>
            <c:extLst>
              <c:ext xmlns:c16="http://schemas.microsoft.com/office/drawing/2014/chart" uri="{C3380CC4-5D6E-409C-BE32-E72D297353CC}">
                <c16:uniqueId val="{00000007-6DAD-4FCA-89A9-4043B301473C}"/>
              </c:ext>
            </c:extLst>
          </c:dPt>
          <c:dPt>
            <c:idx val="3"/>
            <c:invertIfNegative val="0"/>
            <c:bubble3D val="0"/>
            <c:spPr>
              <a:solidFill>
                <a:schemeClr val="accent3">
                  <a:tint val="86000"/>
                </a:schemeClr>
              </a:solidFill>
              <a:ln>
                <a:noFill/>
              </a:ln>
              <a:effectLst/>
            </c:spPr>
            <c:extLst>
              <c:ext xmlns:c16="http://schemas.microsoft.com/office/drawing/2014/chart" uri="{C3380CC4-5D6E-409C-BE32-E72D297353CC}">
                <c16:uniqueId val="{0000000C-6DAD-4FCA-89A9-4043B301473C}"/>
              </c:ext>
            </c:extLst>
          </c:dPt>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H&amp;B Manila</c:v>
                </c:pt>
                <c:pt idx="1">
                  <c:v>Data Management</c:v>
                </c:pt>
                <c:pt idx="2">
                  <c:v>CDT</c:v>
                </c:pt>
                <c:pt idx="3">
                  <c:v>RFP</c:v>
                </c:pt>
              </c:strCache>
            </c:strRef>
          </c:cat>
          <c:val>
            <c:numRef>
              <c:f>Sheet1!$E$2:$E$5</c:f>
              <c:numCache>
                <c:formatCode>0%</c:formatCode>
                <c:ptCount val="4"/>
                <c:pt idx="0">
                  <c:v>0</c:v>
                </c:pt>
                <c:pt idx="1">
                  <c:v>0</c:v>
                </c:pt>
                <c:pt idx="2">
                  <c:v>0</c:v>
                </c:pt>
                <c:pt idx="3">
                  <c:v>0</c:v>
                </c:pt>
              </c:numCache>
            </c:numRef>
          </c:val>
          <c:extLst>
            <c:ext xmlns:c16="http://schemas.microsoft.com/office/drawing/2014/chart" uri="{C3380CC4-5D6E-409C-BE32-E72D297353CC}">
              <c16:uniqueId val="{00000003-0CF4-4468-8356-FA99D380E509}"/>
            </c:ext>
          </c:extLst>
        </c:ser>
        <c:ser>
          <c:idx val="4"/>
          <c:order val="4"/>
          <c:tx>
            <c:strRef>
              <c:f>Sheet1!$F$1</c:f>
              <c:strCache>
                <c:ptCount val="1"/>
                <c:pt idx="0">
                  <c:v>Apr</c:v>
                </c:pt>
              </c:strCache>
            </c:strRef>
          </c:tx>
          <c:spPr>
            <a:solidFill>
              <a:schemeClr val="accent3">
                <a:shade val="92000"/>
              </a:schemeClr>
            </a:solidFill>
            <a:ln>
              <a:noFill/>
            </a:ln>
            <a:effectLst/>
          </c:spPr>
          <c:invertIfNegative val="0"/>
          <c:dPt>
            <c:idx val="0"/>
            <c:invertIfNegative val="0"/>
            <c:bubble3D val="0"/>
            <c:spPr>
              <a:solidFill>
                <a:schemeClr val="accent3"/>
              </a:solidFill>
              <a:ln>
                <a:noFill/>
              </a:ln>
              <a:effectLst/>
            </c:spPr>
            <c:extLst>
              <c:ext xmlns:c16="http://schemas.microsoft.com/office/drawing/2014/chart" uri="{C3380CC4-5D6E-409C-BE32-E72D297353CC}">
                <c16:uniqueId val="{00000017-6DAD-4FCA-89A9-4043B301473C}"/>
              </c:ext>
            </c:extLst>
          </c:dPt>
          <c:dPt>
            <c:idx val="1"/>
            <c:invertIfNegative val="0"/>
            <c:bubble3D val="0"/>
            <c:spPr>
              <a:solidFill>
                <a:schemeClr val="accent3"/>
              </a:solidFill>
              <a:ln>
                <a:noFill/>
              </a:ln>
              <a:effectLst/>
            </c:spPr>
            <c:extLst>
              <c:ext xmlns:c16="http://schemas.microsoft.com/office/drawing/2014/chart" uri="{C3380CC4-5D6E-409C-BE32-E72D297353CC}">
                <c16:uniqueId val="{00000003-6DAD-4FCA-89A9-4043B301473C}"/>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8-6DAD-4FCA-89A9-4043B301473C}"/>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D-6DAD-4FCA-89A9-4043B301473C}"/>
              </c:ext>
            </c:extLst>
          </c:dPt>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H&amp;B Manila</c:v>
                </c:pt>
                <c:pt idx="1">
                  <c:v>Data Management</c:v>
                </c:pt>
                <c:pt idx="2">
                  <c:v>CDT</c:v>
                </c:pt>
                <c:pt idx="3">
                  <c:v>RFP</c:v>
                </c:pt>
              </c:strCache>
            </c:strRef>
          </c:cat>
          <c:val>
            <c:numRef>
              <c:f>Sheet1!$F$2:$F$5</c:f>
              <c:numCache>
                <c:formatCode>0%</c:formatCode>
                <c:ptCount val="4"/>
                <c:pt idx="0">
                  <c:v>0</c:v>
                </c:pt>
                <c:pt idx="1">
                  <c:v>0</c:v>
                </c:pt>
                <c:pt idx="2">
                  <c:v>0</c:v>
                </c:pt>
                <c:pt idx="3">
                  <c:v>0</c:v>
                </c:pt>
              </c:numCache>
            </c:numRef>
          </c:val>
          <c:extLst>
            <c:ext xmlns:c16="http://schemas.microsoft.com/office/drawing/2014/chart" uri="{C3380CC4-5D6E-409C-BE32-E72D297353CC}">
              <c16:uniqueId val="{00000004-0CF4-4468-8356-FA99D380E509}"/>
            </c:ext>
          </c:extLst>
        </c:ser>
        <c:ser>
          <c:idx val="5"/>
          <c:order val="5"/>
          <c:tx>
            <c:strRef>
              <c:f>Sheet1!$G$1</c:f>
              <c:strCache>
                <c:ptCount val="1"/>
                <c:pt idx="0">
                  <c:v>May</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H&amp;B Manila</c:v>
                </c:pt>
                <c:pt idx="1">
                  <c:v>Data Management</c:v>
                </c:pt>
                <c:pt idx="2">
                  <c:v>CDT</c:v>
                </c:pt>
                <c:pt idx="3">
                  <c:v>RFP</c:v>
                </c:pt>
              </c:strCache>
            </c:strRef>
          </c:cat>
          <c:val>
            <c:numRef>
              <c:f>Sheet1!$G$2:$G$5</c:f>
              <c:numCache>
                <c:formatCode>0%</c:formatCode>
                <c:ptCount val="4"/>
                <c:pt idx="0">
                  <c:v>0</c:v>
                </c:pt>
                <c:pt idx="1">
                  <c:v>0</c:v>
                </c:pt>
                <c:pt idx="2">
                  <c:v>0</c:v>
                </c:pt>
                <c:pt idx="3">
                  <c:v>0</c:v>
                </c:pt>
              </c:numCache>
            </c:numRef>
          </c:val>
          <c:extLst>
            <c:ext xmlns:c16="http://schemas.microsoft.com/office/drawing/2014/chart" uri="{C3380CC4-5D6E-409C-BE32-E72D297353CC}">
              <c16:uniqueId val="{0000002E-B287-4CEC-A4DE-F95F97F5DF3D}"/>
            </c:ext>
          </c:extLst>
        </c:ser>
        <c:ser>
          <c:idx val="6"/>
          <c:order val="6"/>
          <c:tx>
            <c:strRef>
              <c:f>Sheet1!$H$1</c:f>
              <c:strCache>
                <c:ptCount val="1"/>
                <c:pt idx="0">
                  <c:v>June</c:v>
                </c:pt>
              </c:strCache>
            </c:strRef>
          </c:tx>
          <c:spPr>
            <a:solidFill>
              <a:schemeClr val="accent3">
                <a:shade val="61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H&amp;B Manila</c:v>
                </c:pt>
                <c:pt idx="1">
                  <c:v>Data Management</c:v>
                </c:pt>
                <c:pt idx="2">
                  <c:v>CDT</c:v>
                </c:pt>
                <c:pt idx="3">
                  <c:v>RFP</c:v>
                </c:pt>
              </c:strCache>
            </c:strRef>
          </c:cat>
          <c:val>
            <c:numRef>
              <c:f>Sheet1!$H$2:$H$5</c:f>
              <c:numCache>
                <c:formatCode>0%</c:formatCode>
                <c:ptCount val="4"/>
                <c:pt idx="0">
                  <c:v>0</c:v>
                </c:pt>
                <c:pt idx="1">
                  <c:v>0</c:v>
                </c:pt>
                <c:pt idx="2">
                  <c:v>0</c:v>
                </c:pt>
                <c:pt idx="3">
                  <c:v>0</c:v>
                </c:pt>
              </c:numCache>
            </c:numRef>
          </c:val>
          <c:extLst>
            <c:ext xmlns:c16="http://schemas.microsoft.com/office/drawing/2014/chart" uri="{C3380CC4-5D6E-409C-BE32-E72D297353CC}">
              <c16:uniqueId val="{00000026-5254-4D41-A25F-E56B6B32A1C1}"/>
            </c:ext>
          </c:extLst>
        </c:ser>
        <c:ser>
          <c:idx val="7"/>
          <c:order val="7"/>
          <c:tx>
            <c:strRef>
              <c:f>Sheet1!$I$1</c:f>
              <c:strCache>
                <c:ptCount val="1"/>
                <c:pt idx="0">
                  <c:v>FCST</c:v>
                </c:pt>
              </c:strCache>
            </c:strRef>
          </c:tx>
          <c:spPr>
            <a:solidFill>
              <a:schemeClr val="accent5">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H&amp;B Manila</c:v>
                </c:pt>
                <c:pt idx="1">
                  <c:v>Data Management</c:v>
                </c:pt>
                <c:pt idx="2">
                  <c:v>CDT</c:v>
                </c:pt>
                <c:pt idx="3">
                  <c:v>RFP</c:v>
                </c:pt>
              </c:strCache>
            </c:strRef>
          </c:cat>
          <c:val>
            <c:numRef>
              <c:f>Sheet1!$I$2:$I$5</c:f>
              <c:numCache>
                <c:formatCode>0%</c:formatCode>
                <c:ptCount val="4"/>
                <c:pt idx="0">
                  <c:v>0</c:v>
                </c:pt>
                <c:pt idx="1">
                  <c:v>0</c:v>
                </c:pt>
                <c:pt idx="2">
                  <c:v>0</c:v>
                </c:pt>
                <c:pt idx="3">
                  <c:v>0</c:v>
                </c:pt>
              </c:numCache>
            </c:numRef>
          </c:val>
          <c:extLst>
            <c:ext xmlns:c16="http://schemas.microsoft.com/office/drawing/2014/chart" uri="{C3380CC4-5D6E-409C-BE32-E72D297353CC}">
              <c16:uniqueId val="{00000028-3135-4E62-9879-BAA3F090A740}"/>
            </c:ext>
          </c:extLst>
        </c:ser>
        <c:dLbls>
          <c:dLblPos val="outEnd"/>
          <c:showLegendKey val="0"/>
          <c:showVal val="1"/>
          <c:showCatName val="0"/>
          <c:showSerName val="0"/>
          <c:showPercent val="0"/>
          <c:showBubbleSize val="0"/>
        </c:dLbls>
        <c:gapWidth val="219"/>
        <c:overlap val="-27"/>
        <c:axId val="1278386928"/>
        <c:axId val="1278389880"/>
        <c:extLst/>
      </c:barChart>
      <c:catAx>
        <c:axId val="1278386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9880"/>
        <c:crosses val="autoZero"/>
        <c:auto val="1"/>
        <c:lblAlgn val="ctr"/>
        <c:lblOffset val="600"/>
        <c:tickLblSkip val="1"/>
        <c:noMultiLvlLbl val="0"/>
      </c:catAx>
      <c:valAx>
        <c:axId val="127838988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solidFill>
        <a:schemeClr val="accent1"/>
      </a:solid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dirty="0"/>
              <a:t>May Capacity Breakdown</a:t>
            </a:r>
          </a:p>
        </c:rich>
      </c:tx>
      <c:layout>
        <c:manualLayout>
          <c:xMode val="edge"/>
          <c:yMode val="edge"/>
          <c:x val="0.23706453110784315"/>
          <c:y val="4.9319592698067981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674389882151863"/>
          <c:y val="0.17745497756561293"/>
          <c:w val="0.85973487164170981"/>
          <c:h val="0.54167305210104699"/>
        </c:manualLayout>
      </c:layout>
      <c:barChart>
        <c:barDir val="bar"/>
        <c:grouping val="stacked"/>
        <c:varyColors val="0"/>
        <c:ser>
          <c:idx val="0"/>
          <c:order val="0"/>
          <c:tx>
            <c:strRef>
              <c:f>Sheet1!$B$1</c:f>
              <c:strCache>
                <c:ptCount val="1"/>
                <c:pt idx="0">
                  <c:v>Client Time</c:v>
                </c:pt>
              </c:strCache>
            </c:strRef>
          </c:tx>
          <c:spPr>
            <a:solidFill>
              <a:schemeClr val="accent1"/>
            </a:solidFill>
            <a:ln>
              <a:noFill/>
            </a:ln>
            <a:effectLst/>
          </c:spPr>
          <c:invertIfNegative val="0"/>
          <c:dPt>
            <c:idx val="0"/>
            <c:invertIfNegative val="0"/>
            <c:bubble3D val="0"/>
            <c:spPr>
              <a:solidFill>
                <a:schemeClr val="accent3">
                  <a:lumMod val="75000"/>
                </a:schemeClr>
              </a:solidFill>
              <a:ln>
                <a:noFill/>
              </a:ln>
              <a:effectLst/>
            </c:spPr>
            <c:extLst>
              <c:ext xmlns:c16="http://schemas.microsoft.com/office/drawing/2014/chart" uri="{C3380CC4-5D6E-409C-BE32-E72D297353CC}">
                <c16:uniqueId val="{00000001-3270-4E4E-BE64-5CCAD8073D22}"/>
              </c:ext>
            </c:extLst>
          </c:dPt>
          <c:dPt>
            <c:idx val="1"/>
            <c:invertIfNegative val="0"/>
            <c:bubble3D val="0"/>
            <c:spPr>
              <a:solidFill>
                <a:schemeClr val="accent1">
                  <a:lumMod val="75000"/>
                </a:schemeClr>
              </a:solidFill>
              <a:ln>
                <a:noFill/>
              </a:ln>
              <a:effectLst/>
            </c:spPr>
            <c:extLst>
              <c:ext xmlns:c16="http://schemas.microsoft.com/office/drawing/2014/chart" uri="{C3380CC4-5D6E-409C-BE32-E72D297353CC}">
                <c16:uniqueId val="{00000003-3270-4E4E-BE64-5CCAD8073D22}"/>
              </c:ext>
            </c:extLst>
          </c:dPt>
          <c:dPt>
            <c:idx val="2"/>
            <c:invertIfNegative val="0"/>
            <c:bubble3D val="0"/>
            <c:spPr>
              <a:solidFill>
                <a:srgbClr val="FFC000"/>
              </a:solidFill>
              <a:ln>
                <a:noFill/>
              </a:ln>
              <a:effectLst/>
            </c:spPr>
            <c:extLst>
              <c:ext xmlns:c16="http://schemas.microsoft.com/office/drawing/2014/chart" uri="{C3380CC4-5D6E-409C-BE32-E72D297353CC}">
                <c16:uniqueId val="{00000005-3270-4E4E-BE64-5CCAD8073D2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DM</c:v>
                </c:pt>
                <c:pt idx="1">
                  <c:v>CDT</c:v>
                </c:pt>
                <c:pt idx="2">
                  <c:v>RFP</c:v>
                </c:pt>
              </c:strCache>
            </c:strRef>
          </c:cat>
          <c:val>
            <c:numRef>
              <c:f>Sheet1!$B$2:$B$4</c:f>
              <c:numCache>
                <c:formatCode>0%</c:formatCode>
                <c:ptCount val="3"/>
                <c:pt idx="0">
                  <c:v>0</c:v>
                </c:pt>
                <c:pt idx="1">
                  <c:v>0</c:v>
                </c:pt>
                <c:pt idx="2">
                  <c:v>0</c:v>
                </c:pt>
              </c:numCache>
            </c:numRef>
          </c:val>
          <c:extLst>
            <c:ext xmlns:c16="http://schemas.microsoft.com/office/drawing/2014/chart" uri="{C3380CC4-5D6E-409C-BE32-E72D297353CC}">
              <c16:uniqueId val="{00000006-3270-4E4E-BE64-5CCAD8073D22}"/>
            </c:ext>
          </c:extLst>
        </c:ser>
        <c:ser>
          <c:idx val="1"/>
          <c:order val="1"/>
          <c:tx>
            <c:strRef>
              <c:f>Sheet1!$C$1</c:f>
              <c:strCache>
                <c:ptCount val="1"/>
                <c:pt idx="0">
                  <c:v>Non-Client Time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DM</c:v>
                </c:pt>
                <c:pt idx="1">
                  <c:v>CDT</c:v>
                </c:pt>
                <c:pt idx="2">
                  <c:v>RFP</c:v>
                </c:pt>
              </c:strCache>
            </c:strRef>
          </c:cat>
          <c:val>
            <c:numRef>
              <c:f>Sheet1!$C$2:$C$4</c:f>
              <c:numCache>
                <c:formatCode>0%</c:formatCode>
                <c:ptCount val="3"/>
                <c:pt idx="0">
                  <c:v>0</c:v>
                </c:pt>
                <c:pt idx="1">
                  <c:v>0</c:v>
                </c:pt>
                <c:pt idx="2">
                  <c:v>0</c:v>
                </c:pt>
              </c:numCache>
            </c:numRef>
          </c:val>
          <c:extLst>
            <c:ext xmlns:c16="http://schemas.microsoft.com/office/drawing/2014/chart" uri="{C3380CC4-5D6E-409C-BE32-E72D297353CC}">
              <c16:uniqueId val="{00000007-3270-4E4E-BE64-5CCAD8073D22}"/>
            </c:ext>
          </c:extLst>
        </c:ser>
        <c:ser>
          <c:idx val="2"/>
          <c:order val="2"/>
          <c:tx>
            <c:strRef>
              <c:f>Sheet1!$D$1</c:f>
              <c:strCache>
                <c:ptCount val="1"/>
                <c:pt idx="0">
                  <c:v>Non-Working Time</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DM</c:v>
                </c:pt>
                <c:pt idx="1">
                  <c:v>CDT</c:v>
                </c:pt>
                <c:pt idx="2">
                  <c:v>RFP</c:v>
                </c:pt>
              </c:strCache>
            </c:strRef>
          </c:cat>
          <c:val>
            <c:numRef>
              <c:f>Sheet1!$D$2:$D$4</c:f>
              <c:numCache>
                <c:formatCode>0%</c:formatCode>
                <c:ptCount val="3"/>
                <c:pt idx="0">
                  <c:v>0</c:v>
                </c:pt>
                <c:pt idx="1">
                  <c:v>0</c:v>
                </c:pt>
                <c:pt idx="2">
                  <c:v>0</c:v>
                </c:pt>
              </c:numCache>
            </c:numRef>
          </c:val>
          <c:extLst>
            <c:ext xmlns:c16="http://schemas.microsoft.com/office/drawing/2014/chart" uri="{C3380CC4-5D6E-409C-BE32-E72D297353CC}">
              <c16:uniqueId val="{00000008-3270-4E4E-BE64-5CCAD8073D22}"/>
            </c:ext>
          </c:extLst>
        </c:ser>
        <c:ser>
          <c:idx val="3"/>
          <c:order val="3"/>
          <c:tx>
            <c:strRef>
              <c:f>Sheet1!$E$1</c:f>
              <c:strCache>
                <c:ptCount val="1"/>
                <c:pt idx="0">
                  <c:v>Other LOB</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DM</c:v>
                </c:pt>
                <c:pt idx="1">
                  <c:v>CDT</c:v>
                </c:pt>
                <c:pt idx="2">
                  <c:v>RFP</c:v>
                </c:pt>
              </c:strCache>
            </c:strRef>
          </c:cat>
          <c:val>
            <c:numRef>
              <c:f>Sheet1!$E$2:$E$4</c:f>
              <c:numCache>
                <c:formatCode>0%</c:formatCode>
                <c:ptCount val="3"/>
                <c:pt idx="0">
                  <c:v>0</c:v>
                </c:pt>
                <c:pt idx="1">
                  <c:v>0</c:v>
                </c:pt>
                <c:pt idx="2">
                  <c:v>0</c:v>
                </c:pt>
              </c:numCache>
            </c:numRef>
          </c:val>
          <c:extLst>
            <c:ext xmlns:c16="http://schemas.microsoft.com/office/drawing/2014/chart" uri="{C3380CC4-5D6E-409C-BE32-E72D297353CC}">
              <c16:uniqueId val="{00000006-CCA6-4E66-A437-70FFAFC5B341}"/>
            </c:ext>
          </c:extLst>
        </c:ser>
        <c:dLbls>
          <c:dLblPos val="ctr"/>
          <c:showLegendKey val="0"/>
          <c:showVal val="1"/>
          <c:showCatName val="0"/>
          <c:showSerName val="0"/>
          <c:showPercent val="0"/>
          <c:showBubbleSize val="0"/>
        </c:dLbls>
        <c:gapWidth val="150"/>
        <c:overlap val="100"/>
        <c:axId val="893752488"/>
        <c:axId val="893756752"/>
      </c:barChart>
      <c:catAx>
        <c:axId val="893752488"/>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93756752"/>
        <c:crosses val="autoZero"/>
        <c:auto val="1"/>
        <c:lblAlgn val="ctr"/>
        <c:lblOffset val="100"/>
        <c:noMultiLvlLbl val="0"/>
      </c:catAx>
      <c:valAx>
        <c:axId val="893756752"/>
        <c:scaling>
          <c:orientation val="minMax"/>
        </c:scaling>
        <c:delete val="1"/>
        <c:axPos val="b"/>
        <c:numFmt formatCode="0%" sourceLinked="1"/>
        <c:majorTickMark val="out"/>
        <c:minorTickMark val="none"/>
        <c:tickLblPos val="nextTo"/>
        <c:crossAx val="893752488"/>
        <c:crosses val="autoZero"/>
        <c:crossBetween val="between"/>
      </c:valAx>
      <c:spPr>
        <a:noFill/>
        <a:ln>
          <a:noFill/>
        </a:ln>
        <a:effectLst/>
      </c:spPr>
    </c:plotArea>
    <c:legend>
      <c:legendPos val="b"/>
      <c:layout>
        <c:manualLayout>
          <c:xMode val="edge"/>
          <c:yMode val="edge"/>
          <c:x val="9.31333862715642E-2"/>
          <c:y val="0.77147064659597575"/>
          <c:w val="0.66159821344637837"/>
          <c:h val="0.1761283011818931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US"/>
              <a:t>Productivity (Actuals vs Forecast) 2021</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Forecast</c:v>
                </c:pt>
              </c:strCache>
            </c:strRef>
          </c:tx>
          <c:spPr>
            <a:solidFill>
              <a:schemeClr val="accent1">
                <a:alpha val="70000"/>
              </a:schemeClr>
            </a:solidFill>
            <a:ln>
              <a:noFill/>
            </a:ln>
            <a:effectLst/>
          </c:spPr>
          <c:invertIfNegative val="0"/>
          <c:dPt>
            <c:idx val="0"/>
            <c:invertIfNegative val="0"/>
            <c:bubble3D val="0"/>
            <c:spPr>
              <a:solidFill>
                <a:schemeClr val="accent1">
                  <a:alpha val="70000"/>
                </a:schemeClr>
              </a:solidFill>
              <a:ln>
                <a:noFill/>
              </a:ln>
              <a:effectLst/>
            </c:spPr>
            <c:extLst>
              <c:ext xmlns:c16="http://schemas.microsoft.com/office/drawing/2014/chart" uri="{C3380CC4-5D6E-409C-BE32-E72D297353CC}">
                <c16:uniqueId val="{00000013-6DAD-4FCA-89A9-4043B301473C}"/>
              </c:ext>
            </c:extLst>
          </c:dPt>
          <c:dPt>
            <c:idx val="1"/>
            <c:invertIfNegative val="0"/>
            <c:bubble3D val="0"/>
            <c:spPr>
              <a:solidFill>
                <a:schemeClr val="accent1">
                  <a:alpha val="70000"/>
                </a:schemeClr>
              </a:solidFill>
              <a:ln>
                <a:noFill/>
              </a:ln>
              <a:effectLst/>
            </c:spPr>
            <c:extLst>
              <c:ext xmlns:c16="http://schemas.microsoft.com/office/drawing/2014/chart" uri="{C3380CC4-5D6E-409C-BE32-E72D297353CC}">
                <c16:uniqueId val="{00000000-6DAD-4FCA-89A9-4043B301473C}"/>
              </c:ext>
            </c:extLst>
          </c:dPt>
          <c:dPt>
            <c:idx val="2"/>
            <c:invertIfNegative val="0"/>
            <c:bubble3D val="0"/>
            <c:spPr>
              <a:solidFill>
                <a:schemeClr val="accent1">
                  <a:alpha val="70000"/>
                </a:schemeClr>
              </a:solidFill>
              <a:ln>
                <a:noFill/>
              </a:ln>
              <a:effectLst/>
            </c:spPr>
            <c:extLst>
              <c:ext xmlns:c16="http://schemas.microsoft.com/office/drawing/2014/chart" uri="{C3380CC4-5D6E-409C-BE32-E72D297353CC}">
                <c16:uniqueId val="{00000004-6DAD-4FCA-89A9-4043B301473C}"/>
              </c:ext>
            </c:extLst>
          </c:dPt>
          <c:dPt>
            <c:idx val="3"/>
            <c:invertIfNegative val="0"/>
            <c:bubble3D val="0"/>
            <c:spPr>
              <a:solidFill>
                <a:schemeClr val="accent1">
                  <a:alpha val="70000"/>
                </a:schemeClr>
              </a:solidFill>
              <a:ln>
                <a:noFill/>
              </a:ln>
              <a:effectLst/>
            </c:spPr>
            <c:extLst>
              <c:ext xmlns:c16="http://schemas.microsoft.com/office/drawing/2014/chart" uri="{C3380CC4-5D6E-409C-BE32-E72D297353CC}">
                <c16:uniqueId val="{00000009-6DAD-4FCA-89A9-4043B301473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Sheet1!$A$2:$A$19</c:f>
              <c:strCache>
                <c:ptCount val="18"/>
                <c:pt idx="0">
                  <c:v>YTD</c:v>
                </c:pt>
                <c:pt idx="1">
                  <c:v>Q1</c:v>
                </c:pt>
                <c:pt idx="2">
                  <c:v>Q2</c:v>
                </c:pt>
                <c:pt idx="3">
                  <c:v>Q3</c:v>
                </c:pt>
                <c:pt idx="4">
                  <c:v>Q4</c:v>
                </c:pt>
                <c:pt idx="5">
                  <c:v>January</c:v>
                </c:pt>
                <c:pt idx="6">
                  <c:v>February</c:v>
                </c:pt>
                <c:pt idx="7">
                  <c:v>March</c:v>
                </c:pt>
                <c:pt idx="8">
                  <c:v>April</c:v>
                </c:pt>
                <c:pt idx="9">
                  <c:v>May</c:v>
                </c:pt>
                <c:pt idx="10">
                  <c:v>June</c:v>
                </c:pt>
                <c:pt idx="11">
                  <c:v>July</c:v>
                </c:pt>
                <c:pt idx="12">
                  <c:v>August</c:v>
                </c:pt>
                <c:pt idx="13">
                  <c:v>September</c:v>
                </c:pt>
                <c:pt idx="14">
                  <c:v>October</c:v>
                </c:pt>
                <c:pt idx="15">
                  <c:v>November</c:v>
                </c:pt>
                <c:pt idx="16">
                  <c:v>December</c:v>
                </c:pt>
                <c:pt idx="17">
                  <c:v>Target YTD</c:v>
                </c:pt>
              </c:strCache>
            </c:strRef>
          </c:cat>
          <c:val>
            <c:numRef>
              <c:f>Sheet1!$B$2:$B$19</c:f>
              <c:numCache>
                <c:formatCode>0%</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numCache>
            </c:numRef>
          </c:val>
          <c:extLst>
            <c:ext xmlns:c16="http://schemas.microsoft.com/office/drawing/2014/chart" uri="{C3380CC4-5D6E-409C-BE32-E72D297353CC}">
              <c16:uniqueId val="{00000000-0CF4-4468-8356-FA99D380E509}"/>
            </c:ext>
          </c:extLst>
        </c:ser>
        <c:ser>
          <c:idx val="1"/>
          <c:order val="1"/>
          <c:tx>
            <c:strRef>
              <c:f>Sheet1!$C$1</c:f>
              <c:strCache>
                <c:ptCount val="1"/>
                <c:pt idx="0">
                  <c:v>Actuals</c:v>
                </c:pt>
              </c:strCache>
            </c:strRef>
          </c:tx>
          <c:spPr>
            <a:solidFill>
              <a:schemeClr val="accent2">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Sheet1!$A$2:$A$19</c:f>
              <c:strCache>
                <c:ptCount val="18"/>
                <c:pt idx="0">
                  <c:v>YTD</c:v>
                </c:pt>
                <c:pt idx="1">
                  <c:v>Q1</c:v>
                </c:pt>
                <c:pt idx="2">
                  <c:v>Q2</c:v>
                </c:pt>
                <c:pt idx="3">
                  <c:v>Q3</c:v>
                </c:pt>
                <c:pt idx="4">
                  <c:v>Q4</c:v>
                </c:pt>
                <c:pt idx="5">
                  <c:v>January</c:v>
                </c:pt>
                <c:pt idx="6">
                  <c:v>February</c:v>
                </c:pt>
                <c:pt idx="7">
                  <c:v>March</c:v>
                </c:pt>
                <c:pt idx="8">
                  <c:v>April</c:v>
                </c:pt>
                <c:pt idx="9">
                  <c:v>May</c:v>
                </c:pt>
                <c:pt idx="10">
                  <c:v>June</c:v>
                </c:pt>
                <c:pt idx="11">
                  <c:v>July</c:v>
                </c:pt>
                <c:pt idx="12">
                  <c:v>August</c:v>
                </c:pt>
                <c:pt idx="13">
                  <c:v>September</c:v>
                </c:pt>
                <c:pt idx="14">
                  <c:v>October</c:v>
                </c:pt>
                <c:pt idx="15">
                  <c:v>November</c:v>
                </c:pt>
                <c:pt idx="16">
                  <c:v>December</c:v>
                </c:pt>
                <c:pt idx="17">
                  <c:v>Target YTD</c:v>
                </c:pt>
              </c:strCache>
            </c:strRef>
          </c:cat>
          <c:val>
            <c:numRef>
              <c:f>Sheet1!$C$2:$C$19</c:f>
              <c:numCache>
                <c:formatCode>0%</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numCache>
            </c:numRef>
          </c:val>
          <c:extLst>
            <c:ext xmlns:c16="http://schemas.microsoft.com/office/drawing/2014/chart" uri="{C3380CC4-5D6E-409C-BE32-E72D297353CC}">
              <c16:uniqueId val="{00000003-B839-413B-89EE-DB42F9202B11}"/>
            </c:ext>
          </c:extLst>
        </c:ser>
        <c:ser>
          <c:idx val="2"/>
          <c:order val="2"/>
          <c:tx>
            <c:strRef>
              <c:f>Sheet1!$D$1</c:f>
              <c:strCache>
                <c:ptCount val="1"/>
                <c:pt idx="0">
                  <c:v>Actuals 2020</c:v>
                </c:pt>
              </c:strCache>
            </c:strRef>
          </c:tx>
          <c:spPr>
            <a:solidFill>
              <a:schemeClr val="accent3">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Sheet1!$A$2:$A$19</c:f>
              <c:strCache>
                <c:ptCount val="18"/>
                <c:pt idx="0">
                  <c:v>YTD</c:v>
                </c:pt>
                <c:pt idx="1">
                  <c:v>Q1</c:v>
                </c:pt>
                <c:pt idx="2">
                  <c:v>Q2</c:v>
                </c:pt>
                <c:pt idx="3">
                  <c:v>Q3</c:v>
                </c:pt>
                <c:pt idx="4">
                  <c:v>Q4</c:v>
                </c:pt>
                <c:pt idx="5">
                  <c:v>January</c:v>
                </c:pt>
                <c:pt idx="6">
                  <c:v>February</c:v>
                </c:pt>
                <c:pt idx="7">
                  <c:v>March</c:v>
                </c:pt>
                <c:pt idx="8">
                  <c:v>April</c:v>
                </c:pt>
                <c:pt idx="9">
                  <c:v>May</c:v>
                </c:pt>
                <c:pt idx="10">
                  <c:v>June</c:v>
                </c:pt>
                <c:pt idx="11">
                  <c:v>July</c:v>
                </c:pt>
                <c:pt idx="12">
                  <c:v>August</c:v>
                </c:pt>
                <c:pt idx="13">
                  <c:v>September</c:v>
                </c:pt>
                <c:pt idx="14">
                  <c:v>October</c:v>
                </c:pt>
                <c:pt idx="15">
                  <c:v>November</c:v>
                </c:pt>
                <c:pt idx="16">
                  <c:v>December</c:v>
                </c:pt>
                <c:pt idx="17">
                  <c:v>Target YTD</c:v>
                </c:pt>
              </c:strCache>
            </c:strRef>
          </c:cat>
          <c:val>
            <c:numRef>
              <c:f>Sheet1!$D$2:$D$19</c:f>
              <c:numCache>
                <c:formatCode>0%</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numCache>
            </c:numRef>
          </c:val>
          <c:extLst>
            <c:ext xmlns:c16="http://schemas.microsoft.com/office/drawing/2014/chart" uri="{C3380CC4-5D6E-409C-BE32-E72D297353CC}">
              <c16:uniqueId val="{00000005-B839-413B-89EE-DB42F9202B11}"/>
            </c:ext>
          </c:extLst>
        </c:ser>
        <c:ser>
          <c:idx val="3"/>
          <c:order val="3"/>
          <c:tx>
            <c:strRef>
              <c:f>Sheet1!$E$1</c:f>
              <c:strCache>
                <c:ptCount val="1"/>
                <c:pt idx="0">
                  <c:v>Actuals 2021</c:v>
                </c:pt>
              </c:strCache>
            </c:strRef>
          </c:tx>
          <c:spPr>
            <a:solidFill>
              <a:schemeClr val="accent4">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Sheet1!$A$2:$A$19</c:f>
              <c:strCache>
                <c:ptCount val="18"/>
                <c:pt idx="0">
                  <c:v>YTD</c:v>
                </c:pt>
                <c:pt idx="1">
                  <c:v>Q1</c:v>
                </c:pt>
                <c:pt idx="2">
                  <c:v>Q2</c:v>
                </c:pt>
                <c:pt idx="3">
                  <c:v>Q3</c:v>
                </c:pt>
                <c:pt idx="4">
                  <c:v>Q4</c:v>
                </c:pt>
                <c:pt idx="5">
                  <c:v>January</c:v>
                </c:pt>
                <c:pt idx="6">
                  <c:v>February</c:v>
                </c:pt>
                <c:pt idx="7">
                  <c:v>March</c:v>
                </c:pt>
                <c:pt idx="8">
                  <c:v>April</c:v>
                </c:pt>
                <c:pt idx="9">
                  <c:v>May</c:v>
                </c:pt>
                <c:pt idx="10">
                  <c:v>June</c:v>
                </c:pt>
                <c:pt idx="11">
                  <c:v>July</c:v>
                </c:pt>
                <c:pt idx="12">
                  <c:v>August</c:v>
                </c:pt>
                <c:pt idx="13">
                  <c:v>September</c:v>
                </c:pt>
                <c:pt idx="14">
                  <c:v>October</c:v>
                </c:pt>
                <c:pt idx="15">
                  <c:v>November</c:v>
                </c:pt>
                <c:pt idx="16">
                  <c:v>December</c:v>
                </c:pt>
                <c:pt idx="17">
                  <c:v>Target YTD</c:v>
                </c:pt>
              </c:strCache>
            </c:strRef>
          </c:cat>
          <c:val>
            <c:numRef>
              <c:f>Sheet1!$E$2:$E$19</c:f>
              <c:numCache>
                <c:formatCode>0%</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numCache>
            </c:numRef>
          </c:val>
          <c:extLst>
            <c:ext xmlns:c16="http://schemas.microsoft.com/office/drawing/2014/chart" uri="{C3380CC4-5D6E-409C-BE32-E72D297353CC}">
              <c16:uniqueId val="{00000006-B839-413B-89EE-DB42F9202B11}"/>
            </c:ext>
          </c:extLst>
        </c:ser>
        <c:ser>
          <c:idx val="4"/>
          <c:order val="4"/>
          <c:tx>
            <c:strRef>
              <c:f>Sheet1!$F$1</c:f>
              <c:strCache>
                <c:ptCount val="1"/>
                <c:pt idx="0">
                  <c:v>Difference</c:v>
                </c:pt>
              </c:strCache>
            </c:strRef>
          </c:tx>
          <c:spPr>
            <a:solidFill>
              <a:schemeClr val="accent5">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Sheet1!$A$2:$A$19</c:f>
              <c:strCache>
                <c:ptCount val="18"/>
                <c:pt idx="0">
                  <c:v>YTD</c:v>
                </c:pt>
                <c:pt idx="1">
                  <c:v>Q1</c:v>
                </c:pt>
                <c:pt idx="2">
                  <c:v>Q2</c:v>
                </c:pt>
                <c:pt idx="3">
                  <c:v>Q3</c:v>
                </c:pt>
                <c:pt idx="4">
                  <c:v>Q4</c:v>
                </c:pt>
                <c:pt idx="5">
                  <c:v>January</c:v>
                </c:pt>
                <c:pt idx="6">
                  <c:v>February</c:v>
                </c:pt>
                <c:pt idx="7">
                  <c:v>March</c:v>
                </c:pt>
                <c:pt idx="8">
                  <c:v>April</c:v>
                </c:pt>
                <c:pt idx="9">
                  <c:v>May</c:v>
                </c:pt>
                <c:pt idx="10">
                  <c:v>June</c:v>
                </c:pt>
                <c:pt idx="11">
                  <c:v>July</c:v>
                </c:pt>
                <c:pt idx="12">
                  <c:v>August</c:v>
                </c:pt>
                <c:pt idx="13">
                  <c:v>September</c:v>
                </c:pt>
                <c:pt idx="14">
                  <c:v>October</c:v>
                </c:pt>
                <c:pt idx="15">
                  <c:v>November</c:v>
                </c:pt>
                <c:pt idx="16">
                  <c:v>December</c:v>
                </c:pt>
                <c:pt idx="17">
                  <c:v>Target YTD</c:v>
                </c:pt>
              </c:strCache>
            </c:strRef>
          </c:cat>
          <c:val>
            <c:numRef>
              <c:f>Sheet1!$F$2:$F$19</c:f>
              <c:numCache>
                <c:formatCode>0%</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numCache>
            </c:numRef>
          </c:val>
          <c:extLst>
            <c:ext xmlns:c16="http://schemas.microsoft.com/office/drawing/2014/chart" uri="{C3380CC4-5D6E-409C-BE32-E72D297353CC}">
              <c16:uniqueId val="{00000015-0BA1-4AD5-B2EB-57FBD6BA95CC}"/>
            </c:ext>
          </c:extLst>
        </c:ser>
        <c:dLbls>
          <c:dLblPos val="outEnd"/>
          <c:showLegendKey val="0"/>
          <c:showVal val="1"/>
          <c:showCatName val="0"/>
          <c:showSerName val="0"/>
          <c:showPercent val="0"/>
          <c:showBubbleSize val="0"/>
        </c:dLbls>
        <c:gapWidth val="80"/>
        <c:overlap val="25"/>
        <c:axId val="1278386928"/>
        <c:axId val="1278389880"/>
        <c:extLst/>
      </c:barChart>
      <c:catAx>
        <c:axId val="1278386928"/>
        <c:scaling>
          <c:orientation val="minMax"/>
        </c:scaling>
        <c:delete val="0"/>
        <c:axPos val="b"/>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1278389880"/>
        <c:crosses val="autoZero"/>
        <c:auto val="1"/>
        <c:lblAlgn val="ctr"/>
        <c:lblOffset val="600"/>
        <c:tickLblSkip val="1"/>
        <c:noMultiLvlLbl val="0"/>
      </c:catAx>
      <c:valAx>
        <c:axId val="1278389880"/>
        <c:scaling>
          <c:orientation val="minMax"/>
          <c:max val="1"/>
        </c:scaling>
        <c:delete val="0"/>
        <c:axPos val="l"/>
        <c:majorGridlines>
          <c:spPr>
            <a:ln w="9525" cap="flat" cmpd="sng" algn="ctr">
              <a:solidFill>
                <a:schemeClr val="tx1">
                  <a:lumMod val="5000"/>
                  <a:lumOff val="9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127838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US" dirty="0"/>
              <a:t>Productivity (Actuals vs Forecast) 2021</a:t>
            </a: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Forecast</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13-6DAD-4FCA-89A9-4043B301473C}"/>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0-6DAD-4FCA-89A9-4043B301473C}"/>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4-6DAD-4FCA-89A9-4043B301473C}"/>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9-6DAD-4FCA-89A9-4043B301473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January</c:v>
                </c:pt>
                <c:pt idx="1">
                  <c:v>February</c:v>
                </c:pt>
                <c:pt idx="2">
                  <c:v>March</c:v>
                </c:pt>
                <c:pt idx="3">
                  <c:v>April</c:v>
                </c:pt>
                <c:pt idx="4">
                  <c:v>May</c:v>
                </c:pt>
                <c:pt idx="5">
                  <c:v>Target YTD</c:v>
                </c:pt>
              </c:strCache>
            </c:strRef>
          </c:cat>
          <c:val>
            <c:numRef>
              <c:f>Sheet1!$B$2:$B$7</c:f>
              <c:numCache>
                <c:formatCode>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0-0CF4-4468-8356-FA99D380E509}"/>
            </c:ext>
          </c:extLst>
        </c:ser>
        <c:ser>
          <c:idx val="1"/>
          <c:order val="1"/>
          <c:tx>
            <c:strRef>
              <c:f>Sheet1!$C$1</c:f>
              <c:strCache>
                <c:ptCount val="1"/>
                <c:pt idx="0">
                  <c:v>Actuals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trendline>
            <c:spPr>
              <a:ln w="19050" cap="rnd">
                <a:solidFill>
                  <a:schemeClr val="accent2"/>
                </a:solidFill>
                <a:round/>
              </a:ln>
              <a:effectLst/>
            </c:spPr>
            <c:trendlineType val="exp"/>
            <c:dispRSqr val="0"/>
            <c:dispEq val="0"/>
          </c:trendline>
          <c:cat>
            <c:strRef>
              <c:f>Sheet1!$A$2:$A$7</c:f>
              <c:strCache>
                <c:ptCount val="6"/>
                <c:pt idx="0">
                  <c:v>January</c:v>
                </c:pt>
                <c:pt idx="1">
                  <c:v>February</c:v>
                </c:pt>
                <c:pt idx="2">
                  <c:v>March</c:v>
                </c:pt>
                <c:pt idx="3">
                  <c:v>April</c:v>
                </c:pt>
                <c:pt idx="4">
                  <c:v>May</c:v>
                </c:pt>
                <c:pt idx="5">
                  <c:v>Target YTD</c:v>
                </c:pt>
              </c:strCache>
            </c:strRef>
          </c:cat>
          <c:val>
            <c:numRef>
              <c:f>Sheet1!$C$2:$C$7</c:f>
              <c:numCache>
                <c:formatCode>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3-B839-413B-89EE-DB42F9202B11}"/>
            </c:ext>
          </c:extLst>
        </c:ser>
        <c:dLbls>
          <c:dLblPos val="outEnd"/>
          <c:showLegendKey val="0"/>
          <c:showVal val="1"/>
          <c:showCatName val="0"/>
          <c:showSerName val="0"/>
          <c:showPercent val="0"/>
          <c:showBubbleSize val="0"/>
        </c:dLbls>
        <c:gapWidth val="199"/>
        <c:axId val="1278386928"/>
        <c:axId val="1278389880"/>
        <c:extLst/>
      </c:barChart>
      <c:catAx>
        <c:axId val="127838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1278389880"/>
        <c:crosses val="autoZero"/>
        <c:auto val="1"/>
        <c:lblAlgn val="ctr"/>
        <c:lblOffset val="600"/>
        <c:tickLblSkip val="1"/>
        <c:noMultiLvlLbl val="0"/>
      </c:catAx>
      <c:valAx>
        <c:axId val="1278389880"/>
        <c:scaling>
          <c:orientation val="minMax"/>
          <c:max val="1"/>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US" sz="1800" b="0" i="0" baseline="0" dirty="0">
                <a:effectLst/>
              </a:rPr>
              <a:t>Productivity 2020 vs 2021</a:t>
            </a:r>
            <a:endParaRPr lang="en-US" dirty="0">
              <a:effectLst/>
            </a:endParaRP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W1.0 US</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13-6DAD-4FCA-89A9-4043B301473C}"/>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0-6DAD-4FCA-89A9-4043B301473C}"/>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4-6DAD-4FCA-89A9-4043B301473C}"/>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9-6DAD-4FCA-89A9-4043B301473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January</c:v>
                </c:pt>
                <c:pt idx="1">
                  <c:v>February</c:v>
                </c:pt>
                <c:pt idx="2">
                  <c:v>March</c:v>
                </c:pt>
                <c:pt idx="3">
                  <c:v>April</c:v>
                </c:pt>
                <c:pt idx="4">
                  <c:v>May</c:v>
                </c:pt>
                <c:pt idx="5">
                  <c:v>June</c:v>
                </c:pt>
                <c:pt idx="6">
                  <c:v>YTD</c:v>
                </c:pt>
              </c:strCache>
            </c:strRef>
          </c:cat>
          <c:val>
            <c:numRef>
              <c:f>Sheet1!$B$2:$B$8</c:f>
              <c:numCache>
                <c:formatCode>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0-0CF4-4468-8356-FA99D380E509}"/>
            </c:ext>
          </c:extLst>
        </c:ser>
        <c:ser>
          <c:idx val="1"/>
          <c:order val="1"/>
          <c:tx>
            <c:strRef>
              <c:f>Sheet1!$C$1</c:f>
              <c:strCache>
                <c:ptCount val="1"/>
                <c:pt idx="0">
                  <c:v>W1.1 US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January</c:v>
                </c:pt>
                <c:pt idx="1">
                  <c:v>February</c:v>
                </c:pt>
                <c:pt idx="2">
                  <c:v>March</c:v>
                </c:pt>
                <c:pt idx="3">
                  <c:v>April</c:v>
                </c:pt>
                <c:pt idx="4">
                  <c:v>May</c:v>
                </c:pt>
                <c:pt idx="5">
                  <c:v>June</c:v>
                </c:pt>
                <c:pt idx="6">
                  <c:v>YTD</c:v>
                </c:pt>
              </c:strCache>
            </c:strRef>
          </c:cat>
          <c:val>
            <c:numRef>
              <c:f>Sheet1!$C$2:$C$8</c:f>
              <c:numCache>
                <c:formatCode>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3-B839-413B-89EE-DB42F9202B11}"/>
            </c:ext>
          </c:extLst>
        </c:ser>
        <c:ser>
          <c:idx val="2"/>
          <c:order val="2"/>
          <c:tx>
            <c:strRef>
              <c:f>Sheet1!$D$1</c:f>
              <c:strCache>
                <c:ptCount val="1"/>
                <c:pt idx="0">
                  <c:v>W2.0 US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January</c:v>
                </c:pt>
                <c:pt idx="1">
                  <c:v>February</c:v>
                </c:pt>
                <c:pt idx="2">
                  <c:v>March</c:v>
                </c:pt>
                <c:pt idx="3">
                  <c:v>April</c:v>
                </c:pt>
                <c:pt idx="4">
                  <c:v>May</c:v>
                </c:pt>
                <c:pt idx="5">
                  <c:v>June</c:v>
                </c:pt>
                <c:pt idx="6">
                  <c:v>YTD</c:v>
                </c:pt>
              </c:strCache>
            </c:strRef>
          </c:cat>
          <c:val>
            <c:numRef>
              <c:f>Sheet1!$D$2:$D$8</c:f>
              <c:numCache>
                <c:formatCode>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0-AE88-4772-B799-B84B734951E7}"/>
            </c:ext>
          </c:extLst>
        </c:ser>
        <c:ser>
          <c:idx val="3"/>
          <c:order val="3"/>
          <c:tx>
            <c:strRef>
              <c:f>Sheet1!$E$1</c:f>
              <c:strCache>
                <c:ptCount val="1"/>
                <c:pt idx="0">
                  <c:v>W3.1 US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January</c:v>
                </c:pt>
                <c:pt idx="1">
                  <c:v>February</c:v>
                </c:pt>
                <c:pt idx="2">
                  <c:v>March</c:v>
                </c:pt>
                <c:pt idx="3">
                  <c:v>April</c:v>
                </c:pt>
                <c:pt idx="4">
                  <c:v>May</c:v>
                </c:pt>
                <c:pt idx="5">
                  <c:v>June</c:v>
                </c:pt>
                <c:pt idx="6">
                  <c:v>YTD</c:v>
                </c:pt>
              </c:strCache>
            </c:strRef>
          </c:cat>
          <c:val>
            <c:numRef>
              <c:f>Sheet1!$E$2:$E$8</c:f>
              <c:numCache>
                <c:formatCode>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1-AE88-4772-B799-B84B734951E7}"/>
            </c:ext>
          </c:extLst>
        </c:ser>
        <c:ser>
          <c:idx val="4"/>
          <c:order val="4"/>
          <c:tx>
            <c:strRef>
              <c:f>Sheet1!$F$1</c:f>
              <c:strCache>
                <c:ptCount val="1"/>
                <c:pt idx="0">
                  <c:v>W3.2 US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January</c:v>
                </c:pt>
                <c:pt idx="1">
                  <c:v>February</c:v>
                </c:pt>
                <c:pt idx="2">
                  <c:v>March</c:v>
                </c:pt>
                <c:pt idx="3">
                  <c:v>April</c:v>
                </c:pt>
                <c:pt idx="4">
                  <c:v>May</c:v>
                </c:pt>
                <c:pt idx="5">
                  <c:v>June</c:v>
                </c:pt>
                <c:pt idx="6">
                  <c:v>YTD</c:v>
                </c:pt>
              </c:strCache>
            </c:strRef>
          </c:cat>
          <c:val>
            <c:numRef>
              <c:f>Sheet1!$F$2:$F$8</c:f>
              <c:numCache>
                <c:formatCode>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2-AE88-4772-B799-B84B734951E7}"/>
            </c:ext>
          </c:extLst>
        </c:ser>
        <c:ser>
          <c:idx val="5"/>
          <c:order val="5"/>
          <c:tx>
            <c:strRef>
              <c:f>Sheet1!$G$1</c:f>
              <c:strCache>
                <c:ptCount val="1"/>
                <c:pt idx="0">
                  <c:v>W4.0 US</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January</c:v>
                </c:pt>
                <c:pt idx="1">
                  <c:v>February</c:v>
                </c:pt>
                <c:pt idx="2">
                  <c:v>March</c:v>
                </c:pt>
                <c:pt idx="3">
                  <c:v>April</c:v>
                </c:pt>
                <c:pt idx="4">
                  <c:v>May</c:v>
                </c:pt>
                <c:pt idx="5">
                  <c:v>June</c:v>
                </c:pt>
                <c:pt idx="6">
                  <c:v>YTD</c:v>
                </c:pt>
              </c:strCache>
            </c:strRef>
          </c:cat>
          <c:val>
            <c:numRef>
              <c:f>Sheet1!$G$2:$G$8</c:f>
              <c:numCache>
                <c:formatCode>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3-AE88-4772-B799-B84B734951E7}"/>
            </c:ext>
          </c:extLst>
        </c:ser>
        <c:ser>
          <c:idx val="6"/>
          <c:order val="6"/>
          <c:tx>
            <c:strRef>
              <c:f>Sheet1!$H$1</c:f>
              <c:strCache>
                <c:ptCount val="1"/>
                <c:pt idx="0">
                  <c:v>W1.0 CA</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January</c:v>
                </c:pt>
                <c:pt idx="1">
                  <c:v>February</c:v>
                </c:pt>
                <c:pt idx="2">
                  <c:v>March</c:v>
                </c:pt>
                <c:pt idx="3">
                  <c:v>April</c:v>
                </c:pt>
                <c:pt idx="4">
                  <c:v>May</c:v>
                </c:pt>
                <c:pt idx="5">
                  <c:v>June</c:v>
                </c:pt>
                <c:pt idx="6">
                  <c:v>YTD</c:v>
                </c:pt>
              </c:strCache>
            </c:strRef>
          </c:cat>
          <c:val>
            <c:numRef>
              <c:f>Sheet1!$H$2:$H$8</c:f>
              <c:numCache>
                <c:formatCode>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4-AE88-4772-B799-B84B734951E7}"/>
            </c:ext>
          </c:extLst>
        </c:ser>
        <c:dLbls>
          <c:dLblPos val="outEnd"/>
          <c:showLegendKey val="0"/>
          <c:showVal val="1"/>
          <c:showCatName val="0"/>
          <c:showSerName val="0"/>
          <c:showPercent val="0"/>
          <c:showBubbleSize val="0"/>
        </c:dLbls>
        <c:gapWidth val="199"/>
        <c:axId val="1278386928"/>
        <c:axId val="1278389880"/>
        <c:extLst/>
      </c:barChart>
      <c:catAx>
        <c:axId val="127838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1278389880"/>
        <c:crosses val="autoZero"/>
        <c:auto val="1"/>
        <c:lblAlgn val="ctr"/>
        <c:lblOffset val="600"/>
        <c:tickLblSkip val="1"/>
        <c:noMultiLvlLbl val="0"/>
      </c:catAx>
      <c:valAx>
        <c:axId val="1278389880"/>
        <c:scaling>
          <c:orientation val="minMax"/>
          <c:max val="1"/>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US" dirty="0"/>
              <a:t>Productivity 2020 vs 2021</a:t>
            </a: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2020</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13-6DAD-4FCA-89A9-4043B301473C}"/>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0-6DAD-4FCA-89A9-4043B301473C}"/>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4-6DAD-4FCA-89A9-4043B301473C}"/>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9-6DAD-4FCA-89A9-4043B301473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YTD Actuals</c:v>
                </c:pt>
                <c:pt idx="1">
                  <c:v>Q1 Actuals</c:v>
                </c:pt>
                <c:pt idx="2">
                  <c:v>Q2 Actuals</c:v>
                </c:pt>
                <c:pt idx="3">
                  <c:v>Target YTD</c:v>
                </c:pt>
              </c:strCache>
            </c:strRef>
          </c:cat>
          <c:val>
            <c:numRef>
              <c:f>Sheet1!$B$2:$B$5</c:f>
              <c:numCache>
                <c:formatCode>0%</c:formatCode>
                <c:ptCount val="4"/>
                <c:pt idx="0">
                  <c:v>0</c:v>
                </c:pt>
                <c:pt idx="1">
                  <c:v>0</c:v>
                </c:pt>
                <c:pt idx="2">
                  <c:v>0</c:v>
                </c:pt>
                <c:pt idx="3">
                  <c:v>0</c:v>
                </c:pt>
              </c:numCache>
            </c:numRef>
          </c:val>
          <c:extLst>
            <c:ext xmlns:c16="http://schemas.microsoft.com/office/drawing/2014/chart" uri="{C3380CC4-5D6E-409C-BE32-E72D297353CC}">
              <c16:uniqueId val="{00000000-0CF4-4468-8356-FA99D380E509}"/>
            </c:ext>
          </c:extLst>
        </c:ser>
        <c:ser>
          <c:idx val="1"/>
          <c:order val="1"/>
          <c:tx>
            <c:strRef>
              <c:f>Sheet1!$C$1</c:f>
              <c:strCache>
                <c:ptCount val="1"/>
                <c:pt idx="0">
                  <c:v>2021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YTD Actuals</c:v>
                </c:pt>
                <c:pt idx="1">
                  <c:v>Q1 Actuals</c:v>
                </c:pt>
                <c:pt idx="2">
                  <c:v>Q2 Actuals</c:v>
                </c:pt>
                <c:pt idx="3">
                  <c:v>Target YTD</c:v>
                </c:pt>
              </c:strCache>
            </c:strRef>
          </c:cat>
          <c:val>
            <c:numRef>
              <c:f>Sheet1!$C$2:$C$5</c:f>
              <c:numCache>
                <c:formatCode>0%</c:formatCode>
                <c:ptCount val="4"/>
                <c:pt idx="0">
                  <c:v>0</c:v>
                </c:pt>
                <c:pt idx="1">
                  <c:v>0</c:v>
                </c:pt>
                <c:pt idx="2">
                  <c:v>0</c:v>
                </c:pt>
                <c:pt idx="3">
                  <c:v>0</c:v>
                </c:pt>
              </c:numCache>
            </c:numRef>
          </c:val>
          <c:extLst>
            <c:ext xmlns:c16="http://schemas.microsoft.com/office/drawing/2014/chart" uri="{C3380CC4-5D6E-409C-BE32-E72D297353CC}">
              <c16:uniqueId val="{00000003-B839-413B-89EE-DB42F9202B11}"/>
            </c:ext>
          </c:extLst>
        </c:ser>
        <c:dLbls>
          <c:dLblPos val="outEnd"/>
          <c:showLegendKey val="0"/>
          <c:showVal val="1"/>
          <c:showCatName val="0"/>
          <c:showSerName val="0"/>
          <c:showPercent val="0"/>
          <c:showBubbleSize val="0"/>
        </c:dLbls>
        <c:gapWidth val="199"/>
        <c:axId val="1278386928"/>
        <c:axId val="1278389880"/>
        <c:extLst/>
      </c:barChart>
      <c:catAx>
        <c:axId val="127838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1278389880"/>
        <c:crosses val="autoZero"/>
        <c:auto val="1"/>
        <c:lblAlgn val="ctr"/>
        <c:lblOffset val="600"/>
        <c:tickLblSkip val="1"/>
        <c:noMultiLvlLbl val="0"/>
      </c:catAx>
      <c:valAx>
        <c:axId val="1278389880"/>
        <c:scaling>
          <c:orientation val="minMax"/>
          <c:max val="1"/>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May YTD Productivity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0014360931192624E-2"/>
          <c:y val="0.1343405948946072"/>
          <c:w val="0.93945674596222017"/>
          <c:h val="0.5796352185063578"/>
        </c:manualLayout>
      </c:layout>
      <c:barChart>
        <c:barDir val="col"/>
        <c:grouping val="clustered"/>
        <c:varyColors val="0"/>
        <c:ser>
          <c:idx val="0"/>
          <c:order val="0"/>
          <c:tx>
            <c:strRef>
              <c:f>Sheet1!$B$1</c:f>
              <c:strCache>
                <c:ptCount val="1"/>
                <c:pt idx="0">
                  <c:v>YTD20</c:v>
                </c:pt>
              </c:strCache>
            </c:strRef>
          </c:tx>
          <c:spPr>
            <a:solidFill>
              <a:schemeClr val="accent2">
                <a:shade val="42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Sheet1!$B$2:$B$4</c:f>
              <c:numCache>
                <c:formatCode>0%</c:formatCode>
                <c:ptCount val="3"/>
                <c:pt idx="0">
                  <c:v>0</c:v>
                </c:pt>
                <c:pt idx="1">
                  <c:v>0</c:v>
                </c:pt>
                <c:pt idx="2">
                  <c:v>0</c:v>
                </c:pt>
              </c:numCache>
            </c:numRef>
          </c:val>
          <c:extLst>
            <c:ext xmlns:c16="http://schemas.microsoft.com/office/drawing/2014/chart" uri="{C3380CC4-5D6E-409C-BE32-E72D297353CC}">
              <c16:uniqueId val="{00000000-0CF4-4468-8356-FA99D380E509}"/>
            </c:ext>
          </c:extLst>
        </c:ser>
        <c:ser>
          <c:idx val="1"/>
          <c:order val="1"/>
          <c:tx>
            <c:strRef>
              <c:f>Sheet1!$C$1</c:f>
              <c:strCache>
                <c:ptCount val="1"/>
                <c:pt idx="0">
                  <c:v>YTD21</c:v>
                </c:pt>
              </c:strCache>
            </c:strRef>
          </c:tx>
          <c:spPr>
            <a:solidFill>
              <a:schemeClr val="accent3">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Sheet1!$C$2:$C$4</c:f>
              <c:numCache>
                <c:formatCode>0%</c:formatCode>
                <c:ptCount val="3"/>
                <c:pt idx="0">
                  <c:v>0</c:v>
                </c:pt>
                <c:pt idx="1">
                  <c:v>0</c:v>
                </c:pt>
                <c:pt idx="2">
                  <c:v>0</c:v>
                </c:pt>
              </c:numCache>
            </c:numRef>
          </c:val>
          <c:extLst>
            <c:ext xmlns:c16="http://schemas.microsoft.com/office/drawing/2014/chart" uri="{C3380CC4-5D6E-409C-BE32-E72D297353CC}">
              <c16:uniqueId val="{00000001-0CF4-4468-8356-FA99D380E509}"/>
            </c:ext>
          </c:extLst>
        </c:ser>
        <c:ser>
          <c:idx val="2"/>
          <c:order val="2"/>
          <c:tx>
            <c:strRef>
              <c:f>Sheet1!$D$1</c:f>
              <c:strCache>
                <c:ptCount val="1"/>
                <c:pt idx="0">
                  <c:v>Q120</c:v>
                </c:pt>
              </c:strCache>
            </c:strRef>
          </c:tx>
          <c:spPr>
            <a:solidFill>
              <a:schemeClr val="accent2">
                <a:shade val="6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Sheet1!$D$2:$D$4</c:f>
              <c:numCache>
                <c:formatCode>0%</c:formatCode>
                <c:ptCount val="3"/>
                <c:pt idx="0">
                  <c:v>0</c:v>
                </c:pt>
                <c:pt idx="1">
                  <c:v>0</c:v>
                </c:pt>
                <c:pt idx="2">
                  <c:v>0</c:v>
                </c:pt>
              </c:numCache>
            </c:numRef>
          </c:val>
          <c:extLst>
            <c:ext xmlns:c16="http://schemas.microsoft.com/office/drawing/2014/chart" uri="{C3380CC4-5D6E-409C-BE32-E72D297353CC}">
              <c16:uniqueId val="{00000002-0CF4-4468-8356-FA99D380E509}"/>
            </c:ext>
          </c:extLst>
        </c:ser>
        <c:ser>
          <c:idx val="3"/>
          <c:order val="3"/>
          <c:tx>
            <c:strRef>
              <c:f>Sheet1!$E$1</c:f>
              <c:strCache>
                <c:ptCount val="1"/>
                <c:pt idx="0">
                  <c:v>Q121</c:v>
                </c:pt>
              </c:strCache>
            </c:strRef>
          </c:tx>
          <c:spPr>
            <a:solidFill>
              <a:schemeClr val="accent2">
                <a:shade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Sheet1!$E$2:$E$4</c:f>
              <c:numCache>
                <c:formatCode>0%</c:formatCode>
                <c:ptCount val="3"/>
                <c:pt idx="0">
                  <c:v>0</c:v>
                </c:pt>
                <c:pt idx="1">
                  <c:v>0</c:v>
                </c:pt>
                <c:pt idx="2">
                  <c:v>0</c:v>
                </c:pt>
              </c:numCache>
            </c:numRef>
          </c:val>
          <c:extLst>
            <c:ext xmlns:c16="http://schemas.microsoft.com/office/drawing/2014/chart" uri="{C3380CC4-5D6E-409C-BE32-E72D297353CC}">
              <c16:uniqueId val="{00000003-0CF4-4468-8356-FA99D380E509}"/>
            </c:ext>
          </c:extLst>
        </c:ser>
        <c:ser>
          <c:idx val="4"/>
          <c:order val="4"/>
          <c:tx>
            <c:strRef>
              <c:f>Sheet1!$F$1</c:f>
              <c:strCache>
                <c:ptCount val="1"/>
                <c:pt idx="0">
                  <c:v>Jan</c:v>
                </c:pt>
              </c:strCache>
            </c:strRef>
          </c:tx>
          <c:spPr>
            <a:solidFill>
              <a:schemeClr val="accent2">
                <a:shade val="93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Sheet1!$F$2:$F$4</c:f>
              <c:numCache>
                <c:formatCode>0%</c:formatCode>
                <c:ptCount val="3"/>
                <c:pt idx="0">
                  <c:v>0</c:v>
                </c:pt>
                <c:pt idx="1">
                  <c:v>0</c:v>
                </c:pt>
                <c:pt idx="2">
                  <c:v>0</c:v>
                </c:pt>
              </c:numCache>
            </c:numRef>
          </c:val>
          <c:extLst>
            <c:ext xmlns:c16="http://schemas.microsoft.com/office/drawing/2014/chart" uri="{C3380CC4-5D6E-409C-BE32-E72D297353CC}">
              <c16:uniqueId val="{00000004-0CF4-4468-8356-FA99D380E509}"/>
            </c:ext>
          </c:extLst>
        </c:ser>
        <c:ser>
          <c:idx val="5"/>
          <c:order val="5"/>
          <c:tx>
            <c:strRef>
              <c:f>Sheet1!$G$1</c:f>
              <c:strCache>
                <c:ptCount val="1"/>
                <c:pt idx="0">
                  <c:v>Feb</c:v>
                </c:pt>
              </c:strCache>
            </c:strRef>
          </c:tx>
          <c:spPr>
            <a:solidFill>
              <a:schemeClr val="accent2">
                <a:tint val="94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Sheet1!$G$2:$G$4</c:f>
              <c:numCache>
                <c:formatCode>0%</c:formatCode>
                <c:ptCount val="3"/>
                <c:pt idx="0">
                  <c:v>0</c:v>
                </c:pt>
                <c:pt idx="1">
                  <c:v>0</c:v>
                </c:pt>
                <c:pt idx="2">
                  <c:v>0</c:v>
                </c:pt>
              </c:numCache>
            </c:numRef>
          </c:val>
          <c:extLst xmlns:c15="http://schemas.microsoft.com/office/drawing/2012/chart">
            <c:ext xmlns:c16="http://schemas.microsoft.com/office/drawing/2014/chart" uri="{C3380CC4-5D6E-409C-BE32-E72D297353CC}">
              <c16:uniqueId val="{00000005-0CF4-4468-8356-FA99D380E509}"/>
            </c:ext>
          </c:extLst>
        </c:ser>
        <c:ser>
          <c:idx val="6"/>
          <c:order val="6"/>
          <c:tx>
            <c:strRef>
              <c:f>Sheet1!$H$1</c:f>
              <c:strCache>
                <c:ptCount val="1"/>
                <c:pt idx="0">
                  <c:v>Mar</c:v>
                </c:pt>
              </c:strCache>
            </c:strRef>
          </c:tx>
          <c:spPr>
            <a:solidFill>
              <a:schemeClr val="accent2">
                <a:tint val="81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Sheet1!$H$2:$H$4</c:f>
              <c:numCache>
                <c:formatCode>0%</c:formatCode>
                <c:ptCount val="3"/>
                <c:pt idx="0">
                  <c:v>0</c:v>
                </c:pt>
                <c:pt idx="1">
                  <c:v>0</c:v>
                </c:pt>
                <c:pt idx="2">
                  <c:v>0</c:v>
                </c:pt>
              </c:numCache>
            </c:numRef>
          </c:val>
          <c:extLst>
            <c:ext xmlns:c16="http://schemas.microsoft.com/office/drawing/2014/chart" uri="{C3380CC4-5D6E-409C-BE32-E72D297353CC}">
              <c16:uniqueId val="{00000000-5B4D-45B8-B88D-B1CFF7994C44}"/>
            </c:ext>
          </c:extLst>
        </c:ser>
        <c:ser>
          <c:idx val="7"/>
          <c:order val="7"/>
          <c:tx>
            <c:strRef>
              <c:f>Sheet1!$I$1</c:f>
              <c:strCache>
                <c:ptCount val="1"/>
                <c:pt idx="0">
                  <c:v>Apr</c:v>
                </c:pt>
              </c:strCache>
            </c:strRef>
          </c:tx>
          <c:spPr>
            <a:solidFill>
              <a:schemeClr val="accent2">
                <a:tint val="69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Sheet1!$I$2:$I$4</c:f>
              <c:numCache>
                <c:formatCode>0%</c:formatCode>
                <c:ptCount val="3"/>
                <c:pt idx="0">
                  <c:v>0</c:v>
                </c:pt>
                <c:pt idx="1">
                  <c:v>0</c:v>
                </c:pt>
                <c:pt idx="2">
                  <c:v>0</c:v>
                </c:pt>
              </c:numCache>
            </c:numRef>
          </c:val>
          <c:extLst>
            <c:ext xmlns:c16="http://schemas.microsoft.com/office/drawing/2014/chart" uri="{C3380CC4-5D6E-409C-BE32-E72D297353CC}">
              <c16:uniqueId val="{00000000-F030-473E-AA7F-BFD9FA40A018}"/>
            </c:ext>
          </c:extLst>
        </c:ser>
        <c:ser>
          <c:idx val="8"/>
          <c:order val="8"/>
          <c:tx>
            <c:strRef>
              <c:f>Sheet1!$J$1</c:f>
              <c:strCache>
                <c:ptCount val="1"/>
                <c:pt idx="0">
                  <c:v>May</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Sheet1!$J$2:$J$4</c:f>
              <c:numCache>
                <c:formatCode>0%</c:formatCode>
                <c:ptCount val="3"/>
                <c:pt idx="0">
                  <c:v>0</c:v>
                </c:pt>
                <c:pt idx="1">
                  <c:v>0</c:v>
                </c:pt>
                <c:pt idx="2">
                  <c:v>0</c:v>
                </c:pt>
              </c:numCache>
            </c:numRef>
          </c:val>
          <c:extLst>
            <c:ext xmlns:c16="http://schemas.microsoft.com/office/drawing/2014/chart" uri="{C3380CC4-5D6E-409C-BE32-E72D297353CC}">
              <c16:uniqueId val="{00000000-F3AD-46DE-BC56-4D6B30710FE7}"/>
            </c:ext>
          </c:extLst>
        </c:ser>
        <c:ser>
          <c:idx val="9"/>
          <c:order val="9"/>
          <c:tx>
            <c:strRef>
              <c:f>Sheet1!$K$1</c:f>
              <c:strCache>
                <c:ptCount val="1"/>
                <c:pt idx="0">
                  <c:v>FCST</c:v>
                </c:pt>
              </c:strCache>
            </c:strRef>
          </c:tx>
          <c:spPr>
            <a:solidFill>
              <a:schemeClr val="accent2">
                <a:tint val="43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East</c:v>
                </c:pt>
                <c:pt idx="1">
                  <c:v>Midwest</c:v>
                </c:pt>
                <c:pt idx="2">
                  <c:v>West</c:v>
                </c:pt>
              </c:strCache>
            </c:strRef>
          </c:cat>
          <c:val>
            <c:numRef>
              <c:f>Sheet1!$K$2:$K$4</c:f>
              <c:numCache>
                <c:formatCode>0%</c:formatCode>
                <c:ptCount val="3"/>
                <c:pt idx="0">
                  <c:v>0</c:v>
                </c:pt>
                <c:pt idx="1">
                  <c:v>0</c:v>
                </c:pt>
                <c:pt idx="2">
                  <c:v>0</c:v>
                </c:pt>
              </c:numCache>
            </c:numRef>
          </c:val>
          <c:extLst>
            <c:ext xmlns:c16="http://schemas.microsoft.com/office/drawing/2014/chart" uri="{C3380CC4-5D6E-409C-BE32-E72D297353CC}">
              <c16:uniqueId val="{00000000-4DB4-4064-9329-03B2289E93B7}"/>
            </c:ext>
          </c:extLst>
        </c:ser>
        <c:dLbls>
          <c:dLblPos val="outEnd"/>
          <c:showLegendKey val="0"/>
          <c:showVal val="1"/>
          <c:showCatName val="0"/>
          <c:showSerName val="0"/>
          <c:showPercent val="0"/>
          <c:showBubbleSize val="0"/>
        </c:dLbls>
        <c:gapWidth val="219"/>
        <c:overlap val="-27"/>
        <c:axId val="1278386928"/>
        <c:axId val="1278389880"/>
        <c:extLst/>
      </c:barChart>
      <c:catAx>
        <c:axId val="127838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9880"/>
        <c:crosses val="autoZero"/>
        <c:auto val="1"/>
        <c:lblAlgn val="ctr"/>
        <c:lblOffset val="600"/>
        <c:noMultiLvlLbl val="0"/>
      </c:catAx>
      <c:valAx>
        <c:axId val="12783898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69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i="0" baseline="0" dirty="0">
                <a:effectLst/>
              </a:rPr>
              <a:t>May Capacity Breakdown</a:t>
            </a:r>
            <a:endParaRPr lang="en-US"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997025371828522"/>
          <c:y val="0.16708333333333336"/>
          <c:w val="0.81153674540682419"/>
          <c:h val="0.61498432487605714"/>
        </c:manualLayout>
      </c:layout>
      <c:barChart>
        <c:barDir val="bar"/>
        <c:grouping val="stacked"/>
        <c:varyColors val="0"/>
        <c:ser>
          <c:idx val="0"/>
          <c:order val="0"/>
          <c:tx>
            <c:strRef>
              <c:f>Sheet2!$B$1</c:f>
              <c:strCache>
                <c:ptCount val="1"/>
                <c:pt idx="0">
                  <c:v>Client Time</c:v>
                </c:pt>
              </c:strCache>
            </c:strRef>
          </c:tx>
          <c:spPr>
            <a:solidFill>
              <a:schemeClr val="accent4">
                <a:shade val="5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Sheet2!$A$2:$A$4</c:f>
              <c:strCache>
                <c:ptCount val="3"/>
                <c:pt idx="0">
                  <c:v>East</c:v>
                </c:pt>
                <c:pt idx="1">
                  <c:v>Midwest</c:v>
                </c:pt>
                <c:pt idx="2">
                  <c:v>West</c:v>
                </c:pt>
              </c:strCache>
            </c:strRef>
          </c:cat>
          <c:val>
            <c:numRef>
              <c:f>Sheet2!$B$2:$B$4</c:f>
              <c:numCache>
                <c:formatCode>0%</c:formatCode>
                <c:ptCount val="3"/>
                <c:pt idx="0">
                  <c:v>0</c:v>
                </c:pt>
                <c:pt idx="1">
                  <c:v>0</c:v>
                </c:pt>
                <c:pt idx="2">
                  <c:v>0</c:v>
                </c:pt>
              </c:numCache>
            </c:numRef>
          </c:val>
          <c:extLst>
            <c:ext xmlns:c16="http://schemas.microsoft.com/office/drawing/2014/chart" uri="{C3380CC4-5D6E-409C-BE32-E72D297353CC}">
              <c16:uniqueId val="{00000000-60F5-41E2-A029-E0219AFC78E2}"/>
            </c:ext>
          </c:extLst>
        </c:ser>
        <c:ser>
          <c:idx val="1"/>
          <c:order val="1"/>
          <c:tx>
            <c:strRef>
              <c:f>Sheet2!$C$1</c:f>
              <c:strCache>
                <c:ptCount val="1"/>
                <c:pt idx="0">
                  <c:v>Non-Client Time</c:v>
                </c:pt>
              </c:strCache>
            </c:strRef>
          </c:tx>
          <c:spPr>
            <a:solidFill>
              <a:schemeClr val="accent4">
                <a:shade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Sheet2!$A$2:$A$4</c:f>
              <c:strCache>
                <c:ptCount val="3"/>
                <c:pt idx="0">
                  <c:v>East</c:v>
                </c:pt>
                <c:pt idx="1">
                  <c:v>Midwest</c:v>
                </c:pt>
                <c:pt idx="2">
                  <c:v>West</c:v>
                </c:pt>
              </c:strCache>
            </c:strRef>
          </c:cat>
          <c:val>
            <c:numRef>
              <c:f>Sheet2!$C$2:$C$4</c:f>
              <c:numCache>
                <c:formatCode>0%</c:formatCode>
                <c:ptCount val="3"/>
                <c:pt idx="0">
                  <c:v>0</c:v>
                </c:pt>
                <c:pt idx="1">
                  <c:v>0</c:v>
                </c:pt>
                <c:pt idx="2">
                  <c:v>0</c:v>
                </c:pt>
              </c:numCache>
            </c:numRef>
          </c:val>
          <c:extLst>
            <c:ext xmlns:c16="http://schemas.microsoft.com/office/drawing/2014/chart" uri="{C3380CC4-5D6E-409C-BE32-E72D297353CC}">
              <c16:uniqueId val="{00000001-60F5-41E2-A029-E0219AFC78E2}"/>
            </c:ext>
          </c:extLst>
        </c:ser>
        <c:ser>
          <c:idx val="2"/>
          <c:order val="2"/>
          <c:tx>
            <c:strRef>
              <c:f>Sheet2!$D$1</c:f>
              <c:strCache>
                <c:ptCount val="1"/>
                <c:pt idx="0">
                  <c:v>Non Working Time</c:v>
                </c:pt>
              </c:strCache>
            </c:strRef>
          </c:tx>
          <c:spPr>
            <a:solidFill>
              <a:schemeClr val="accent4">
                <a:tint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Sheet2!$A$2:$A$4</c:f>
              <c:strCache>
                <c:ptCount val="3"/>
                <c:pt idx="0">
                  <c:v>East</c:v>
                </c:pt>
                <c:pt idx="1">
                  <c:v>Midwest</c:v>
                </c:pt>
                <c:pt idx="2">
                  <c:v>West</c:v>
                </c:pt>
              </c:strCache>
            </c:strRef>
          </c:cat>
          <c:val>
            <c:numRef>
              <c:f>Sheet2!$D$2:$D$4</c:f>
              <c:numCache>
                <c:formatCode>0%</c:formatCode>
                <c:ptCount val="3"/>
                <c:pt idx="0">
                  <c:v>0</c:v>
                </c:pt>
                <c:pt idx="1">
                  <c:v>0</c:v>
                </c:pt>
                <c:pt idx="2">
                  <c:v>0</c:v>
                </c:pt>
              </c:numCache>
            </c:numRef>
          </c:val>
          <c:extLst>
            <c:ext xmlns:c16="http://schemas.microsoft.com/office/drawing/2014/chart" uri="{C3380CC4-5D6E-409C-BE32-E72D297353CC}">
              <c16:uniqueId val="{00000002-60F5-41E2-A029-E0219AFC78E2}"/>
            </c:ext>
          </c:extLst>
        </c:ser>
        <c:ser>
          <c:idx val="3"/>
          <c:order val="3"/>
          <c:tx>
            <c:strRef>
              <c:f>Sheet2!$E$1</c:f>
              <c:strCache>
                <c:ptCount val="1"/>
                <c:pt idx="0">
                  <c:v>Other LOB</c:v>
                </c:pt>
              </c:strCache>
            </c:strRef>
          </c:tx>
          <c:spPr>
            <a:solidFill>
              <a:schemeClr val="accent4">
                <a:tint val="58000"/>
              </a:schemeClr>
            </a:solidFill>
            <a:ln>
              <a:noFill/>
            </a:ln>
            <a:effectLst/>
          </c:spPr>
          <c:invertIfNegative val="0"/>
          <c:cat>
            <c:strRef>
              <c:f>Sheet2!$A$2:$A$4</c:f>
              <c:strCache>
                <c:ptCount val="3"/>
                <c:pt idx="0">
                  <c:v>East</c:v>
                </c:pt>
                <c:pt idx="1">
                  <c:v>Midwest</c:v>
                </c:pt>
                <c:pt idx="2">
                  <c:v>West</c:v>
                </c:pt>
              </c:strCache>
            </c:strRef>
          </c:cat>
          <c:val>
            <c:numRef>
              <c:f>Sheet2!$E$2:$E$4</c:f>
              <c:numCache>
                <c:formatCode>0%</c:formatCode>
                <c:ptCount val="3"/>
                <c:pt idx="0">
                  <c:v>0</c:v>
                </c:pt>
                <c:pt idx="1">
                  <c:v>0</c:v>
                </c:pt>
                <c:pt idx="2">
                  <c:v>0</c:v>
                </c:pt>
              </c:numCache>
            </c:numRef>
          </c:val>
          <c:extLst>
            <c:ext xmlns:c16="http://schemas.microsoft.com/office/drawing/2014/chart" uri="{C3380CC4-5D6E-409C-BE32-E72D297353CC}">
              <c16:uniqueId val="{00000000-D9F1-4E5C-80AB-028F1DE0406F}"/>
            </c:ext>
          </c:extLst>
        </c:ser>
        <c:dLbls>
          <c:showLegendKey val="0"/>
          <c:showVal val="0"/>
          <c:showCatName val="0"/>
          <c:showSerName val="0"/>
          <c:showPercent val="0"/>
          <c:showBubbleSize val="0"/>
        </c:dLbls>
        <c:gapWidth val="150"/>
        <c:overlap val="100"/>
        <c:axId val="1650891280"/>
        <c:axId val="1650891608"/>
      </c:barChart>
      <c:catAx>
        <c:axId val="165089128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650891608"/>
        <c:crosses val="autoZero"/>
        <c:auto val="1"/>
        <c:lblAlgn val="ctr"/>
        <c:lblOffset val="100"/>
        <c:noMultiLvlLbl val="0"/>
      </c:catAx>
      <c:valAx>
        <c:axId val="1650891608"/>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650891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dirty="0"/>
              <a:t>May YTD Productivity</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Consulting</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Pt>
            <c:idx val="1"/>
            <c:invertIfNegative val="0"/>
            <c:bubble3D val="0"/>
            <c:spPr>
              <a:solidFill>
                <a:schemeClr val="accent5">
                  <a:lumMod val="75000"/>
                </a:schemeClr>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8-7429-4E2F-9F42-968967769596}"/>
              </c:ext>
            </c:extLst>
          </c:dPt>
          <c:dPt>
            <c:idx val="6"/>
            <c:invertIfNegative val="0"/>
            <c:bubble3D val="0"/>
            <c:spPr>
              <a:solidFill>
                <a:schemeClr val="accent3">
                  <a:lumMod val="75000"/>
                </a:schemeClr>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9-7429-4E2F-9F42-968967769596}"/>
              </c:ext>
            </c:extLst>
          </c:dPt>
          <c:dPt>
            <c:idx val="10"/>
            <c:invertIfNegative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0-1B26-4C17-B0F2-7DAAE3D4B115}"/>
              </c:ext>
            </c:extLst>
          </c:dPt>
          <c:dPt>
            <c:idx val="11"/>
            <c:invertIfNegative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2-06DD-43F0-BF90-D590DB70903B}"/>
              </c:ext>
            </c:extLst>
          </c:dPt>
          <c:dPt>
            <c:idx val="12"/>
            <c:invertIfNegative val="0"/>
            <c:bubble3D val="0"/>
            <c:spPr>
              <a:solidFill>
                <a:srgbClr val="0070C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4-69C1-4ECE-A2F9-35E30C3F298C}"/>
              </c:ext>
            </c:extLst>
          </c:dPt>
          <c:dPt>
            <c:idx val="13"/>
            <c:invertIfNegative val="0"/>
            <c:bubble3D val="0"/>
            <c:spPr>
              <a:solidFill>
                <a:schemeClr val="bg1">
                  <a:lumMod val="65000"/>
                </a:schemeClr>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6-8D36-4E4A-9A5E-59C3DB6F6E5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Sheet1!$A$2:$A$9</c:f>
              <c:strCache>
                <c:ptCount val="8"/>
                <c:pt idx="0">
                  <c:v>YTD 2020</c:v>
                </c:pt>
                <c:pt idx="1">
                  <c:v>YTD 2021</c:v>
                </c:pt>
                <c:pt idx="2">
                  <c:v>Jan 2021</c:v>
                </c:pt>
                <c:pt idx="3">
                  <c:v>Feb 2021</c:v>
                </c:pt>
                <c:pt idx="4">
                  <c:v>Mar 2021</c:v>
                </c:pt>
                <c:pt idx="5">
                  <c:v>Apr 2021</c:v>
                </c:pt>
                <c:pt idx="6">
                  <c:v>May 2021</c:v>
                </c:pt>
                <c:pt idx="7">
                  <c:v>YTD Goal</c:v>
                </c:pt>
              </c:strCache>
            </c:strRef>
          </c:cat>
          <c:val>
            <c:numRef>
              <c:f>Sheet1!$B$2:$B$9</c:f>
              <c:numCache>
                <c:formatCode>0%</c:formatCode>
                <c:ptCount val="8"/>
                <c:pt idx="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0-0CF4-4468-8356-FA99D380E509}"/>
            </c:ext>
          </c:extLst>
        </c:ser>
        <c:dLbls>
          <c:dLblPos val="ctr"/>
          <c:showLegendKey val="0"/>
          <c:showVal val="1"/>
          <c:showCatName val="0"/>
          <c:showSerName val="0"/>
          <c:showPercent val="0"/>
          <c:showBubbleSize val="0"/>
        </c:dLbls>
        <c:gapWidth val="150"/>
        <c:overlap val="100"/>
        <c:axId val="1278386928"/>
        <c:axId val="1278389880"/>
      </c:barChart>
      <c:catAx>
        <c:axId val="1278386928"/>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278389880"/>
        <c:crosses val="autoZero"/>
        <c:auto val="1"/>
        <c:lblAlgn val="ctr"/>
        <c:lblOffset val="100"/>
        <c:noMultiLvlLbl val="0"/>
      </c:catAx>
      <c:valAx>
        <c:axId val="127838988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2783869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May Capacity Breakdown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Client Time</c:v>
                </c:pt>
              </c:strCache>
            </c:strRef>
          </c:tx>
          <c:spPr>
            <a:solidFill>
              <a:schemeClr val="accent1">
                <a:shade val="65000"/>
              </a:schemeClr>
            </a:soli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0-8A1A-4CCA-BA50-0989A44B4B2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CDT</c:v>
                </c:pt>
              </c:strCache>
            </c:strRef>
          </c:cat>
          <c:val>
            <c:numRef>
              <c:f>Sheet1!$B$2</c:f>
              <c:numCache>
                <c:formatCode>0%</c:formatCode>
                <c:ptCount val="1"/>
                <c:pt idx="0">
                  <c:v>0</c:v>
                </c:pt>
              </c:numCache>
            </c:numRef>
          </c:val>
          <c:extLst xmlns:c15="http://schemas.microsoft.com/office/drawing/2012/chart">
            <c:ext xmlns:c16="http://schemas.microsoft.com/office/drawing/2014/chart" uri="{C3380CC4-5D6E-409C-BE32-E72D297353CC}">
              <c16:uniqueId val="{00000000-BBC1-4E41-9527-23803E2514A1}"/>
            </c:ext>
          </c:extLst>
        </c:ser>
        <c:ser>
          <c:idx val="1"/>
          <c:order val="1"/>
          <c:tx>
            <c:strRef>
              <c:f>Sheet1!$C$1</c:f>
              <c:strCache>
                <c:ptCount val="1"/>
                <c:pt idx="0">
                  <c:v>Non-Client Time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CDT</c:v>
                </c:pt>
              </c:strCache>
            </c:strRef>
          </c:cat>
          <c:val>
            <c:numRef>
              <c:f>Sheet1!$C$2</c:f>
              <c:numCache>
                <c:formatCode>0%</c:formatCode>
                <c:ptCount val="1"/>
                <c:pt idx="0">
                  <c:v>0</c:v>
                </c:pt>
              </c:numCache>
            </c:numRef>
          </c:val>
          <c:extLst>
            <c:ext xmlns:c16="http://schemas.microsoft.com/office/drawing/2014/chart" uri="{C3380CC4-5D6E-409C-BE32-E72D297353CC}">
              <c16:uniqueId val="{00000001-BBC1-4E41-9527-23803E2514A1}"/>
            </c:ext>
          </c:extLst>
        </c:ser>
        <c:ser>
          <c:idx val="2"/>
          <c:order val="2"/>
          <c:tx>
            <c:strRef>
              <c:f>Sheet1!$D$1</c:f>
              <c:strCache>
                <c:ptCount val="1"/>
                <c:pt idx="0">
                  <c:v>Non-Working Time</c:v>
                </c:pt>
              </c:strCache>
            </c:strRef>
          </c:tx>
          <c:spPr>
            <a:solidFill>
              <a:schemeClr val="accent1">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CDT</c:v>
                </c:pt>
              </c:strCache>
            </c:strRef>
          </c:cat>
          <c:val>
            <c:numRef>
              <c:f>Sheet1!$D$2</c:f>
              <c:numCache>
                <c:formatCode>0%</c:formatCode>
                <c:ptCount val="1"/>
                <c:pt idx="0">
                  <c:v>0</c:v>
                </c:pt>
              </c:numCache>
            </c:numRef>
          </c:val>
          <c:extLst>
            <c:ext xmlns:c16="http://schemas.microsoft.com/office/drawing/2014/chart" uri="{C3380CC4-5D6E-409C-BE32-E72D297353CC}">
              <c16:uniqueId val="{00000002-BBC1-4E41-9527-23803E2514A1}"/>
            </c:ext>
          </c:extLst>
        </c:ser>
        <c:dLbls>
          <c:dLblPos val="ctr"/>
          <c:showLegendKey val="0"/>
          <c:showVal val="1"/>
          <c:showCatName val="0"/>
          <c:showSerName val="0"/>
          <c:showPercent val="0"/>
          <c:showBubbleSize val="0"/>
        </c:dLbls>
        <c:gapWidth val="150"/>
        <c:overlap val="100"/>
        <c:axId val="893752488"/>
        <c:axId val="893756752"/>
        <c:extLst/>
      </c:barChart>
      <c:catAx>
        <c:axId val="893752488"/>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893756752"/>
        <c:crosses val="autoZero"/>
        <c:auto val="1"/>
        <c:lblAlgn val="ctr"/>
        <c:lblOffset val="100"/>
        <c:noMultiLvlLbl val="0"/>
      </c:catAx>
      <c:valAx>
        <c:axId val="893756752"/>
        <c:scaling>
          <c:orientation val="minMax"/>
        </c:scaling>
        <c:delete val="1"/>
        <c:axPos val="b"/>
        <c:numFmt formatCode="0%" sourceLinked="1"/>
        <c:majorTickMark val="out"/>
        <c:minorTickMark val="none"/>
        <c:tickLblPos val="nextTo"/>
        <c:crossAx val="893752488"/>
        <c:crosses val="autoZero"/>
        <c:crossBetween val="between"/>
      </c:valAx>
      <c:spPr>
        <a:noFill/>
        <a:ln>
          <a:noFill/>
        </a:ln>
        <a:effectLst/>
      </c:spPr>
    </c:plotArea>
    <c:legend>
      <c:legendPos val="b"/>
      <c:layout>
        <c:manualLayout>
          <c:xMode val="edge"/>
          <c:yMode val="edge"/>
          <c:x val="3.6405151670873909E-2"/>
          <c:y val="0.76194318255558835"/>
          <c:w val="0.85895349138437804"/>
          <c:h val="0.1061544758757998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May YTD Productivity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RFP</c:v>
                </c:pt>
              </c:strCache>
            </c:strRef>
          </c:tx>
          <c:spPr>
            <a:solidFill>
              <a:schemeClr val="accent1"/>
            </a:solidFill>
            <a:ln>
              <a:noFill/>
            </a:ln>
            <a:effectLst/>
          </c:spPr>
          <c:invertIfNegative val="0"/>
          <c:dPt>
            <c:idx val="10"/>
            <c:invertIfNegative val="0"/>
            <c:bubble3D val="0"/>
            <c:spPr>
              <a:solidFill>
                <a:schemeClr val="accent1"/>
              </a:solidFill>
              <a:ln>
                <a:noFill/>
              </a:ln>
              <a:effectLst/>
            </c:spPr>
            <c:extLst>
              <c:ext xmlns:c16="http://schemas.microsoft.com/office/drawing/2014/chart" uri="{C3380CC4-5D6E-409C-BE32-E72D297353CC}">
                <c16:uniqueId val="{00000000-2DF3-4370-9E3E-C9B59AFD7EFA}"/>
              </c:ext>
            </c:extLst>
          </c:dPt>
          <c:cat>
            <c:strRef>
              <c:f>Sheet1!$A$2:$A$8</c:f>
              <c:strCache>
                <c:ptCount val="7"/>
                <c:pt idx="0">
                  <c:v>YTD</c:v>
                </c:pt>
                <c:pt idx="1">
                  <c:v>January</c:v>
                </c:pt>
                <c:pt idx="2">
                  <c:v>February</c:v>
                </c:pt>
                <c:pt idx="3">
                  <c:v>March</c:v>
                </c:pt>
                <c:pt idx="4">
                  <c:v>April</c:v>
                </c:pt>
                <c:pt idx="5">
                  <c:v>May</c:v>
                </c:pt>
                <c:pt idx="6">
                  <c:v>YTD Goal</c:v>
                </c:pt>
              </c:strCache>
            </c:strRef>
          </c:cat>
          <c:val>
            <c:numRef>
              <c:f>Sheet1!$B$2:$B$8</c:f>
              <c:numCache>
                <c:formatCode>0.00%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0-0CF4-4468-8356-FA99D380E509}"/>
            </c:ext>
          </c:extLst>
        </c:ser>
        <c:ser>
          <c:idx val="1"/>
          <c:order val="1"/>
          <c:tx>
            <c:strRef>
              <c:f>Sheet1!$C$1</c:f>
              <c:strCache>
                <c:ptCount val="1"/>
                <c:pt idx="0">
                  <c:v>CO</c:v>
                </c:pt>
              </c:strCache>
            </c:strRef>
          </c:tx>
          <c:spPr>
            <a:solidFill>
              <a:schemeClr val="accent2"/>
            </a:solidFill>
            <a:ln>
              <a:noFill/>
            </a:ln>
            <a:effectLst/>
          </c:spPr>
          <c:invertIfNegative val="0"/>
          <c:cat>
            <c:strRef>
              <c:f>Sheet1!$A$2:$A$8</c:f>
              <c:strCache>
                <c:ptCount val="7"/>
                <c:pt idx="0">
                  <c:v>YTD</c:v>
                </c:pt>
                <c:pt idx="1">
                  <c:v>January</c:v>
                </c:pt>
                <c:pt idx="2">
                  <c:v>February</c:v>
                </c:pt>
                <c:pt idx="3">
                  <c:v>March</c:v>
                </c:pt>
                <c:pt idx="4">
                  <c:v>April</c:v>
                </c:pt>
                <c:pt idx="5">
                  <c:v>May</c:v>
                </c:pt>
                <c:pt idx="6">
                  <c:v>YTD Goal</c:v>
                </c:pt>
              </c:strCache>
            </c:strRef>
          </c:cat>
          <c:val>
            <c:numRef>
              <c:f>Sheet1!$C$2:$C$8</c:f>
              <c:numCache>
                <c:formatCode>0.00%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8-8D72-477F-B80C-EDFF4F6F3180}"/>
            </c:ext>
          </c:extLst>
        </c:ser>
        <c:ser>
          <c:idx val="2"/>
          <c:order val="2"/>
          <c:tx>
            <c:strRef>
              <c:f>Sheet1!$D$1</c:f>
              <c:strCache>
                <c:ptCount val="1"/>
                <c:pt idx="0">
                  <c:v>CDT</c:v>
                </c:pt>
              </c:strCache>
            </c:strRef>
          </c:tx>
          <c:spPr>
            <a:solidFill>
              <a:schemeClr val="accent3"/>
            </a:solidFill>
            <a:ln>
              <a:noFill/>
            </a:ln>
            <a:effectLst/>
          </c:spPr>
          <c:invertIfNegative val="0"/>
          <c:cat>
            <c:strRef>
              <c:f>Sheet1!$A$2:$A$8</c:f>
              <c:strCache>
                <c:ptCount val="7"/>
                <c:pt idx="0">
                  <c:v>YTD</c:v>
                </c:pt>
                <c:pt idx="1">
                  <c:v>January</c:v>
                </c:pt>
                <c:pt idx="2">
                  <c:v>February</c:v>
                </c:pt>
                <c:pt idx="3">
                  <c:v>March</c:v>
                </c:pt>
                <c:pt idx="4">
                  <c:v>April</c:v>
                </c:pt>
                <c:pt idx="5">
                  <c:v>May</c:v>
                </c:pt>
                <c:pt idx="6">
                  <c:v>YTD Goal</c:v>
                </c:pt>
              </c:strCache>
            </c:strRef>
          </c:cat>
          <c:val>
            <c:numRef>
              <c:f>Sheet1!$D$2:$D$8</c:f>
              <c:numCache>
                <c:formatCode>0.00%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9-8D72-477F-B80C-EDFF4F6F3180}"/>
            </c:ext>
          </c:extLst>
        </c:ser>
        <c:ser>
          <c:idx val="3"/>
          <c:order val="3"/>
          <c:tx>
            <c:strRef>
              <c:f>Sheet1!$E$1</c:f>
              <c:strCache>
                <c:ptCount val="1"/>
                <c:pt idx="0">
                  <c:v>DM</c:v>
                </c:pt>
              </c:strCache>
            </c:strRef>
          </c:tx>
          <c:spPr>
            <a:solidFill>
              <a:schemeClr val="accent4"/>
            </a:solidFill>
            <a:ln>
              <a:noFill/>
            </a:ln>
            <a:effectLst/>
          </c:spPr>
          <c:invertIfNegative val="0"/>
          <c:cat>
            <c:strRef>
              <c:f>Sheet1!$A$2:$A$8</c:f>
              <c:strCache>
                <c:ptCount val="7"/>
                <c:pt idx="0">
                  <c:v>YTD</c:v>
                </c:pt>
                <c:pt idx="1">
                  <c:v>January</c:v>
                </c:pt>
                <c:pt idx="2">
                  <c:v>February</c:v>
                </c:pt>
                <c:pt idx="3">
                  <c:v>March</c:v>
                </c:pt>
                <c:pt idx="4">
                  <c:v>April</c:v>
                </c:pt>
                <c:pt idx="5">
                  <c:v>May</c:v>
                </c:pt>
                <c:pt idx="6">
                  <c:v>YTD Goal</c:v>
                </c:pt>
              </c:strCache>
            </c:strRef>
          </c:cat>
          <c:val>
            <c:numRef>
              <c:f>Sheet1!$E$2:$E$8</c:f>
              <c:numCache>
                <c:formatCode>0.00%</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A-8D72-477F-B80C-EDFF4F6F3180}"/>
            </c:ext>
          </c:extLst>
        </c:ser>
        <c:dLbls>
          <c:showLegendKey val="0"/>
          <c:showVal val="0"/>
          <c:showCatName val="0"/>
          <c:showSerName val="0"/>
          <c:showPercent val="0"/>
          <c:showBubbleSize val="0"/>
        </c:dLbls>
        <c:gapWidth val="95"/>
        <c:overlap val="100"/>
        <c:axId val="1278386928"/>
        <c:axId val="1278389880"/>
      </c:barChart>
      <c:catAx>
        <c:axId val="127838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9880"/>
        <c:crosses val="autoZero"/>
        <c:auto val="1"/>
        <c:lblAlgn val="ctr"/>
        <c:lblOffset val="100"/>
        <c:noMultiLvlLbl val="0"/>
      </c:catAx>
      <c:valAx>
        <c:axId val="127838988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838692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May Breakdown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percentStacked"/>
        <c:varyColors val="0"/>
        <c:ser>
          <c:idx val="0"/>
          <c:order val="0"/>
          <c:tx>
            <c:strRef>
              <c:f>Sheet1!$B$1</c:f>
              <c:strCache>
                <c:ptCount val="1"/>
                <c:pt idx="0">
                  <c:v>RFP</c:v>
                </c:pt>
              </c:strCache>
            </c:strRef>
          </c:tx>
          <c:spPr>
            <a:solidFill>
              <a:schemeClr val="accent1"/>
            </a:solidFill>
            <a:ln>
              <a:noFill/>
            </a:ln>
            <a:effectLst/>
          </c:spPr>
          <c:invertIfNegative val="0"/>
          <c:dLbls>
            <c:dLbl>
              <c:idx val="0"/>
              <c:layout>
                <c:manualLayout>
                  <c:x val="-4.4802867383512751E-3"/>
                  <c:y val="-0.1780441903046420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B81-405C-9A41-F053FFF14A60}"/>
                </c:ext>
              </c:extLst>
            </c:dLbl>
            <c:spPr>
              <a:noFill/>
              <a:ln>
                <a:noFill/>
              </a:ln>
              <a:effectLst/>
            </c:spPr>
            <c:txPr>
              <a:bodyPr rot="0" spcFirstLastPara="1" vertOverflow="overflow" horzOverflow="overflow"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0"/>
              </c:ext>
            </c:extLst>
          </c:dLbls>
          <c:cat>
            <c:strRef>
              <c:f>Sheet1!$A$2</c:f>
              <c:strCache>
                <c:ptCount val="1"/>
                <c:pt idx="0">
                  <c:v>RFP / CO</c:v>
                </c:pt>
              </c:strCache>
            </c:strRef>
          </c:cat>
          <c:val>
            <c:numRef>
              <c:f>Sheet1!$B$2</c:f>
              <c:numCache>
                <c:formatCode>0.00%</c:formatCode>
                <c:ptCount val="1"/>
                <c:pt idx="0">
                  <c:v>0</c:v>
                </c:pt>
              </c:numCache>
            </c:numRef>
          </c:val>
          <c:extLst>
            <c:ext xmlns:c16="http://schemas.microsoft.com/office/drawing/2014/chart" uri="{C3380CC4-5D6E-409C-BE32-E72D297353CC}">
              <c16:uniqueId val="{00000000-4B81-405C-9A41-F053FFF14A60}"/>
            </c:ext>
          </c:extLst>
        </c:ser>
        <c:ser>
          <c:idx val="1"/>
          <c:order val="1"/>
          <c:tx>
            <c:strRef>
              <c:f>Sheet1!$C$1</c:f>
              <c:strCache>
                <c:ptCount val="1"/>
                <c:pt idx="0">
                  <c:v>CO</c:v>
                </c:pt>
              </c:strCache>
            </c:strRef>
          </c:tx>
          <c:spPr>
            <a:solidFill>
              <a:schemeClr val="accent2"/>
            </a:solidFill>
            <a:ln>
              <a:noFill/>
            </a:ln>
            <a:effectLst/>
          </c:spPr>
          <c:invertIfNegative val="0"/>
          <c:dLbls>
            <c:dLbl>
              <c:idx val="0"/>
              <c:layout>
                <c:manualLayout>
                  <c:x val="6.6856814269184092E-3"/>
                  <c:y val="-5.3952784940800623E-3"/>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B81-405C-9A41-F053FFF14A6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RFP / CO</c:v>
                </c:pt>
              </c:strCache>
            </c:strRef>
          </c:cat>
          <c:val>
            <c:numRef>
              <c:f>Sheet1!$C$2</c:f>
              <c:numCache>
                <c:formatCode>0.00%</c:formatCode>
                <c:ptCount val="1"/>
                <c:pt idx="0">
                  <c:v>0</c:v>
                </c:pt>
              </c:numCache>
            </c:numRef>
          </c:val>
          <c:extLst>
            <c:ext xmlns:c16="http://schemas.microsoft.com/office/drawing/2014/chart" uri="{C3380CC4-5D6E-409C-BE32-E72D297353CC}">
              <c16:uniqueId val="{00000001-4B81-405C-9A41-F053FFF14A60}"/>
            </c:ext>
          </c:extLst>
        </c:ser>
        <c:ser>
          <c:idx val="2"/>
          <c:order val="2"/>
          <c:tx>
            <c:strRef>
              <c:f>Sheet1!$D$1</c:f>
              <c:strCache>
                <c:ptCount val="1"/>
                <c:pt idx="0">
                  <c:v>CDT</c:v>
                </c:pt>
              </c:strCache>
            </c:strRef>
          </c:tx>
          <c:spPr>
            <a:solidFill>
              <a:schemeClr val="accent3"/>
            </a:solidFill>
            <a:ln>
              <a:noFill/>
            </a:ln>
            <a:effectLst/>
          </c:spPr>
          <c:invertIfNegative val="0"/>
          <c:dLbls>
            <c:dLbl>
              <c:idx val="0"/>
              <c:layout>
                <c:manualLayout>
                  <c:x val="4.2562724014336917E-2"/>
                  <c:y val="-5.395278494080062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B81-405C-9A41-F053FFF14A6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RFP / CO</c:v>
                </c:pt>
              </c:strCache>
            </c:strRef>
          </c:cat>
          <c:val>
            <c:numRef>
              <c:f>Sheet1!$D$2</c:f>
              <c:numCache>
                <c:formatCode>0.00%</c:formatCode>
                <c:ptCount val="1"/>
                <c:pt idx="0">
                  <c:v>0</c:v>
                </c:pt>
              </c:numCache>
            </c:numRef>
          </c:val>
          <c:extLst>
            <c:ext xmlns:c16="http://schemas.microsoft.com/office/drawing/2014/chart" uri="{C3380CC4-5D6E-409C-BE32-E72D297353CC}">
              <c16:uniqueId val="{00000002-4B81-405C-9A41-F053FFF14A60}"/>
            </c:ext>
          </c:extLst>
        </c:ser>
        <c:ser>
          <c:idx val="3"/>
          <c:order val="3"/>
          <c:tx>
            <c:strRef>
              <c:f>Sheet1!$E$1</c:f>
              <c:strCache>
                <c:ptCount val="1"/>
                <c:pt idx="0">
                  <c:v>DM</c:v>
                </c:pt>
              </c:strCache>
            </c:strRef>
          </c:tx>
          <c:spPr>
            <a:solidFill>
              <a:schemeClr val="accent4"/>
            </a:solidFill>
            <a:ln>
              <a:noFill/>
            </a:ln>
            <a:effectLst/>
          </c:spPr>
          <c:invertIfNegative val="0"/>
          <c:dLbls>
            <c:dLbl>
              <c:idx val="0"/>
              <c:layout>
                <c:manualLayout>
                  <c:x val="3.8047688595377188E-2"/>
                  <c:y val="5.3952784940800623E-3"/>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B81-405C-9A41-F053FFF14A6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RFP / CO</c:v>
                </c:pt>
              </c:strCache>
            </c:strRef>
          </c:cat>
          <c:val>
            <c:numRef>
              <c:f>Sheet1!$E$2</c:f>
              <c:numCache>
                <c:formatCode>0.00%</c:formatCode>
                <c:ptCount val="1"/>
                <c:pt idx="0">
                  <c:v>0</c:v>
                </c:pt>
              </c:numCache>
            </c:numRef>
          </c:val>
          <c:extLst>
            <c:ext xmlns:c16="http://schemas.microsoft.com/office/drawing/2014/chart" uri="{C3380CC4-5D6E-409C-BE32-E72D297353CC}">
              <c16:uniqueId val="{00000003-4B81-405C-9A41-F053FFF14A60}"/>
            </c:ext>
          </c:extLst>
        </c:ser>
        <c:ser>
          <c:idx val="4"/>
          <c:order val="4"/>
          <c:tx>
            <c:strRef>
              <c:f>Sheet1!$F$1</c:f>
              <c:strCache>
                <c:ptCount val="1"/>
                <c:pt idx="0">
                  <c:v>Non-Client Time</c:v>
                </c:pt>
              </c:strCache>
            </c:strRef>
          </c:tx>
          <c:spPr>
            <a:solidFill>
              <a:schemeClr val="accent5"/>
            </a:solidFill>
            <a:ln>
              <a:noFill/>
            </a:ln>
            <a:effectLst/>
          </c:spPr>
          <c:invertIfNegative val="0"/>
          <c:dLbls>
            <c:dLbl>
              <c:idx val="0"/>
              <c:layout>
                <c:manualLayout>
                  <c:x val="-1.3371362853836818E-2"/>
                  <c:y val="-5.395278494080062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B81-405C-9A41-F053FFF14A6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RFP / CO</c:v>
                </c:pt>
              </c:strCache>
            </c:strRef>
          </c:cat>
          <c:val>
            <c:numRef>
              <c:f>Sheet1!$F$2</c:f>
              <c:numCache>
                <c:formatCode>0.00%</c:formatCode>
                <c:ptCount val="1"/>
                <c:pt idx="0">
                  <c:v>0</c:v>
                </c:pt>
              </c:numCache>
            </c:numRef>
          </c:val>
          <c:extLst>
            <c:ext xmlns:c16="http://schemas.microsoft.com/office/drawing/2014/chart" uri="{C3380CC4-5D6E-409C-BE32-E72D297353CC}">
              <c16:uniqueId val="{00000004-4B81-405C-9A41-F053FFF14A60}"/>
            </c:ext>
          </c:extLst>
        </c:ser>
        <c:ser>
          <c:idx val="5"/>
          <c:order val="5"/>
          <c:tx>
            <c:strRef>
              <c:f>Sheet1!$G$1</c:f>
              <c:strCache>
                <c:ptCount val="1"/>
                <c:pt idx="0">
                  <c:v>Non-Working Time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RFP / CO</c:v>
                </c:pt>
              </c:strCache>
            </c:strRef>
          </c:cat>
          <c:val>
            <c:numRef>
              <c:f>Sheet1!$G$2</c:f>
              <c:numCache>
                <c:formatCode>0.00%</c:formatCode>
                <c:ptCount val="1"/>
                <c:pt idx="0">
                  <c:v>0</c:v>
                </c:pt>
              </c:numCache>
            </c:numRef>
          </c:val>
          <c:extLst>
            <c:ext xmlns:c16="http://schemas.microsoft.com/office/drawing/2014/chart" uri="{C3380CC4-5D6E-409C-BE32-E72D297353CC}">
              <c16:uniqueId val="{00000005-4B81-405C-9A41-F053FFF14A60}"/>
            </c:ext>
          </c:extLst>
        </c:ser>
        <c:ser>
          <c:idx val="6"/>
          <c:order val="6"/>
          <c:tx>
            <c:strRef>
              <c:f>Sheet1!$H$1</c:f>
              <c:strCache>
                <c:ptCount val="1"/>
                <c:pt idx="0">
                  <c:v>Other LOB</c:v>
                </c:pt>
              </c:strCache>
            </c:strRef>
          </c:tx>
          <c:spPr>
            <a:solidFill>
              <a:schemeClr val="accent1">
                <a:lumMod val="60000"/>
              </a:schemeClr>
            </a:solidFill>
            <a:ln>
              <a:noFill/>
            </a:ln>
            <a:effectLst/>
          </c:spPr>
          <c:invertIfNegative val="0"/>
          <c:dLbls>
            <c:dLbl>
              <c:idx val="0"/>
              <c:layout>
                <c:manualLayout>
                  <c:x val="6.7204301075268818E-3"/>
                  <c:y val="-0.1834394687987221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B81-405C-9A41-F053FFF14A6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RFP / CO</c:v>
                </c:pt>
              </c:strCache>
            </c:strRef>
          </c:cat>
          <c:val>
            <c:numRef>
              <c:f>Sheet1!$H$2</c:f>
              <c:numCache>
                <c:formatCode>0.00%</c:formatCode>
                <c:ptCount val="1"/>
                <c:pt idx="0">
                  <c:v>0</c:v>
                </c:pt>
              </c:numCache>
            </c:numRef>
          </c:val>
          <c:extLst>
            <c:ext xmlns:c16="http://schemas.microsoft.com/office/drawing/2014/chart" uri="{C3380CC4-5D6E-409C-BE32-E72D297353CC}">
              <c16:uniqueId val="{00000006-4B81-405C-9A41-F053FFF14A60}"/>
            </c:ext>
          </c:extLst>
        </c:ser>
        <c:dLbls>
          <c:dLblPos val="ctr"/>
          <c:showLegendKey val="0"/>
          <c:showVal val="1"/>
          <c:showCatName val="0"/>
          <c:showSerName val="0"/>
          <c:showPercent val="0"/>
          <c:showBubbleSize val="0"/>
        </c:dLbls>
        <c:gapWidth val="150"/>
        <c:overlap val="100"/>
        <c:axId val="438566232"/>
        <c:axId val="438565904"/>
      </c:barChart>
      <c:catAx>
        <c:axId val="43856623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38565904"/>
        <c:crosses val="autoZero"/>
        <c:auto val="1"/>
        <c:lblAlgn val="ctr"/>
        <c:lblOffset val="100"/>
        <c:noMultiLvlLbl val="0"/>
      </c:catAx>
      <c:valAx>
        <c:axId val="438565904"/>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38566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Phase 1 Scope</c:v>
                </c:pt>
              </c:strCache>
            </c:strRef>
          </c:tx>
          <c:spPr>
            <a:ln w="2222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327</c:v>
                </c:pt>
                <c:pt idx="1">
                  <c:v>273</c:v>
                </c:pt>
                <c:pt idx="2">
                  <c:v>425</c:v>
                </c:pt>
                <c:pt idx="3">
                  <c:v>266</c:v>
                </c:pt>
                <c:pt idx="4">
                  <c:v>295</c:v>
                </c:pt>
                <c:pt idx="5">
                  <c:v>339</c:v>
                </c:pt>
                <c:pt idx="6">
                  <c:v>242</c:v>
                </c:pt>
                <c:pt idx="7">
                  <c:v>269</c:v>
                </c:pt>
                <c:pt idx="8">
                  <c:v>322</c:v>
                </c:pt>
                <c:pt idx="9">
                  <c:v>282</c:v>
                </c:pt>
                <c:pt idx="10">
                  <c:v>313</c:v>
                </c:pt>
                <c:pt idx="11">
                  <c:v>259</c:v>
                </c:pt>
              </c:numCache>
            </c:numRef>
          </c:val>
          <c:smooth val="0"/>
          <c:extLst>
            <c:ext xmlns:c16="http://schemas.microsoft.com/office/drawing/2014/chart" uri="{C3380CC4-5D6E-409C-BE32-E72D297353CC}">
              <c16:uniqueId val="{00000000-E021-4B5A-8C4B-A0D2772AE6B8}"/>
            </c:ext>
          </c:extLst>
        </c:ser>
        <c:dLbls>
          <c:dLblPos val="t"/>
          <c:showLegendKey val="0"/>
          <c:showVal val="1"/>
          <c:showCatName val="0"/>
          <c:showSerName val="0"/>
          <c:showPercent val="0"/>
          <c:showBubbleSize val="0"/>
        </c:dLbls>
        <c:smooth val="0"/>
        <c:axId val="1191633512"/>
        <c:axId val="1191635480"/>
      </c:lineChart>
      <c:catAx>
        <c:axId val="1191633512"/>
        <c:scaling>
          <c:orientation val="minMax"/>
        </c:scaling>
        <c:delete val="0"/>
        <c:axPos val="b"/>
        <c:majorGridlines>
          <c:spPr>
            <a:ln w="9525" cap="flat" cmpd="sng" algn="ctr">
              <a:solidFill>
                <a:schemeClr val="dk1">
                  <a:lumMod val="15000"/>
                  <a:lumOff val="85000"/>
                  <a:alpha val="54000"/>
                </a:schemeClr>
              </a:solidFill>
              <a:round/>
            </a:ln>
            <a:effectLst/>
          </c:spPr>
        </c:majorGridlines>
        <c:minorGridlines>
          <c:spPr>
            <a:ln w="9525" cap="flat" cmpd="sng" algn="ctr">
              <a:solidFill>
                <a:schemeClr val="dk1">
                  <a:lumMod val="15000"/>
                  <a:lumOff val="85000"/>
                  <a:alpha val="51000"/>
                </a:schemeClr>
              </a:solidFill>
              <a:round/>
            </a:ln>
            <a:effectLst/>
          </c:spPr>
        </c:min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1191635480"/>
        <c:crosses val="autoZero"/>
        <c:auto val="1"/>
        <c:lblAlgn val="ctr"/>
        <c:lblOffset val="100"/>
        <c:noMultiLvlLbl val="0"/>
      </c:catAx>
      <c:valAx>
        <c:axId val="1191635480"/>
        <c:scaling>
          <c:orientation val="minMax"/>
        </c:scaling>
        <c:delete val="0"/>
        <c:axPos val="l"/>
        <c:majorGridlines>
          <c:spPr>
            <a:ln w="9525" cap="flat" cmpd="sng" algn="ctr">
              <a:solidFill>
                <a:schemeClr val="dk1">
                  <a:lumMod val="15000"/>
                  <a:lumOff val="85000"/>
                  <a:alpha val="54000"/>
                </a:schemeClr>
              </a:solidFill>
              <a:round/>
            </a:ln>
            <a:effectLst/>
          </c:spPr>
        </c:majorGridlines>
        <c:title>
          <c:tx>
            <c:rich>
              <a:bodyPr rot="0" spcFirstLastPara="1" vertOverflow="ellipsis" wrap="square" anchor="ctr" anchorCtr="1"/>
              <a:lstStyle/>
              <a:p>
                <a:pPr>
                  <a:defRPr sz="1197" b="1" i="0" u="none" strike="noStrike" kern="1200" baseline="0">
                    <a:solidFill>
                      <a:schemeClr val="dk1">
                        <a:lumMod val="65000"/>
                        <a:lumOff val="35000"/>
                      </a:schemeClr>
                    </a:solidFill>
                    <a:latin typeface="+mn-lt"/>
                    <a:ea typeface="+mn-ea"/>
                    <a:cs typeface="+mn-cs"/>
                  </a:defRPr>
                </a:pPr>
                <a:r>
                  <a:rPr lang="en-US" b="0" dirty="0">
                    <a:latin typeface="Arial Narrow" panose="020B0606020202030204" pitchFamily="34" charset="0"/>
                  </a:rPr>
                  <a:t>Report</a:t>
                </a:r>
                <a:r>
                  <a:rPr lang="en-US" b="0" baseline="0" dirty="0">
                    <a:latin typeface="Arial Narrow" panose="020B0606020202030204" pitchFamily="34" charset="0"/>
                  </a:rPr>
                  <a:t>  Completed</a:t>
                </a:r>
                <a:endParaRPr lang="en-US" b="0" dirty="0">
                  <a:latin typeface="Arial Narrow" panose="020B0606020202030204" pitchFamily="34" charset="0"/>
                </a:endParaRPr>
              </a:p>
            </c:rich>
          </c:tx>
          <c:overlay val="0"/>
          <c:spPr>
            <a:noFill/>
            <a:ln>
              <a:noFill/>
            </a:ln>
            <a:effectLst/>
          </c:spPr>
          <c:txPr>
            <a:bodyPr rot="0" spcFirstLastPara="1" vertOverflow="ellipsis"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1191633512"/>
        <c:crosses val="autoZero"/>
        <c:crossBetween val="between"/>
      </c:valAx>
      <c:spPr>
        <a:pattFill prst="ltDnDiag">
          <a:fgClr>
            <a:schemeClr val="dk1">
              <a:lumMod val="15000"/>
              <a:lumOff val="85000"/>
            </a:schemeClr>
          </a:fgClr>
          <a:bgClr>
            <a:schemeClr val="lt1"/>
          </a:bgClr>
        </a:patt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b="1" dirty="0"/>
              <a:t>Monthly AHT (All</a:t>
            </a:r>
            <a:r>
              <a:rPr lang="en-US" sz="1200" b="1" baseline="0" dirty="0"/>
              <a:t> Processes) 2020 vs 2021</a:t>
            </a:r>
            <a:endParaRPr lang="en-US" sz="1200" b="1" dirty="0"/>
          </a:p>
        </c:rich>
      </c:tx>
      <c:layout>
        <c:manualLayout>
          <c:xMode val="edge"/>
          <c:yMode val="edge"/>
          <c:x val="0.15313558071114297"/>
          <c:y val="1.561265214908566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2020</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January</c:v>
                </c:pt>
                <c:pt idx="1">
                  <c:v>February</c:v>
                </c:pt>
                <c:pt idx="2">
                  <c:v>March</c:v>
                </c:pt>
                <c:pt idx="3">
                  <c:v>April</c:v>
                </c:pt>
                <c:pt idx="4">
                  <c:v>May</c:v>
                </c:pt>
              </c:strCache>
            </c:strRef>
          </c:cat>
          <c:val>
            <c:numRef>
              <c:f>Sheet1!$B$2:$B$6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0-5FEC-447C-9C0D-009F0D55B70B}"/>
            </c:ext>
          </c:extLst>
        </c:ser>
        <c:ser>
          <c:idx val="1"/>
          <c:order val="1"/>
          <c:tx>
            <c:strRef>
              <c:f>Sheet1!$C$1</c:f>
              <c:strCache>
                <c:ptCount val="1"/>
                <c:pt idx="0">
                  <c:v>2021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January</c:v>
                </c:pt>
                <c:pt idx="1">
                  <c:v>February</c:v>
                </c:pt>
                <c:pt idx="2">
                  <c:v>March</c:v>
                </c:pt>
                <c:pt idx="3">
                  <c:v>April</c:v>
                </c:pt>
                <c:pt idx="4">
                  <c:v>May</c:v>
                </c:pt>
              </c:strCache>
            </c:strRef>
          </c:cat>
          <c:val>
            <c:numRef>
              <c:f>Sheet1!$C$2:$C$6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0-E5D7-4771-9D21-1BF337193530}"/>
            </c:ext>
          </c:extLst>
        </c:ser>
        <c:dLbls>
          <c:dLblPos val="outEnd"/>
          <c:showLegendKey val="0"/>
          <c:showVal val="1"/>
          <c:showCatName val="0"/>
          <c:showSerName val="0"/>
          <c:showPercent val="0"/>
          <c:showBubbleSize val="0"/>
        </c:dLbls>
        <c:gapWidth val="150"/>
        <c:axId val="1334975888"/>
        <c:axId val="1334974248"/>
      </c:barChart>
      <c:catAx>
        <c:axId val="1334975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34974248"/>
        <c:crosses val="autoZero"/>
        <c:auto val="1"/>
        <c:lblAlgn val="ctr"/>
        <c:lblOffset val="100"/>
        <c:noMultiLvlLbl val="0"/>
      </c:catAx>
      <c:valAx>
        <c:axId val="1334974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3497588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US" dirty="0"/>
              <a:t>AHT and Volume YTD 2021</a:t>
            </a: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Volume</c:v>
                </c:pt>
              </c:strCache>
            </c:strRef>
          </c:tx>
          <c:spPr>
            <a:solidFill>
              <a:schemeClr val="accent1"/>
            </a:solidFill>
            <a:ln>
              <a:noFill/>
            </a:ln>
            <a:effectLst/>
          </c:spPr>
          <c:invertIfNegative val="0"/>
          <c:cat>
            <c:strRef>
              <c:f>Sheet1!$A$2:$A$9</c:f>
              <c:strCache>
                <c:ptCount val="8"/>
                <c:pt idx="0">
                  <c:v>FPA</c:v>
                </c:pt>
                <c:pt idx="1">
                  <c:v>FBS</c:v>
                </c:pt>
                <c:pt idx="2">
                  <c:v>PUT</c:v>
                </c:pt>
                <c:pt idx="3">
                  <c:v>IBNR</c:v>
                </c:pt>
                <c:pt idx="4">
                  <c:v>HM</c:v>
                </c:pt>
                <c:pt idx="5">
                  <c:v>PCORI</c:v>
                </c:pt>
                <c:pt idx="6">
                  <c:v>Other DM Support</c:v>
                </c:pt>
                <c:pt idx="7">
                  <c:v>Other Adhoc</c:v>
                </c:pt>
              </c:strCache>
            </c:strRef>
          </c:cat>
          <c:val>
            <c:numRef>
              <c:f>Sheet1!$B$2:$B$9</c:f>
              <c:numCache>
                <c:formatCode>General</c:formatCode>
                <c:ptCount val="8"/>
                <c:pt idx="0" formatCode="#,##0.0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0-5612-4AD6-B53C-70EF40CD7531}"/>
            </c:ext>
          </c:extLst>
        </c:ser>
        <c:dLbls>
          <c:showLegendKey val="0"/>
          <c:showVal val="0"/>
          <c:showCatName val="0"/>
          <c:showSerName val="0"/>
          <c:showPercent val="0"/>
          <c:showBubbleSize val="0"/>
        </c:dLbls>
        <c:gapWidth val="269"/>
        <c:axId val="624794384"/>
        <c:axId val="624793728"/>
      </c:barChart>
      <c:lineChart>
        <c:grouping val="standard"/>
        <c:varyColors val="0"/>
        <c:ser>
          <c:idx val="1"/>
          <c:order val="1"/>
          <c:tx>
            <c:strRef>
              <c:f>Sheet1!$C$1</c:f>
              <c:strCache>
                <c:ptCount val="1"/>
                <c:pt idx="0">
                  <c:v>AHT</c:v>
                </c:pt>
              </c:strCache>
            </c:strRef>
          </c:tx>
          <c:spPr>
            <a:ln w="38100" cap="rnd">
              <a:solidFill>
                <a:schemeClr val="accent2"/>
              </a:solidFill>
              <a:round/>
            </a:ln>
            <a:effectLst/>
          </c:spPr>
          <c:marker>
            <c:symbol val="circle"/>
            <c:size val="8"/>
            <c:spPr>
              <a:solidFill>
                <a:schemeClr val="accent2"/>
              </a:solidFill>
              <a:ln>
                <a:noFill/>
              </a:ln>
              <a:effectLst/>
            </c:spPr>
          </c:marker>
          <c:cat>
            <c:strRef>
              <c:f>Sheet1!$A$2:$A$9</c:f>
              <c:strCache>
                <c:ptCount val="8"/>
                <c:pt idx="0">
                  <c:v>FPA</c:v>
                </c:pt>
                <c:pt idx="1">
                  <c:v>FBS</c:v>
                </c:pt>
                <c:pt idx="2">
                  <c:v>PUT</c:v>
                </c:pt>
                <c:pt idx="3">
                  <c:v>IBNR</c:v>
                </c:pt>
                <c:pt idx="4">
                  <c:v>HM</c:v>
                </c:pt>
                <c:pt idx="5">
                  <c:v>PCORI</c:v>
                </c:pt>
                <c:pt idx="6">
                  <c:v>Other DM Support</c:v>
                </c:pt>
                <c:pt idx="7">
                  <c:v>Other Adhoc</c:v>
                </c:pt>
              </c:strCache>
            </c:strRef>
          </c:cat>
          <c:val>
            <c:numRef>
              <c:f>Sheet1!$C$2:$C$9</c:f>
              <c:numCache>
                <c:formatCode>General</c:formatCode>
                <c:ptCount val="8"/>
                <c:pt idx="0">
                  <c:v>0</c:v>
                </c:pt>
                <c:pt idx="1">
                  <c:v>0</c:v>
                </c:pt>
                <c:pt idx="2">
                  <c:v>0</c:v>
                </c:pt>
                <c:pt idx="3">
                  <c:v>0</c:v>
                </c:pt>
                <c:pt idx="4">
                  <c:v>0</c:v>
                </c:pt>
                <c:pt idx="5">
                  <c:v>0</c:v>
                </c:pt>
                <c:pt idx="6">
                  <c:v>0</c:v>
                </c:pt>
                <c:pt idx="7">
                  <c:v>0</c:v>
                </c:pt>
              </c:numCache>
            </c:numRef>
          </c:val>
          <c:smooth val="0"/>
          <c:extLst>
            <c:ext xmlns:c16="http://schemas.microsoft.com/office/drawing/2014/chart" uri="{C3380CC4-5D6E-409C-BE32-E72D297353CC}">
              <c16:uniqueId val="{00000001-5612-4AD6-B53C-70EF40CD7531}"/>
            </c:ext>
          </c:extLst>
        </c:ser>
        <c:dLbls>
          <c:showLegendKey val="0"/>
          <c:showVal val="0"/>
          <c:showCatName val="0"/>
          <c:showSerName val="0"/>
          <c:showPercent val="0"/>
          <c:showBubbleSize val="0"/>
        </c:dLbls>
        <c:marker val="1"/>
        <c:smooth val="0"/>
        <c:axId val="537507408"/>
        <c:axId val="537516264"/>
      </c:lineChart>
      <c:catAx>
        <c:axId val="5375074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537516264"/>
        <c:crosses val="autoZero"/>
        <c:auto val="1"/>
        <c:lblAlgn val="ctr"/>
        <c:lblOffset val="100"/>
        <c:noMultiLvlLbl val="0"/>
      </c:catAx>
      <c:valAx>
        <c:axId val="5375162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dirty="0"/>
                  <a:t>AHT</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37507408"/>
        <c:crosses val="autoZero"/>
        <c:crossBetween val="between"/>
      </c:valAx>
      <c:valAx>
        <c:axId val="624793728"/>
        <c:scaling>
          <c:orientation val="minMax"/>
        </c:scaling>
        <c:delete val="0"/>
        <c:axPos val="r"/>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24794384"/>
        <c:crosses val="max"/>
        <c:crossBetween val="between"/>
      </c:valAx>
      <c:catAx>
        <c:axId val="624794384"/>
        <c:scaling>
          <c:orientation val="minMax"/>
        </c:scaling>
        <c:delete val="1"/>
        <c:axPos val="b"/>
        <c:numFmt formatCode="General" sourceLinked="1"/>
        <c:majorTickMark val="out"/>
        <c:minorTickMark val="none"/>
        <c:tickLblPos val="nextTo"/>
        <c:crossAx val="624793728"/>
        <c:crosses val="autoZero"/>
        <c:auto val="1"/>
        <c:lblAlgn val="ctr"/>
        <c:lblOffset val="100"/>
        <c:noMultiLvlLbl val="0"/>
      </c:cat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US" dirty="0"/>
              <a:t>Volume YTD 2021 Consulting v B&amp;A</a:t>
            </a: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percentStacked"/>
        <c:varyColors val="0"/>
        <c:ser>
          <c:idx val="0"/>
          <c:order val="0"/>
          <c:tx>
            <c:strRef>
              <c:f>Sheet1!$B$1</c:f>
              <c:strCache>
                <c:ptCount val="1"/>
                <c:pt idx="0">
                  <c:v>Vol Consulting</c:v>
                </c:pt>
              </c:strCache>
            </c:strRef>
          </c:tx>
          <c:spPr>
            <a:solidFill>
              <a:schemeClr val="accent1"/>
            </a:solidFill>
            <a:ln>
              <a:noFill/>
            </a:ln>
            <a:effectLst/>
          </c:spPr>
          <c:invertIfNegative val="0"/>
          <c:cat>
            <c:strRef>
              <c:f>Sheet1!$A$2:$A$9</c:f>
              <c:strCache>
                <c:ptCount val="8"/>
                <c:pt idx="0">
                  <c:v>FPA</c:v>
                </c:pt>
                <c:pt idx="1">
                  <c:v>IBNR</c:v>
                </c:pt>
                <c:pt idx="2">
                  <c:v>FBS</c:v>
                </c:pt>
                <c:pt idx="3">
                  <c:v>PUT</c:v>
                </c:pt>
                <c:pt idx="4">
                  <c:v>PCORI</c:v>
                </c:pt>
                <c:pt idx="5">
                  <c:v>HM</c:v>
                </c:pt>
                <c:pt idx="6">
                  <c:v>Other DM</c:v>
                </c:pt>
                <c:pt idx="7">
                  <c:v>Other Adhoc</c:v>
                </c:pt>
              </c:strCache>
            </c:strRef>
          </c:cat>
          <c:val>
            <c:numRef>
              <c:f>Sheet1!$B$2:$B$9</c:f>
              <c:numCache>
                <c:formatCode>General</c:formatCode>
                <c:ptCount val="8"/>
                <c:pt idx="0" formatCode="#,##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0-5612-4AD6-B53C-70EF40CD7531}"/>
            </c:ext>
          </c:extLst>
        </c:ser>
        <c:ser>
          <c:idx val="1"/>
          <c:order val="1"/>
          <c:tx>
            <c:strRef>
              <c:f>Sheet1!$C$1</c:f>
              <c:strCache>
                <c:ptCount val="1"/>
                <c:pt idx="0">
                  <c:v>Vol_B&amp;A</c:v>
                </c:pt>
              </c:strCache>
            </c:strRef>
          </c:tx>
          <c:spPr>
            <a:solidFill>
              <a:schemeClr val="accent2"/>
            </a:solidFill>
            <a:ln>
              <a:noFill/>
            </a:ln>
            <a:effectLst/>
          </c:spPr>
          <c:invertIfNegative val="0"/>
          <c:cat>
            <c:strRef>
              <c:f>Sheet1!$A$2:$A$9</c:f>
              <c:strCache>
                <c:ptCount val="8"/>
                <c:pt idx="0">
                  <c:v>FPA</c:v>
                </c:pt>
                <c:pt idx="1">
                  <c:v>IBNR</c:v>
                </c:pt>
                <c:pt idx="2">
                  <c:v>FBS</c:v>
                </c:pt>
                <c:pt idx="3">
                  <c:v>PUT</c:v>
                </c:pt>
                <c:pt idx="4">
                  <c:v>PCORI</c:v>
                </c:pt>
                <c:pt idx="5">
                  <c:v>HM</c:v>
                </c:pt>
                <c:pt idx="6">
                  <c:v>Other DM</c:v>
                </c:pt>
                <c:pt idx="7">
                  <c:v>Other Adhoc</c:v>
                </c:pt>
              </c:strCache>
            </c:strRef>
          </c:cat>
          <c:val>
            <c:numRef>
              <c:f>Sheet1!$C$2:$C$9</c:f>
              <c:numCache>
                <c:formatCode>General</c:formatCode>
                <c:ptCount val="8"/>
                <c:pt idx="0" formatCode="#,##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1-5612-4AD6-B53C-70EF40CD7531}"/>
            </c:ext>
          </c:extLst>
        </c:ser>
        <c:dLbls>
          <c:showLegendKey val="0"/>
          <c:showVal val="0"/>
          <c:showCatName val="0"/>
          <c:showSerName val="0"/>
          <c:showPercent val="0"/>
          <c:showBubbleSize val="0"/>
        </c:dLbls>
        <c:gapWidth val="269"/>
        <c:overlap val="100"/>
        <c:axId val="537507408"/>
        <c:axId val="537516264"/>
      </c:barChart>
      <c:catAx>
        <c:axId val="5375074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537516264"/>
        <c:crosses val="autoZero"/>
        <c:auto val="1"/>
        <c:lblAlgn val="ctr"/>
        <c:lblOffset val="100"/>
        <c:noMultiLvlLbl val="0"/>
      </c:catAx>
      <c:valAx>
        <c:axId val="5375162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dirty="0"/>
                  <a:t>Volume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37507408"/>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US" dirty="0"/>
              <a:t>AHT YTD 2021 Consulting v B&amp;A</a:t>
            </a: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lineChart>
        <c:grouping val="standard"/>
        <c:varyColors val="0"/>
        <c:ser>
          <c:idx val="0"/>
          <c:order val="0"/>
          <c:tx>
            <c:strRef>
              <c:f>Sheet1!$B$1</c:f>
              <c:strCache>
                <c:ptCount val="1"/>
                <c:pt idx="0">
                  <c:v>AHT Consulting</c:v>
                </c:pt>
              </c:strCache>
            </c:strRef>
          </c:tx>
          <c:spPr>
            <a:ln w="38100" cap="rnd">
              <a:solidFill>
                <a:schemeClr val="accent1"/>
              </a:solidFill>
              <a:round/>
            </a:ln>
            <a:effectLst/>
          </c:spPr>
          <c:marker>
            <c:symbol val="circle"/>
            <c:size val="8"/>
            <c:spPr>
              <a:solidFill>
                <a:schemeClr val="accent1"/>
              </a:solidFill>
              <a:ln>
                <a:noFill/>
              </a:ln>
              <a:effectLst/>
            </c:spPr>
          </c:marker>
          <c:cat>
            <c:strRef>
              <c:f>Sheet1!$A$2:$A$9</c:f>
              <c:strCache>
                <c:ptCount val="8"/>
                <c:pt idx="0">
                  <c:v>FPA</c:v>
                </c:pt>
                <c:pt idx="1">
                  <c:v>IBNR</c:v>
                </c:pt>
                <c:pt idx="2">
                  <c:v>FBS</c:v>
                </c:pt>
                <c:pt idx="3">
                  <c:v>PUT</c:v>
                </c:pt>
                <c:pt idx="4">
                  <c:v>PCORI</c:v>
                </c:pt>
                <c:pt idx="5">
                  <c:v>HM</c:v>
                </c:pt>
                <c:pt idx="6">
                  <c:v>Other DM</c:v>
                </c:pt>
                <c:pt idx="7">
                  <c:v>Other Adhoc</c:v>
                </c:pt>
              </c:strCache>
            </c:strRef>
          </c:cat>
          <c:val>
            <c:numRef>
              <c:f>Sheet1!$B$2:$B$9</c:f>
              <c:numCache>
                <c:formatCode>General</c:formatCode>
                <c:ptCount val="8"/>
                <c:pt idx="0" formatCode="#,##0">
                  <c:v>0</c:v>
                </c:pt>
                <c:pt idx="1">
                  <c:v>0</c:v>
                </c:pt>
                <c:pt idx="2">
                  <c:v>0</c:v>
                </c:pt>
                <c:pt idx="3">
                  <c:v>0</c:v>
                </c:pt>
                <c:pt idx="4">
                  <c:v>0</c:v>
                </c:pt>
                <c:pt idx="5">
                  <c:v>0</c:v>
                </c:pt>
                <c:pt idx="6">
                  <c:v>0</c:v>
                </c:pt>
                <c:pt idx="7">
                  <c:v>0</c:v>
                </c:pt>
              </c:numCache>
            </c:numRef>
          </c:val>
          <c:smooth val="0"/>
          <c:extLst>
            <c:ext xmlns:c16="http://schemas.microsoft.com/office/drawing/2014/chart" uri="{C3380CC4-5D6E-409C-BE32-E72D297353CC}">
              <c16:uniqueId val="{00000000-8A5B-4559-8C40-CD3CDC866C10}"/>
            </c:ext>
          </c:extLst>
        </c:ser>
        <c:ser>
          <c:idx val="1"/>
          <c:order val="1"/>
          <c:tx>
            <c:strRef>
              <c:f>Sheet1!$C$1</c:f>
              <c:strCache>
                <c:ptCount val="1"/>
                <c:pt idx="0">
                  <c:v>AHT B&amp;A</c:v>
                </c:pt>
              </c:strCache>
            </c:strRef>
          </c:tx>
          <c:spPr>
            <a:ln w="38100" cap="rnd">
              <a:solidFill>
                <a:schemeClr val="accent2"/>
              </a:solidFill>
              <a:round/>
            </a:ln>
            <a:effectLst/>
          </c:spPr>
          <c:marker>
            <c:symbol val="circle"/>
            <c:size val="8"/>
            <c:spPr>
              <a:solidFill>
                <a:schemeClr val="accent2"/>
              </a:solidFill>
              <a:ln>
                <a:noFill/>
              </a:ln>
              <a:effectLst/>
            </c:spPr>
          </c:marker>
          <c:cat>
            <c:strRef>
              <c:f>Sheet1!$A$2:$A$9</c:f>
              <c:strCache>
                <c:ptCount val="8"/>
                <c:pt idx="0">
                  <c:v>FPA</c:v>
                </c:pt>
                <c:pt idx="1">
                  <c:v>IBNR</c:v>
                </c:pt>
                <c:pt idx="2">
                  <c:v>FBS</c:v>
                </c:pt>
                <c:pt idx="3">
                  <c:v>PUT</c:v>
                </c:pt>
                <c:pt idx="4">
                  <c:v>PCORI</c:v>
                </c:pt>
                <c:pt idx="5">
                  <c:v>HM</c:v>
                </c:pt>
                <c:pt idx="6">
                  <c:v>Other DM</c:v>
                </c:pt>
                <c:pt idx="7">
                  <c:v>Other Adhoc</c:v>
                </c:pt>
              </c:strCache>
            </c:strRef>
          </c:cat>
          <c:val>
            <c:numRef>
              <c:f>Sheet1!$C$2:$C$9</c:f>
              <c:numCache>
                <c:formatCode>General</c:formatCode>
                <c:ptCount val="8"/>
                <c:pt idx="0" formatCode="#,##0">
                  <c:v>0</c:v>
                </c:pt>
                <c:pt idx="1">
                  <c:v>0</c:v>
                </c:pt>
                <c:pt idx="2">
                  <c:v>0</c:v>
                </c:pt>
                <c:pt idx="3">
                  <c:v>0</c:v>
                </c:pt>
                <c:pt idx="4">
                  <c:v>0</c:v>
                </c:pt>
                <c:pt idx="5">
                  <c:v>0</c:v>
                </c:pt>
                <c:pt idx="6">
                  <c:v>0</c:v>
                </c:pt>
                <c:pt idx="7">
                  <c:v>0</c:v>
                </c:pt>
              </c:numCache>
            </c:numRef>
          </c:val>
          <c:smooth val="0"/>
          <c:extLst>
            <c:ext xmlns:c16="http://schemas.microsoft.com/office/drawing/2014/chart" uri="{C3380CC4-5D6E-409C-BE32-E72D297353CC}">
              <c16:uniqueId val="{00000001-8A5B-4559-8C40-CD3CDC866C10}"/>
            </c:ext>
          </c:extLst>
        </c:ser>
        <c:dLbls>
          <c:showLegendKey val="0"/>
          <c:showVal val="0"/>
          <c:showCatName val="0"/>
          <c:showSerName val="0"/>
          <c:showPercent val="0"/>
          <c:showBubbleSize val="0"/>
        </c:dLbls>
        <c:marker val="1"/>
        <c:smooth val="0"/>
        <c:axId val="537507408"/>
        <c:axId val="537516264"/>
      </c:lineChart>
      <c:catAx>
        <c:axId val="53750740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537516264"/>
        <c:crosses val="autoZero"/>
        <c:auto val="1"/>
        <c:lblAlgn val="ctr"/>
        <c:lblOffset val="100"/>
        <c:noMultiLvlLbl val="0"/>
      </c:catAx>
      <c:valAx>
        <c:axId val="5375162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dirty="0"/>
                  <a:t>AHT</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37507408"/>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Financial Performance Analysis</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accent1">
                        <a:lumMod val="20000"/>
                        <a:lumOff val="8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Sheet1!$A$2:$A$53</c:f>
              <c:strCache>
                <c:ptCount val="52"/>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Stamford, Connecticut</c:v>
                </c:pt>
                <c:pt idx="17">
                  <c:v>Richmond, Virginia</c:v>
                </c:pt>
                <c:pt idx="18">
                  <c:v>Tampa</c:v>
                </c:pt>
                <c:pt idx="19">
                  <c:v>Hartford, Connecticut</c:v>
                </c:pt>
                <c:pt idx="20">
                  <c:v>Mobile</c:v>
                </c:pt>
                <c:pt idx="21">
                  <c:v>Miami</c:v>
                </c:pt>
                <c:pt idx="22">
                  <c:v>Chicago</c:v>
                </c:pt>
                <c:pt idx="23">
                  <c:v>Michigan</c:v>
                </c:pt>
                <c:pt idx="24">
                  <c:v>Milwaukee</c:v>
                </c:pt>
                <c:pt idx="25">
                  <c:v>Minneapolis</c:v>
                </c:pt>
                <c:pt idx="26">
                  <c:v>Missouri</c:v>
                </c:pt>
                <c:pt idx="27">
                  <c:v>OH and Western PA</c:v>
                </c:pt>
                <c:pt idx="28">
                  <c:v>Pittsburgh</c:v>
                </c:pt>
                <c:pt idx="29">
                  <c:v>Cleveland</c:v>
                </c:pt>
                <c:pt idx="30">
                  <c:v>Grand Rapids</c:v>
                </c:pt>
                <c:pt idx="31">
                  <c:v>Kansan City</c:v>
                </c:pt>
                <c:pt idx="32">
                  <c:v>Columbus</c:v>
                </c:pt>
                <c:pt idx="33">
                  <c:v>Michigan - Grand Rapids</c:v>
                </c:pt>
                <c:pt idx="34">
                  <c:v>Overland Park, Kansas (AKA Kansas City)</c:v>
                </c:pt>
                <c:pt idx="35">
                  <c:v>St. Louis, Missouri</c:v>
                </c:pt>
                <c:pt idx="36">
                  <c:v>Michigan - Southfield</c:v>
                </c:pt>
                <c:pt idx="37">
                  <c:v>Appleton, Wisconsin</c:v>
                </c:pt>
                <c:pt idx="38">
                  <c:v>Dallas</c:v>
                </c:pt>
                <c:pt idx="39">
                  <c:v>Denver</c:v>
                </c:pt>
                <c:pt idx="40">
                  <c:v>Houston</c:v>
                </c:pt>
                <c:pt idx="41">
                  <c:v>NorCal</c:v>
                </c:pt>
                <c:pt idx="42">
                  <c:v>NY Metro</c:v>
                </c:pt>
                <c:pt idx="43">
                  <c:v>Pacific Northwest</c:v>
                </c:pt>
                <c:pt idx="44">
                  <c:v>SoCal Phoenix</c:v>
                </c:pt>
                <c:pt idx="45">
                  <c:v>Austin</c:v>
                </c:pt>
                <c:pt idx="46">
                  <c:v>Seattle</c:v>
                </c:pt>
                <c:pt idx="47">
                  <c:v>Irvine</c:v>
                </c:pt>
                <c:pt idx="48">
                  <c:v>Phoenix, Arizona</c:v>
                </c:pt>
                <c:pt idx="49">
                  <c:v>San Francisco</c:v>
                </c:pt>
                <c:pt idx="50">
                  <c:v>Austin, Texas</c:v>
                </c:pt>
                <c:pt idx="51">
                  <c:v>Los Angeles</c:v>
                </c:pt>
              </c:strCache>
            </c:strRef>
          </c:cat>
          <c:val>
            <c:numRef>
              <c:f>Sheet1!$B$2:$B$53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extLst>
            <c:ext xmlns:c16="http://schemas.microsoft.com/office/drawing/2014/chart" uri="{C3380CC4-5D6E-409C-BE32-E72D297353CC}">
              <c16:uniqueId val="{00000000-42F2-4BA9-A226-FB3104F054FF}"/>
            </c:ext>
          </c:extLst>
        </c:ser>
        <c:ser>
          <c:idx val="1"/>
          <c:order val="1"/>
          <c:tx>
            <c:strRef>
              <c:f>Sheet1!$C$1</c:f>
              <c:strCache>
                <c:ptCount val="1"/>
                <c:pt idx="0">
                  <c:v>Pricing Underwriting Tool</c:v>
                </c:pt>
              </c:strCache>
            </c:strRef>
          </c:tx>
          <c:spPr>
            <a:solidFill>
              <a:schemeClr val="accent2">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Sheet1!$A$2:$A$53</c:f>
              <c:strCache>
                <c:ptCount val="52"/>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Stamford, Connecticut</c:v>
                </c:pt>
                <c:pt idx="17">
                  <c:v>Richmond, Virginia</c:v>
                </c:pt>
                <c:pt idx="18">
                  <c:v>Tampa</c:v>
                </c:pt>
                <c:pt idx="19">
                  <c:v>Hartford, Connecticut</c:v>
                </c:pt>
                <c:pt idx="20">
                  <c:v>Mobile</c:v>
                </c:pt>
                <c:pt idx="21">
                  <c:v>Miami</c:v>
                </c:pt>
                <c:pt idx="22">
                  <c:v>Chicago</c:v>
                </c:pt>
                <c:pt idx="23">
                  <c:v>Michigan</c:v>
                </c:pt>
                <c:pt idx="24">
                  <c:v>Milwaukee</c:v>
                </c:pt>
                <c:pt idx="25">
                  <c:v>Minneapolis</c:v>
                </c:pt>
                <c:pt idx="26">
                  <c:v>Missouri</c:v>
                </c:pt>
                <c:pt idx="27">
                  <c:v>OH and Western PA</c:v>
                </c:pt>
                <c:pt idx="28">
                  <c:v>Pittsburgh</c:v>
                </c:pt>
                <c:pt idx="29">
                  <c:v>Cleveland</c:v>
                </c:pt>
                <c:pt idx="30">
                  <c:v>Grand Rapids</c:v>
                </c:pt>
                <c:pt idx="31">
                  <c:v>Kansan City</c:v>
                </c:pt>
                <c:pt idx="32">
                  <c:v>Columbus</c:v>
                </c:pt>
                <c:pt idx="33">
                  <c:v>Michigan - Grand Rapids</c:v>
                </c:pt>
                <c:pt idx="34">
                  <c:v>Overland Park, Kansas (AKA Kansas City)</c:v>
                </c:pt>
                <c:pt idx="35">
                  <c:v>St. Louis, Missouri</c:v>
                </c:pt>
                <c:pt idx="36">
                  <c:v>Michigan - Southfield</c:v>
                </c:pt>
                <c:pt idx="37">
                  <c:v>Appleton, Wisconsin</c:v>
                </c:pt>
                <c:pt idx="38">
                  <c:v>Dallas</c:v>
                </c:pt>
                <c:pt idx="39">
                  <c:v>Denver</c:v>
                </c:pt>
                <c:pt idx="40">
                  <c:v>Houston</c:v>
                </c:pt>
                <c:pt idx="41">
                  <c:v>NorCal</c:v>
                </c:pt>
                <c:pt idx="42">
                  <c:v>NY Metro</c:v>
                </c:pt>
                <c:pt idx="43">
                  <c:v>Pacific Northwest</c:v>
                </c:pt>
                <c:pt idx="44">
                  <c:v>SoCal Phoenix</c:v>
                </c:pt>
                <c:pt idx="45">
                  <c:v>Austin</c:v>
                </c:pt>
                <c:pt idx="46">
                  <c:v>Seattle</c:v>
                </c:pt>
                <c:pt idx="47">
                  <c:v>Irvine</c:v>
                </c:pt>
                <c:pt idx="48">
                  <c:v>Phoenix, Arizona</c:v>
                </c:pt>
                <c:pt idx="49">
                  <c:v>San Francisco</c:v>
                </c:pt>
                <c:pt idx="50">
                  <c:v>Austin, Texas</c:v>
                </c:pt>
                <c:pt idx="51">
                  <c:v>Los Angeles</c:v>
                </c:pt>
              </c:strCache>
            </c:strRef>
          </c:cat>
          <c:val>
            <c:numRef>
              <c:f>Sheet1!$C$2:$C$53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extLst>
            <c:ext xmlns:c16="http://schemas.microsoft.com/office/drawing/2014/chart" uri="{C3380CC4-5D6E-409C-BE32-E72D297353CC}">
              <c16:uniqueId val="{00000001-42F2-4BA9-A226-FB3104F054FF}"/>
            </c:ext>
          </c:extLst>
        </c:ser>
        <c:ser>
          <c:idx val="2"/>
          <c:order val="2"/>
          <c:tx>
            <c:strRef>
              <c:f>Sheet1!$D$1</c:f>
              <c:strCache>
                <c:ptCount val="1"/>
                <c:pt idx="0">
                  <c:v>Incurred But Not Reported</c:v>
                </c:pt>
              </c:strCache>
            </c:strRef>
          </c:tx>
          <c:spPr>
            <a:solidFill>
              <a:schemeClr val="accent3">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Sheet1!$A$2:$A$53</c:f>
              <c:strCache>
                <c:ptCount val="52"/>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Stamford, Connecticut</c:v>
                </c:pt>
                <c:pt idx="17">
                  <c:v>Richmond, Virginia</c:v>
                </c:pt>
                <c:pt idx="18">
                  <c:v>Tampa</c:v>
                </c:pt>
                <c:pt idx="19">
                  <c:v>Hartford, Connecticut</c:v>
                </c:pt>
                <c:pt idx="20">
                  <c:v>Mobile</c:v>
                </c:pt>
                <c:pt idx="21">
                  <c:v>Miami</c:v>
                </c:pt>
                <c:pt idx="22">
                  <c:v>Chicago</c:v>
                </c:pt>
                <c:pt idx="23">
                  <c:v>Michigan</c:v>
                </c:pt>
                <c:pt idx="24">
                  <c:v>Milwaukee</c:v>
                </c:pt>
                <c:pt idx="25">
                  <c:v>Minneapolis</c:v>
                </c:pt>
                <c:pt idx="26">
                  <c:v>Missouri</c:v>
                </c:pt>
                <c:pt idx="27">
                  <c:v>OH and Western PA</c:v>
                </c:pt>
                <c:pt idx="28">
                  <c:v>Pittsburgh</c:v>
                </c:pt>
                <c:pt idx="29">
                  <c:v>Cleveland</c:v>
                </c:pt>
                <c:pt idx="30">
                  <c:v>Grand Rapids</c:v>
                </c:pt>
                <c:pt idx="31">
                  <c:v>Kansan City</c:v>
                </c:pt>
                <c:pt idx="32">
                  <c:v>Columbus</c:v>
                </c:pt>
                <c:pt idx="33">
                  <c:v>Michigan - Grand Rapids</c:v>
                </c:pt>
                <c:pt idx="34">
                  <c:v>Overland Park, Kansas (AKA Kansas City)</c:v>
                </c:pt>
                <c:pt idx="35">
                  <c:v>St. Louis, Missouri</c:v>
                </c:pt>
                <c:pt idx="36">
                  <c:v>Michigan - Southfield</c:v>
                </c:pt>
                <c:pt idx="37">
                  <c:v>Appleton, Wisconsin</c:v>
                </c:pt>
                <c:pt idx="38">
                  <c:v>Dallas</c:v>
                </c:pt>
                <c:pt idx="39">
                  <c:v>Denver</c:v>
                </c:pt>
                <c:pt idx="40">
                  <c:v>Houston</c:v>
                </c:pt>
                <c:pt idx="41">
                  <c:v>NorCal</c:v>
                </c:pt>
                <c:pt idx="42">
                  <c:v>NY Metro</c:v>
                </c:pt>
                <c:pt idx="43">
                  <c:v>Pacific Northwest</c:v>
                </c:pt>
                <c:pt idx="44">
                  <c:v>SoCal Phoenix</c:v>
                </c:pt>
                <c:pt idx="45">
                  <c:v>Austin</c:v>
                </c:pt>
                <c:pt idx="46">
                  <c:v>Seattle</c:v>
                </c:pt>
                <c:pt idx="47">
                  <c:v>Irvine</c:v>
                </c:pt>
                <c:pt idx="48">
                  <c:v>Phoenix, Arizona</c:v>
                </c:pt>
                <c:pt idx="49">
                  <c:v>San Francisco</c:v>
                </c:pt>
                <c:pt idx="50">
                  <c:v>Austin, Texas</c:v>
                </c:pt>
                <c:pt idx="51">
                  <c:v>Los Angeles</c:v>
                </c:pt>
              </c:strCache>
            </c:strRef>
          </c:cat>
          <c:val>
            <c:numRef>
              <c:f>Sheet1!$D$2:$D$53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extLst>
            <c:ext xmlns:c16="http://schemas.microsoft.com/office/drawing/2014/chart" uri="{C3380CC4-5D6E-409C-BE32-E72D297353CC}">
              <c16:uniqueId val="{00000002-42F2-4BA9-A226-FB3104F054FF}"/>
            </c:ext>
          </c:extLst>
        </c:ser>
        <c:ser>
          <c:idx val="3"/>
          <c:order val="3"/>
          <c:tx>
            <c:strRef>
              <c:f>Sheet1!$E$1</c:f>
              <c:strCache>
                <c:ptCount val="1"/>
                <c:pt idx="0">
                  <c:v>Financial Benchmark Survey</c:v>
                </c:pt>
              </c:strCache>
            </c:strRef>
          </c:tx>
          <c:spPr>
            <a:solidFill>
              <a:schemeClr val="accent4">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Sheet1!$A$2:$A$53</c:f>
              <c:strCache>
                <c:ptCount val="52"/>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Stamford, Connecticut</c:v>
                </c:pt>
                <c:pt idx="17">
                  <c:v>Richmond, Virginia</c:v>
                </c:pt>
                <c:pt idx="18">
                  <c:v>Tampa</c:v>
                </c:pt>
                <c:pt idx="19">
                  <c:v>Hartford, Connecticut</c:v>
                </c:pt>
                <c:pt idx="20">
                  <c:v>Mobile</c:v>
                </c:pt>
                <c:pt idx="21">
                  <c:v>Miami</c:v>
                </c:pt>
                <c:pt idx="22">
                  <c:v>Chicago</c:v>
                </c:pt>
                <c:pt idx="23">
                  <c:v>Michigan</c:v>
                </c:pt>
                <c:pt idx="24">
                  <c:v>Milwaukee</c:v>
                </c:pt>
                <c:pt idx="25">
                  <c:v>Minneapolis</c:v>
                </c:pt>
                <c:pt idx="26">
                  <c:v>Missouri</c:v>
                </c:pt>
                <c:pt idx="27">
                  <c:v>OH and Western PA</c:v>
                </c:pt>
                <c:pt idx="28">
                  <c:v>Pittsburgh</c:v>
                </c:pt>
                <c:pt idx="29">
                  <c:v>Cleveland</c:v>
                </c:pt>
                <c:pt idx="30">
                  <c:v>Grand Rapids</c:v>
                </c:pt>
                <c:pt idx="31">
                  <c:v>Kansan City</c:v>
                </c:pt>
                <c:pt idx="32">
                  <c:v>Columbus</c:v>
                </c:pt>
                <c:pt idx="33">
                  <c:v>Michigan - Grand Rapids</c:v>
                </c:pt>
                <c:pt idx="34">
                  <c:v>Overland Park, Kansas (AKA Kansas City)</c:v>
                </c:pt>
                <c:pt idx="35">
                  <c:v>St. Louis, Missouri</c:v>
                </c:pt>
                <c:pt idx="36">
                  <c:v>Michigan - Southfield</c:v>
                </c:pt>
                <c:pt idx="37">
                  <c:v>Appleton, Wisconsin</c:v>
                </c:pt>
                <c:pt idx="38">
                  <c:v>Dallas</c:v>
                </c:pt>
                <c:pt idx="39">
                  <c:v>Denver</c:v>
                </c:pt>
                <c:pt idx="40">
                  <c:v>Houston</c:v>
                </c:pt>
                <c:pt idx="41">
                  <c:v>NorCal</c:v>
                </c:pt>
                <c:pt idx="42">
                  <c:v>NY Metro</c:v>
                </c:pt>
                <c:pt idx="43">
                  <c:v>Pacific Northwest</c:v>
                </c:pt>
                <c:pt idx="44">
                  <c:v>SoCal Phoenix</c:v>
                </c:pt>
                <c:pt idx="45">
                  <c:v>Austin</c:v>
                </c:pt>
                <c:pt idx="46">
                  <c:v>Seattle</c:v>
                </c:pt>
                <c:pt idx="47">
                  <c:v>Irvine</c:v>
                </c:pt>
                <c:pt idx="48">
                  <c:v>Phoenix, Arizona</c:v>
                </c:pt>
                <c:pt idx="49">
                  <c:v>San Francisco</c:v>
                </c:pt>
                <c:pt idx="50">
                  <c:v>Austin, Texas</c:v>
                </c:pt>
                <c:pt idx="51">
                  <c:v>Los Angeles</c:v>
                </c:pt>
              </c:strCache>
            </c:strRef>
          </c:cat>
          <c:val>
            <c:numRef>
              <c:f>Sheet1!$E$2:$E$53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extLst>
            <c:ext xmlns:c16="http://schemas.microsoft.com/office/drawing/2014/chart" uri="{C3380CC4-5D6E-409C-BE32-E72D297353CC}">
              <c16:uniqueId val="{00000000-AAF6-4B09-AC0D-597D13DA7F32}"/>
            </c:ext>
          </c:extLst>
        </c:ser>
        <c:ser>
          <c:idx val="4"/>
          <c:order val="4"/>
          <c:tx>
            <c:strRef>
              <c:f>Sheet1!$F$1</c:f>
              <c:strCache>
                <c:ptCount val="1"/>
                <c:pt idx="0">
                  <c:v>HealthMaps</c:v>
                </c:pt>
              </c:strCache>
            </c:strRef>
          </c:tx>
          <c:spPr>
            <a:solidFill>
              <a:schemeClr val="accent5">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Sheet1!$A$2:$A$53</c:f>
              <c:strCache>
                <c:ptCount val="52"/>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Stamford, Connecticut</c:v>
                </c:pt>
                <c:pt idx="17">
                  <c:v>Richmond, Virginia</c:v>
                </c:pt>
                <c:pt idx="18">
                  <c:v>Tampa</c:v>
                </c:pt>
                <c:pt idx="19">
                  <c:v>Hartford, Connecticut</c:v>
                </c:pt>
                <c:pt idx="20">
                  <c:v>Mobile</c:v>
                </c:pt>
                <c:pt idx="21">
                  <c:v>Miami</c:v>
                </c:pt>
                <c:pt idx="22">
                  <c:v>Chicago</c:v>
                </c:pt>
                <c:pt idx="23">
                  <c:v>Michigan</c:v>
                </c:pt>
                <c:pt idx="24">
                  <c:v>Milwaukee</c:v>
                </c:pt>
                <c:pt idx="25">
                  <c:v>Minneapolis</c:v>
                </c:pt>
                <c:pt idx="26">
                  <c:v>Missouri</c:v>
                </c:pt>
                <c:pt idx="27">
                  <c:v>OH and Western PA</c:v>
                </c:pt>
                <c:pt idx="28">
                  <c:v>Pittsburgh</c:v>
                </c:pt>
                <c:pt idx="29">
                  <c:v>Cleveland</c:v>
                </c:pt>
                <c:pt idx="30">
                  <c:v>Grand Rapids</c:v>
                </c:pt>
                <c:pt idx="31">
                  <c:v>Kansan City</c:v>
                </c:pt>
                <c:pt idx="32">
                  <c:v>Columbus</c:v>
                </c:pt>
                <c:pt idx="33">
                  <c:v>Michigan - Grand Rapids</c:v>
                </c:pt>
                <c:pt idx="34">
                  <c:v>Overland Park, Kansas (AKA Kansas City)</c:v>
                </c:pt>
                <c:pt idx="35">
                  <c:v>St. Louis, Missouri</c:v>
                </c:pt>
                <c:pt idx="36">
                  <c:v>Michigan - Southfield</c:v>
                </c:pt>
                <c:pt idx="37">
                  <c:v>Appleton, Wisconsin</c:v>
                </c:pt>
                <c:pt idx="38">
                  <c:v>Dallas</c:v>
                </c:pt>
                <c:pt idx="39">
                  <c:v>Denver</c:v>
                </c:pt>
                <c:pt idx="40">
                  <c:v>Houston</c:v>
                </c:pt>
                <c:pt idx="41">
                  <c:v>NorCal</c:v>
                </c:pt>
                <c:pt idx="42">
                  <c:v>NY Metro</c:v>
                </c:pt>
                <c:pt idx="43">
                  <c:v>Pacific Northwest</c:v>
                </c:pt>
                <c:pt idx="44">
                  <c:v>SoCal Phoenix</c:v>
                </c:pt>
                <c:pt idx="45">
                  <c:v>Austin</c:v>
                </c:pt>
                <c:pt idx="46">
                  <c:v>Seattle</c:v>
                </c:pt>
                <c:pt idx="47">
                  <c:v>Irvine</c:v>
                </c:pt>
                <c:pt idx="48">
                  <c:v>Phoenix, Arizona</c:v>
                </c:pt>
                <c:pt idx="49">
                  <c:v>San Francisco</c:v>
                </c:pt>
                <c:pt idx="50">
                  <c:v>Austin, Texas</c:v>
                </c:pt>
                <c:pt idx="51">
                  <c:v>Los Angeles</c:v>
                </c:pt>
              </c:strCache>
            </c:strRef>
          </c:cat>
          <c:val>
            <c:numRef>
              <c:f>Sheet1!$F$2:$F$53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extLst>
            <c:ext xmlns:c16="http://schemas.microsoft.com/office/drawing/2014/chart" uri="{C3380CC4-5D6E-409C-BE32-E72D297353CC}">
              <c16:uniqueId val="{00000003-AAF6-4B09-AC0D-597D13DA7F32}"/>
            </c:ext>
          </c:extLst>
        </c:ser>
        <c:ser>
          <c:idx val="5"/>
          <c:order val="5"/>
          <c:tx>
            <c:strRef>
              <c:f>Sheet1!$G$1</c:f>
              <c:strCache>
                <c:ptCount val="1"/>
                <c:pt idx="0">
                  <c:v>PCORI</c:v>
                </c:pt>
              </c:strCache>
            </c:strRef>
          </c:tx>
          <c:spPr>
            <a:solidFill>
              <a:schemeClr val="accent6">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Sheet1!$A$2:$A$53</c:f>
              <c:strCache>
                <c:ptCount val="52"/>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Stamford, Connecticut</c:v>
                </c:pt>
                <c:pt idx="17">
                  <c:v>Richmond, Virginia</c:v>
                </c:pt>
                <c:pt idx="18">
                  <c:v>Tampa</c:v>
                </c:pt>
                <c:pt idx="19">
                  <c:v>Hartford, Connecticut</c:v>
                </c:pt>
                <c:pt idx="20">
                  <c:v>Mobile</c:v>
                </c:pt>
                <c:pt idx="21">
                  <c:v>Miami</c:v>
                </c:pt>
                <c:pt idx="22">
                  <c:v>Chicago</c:v>
                </c:pt>
                <c:pt idx="23">
                  <c:v>Michigan</c:v>
                </c:pt>
                <c:pt idx="24">
                  <c:v>Milwaukee</c:v>
                </c:pt>
                <c:pt idx="25">
                  <c:v>Minneapolis</c:v>
                </c:pt>
                <c:pt idx="26">
                  <c:v>Missouri</c:v>
                </c:pt>
                <c:pt idx="27">
                  <c:v>OH and Western PA</c:v>
                </c:pt>
                <c:pt idx="28">
                  <c:v>Pittsburgh</c:v>
                </c:pt>
                <c:pt idx="29">
                  <c:v>Cleveland</c:v>
                </c:pt>
                <c:pt idx="30">
                  <c:v>Grand Rapids</c:v>
                </c:pt>
                <c:pt idx="31">
                  <c:v>Kansan City</c:v>
                </c:pt>
                <c:pt idx="32">
                  <c:v>Columbus</c:v>
                </c:pt>
                <c:pt idx="33">
                  <c:v>Michigan - Grand Rapids</c:v>
                </c:pt>
                <c:pt idx="34">
                  <c:v>Overland Park, Kansas (AKA Kansas City)</c:v>
                </c:pt>
                <c:pt idx="35">
                  <c:v>St. Louis, Missouri</c:v>
                </c:pt>
                <c:pt idx="36">
                  <c:v>Michigan - Southfield</c:v>
                </c:pt>
                <c:pt idx="37">
                  <c:v>Appleton, Wisconsin</c:v>
                </c:pt>
                <c:pt idx="38">
                  <c:v>Dallas</c:v>
                </c:pt>
                <c:pt idx="39">
                  <c:v>Denver</c:v>
                </c:pt>
                <c:pt idx="40">
                  <c:v>Houston</c:v>
                </c:pt>
                <c:pt idx="41">
                  <c:v>NorCal</c:v>
                </c:pt>
                <c:pt idx="42">
                  <c:v>NY Metro</c:v>
                </c:pt>
                <c:pt idx="43">
                  <c:v>Pacific Northwest</c:v>
                </c:pt>
                <c:pt idx="44">
                  <c:v>SoCal Phoenix</c:v>
                </c:pt>
                <c:pt idx="45">
                  <c:v>Austin</c:v>
                </c:pt>
                <c:pt idx="46">
                  <c:v>Seattle</c:v>
                </c:pt>
                <c:pt idx="47">
                  <c:v>Irvine</c:v>
                </c:pt>
                <c:pt idx="48">
                  <c:v>Phoenix, Arizona</c:v>
                </c:pt>
                <c:pt idx="49">
                  <c:v>San Francisco</c:v>
                </c:pt>
                <c:pt idx="50">
                  <c:v>Austin, Texas</c:v>
                </c:pt>
                <c:pt idx="51">
                  <c:v>Los Angeles</c:v>
                </c:pt>
              </c:strCache>
            </c:strRef>
          </c:cat>
          <c:val>
            <c:numRef>
              <c:f>Sheet1!$G$2:$G$53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extLst>
            <c:ext xmlns:c16="http://schemas.microsoft.com/office/drawing/2014/chart" uri="{C3380CC4-5D6E-409C-BE32-E72D297353CC}">
              <c16:uniqueId val="{00000000-6059-4246-A463-EF728D2EB324}"/>
            </c:ext>
          </c:extLst>
        </c:ser>
        <c:ser>
          <c:idx val="6"/>
          <c:order val="6"/>
          <c:tx>
            <c:strRef>
              <c:f>Sheet1!$H$1</c:f>
              <c:strCache>
                <c:ptCount val="1"/>
                <c:pt idx="0">
                  <c:v>Other Adhoc</c:v>
                </c:pt>
              </c:strCache>
            </c:strRef>
          </c:tx>
          <c:spPr>
            <a:solidFill>
              <a:schemeClr val="accent1">
                <a:lumMod val="60000"/>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Sheet1!$A$2:$A$53</c:f>
              <c:strCache>
                <c:ptCount val="52"/>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Stamford, Connecticut</c:v>
                </c:pt>
                <c:pt idx="17">
                  <c:v>Richmond, Virginia</c:v>
                </c:pt>
                <c:pt idx="18">
                  <c:v>Tampa</c:v>
                </c:pt>
                <c:pt idx="19">
                  <c:v>Hartford, Connecticut</c:v>
                </c:pt>
                <c:pt idx="20">
                  <c:v>Mobile</c:v>
                </c:pt>
                <c:pt idx="21">
                  <c:v>Miami</c:v>
                </c:pt>
                <c:pt idx="22">
                  <c:v>Chicago</c:v>
                </c:pt>
                <c:pt idx="23">
                  <c:v>Michigan</c:v>
                </c:pt>
                <c:pt idx="24">
                  <c:v>Milwaukee</c:v>
                </c:pt>
                <c:pt idx="25">
                  <c:v>Minneapolis</c:v>
                </c:pt>
                <c:pt idx="26">
                  <c:v>Missouri</c:v>
                </c:pt>
                <c:pt idx="27">
                  <c:v>OH and Western PA</c:v>
                </c:pt>
                <c:pt idx="28">
                  <c:v>Pittsburgh</c:v>
                </c:pt>
                <c:pt idx="29">
                  <c:v>Cleveland</c:v>
                </c:pt>
                <c:pt idx="30">
                  <c:v>Grand Rapids</c:v>
                </c:pt>
                <c:pt idx="31">
                  <c:v>Kansan City</c:v>
                </c:pt>
                <c:pt idx="32">
                  <c:v>Columbus</c:v>
                </c:pt>
                <c:pt idx="33">
                  <c:v>Michigan - Grand Rapids</c:v>
                </c:pt>
                <c:pt idx="34">
                  <c:v>Overland Park, Kansas (AKA Kansas City)</c:v>
                </c:pt>
                <c:pt idx="35">
                  <c:v>St. Louis, Missouri</c:v>
                </c:pt>
                <c:pt idx="36">
                  <c:v>Michigan - Southfield</c:v>
                </c:pt>
                <c:pt idx="37">
                  <c:v>Appleton, Wisconsin</c:v>
                </c:pt>
                <c:pt idx="38">
                  <c:v>Dallas</c:v>
                </c:pt>
                <c:pt idx="39">
                  <c:v>Denver</c:v>
                </c:pt>
                <c:pt idx="40">
                  <c:v>Houston</c:v>
                </c:pt>
                <c:pt idx="41">
                  <c:v>NorCal</c:v>
                </c:pt>
                <c:pt idx="42">
                  <c:v>NY Metro</c:v>
                </c:pt>
                <c:pt idx="43">
                  <c:v>Pacific Northwest</c:v>
                </c:pt>
                <c:pt idx="44">
                  <c:v>SoCal Phoenix</c:v>
                </c:pt>
                <c:pt idx="45">
                  <c:v>Austin</c:v>
                </c:pt>
                <c:pt idx="46">
                  <c:v>Seattle</c:v>
                </c:pt>
                <c:pt idx="47">
                  <c:v>Irvine</c:v>
                </c:pt>
                <c:pt idx="48">
                  <c:v>Phoenix, Arizona</c:v>
                </c:pt>
                <c:pt idx="49">
                  <c:v>San Francisco</c:v>
                </c:pt>
                <c:pt idx="50">
                  <c:v>Austin, Texas</c:v>
                </c:pt>
                <c:pt idx="51">
                  <c:v>Los Angeles</c:v>
                </c:pt>
              </c:strCache>
            </c:strRef>
          </c:cat>
          <c:val>
            <c:numRef>
              <c:f>Sheet1!$H$2:$H$53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extLst>
            <c:ext xmlns:c16="http://schemas.microsoft.com/office/drawing/2014/chart" uri="{C3380CC4-5D6E-409C-BE32-E72D297353CC}">
              <c16:uniqueId val="{00000001-6059-4246-A463-EF728D2EB324}"/>
            </c:ext>
          </c:extLst>
        </c:ser>
        <c:ser>
          <c:idx val="7"/>
          <c:order val="7"/>
          <c:tx>
            <c:strRef>
              <c:f>Sheet1!$I$1</c:f>
              <c:strCache>
                <c:ptCount val="1"/>
                <c:pt idx="0">
                  <c:v>Other DM Support</c:v>
                </c:pt>
              </c:strCache>
            </c:strRef>
          </c:tx>
          <c:spPr>
            <a:solidFill>
              <a:schemeClr val="accent2">
                <a:lumMod val="60000"/>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Sheet1!$A$2:$A$53</c:f>
              <c:strCache>
                <c:ptCount val="52"/>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Stamford, Connecticut</c:v>
                </c:pt>
                <c:pt idx="17">
                  <c:v>Richmond, Virginia</c:v>
                </c:pt>
                <c:pt idx="18">
                  <c:v>Tampa</c:v>
                </c:pt>
                <c:pt idx="19">
                  <c:v>Hartford, Connecticut</c:v>
                </c:pt>
                <c:pt idx="20">
                  <c:v>Mobile</c:v>
                </c:pt>
                <c:pt idx="21">
                  <c:v>Miami</c:v>
                </c:pt>
                <c:pt idx="22">
                  <c:v>Chicago</c:v>
                </c:pt>
                <c:pt idx="23">
                  <c:v>Michigan</c:v>
                </c:pt>
                <c:pt idx="24">
                  <c:v>Milwaukee</c:v>
                </c:pt>
                <c:pt idx="25">
                  <c:v>Minneapolis</c:v>
                </c:pt>
                <c:pt idx="26">
                  <c:v>Missouri</c:v>
                </c:pt>
                <c:pt idx="27">
                  <c:v>OH and Western PA</c:v>
                </c:pt>
                <c:pt idx="28">
                  <c:v>Pittsburgh</c:v>
                </c:pt>
                <c:pt idx="29">
                  <c:v>Cleveland</c:v>
                </c:pt>
                <c:pt idx="30">
                  <c:v>Grand Rapids</c:v>
                </c:pt>
                <c:pt idx="31">
                  <c:v>Kansan City</c:v>
                </c:pt>
                <c:pt idx="32">
                  <c:v>Columbus</c:v>
                </c:pt>
                <c:pt idx="33">
                  <c:v>Michigan - Grand Rapids</c:v>
                </c:pt>
                <c:pt idx="34">
                  <c:v>Overland Park, Kansas (AKA Kansas City)</c:v>
                </c:pt>
                <c:pt idx="35">
                  <c:v>St. Louis, Missouri</c:v>
                </c:pt>
                <c:pt idx="36">
                  <c:v>Michigan - Southfield</c:v>
                </c:pt>
                <c:pt idx="37">
                  <c:v>Appleton, Wisconsin</c:v>
                </c:pt>
                <c:pt idx="38">
                  <c:v>Dallas</c:v>
                </c:pt>
                <c:pt idx="39">
                  <c:v>Denver</c:v>
                </c:pt>
                <c:pt idx="40">
                  <c:v>Houston</c:v>
                </c:pt>
                <c:pt idx="41">
                  <c:v>NorCal</c:v>
                </c:pt>
                <c:pt idx="42">
                  <c:v>NY Metro</c:v>
                </c:pt>
                <c:pt idx="43">
                  <c:v>Pacific Northwest</c:v>
                </c:pt>
                <c:pt idx="44">
                  <c:v>SoCal Phoenix</c:v>
                </c:pt>
                <c:pt idx="45">
                  <c:v>Austin</c:v>
                </c:pt>
                <c:pt idx="46">
                  <c:v>Seattle</c:v>
                </c:pt>
                <c:pt idx="47">
                  <c:v>Irvine</c:v>
                </c:pt>
                <c:pt idx="48">
                  <c:v>Phoenix, Arizona</c:v>
                </c:pt>
                <c:pt idx="49">
                  <c:v>San Francisco</c:v>
                </c:pt>
                <c:pt idx="50">
                  <c:v>Austin, Texas</c:v>
                </c:pt>
                <c:pt idx="51">
                  <c:v>Los Angeles</c:v>
                </c:pt>
              </c:strCache>
            </c:strRef>
          </c:cat>
          <c:val>
            <c:numRef>
              <c:f>Sheet1!$I$2:$I$53</c:f>
              <c:numCache>
                <c:formatCode>General</c:formatCode>
                <c:ptCount val="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numCache>
            </c:numRef>
          </c:val>
          <c:extLst>
            <c:ext xmlns:c16="http://schemas.microsoft.com/office/drawing/2014/chart" uri="{C3380CC4-5D6E-409C-BE32-E72D297353CC}">
              <c16:uniqueId val="{00000002-6059-4246-A463-EF728D2EB324}"/>
            </c:ext>
          </c:extLst>
        </c:ser>
        <c:dLbls>
          <c:showLegendKey val="0"/>
          <c:showVal val="1"/>
          <c:showCatName val="0"/>
          <c:showSerName val="0"/>
          <c:showPercent val="0"/>
          <c:showBubbleSize val="0"/>
        </c:dLbls>
        <c:gapWidth val="75"/>
        <c:overlap val="100"/>
        <c:axId val="2130740248"/>
        <c:axId val="2130734344"/>
      </c:barChart>
      <c:catAx>
        <c:axId val="2130740248"/>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2130734344"/>
        <c:crosses val="autoZero"/>
        <c:auto val="1"/>
        <c:lblAlgn val="ctr"/>
        <c:lblOffset val="100"/>
        <c:noMultiLvlLbl val="0"/>
      </c:catAx>
      <c:valAx>
        <c:axId val="2130734344"/>
        <c:scaling>
          <c:orientation val="minMax"/>
        </c:scaling>
        <c:delete val="1"/>
        <c:axPos val="b"/>
        <c:numFmt formatCode="General" sourceLinked="1"/>
        <c:majorTickMark val="none"/>
        <c:minorTickMark val="none"/>
        <c:tickLblPos val="nextTo"/>
        <c:crossAx val="2130740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sz="700"/>
      </a:pPr>
      <a:endParaRPr lang="en-US"/>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Financial Performance Analysis</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accent1">
                        <a:lumMod val="20000"/>
                        <a:lumOff val="8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Sheet1!$A$2:$A$50</c:f>
              <c:strCache>
                <c:ptCount val="49"/>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Richmond, Virginia</c:v>
                </c:pt>
                <c:pt idx="17">
                  <c:v>Tampa</c:v>
                </c:pt>
                <c:pt idx="18">
                  <c:v>Hartford, Connecticut</c:v>
                </c:pt>
                <c:pt idx="19">
                  <c:v>Mobile</c:v>
                </c:pt>
                <c:pt idx="20">
                  <c:v>Miami</c:v>
                </c:pt>
                <c:pt idx="21">
                  <c:v>Chicago</c:v>
                </c:pt>
                <c:pt idx="22">
                  <c:v>Michigan</c:v>
                </c:pt>
                <c:pt idx="23">
                  <c:v>Milwaukee</c:v>
                </c:pt>
                <c:pt idx="24">
                  <c:v>Minneapolis</c:v>
                </c:pt>
                <c:pt idx="25">
                  <c:v>Missouri</c:v>
                </c:pt>
                <c:pt idx="26">
                  <c:v>OH and Western PA</c:v>
                </c:pt>
                <c:pt idx="27">
                  <c:v>Pittsburgh</c:v>
                </c:pt>
                <c:pt idx="28">
                  <c:v>Cleveland</c:v>
                </c:pt>
                <c:pt idx="29">
                  <c:v>Grand Rapids</c:v>
                </c:pt>
                <c:pt idx="30">
                  <c:v>Kansan City</c:v>
                </c:pt>
                <c:pt idx="31">
                  <c:v>Columbus</c:v>
                </c:pt>
                <c:pt idx="32">
                  <c:v>Michigan - Grand Rapids</c:v>
                </c:pt>
                <c:pt idx="33">
                  <c:v>Overland Park, Kansas (AKA Kansas City)</c:v>
                </c:pt>
                <c:pt idx="34">
                  <c:v>Appleton, Wisconsin</c:v>
                </c:pt>
                <c:pt idx="35">
                  <c:v>Dallas</c:v>
                </c:pt>
                <c:pt idx="36">
                  <c:v>Denver</c:v>
                </c:pt>
                <c:pt idx="37">
                  <c:v>Houston</c:v>
                </c:pt>
                <c:pt idx="38">
                  <c:v>NorCal</c:v>
                </c:pt>
                <c:pt idx="39">
                  <c:v>NY Metro</c:v>
                </c:pt>
                <c:pt idx="40">
                  <c:v>Pacific Northwest</c:v>
                </c:pt>
                <c:pt idx="41">
                  <c:v>SoCal Phoenix</c:v>
                </c:pt>
                <c:pt idx="42">
                  <c:v>Austin</c:v>
                </c:pt>
                <c:pt idx="43">
                  <c:v>Seattle</c:v>
                </c:pt>
                <c:pt idx="44">
                  <c:v>Irvine</c:v>
                </c:pt>
                <c:pt idx="45">
                  <c:v>Phoenix, Arizona</c:v>
                </c:pt>
                <c:pt idx="46">
                  <c:v>San Francisco</c:v>
                </c:pt>
                <c:pt idx="47">
                  <c:v>Austin, Texas</c:v>
                </c:pt>
                <c:pt idx="48">
                  <c:v>Los Angeles</c:v>
                </c:pt>
              </c:strCache>
            </c:strRef>
          </c:cat>
          <c:val>
            <c:numRef>
              <c:f>Sheet1!$B$2:$B$50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extLst>
            <c:ext xmlns:c16="http://schemas.microsoft.com/office/drawing/2014/chart" uri="{C3380CC4-5D6E-409C-BE32-E72D297353CC}">
              <c16:uniqueId val="{00000000-42F2-4BA9-A226-FB3104F054FF}"/>
            </c:ext>
          </c:extLst>
        </c:ser>
        <c:ser>
          <c:idx val="1"/>
          <c:order val="1"/>
          <c:tx>
            <c:strRef>
              <c:f>Sheet1!$C$1</c:f>
              <c:strCache>
                <c:ptCount val="1"/>
                <c:pt idx="0">
                  <c:v>Pricing Underwriting Tool</c:v>
                </c:pt>
              </c:strCache>
            </c:strRef>
          </c:tx>
          <c:spPr>
            <a:solidFill>
              <a:schemeClr val="accent2">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Sheet1!$A$2:$A$50</c:f>
              <c:strCache>
                <c:ptCount val="49"/>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Richmond, Virginia</c:v>
                </c:pt>
                <c:pt idx="17">
                  <c:v>Tampa</c:v>
                </c:pt>
                <c:pt idx="18">
                  <c:v>Hartford, Connecticut</c:v>
                </c:pt>
                <c:pt idx="19">
                  <c:v>Mobile</c:v>
                </c:pt>
                <c:pt idx="20">
                  <c:v>Miami</c:v>
                </c:pt>
                <c:pt idx="21">
                  <c:v>Chicago</c:v>
                </c:pt>
                <c:pt idx="22">
                  <c:v>Michigan</c:v>
                </c:pt>
                <c:pt idx="23">
                  <c:v>Milwaukee</c:v>
                </c:pt>
                <c:pt idx="24">
                  <c:v>Minneapolis</c:v>
                </c:pt>
                <c:pt idx="25">
                  <c:v>Missouri</c:v>
                </c:pt>
                <c:pt idx="26">
                  <c:v>OH and Western PA</c:v>
                </c:pt>
                <c:pt idx="27">
                  <c:v>Pittsburgh</c:v>
                </c:pt>
                <c:pt idx="28">
                  <c:v>Cleveland</c:v>
                </c:pt>
                <c:pt idx="29">
                  <c:v>Grand Rapids</c:v>
                </c:pt>
                <c:pt idx="30">
                  <c:v>Kansan City</c:v>
                </c:pt>
                <c:pt idx="31">
                  <c:v>Columbus</c:v>
                </c:pt>
                <c:pt idx="32">
                  <c:v>Michigan - Grand Rapids</c:v>
                </c:pt>
                <c:pt idx="33">
                  <c:v>Overland Park, Kansas (AKA Kansas City)</c:v>
                </c:pt>
                <c:pt idx="34">
                  <c:v>Appleton, Wisconsin</c:v>
                </c:pt>
                <c:pt idx="35">
                  <c:v>Dallas</c:v>
                </c:pt>
                <c:pt idx="36">
                  <c:v>Denver</c:v>
                </c:pt>
                <c:pt idx="37">
                  <c:v>Houston</c:v>
                </c:pt>
                <c:pt idx="38">
                  <c:v>NorCal</c:v>
                </c:pt>
                <c:pt idx="39">
                  <c:v>NY Metro</c:v>
                </c:pt>
                <c:pt idx="40">
                  <c:v>Pacific Northwest</c:v>
                </c:pt>
                <c:pt idx="41">
                  <c:v>SoCal Phoenix</c:v>
                </c:pt>
                <c:pt idx="42">
                  <c:v>Austin</c:v>
                </c:pt>
                <c:pt idx="43">
                  <c:v>Seattle</c:v>
                </c:pt>
                <c:pt idx="44">
                  <c:v>Irvine</c:v>
                </c:pt>
                <c:pt idx="45">
                  <c:v>Phoenix, Arizona</c:v>
                </c:pt>
                <c:pt idx="46">
                  <c:v>San Francisco</c:v>
                </c:pt>
                <c:pt idx="47">
                  <c:v>Austin, Texas</c:v>
                </c:pt>
                <c:pt idx="48">
                  <c:v>Los Angeles</c:v>
                </c:pt>
              </c:strCache>
            </c:strRef>
          </c:cat>
          <c:val>
            <c:numRef>
              <c:f>Sheet1!$C$2:$C$50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extLst>
            <c:ext xmlns:c16="http://schemas.microsoft.com/office/drawing/2014/chart" uri="{C3380CC4-5D6E-409C-BE32-E72D297353CC}">
              <c16:uniqueId val="{00000001-42F2-4BA9-A226-FB3104F054FF}"/>
            </c:ext>
          </c:extLst>
        </c:ser>
        <c:ser>
          <c:idx val="2"/>
          <c:order val="2"/>
          <c:tx>
            <c:strRef>
              <c:f>Sheet1!$D$1</c:f>
              <c:strCache>
                <c:ptCount val="1"/>
                <c:pt idx="0">
                  <c:v>Incurred But Not Reported</c:v>
                </c:pt>
              </c:strCache>
            </c:strRef>
          </c:tx>
          <c:spPr>
            <a:solidFill>
              <a:schemeClr val="accent3">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Sheet1!$A$2:$A$50</c:f>
              <c:strCache>
                <c:ptCount val="49"/>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Richmond, Virginia</c:v>
                </c:pt>
                <c:pt idx="17">
                  <c:v>Tampa</c:v>
                </c:pt>
                <c:pt idx="18">
                  <c:v>Hartford, Connecticut</c:v>
                </c:pt>
                <c:pt idx="19">
                  <c:v>Mobile</c:v>
                </c:pt>
                <c:pt idx="20">
                  <c:v>Miami</c:v>
                </c:pt>
                <c:pt idx="21">
                  <c:v>Chicago</c:v>
                </c:pt>
                <c:pt idx="22">
                  <c:v>Michigan</c:v>
                </c:pt>
                <c:pt idx="23">
                  <c:v>Milwaukee</c:v>
                </c:pt>
                <c:pt idx="24">
                  <c:v>Minneapolis</c:v>
                </c:pt>
                <c:pt idx="25">
                  <c:v>Missouri</c:v>
                </c:pt>
                <c:pt idx="26">
                  <c:v>OH and Western PA</c:v>
                </c:pt>
                <c:pt idx="27">
                  <c:v>Pittsburgh</c:v>
                </c:pt>
                <c:pt idx="28">
                  <c:v>Cleveland</c:v>
                </c:pt>
                <c:pt idx="29">
                  <c:v>Grand Rapids</c:v>
                </c:pt>
                <c:pt idx="30">
                  <c:v>Kansan City</c:v>
                </c:pt>
                <c:pt idx="31">
                  <c:v>Columbus</c:v>
                </c:pt>
                <c:pt idx="32">
                  <c:v>Michigan - Grand Rapids</c:v>
                </c:pt>
                <c:pt idx="33">
                  <c:v>Overland Park, Kansas (AKA Kansas City)</c:v>
                </c:pt>
                <c:pt idx="34">
                  <c:v>Appleton, Wisconsin</c:v>
                </c:pt>
                <c:pt idx="35">
                  <c:v>Dallas</c:v>
                </c:pt>
                <c:pt idx="36">
                  <c:v>Denver</c:v>
                </c:pt>
                <c:pt idx="37">
                  <c:v>Houston</c:v>
                </c:pt>
                <c:pt idx="38">
                  <c:v>NorCal</c:v>
                </c:pt>
                <c:pt idx="39">
                  <c:v>NY Metro</c:v>
                </c:pt>
                <c:pt idx="40">
                  <c:v>Pacific Northwest</c:v>
                </c:pt>
                <c:pt idx="41">
                  <c:v>SoCal Phoenix</c:v>
                </c:pt>
                <c:pt idx="42">
                  <c:v>Austin</c:v>
                </c:pt>
                <c:pt idx="43">
                  <c:v>Seattle</c:v>
                </c:pt>
                <c:pt idx="44">
                  <c:v>Irvine</c:v>
                </c:pt>
                <c:pt idx="45">
                  <c:v>Phoenix, Arizona</c:v>
                </c:pt>
                <c:pt idx="46">
                  <c:v>San Francisco</c:v>
                </c:pt>
                <c:pt idx="47">
                  <c:v>Austin, Texas</c:v>
                </c:pt>
                <c:pt idx="48">
                  <c:v>Los Angeles</c:v>
                </c:pt>
              </c:strCache>
            </c:strRef>
          </c:cat>
          <c: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extLst>
            <c:ext xmlns:c16="http://schemas.microsoft.com/office/drawing/2014/chart" uri="{C3380CC4-5D6E-409C-BE32-E72D297353CC}">
              <c16:uniqueId val="{00000002-42F2-4BA9-A226-FB3104F054FF}"/>
            </c:ext>
          </c:extLst>
        </c:ser>
        <c:ser>
          <c:idx val="3"/>
          <c:order val="3"/>
          <c:tx>
            <c:strRef>
              <c:f>Sheet1!$E$1</c:f>
              <c:strCache>
                <c:ptCount val="1"/>
                <c:pt idx="0">
                  <c:v>HealthMaps</c:v>
                </c:pt>
              </c:strCache>
            </c:strRef>
          </c:tx>
          <c:spPr>
            <a:solidFill>
              <a:schemeClr val="accent4">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Sheet1!$A$2:$A$50</c:f>
              <c:strCache>
                <c:ptCount val="49"/>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Richmond, Virginia</c:v>
                </c:pt>
                <c:pt idx="17">
                  <c:v>Tampa</c:v>
                </c:pt>
                <c:pt idx="18">
                  <c:v>Hartford, Connecticut</c:v>
                </c:pt>
                <c:pt idx="19">
                  <c:v>Mobile</c:v>
                </c:pt>
                <c:pt idx="20">
                  <c:v>Miami</c:v>
                </c:pt>
                <c:pt idx="21">
                  <c:v>Chicago</c:v>
                </c:pt>
                <c:pt idx="22">
                  <c:v>Michigan</c:v>
                </c:pt>
                <c:pt idx="23">
                  <c:v>Milwaukee</c:v>
                </c:pt>
                <c:pt idx="24">
                  <c:v>Minneapolis</c:v>
                </c:pt>
                <c:pt idx="25">
                  <c:v>Missouri</c:v>
                </c:pt>
                <c:pt idx="26">
                  <c:v>OH and Western PA</c:v>
                </c:pt>
                <c:pt idx="27">
                  <c:v>Pittsburgh</c:v>
                </c:pt>
                <c:pt idx="28">
                  <c:v>Cleveland</c:v>
                </c:pt>
                <c:pt idx="29">
                  <c:v>Grand Rapids</c:v>
                </c:pt>
                <c:pt idx="30">
                  <c:v>Kansan City</c:v>
                </c:pt>
                <c:pt idx="31">
                  <c:v>Columbus</c:v>
                </c:pt>
                <c:pt idx="32">
                  <c:v>Michigan - Grand Rapids</c:v>
                </c:pt>
                <c:pt idx="33">
                  <c:v>Overland Park, Kansas (AKA Kansas City)</c:v>
                </c:pt>
                <c:pt idx="34">
                  <c:v>Appleton, Wisconsin</c:v>
                </c:pt>
                <c:pt idx="35">
                  <c:v>Dallas</c:v>
                </c:pt>
                <c:pt idx="36">
                  <c:v>Denver</c:v>
                </c:pt>
                <c:pt idx="37">
                  <c:v>Houston</c:v>
                </c:pt>
                <c:pt idx="38">
                  <c:v>NorCal</c:v>
                </c:pt>
                <c:pt idx="39">
                  <c:v>NY Metro</c:v>
                </c:pt>
                <c:pt idx="40">
                  <c:v>Pacific Northwest</c:v>
                </c:pt>
                <c:pt idx="41">
                  <c:v>SoCal Phoenix</c:v>
                </c:pt>
                <c:pt idx="42">
                  <c:v>Austin</c:v>
                </c:pt>
                <c:pt idx="43">
                  <c:v>Seattle</c:v>
                </c:pt>
                <c:pt idx="44">
                  <c:v>Irvine</c:v>
                </c:pt>
                <c:pt idx="45">
                  <c:v>Phoenix, Arizona</c:v>
                </c:pt>
                <c:pt idx="46">
                  <c:v>San Francisco</c:v>
                </c:pt>
                <c:pt idx="47">
                  <c:v>Austin, Texas</c:v>
                </c:pt>
                <c:pt idx="48">
                  <c:v>Los Angeles</c:v>
                </c:pt>
              </c:strCache>
            </c:strRef>
          </c:cat>
          <c:val>
            <c:numRef>
              <c:f>Sheet1!$E$2:$E$50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extLst>
            <c:ext xmlns:c16="http://schemas.microsoft.com/office/drawing/2014/chart" uri="{C3380CC4-5D6E-409C-BE32-E72D297353CC}">
              <c16:uniqueId val="{00000000-AAF6-4B09-AC0D-597D13DA7F32}"/>
            </c:ext>
          </c:extLst>
        </c:ser>
        <c:ser>
          <c:idx val="4"/>
          <c:order val="4"/>
          <c:tx>
            <c:strRef>
              <c:f>Sheet1!$F$1</c:f>
              <c:strCache>
                <c:ptCount val="1"/>
                <c:pt idx="0">
                  <c:v>PCORI</c:v>
                </c:pt>
              </c:strCache>
            </c:strRef>
          </c:tx>
          <c:spPr>
            <a:solidFill>
              <a:schemeClr val="accent5">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Sheet1!$A$2:$A$50</c:f>
              <c:strCache>
                <c:ptCount val="49"/>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Richmond, Virginia</c:v>
                </c:pt>
                <c:pt idx="17">
                  <c:v>Tampa</c:v>
                </c:pt>
                <c:pt idx="18">
                  <c:v>Hartford, Connecticut</c:v>
                </c:pt>
                <c:pt idx="19">
                  <c:v>Mobile</c:v>
                </c:pt>
                <c:pt idx="20">
                  <c:v>Miami</c:v>
                </c:pt>
                <c:pt idx="21">
                  <c:v>Chicago</c:v>
                </c:pt>
                <c:pt idx="22">
                  <c:v>Michigan</c:v>
                </c:pt>
                <c:pt idx="23">
                  <c:v>Milwaukee</c:v>
                </c:pt>
                <c:pt idx="24">
                  <c:v>Minneapolis</c:v>
                </c:pt>
                <c:pt idx="25">
                  <c:v>Missouri</c:v>
                </c:pt>
                <c:pt idx="26">
                  <c:v>OH and Western PA</c:v>
                </c:pt>
                <c:pt idx="27">
                  <c:v>Pittsburgh</c:v>
                </c:pt>
                <c:pt idx="28">
                  <c:v>Cleveland</c:v>
                </c:pt>
                <c:pt idx="29">
                  <c:v>Grand Rapids</c:v>
                </c:pt>
                <c:pt idx="30">
                  <c:v>Kansan City</c:v>
                </c:pt>
                <c:pt idx="31">
                  <c:v>Columbus</c:v>
                </c:pt>
                <c:pt idx="32">
                  <c:v>Michigan - Grand Rapids</c:v>
                </c:pt>
                <c:pt idx="33">
                  <c:v>Overland Park, Kansas (AKA Kansas City)</c:v>
                </c:pt>
                <c:pt idx="34">
                  <c:v>Appleton, Wisconsin</c:v>
                </c:pt>
                <c:pt idx="35">
                  <c:v>Dallas</c:v>
                </c:pt>
                <c:pt idx="36">
                  <c:v>Denver</c:v>
                </c:pt>
                <c:pt idx="37">
                  <c:v>Houston</c:v>
                </c:pt>
                <c:pt idx="38">
                  <c:v>NorCal</c:v>
                </c:pt>
                <c:pt idx="39">
                  <c:v>NY Metro</c:v>
                </c:pt>
                <c:pt idx="40">
                  <c:v>Pacific Northwest</c:v>
                </c:pt>
                <c:pt idx="41">
                  <c:v>SoCal Phoenix</c:v>
                </c:pt>
                <c:pt idx="42">
                  <c:v>Austin</c:v>
                </c:pt>
                <c:pt idx="43">
                  <c:v>Seattle</c:v>
                </c:pt>
                <c:pt idx="44">
                  <c:v>Irvine</c:v>
                </c:pt>
                <c:pt idx="45">
                  <c:v>Phoenix, Arizona</c:v>
                </c:pt>
                <c:pt idx="46">
                  <c:v>San Francisco</c:v>
                </c:pt>
                <c:pt idx="47">
                  <c:v>Austin, Texas</c:v>
                </c:pt>
                <c:pt idx="48">
                  <c:v>Los Angeles</c:v>
                </c:pt>
              </c:strCache>
            </c:strRef>
          </c:cat>
          <c:val>
            <c:numRef>
              <c:f>Sheet1!$F$2:$F$50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extLst>
            <c:ext xmlns:c16="http://schemas.microsoft.com/office/drawing/2014/chart" uri="{C3380CC4-5D6E-409C-BE32-E72D297353CC}">
              <c16:uniqueId val="{00000003-AAF6-4B09-AC0D-597D13DA7F32}"/>
            </c:ext>
          </c:extLst>
        </c:ser>
        <c:ser>
          <c:idx val="5"/>
          <c:order val="5"/>
          <c:tx>
            <c:strRef>
              <c:f>Sheet1!$G$1</c:f>
              <c:strCache>
                <c:ptCount val="1"/>
                <c:pt idx="0">
                  <c:v>Other Adhoc</c:v>
                </c:pt>
              </c:strCache>
            </c:strRef>
          </c:tx>
          <c:spPr>
            <a:solidFill>
              <a:schemeClr val="accent6">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Sheet1!$A$2:$A$50</c:f>
              <c:strCache>
                <c:ptCount val="49"/>
                <c:pt idx="0">
                  <c:v>Boston</c:v>
                </c:pt>
                <c:pt idx="1">
                  <c:v>Carolinas</c:v>
                </c:pt>
                <c:pt idx="2">
                  <c:v>DC_Chesapeake</c:v>
                </c:pt>
                <c:pt idx="3">
                  <c:v>Florida</c:v>
                </c:pt>
                <c:pt idx="4">
                  <c:v>Georgia_Alabama</c:v>
                </c:pt>
                <c:pt idx="5">
                  <c:v>NY Metro</c:v>
                </c:pt>
                <c:pt idx="6">
                  <c:v>Philadelphia</c:v>
                </c:pt>
                <c:pt idx="7">
                  <c:v>Austin</c:v>
                </c:pt>
                <c:pt idx="8">
                  <c:v>Nashville</c:v>
                </c:pt>
                <c:pt idx="9">
                  <c:v>Potomac, Maryland</c:v>
                </c:pt>
                <c:pt idx="10">
                  <c:v>New York</c:v>
                </c:pt>
                <c:pt idx="11">
                  <c:v>Atlanta, Georgia</c:v>
                </c:pt>
                <c:pt idx="12">
                  <c:v>Hunt Valley, Maryland</c:v>
                </c:pt>
                <c:pt idx="13">
                  <c:v>Birmingham</c:v>
                </c:pt>
                <c:pt idx="14">
                  <c:v>Knoxville</c:v>
                </c:pt>
                <c:pt idx="15">
                  <c:v>Greater Philadelphia</c:v>
                </c:pt>
                <c:pt idx="16">
                  <c:v>Richmond, Virginia</c:v>
                </c:pt>
                <c:pt idx="17">
                  <c:v>Tampa</c:v>
                </c:pt>
                <c:pt idx="18">
                  <c:v>Hartford, Connecticut</c:v>
                </c:pt>
                <c:pt idx="19">
                  <c:v>Mobile</c:v>
                </c:pt>
                <c:pt idx="20">
                  <c:v>Miami</c:v>
                </c:pt>
                <c:pt idx="21">
                  <c:v>Chicago</c:v>
                </c:pt>
                <c:pt idx="22">
                  <c:v>Michigan</c:v>
                </c:pt>
                <c:pt idx="23">
                  <c:v>Milwaukee</c:v>
                </c:pt>
                <c:pt idx="24">
                  <c:v>Minneapolis</c:v>
                </c:pt>
                <c:pt idx="25">
                  <c:v>Missouri</c:v>
                </c:pt>
                <c:pt idx="26">
                  <c:v>OH and Western PA</c:v>
                </c:pt>
                <c:pt idx="27">
                  <c:v>Pittsburgh</c:v>
                </c:pt>
                <c:pt idx="28">
                  <c:v>Cleveland</c:v>
                </c:pt>
                <c:pt idx="29">
                  <c:v>Grand Rapids</c:v>
                </c:pt>
                <c:pt idx="30">
                  <c:v>Kansan City</c:v>
                </c:pt>
                <c:pt idx="31">
                  <c:v>Columbus</c:v>
                </c:pt>
                <c:pt idx="32">
                  <c:v>Michigan - Grand Rapids</c:v>
                </c:pt>
                <c:pt idx="33">
                  <c:v>Overland Park, Kansas (AKA Kansas City)</c:v>
                </c:pt>
                <c:pt idx="34">
                  <c:v>Appleton, Wisconsin</c:v>
                </c:pt>
                <c:pt idx="35">
                  <c:v>Dallas</c:v>
                </c:pt>
                <c:pt idx="36">
                  <c:v>Denver</c:v>
                </c:pt>
                <c:pt idx="37">
                  <c:v>Houston</c:v>
                </c:pt>
                <c:pt idx="38">
                  <c:v>NorCal</c:v>
                </c:pt>
                <c:pt idx="39">
                  <c:v>NY Metro</c:v>
                </c:pt>
                <c:pt idx="40">
                  <c:v>Pacific Northwest</c:v>
                </c:pt>
                <c:pt idx="41">
                  <c:v>SoCal Phoenix</c:v>
                </c:pt>
                <c:pt idx="42">
                  <c:v>Austin</c:v>
                </c:pt>
                <c:pt idx="43">
                  <c:v>Seattle</c:v>
                </c:pt>
                <c:pt idx="44">
                  <c:v>Irvine</c:v>
                </c:pt>
                <c:pt idx="45">
                  <c:v>Phoenix, Arizona</c:v>
                </c:pt>
                <c:pt idx="46">
                  <c:v>San Francisco</c:v>
                </c:pt>
                <c:pt idx="47">
                  <c:v>Austin, Texas</c:v>
                </c:pt>
                <c:pt idx="48">
                  <c:v>Los Angeles</c:v>
                </c:pt>
              </c:strCache>
            </c:strRef>
          </c:cat>
          <c:val>
            <c:numRef>
              <c:f>Sheet1!$G$2:$G$50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extLst>
            <c:ext xmlns:c16="http://schemas.microsoft.com/office/drawing/2014/chart" uri="{C3380CC4-5D6E-409C-BE32-E72D297353CC}">
              <c16:uniqueId val="{00000000-6059-4246-A463-EF728D2EB324}"/>
            </c:ext>
          </c:extLst>
        </c:ser>
        <c:dLbls>
          <c:showLegendKey val="0"/>
          <c:showVal val="1"/>
          <c:showCatName val="0"/>
          <c:showSerName val="0"/>
          <c:showPercent val="0"/>
          <c:showBubbleSize val="0"/>
        </c:dLbls>
        <c:gapWidth val="75"/>
        <c:overlap val="100"/>
        <c:axId val="2130740248"/>
        <c:axId val="2130734344"/>
      </c:barChart>
      <c:catAx>
        <c:axId val="2130740248"/>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2130734344"/>
        <c:crosses val="autoZero"/>
        <c:auto val="1"/>
        <c:lblAlgn val="ctr"/>
        <c:lblOffset val="100"/>
        <c:noMultiLvlLbl val="0"/>
      </c:catAx>
      <c:valAx>
        <c:axId val="2130734344"/>
        <c:scaling>
          <c:orientation val="minMax"/>
        </c:scaling>
        <c:delete val="1"/>
        <c:axPos val="b"/>
        <c:numFmt formatCode="General" sourceLinked="1"/>
        <c:majorTickMark val="none"/>
        <c:minorTickMark val="none"/>
        <c:tickLblPos val="nextTo"/>
        <c:crossAx val="2130740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sz="700"/>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Financial Performance Analysis</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accent1">
                        <a:lumMod val="20000"/>
                        <a:lumOff val="8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Sheet1!$A$2:$A$38</c:f>
              <c:strCache>
                <c:ptCount val="37"/>
                <c:pt idx="0">
                  <c:v>Boston</c:v>
                </c:pt>
                <c:pt idx="1">
                  <c:v>Carolinas</c:v>
                </c:pt>
                <c:pt idx="2">
                  <c:v>DC_Chesapeake</c:v>
                </c:pt>
                <c:pt idx="3">
                  <c:v>Florida</c:v>
                </c:pt>
                <c:pt idx="4">
                  <c:v>Georgia_Alabama</c:v>
                </c:pt>
                <c:pt idx="5">
                  <c:v>NY Metro</c:v>
                </c:pt>
                <c:pt idx="6">
                  <c:v>Philadelphia</c:v>
                </c:pt>
                <c:pt idx="7">
                  <c:v>New York</c:v>
                </c:pt>
                <c:pt idx="8">
                  <c:v>Atlanta, Georgia</c:v>
                </c:pt>
                <c:pt idx="9">
                  <c:v>Hunt Valley, Maryland</c:v>
                </c:pt>
                <c:pt idx="10">
                  <c:v>Greater Philadelphia</c:v>
                </c:pt>
                <c:pt idx="11">
                  <c:v>Stamford, Connecticut</c:v>
                </c:pt>
                <c:pt idx="12">
                  <c:v>Richmond, Virginia</c:v>
                </c:pt>
                <c:pt idx="13">
                  <c:v>Chicago</c:v>
                </c:pt>
                <c:pt idx="14">
                  <c:v>Michigan</c:v>
                </c:pt>
                <c:pt idx="15">
                  <c:v>Milwaukee</c:v>
                </c:pt>
                <c:pt idx="16">
                  <c:v>Minneapolis</c:v>
                </c:pt>
                <c:pt idx="17">
                  <c:v>Missouri</c:v>
                </c:pt>
                <c:pt idx="18">
                  <c:v>OH and Western PA</c:v>
                </c:pt>
                <c:pt idx="19">
                  <c:v>Pittsburgh</c:v>
                </c:pt>
                <c:pt idx="20">
                  <c:v>Cleveland</c:v>
                </c:pt>
                <c:pt idx="21">
                  <c:v>Kansan City</c:v>
                </c:pt>
                <c:pt idx="22">
                  <c:v>Michigan - Grand Rapids</c:v>
                </c:pt>
                <c:pt idx="23">
                  <c:v>Overland Park, Kansas (AKA Kansas City)</c:v>
                </c:pt>
                <c:pt idx="24">
                  <c:v>St. Louis, Missouri</c:v>
                </c:pt>
                <c:pt idx="25">
                  <c:v>Michigan - Southfield</c:v>
                </c:pt>
                <c:pt idx="26">
                  <c:v>Dallas</c:v>
                </c:pt>
                <c:pt idx="27">
                  <c:v>Denver</c:v>
                </c:pt>
                <c:pt idx="28">
                  <c:v>Houston</c:v>
                </c:pt>
                <c:pt idx="29">
                  <c:v>NorCal</c:v>
                </c:pt>
                <c:pt idx="30">
                  <c:v>Pacific Northwest</c:v>
                </c:pt>
                <c:pt idx="31">
                  <c:v>SoCal Phoenix</c:v>
                </c:pt>
                <c:pt idx="32">
                  <c:v>Seattle</c:v>
                </c:pt>
                <c:pt idx="33">
                  <c:v>Irvine</c:v>
                </c:pt>
                <c:pt idx="34">
                  <c:v>Phoenix, Arizona</c:v>
                </c:pt>
                <c:pt idx="35">
                  <c:v>San Francisco</c:v>
                </c:pt>
                <c:pt idx="36">
                  <c:v>Los Angeles</c:v>
                </c:pt>
              </c:strCache>
            </c:strRef>
          </c:cat>
          <c:val>
            <c:numRef>
              <c:f>Sheet1!$B$2:$B$38</c:f>
              <c:numCache>
                <c:formatCode>General</c:formatCode>
                <c:ptCount val="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numCache>
            </c:numRef>
          </c:val>
          <c:extLst>
            <c:ext xmlns:c16="http://schemas.microsoft.com/office/drawing/2014/chart" uri="{C3380CC4-5D6E-409C-BE32-E72D297353CC}">
              <c16:uniqueId val="{00000000-42F2-4BA9-A226-FB3104F054FF}"/>
            </c:ext>
          </c:extLst>
        </c:ser>
        <c:ser>
          <c:idx val="1"/>
          <c:order val="1"/>
          <c:tx>
            <c:strRef>
              <c:f>Sheet1!$C$1</c:f>
              <c:strCache>
                <c:ptCount val="1"/>
                <c:pt idx="0">
                  <c:v>Pricing Underwriting Tool</c:v>
                </c:pt>
              </c:strCache>
            </c:strRef>
          </c:tx>
          <c:spPr>
            <a:solidFill>
              <a:schemeClr val="accent2">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Sheet1!$A$2:$A$38</c:f>
              <c:strCache>
                <c:ptCount val="37"/>
                <c:pt idx="0">
                  <c:v>Boston</c:v>
                </c:pt>
                <c:pt idx="1">
                  <c:v>Carolinas</c:v>
                </c:pt>
                <c:pt idx="2">
                  <c:v>DC_Chesapeake</c:v>
                </c:pt>
                <c:pt idx="3">
                  <c:v>Florida</c:v>
                </c:pt>
                <c:pt idx="4">
                  <c:v>Georgia_Alabama</c:v>
                </c:pt>
                <c:pt idx="5">
                  <c:v>NY Metro</c:v>
                </c:pt>
                <c:pt idx="6">
                  <c:v>Philadelphia</c:v>
                </c:pt>
                <c:pt idx="7">
                  <c:v>New York</c:v>
                </c:pt>
                <c:pt idx="8">
                  <c:v>Atlanta, Georgia</c:v>
                </c:pt>
                <c:pt idx="9">
                  <c:v>Hunt Valley, Maryland</c:v>
                </c:pt>
                <c:pt idx="10">
                  <c:v>Greater Philadelphia</c:v>
                </c:pt>
                <c:pt idx="11">
                  <c:v>Stamford, Connecticut</c:v>
                </c:pt>
                <c:pt idx="12">
                  <c:v>Richmond, Virginia</c:v>
                </c:pt>
                <c:pt idx="13">
                  <c:v>Chicago</c:v>
                </c:pt>
                <c:pt idx="14">
                  <c:v>Michigan</c:v>
                </c:pt>
                <c:pt idx="15">
                  <c:v>Milwaukee</c:v>
                </c:pt>
                <c:pt idx="16">
                  <c:v>Minneapolis</c:v>
                </c:pt>
                <c:pt idx="17">
                  <c:v>Missouri</c:v>
                </c:pt>
                <c:pt idx="18">
                  <c:v>OH and Western PA</c:v>
                </c:pt>
                <c:pt idx="19">
                  <c:v>Pittsburgh</c:v>
                </c:pt>
                <c:pt idx="20">
                  <c:v>Cleveland</c:v>
                </c:pt>
                <c:pt idx="21">
                  <c:v>Kansan City</c:v>
                </c:pt>
                <c:pt idx="22">
                  <c:v>Michigan - Grand Rapids</c:v>
                </c:pt>
                <c:pt idx="23">
                  <c:v>Overland Park, Kansas (AKA Kansas City)</c:v>
                </c:pt>
                <c:pt idx="24">
                  <c:v>St. Louis, Missouri</c:v>
                </c:pt>
                <c:pt idx="25">
                  <c:v>Michigan - Southfield</c:v>
                </c:pt>
                <c:pt idx="26">
                  <c:v>Dallas</c:v>
                </c:pt>
                <c:pt idx="27">
                  <c:v>Denver</c:v>
                </c:pt>
                <c:pt idx="28">
                  <c:v>Houston</c:v>
                </c:pt>
                <c:pt idx="29">
                  <c:v>NorCal</c:v>
                </c:pt>
                <c:pt idx="30">
                  <c:v>Pacific Northwest</c:v>
                </c:pt>
                <c:pt idx="31">
                  <c:v>SoCal Phoenix</c:v>
                </c:pt>
                <c:pt idx="32">
                  <c:v>Seattle</c:v>
                </c:pt>
                <c:pt idx="33">
                  <c:v>Irvine</c:v>
                </c:pt>
                <c:pt idx="34">
                  <c:v>Phoenix, Arizona</c:v>
                </c:pt>
                <c:pt idx="35">
                  <c:v>San Francisco</c:v>
                </c:pt>
                <c:pt idx="36">
                  <c:v>Los Angeles</c:v>
                </c:pt>
              </c:strCache>
            </c:strRef>
          </c:cat>
          <c:val>
            <c:numRef>
              <c:f>Sheet1!$C$2:$C$38</c:f>
              <c:numCache>
                <c:formatCode>General</c:formatCode>
                <c:ptCount val="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numCache>
            </c:numRef>
          </c:val>
          <c:extLst>
            <c:ext xmlns:c16="http://schemas.microsoft.com/office/drawing/2014/chart" uri="{C3380CC4-5D6E-409C-BE32-E72D297353CC}">
              <c16:uniqueId val="{00000000-9D20-430A-AAC1-EE07C7D4EC3B}"/>
            </c:ext>
          </c:extLst>
        </c:ser>
        <c:ser>
          <c:idx val="2"/>
          <c:order val="2"/>
          <c:tx>
            <c:strRef>
              <c:f>Sheet1!$D$1</c:f>
              <c:strCache>
                <c:ptCount val="1"/>
                <c:pt idx="0">
                  <c:v>Incurred But Not Reported</c:v>
                </c:pt>
              </c:strCache>
            </c:strRef>
          </c:tx>
          <c:spPr>
            <a:solidFill>
              <a:schemeClr val="accent3">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Sheet1!$A$2:$A$38</c:f>
              <c:strCache>
                <c:ptCount val="37"/>
                <c:pt idx="0">
                  <c:v>Boston</c:v>
                </c:pt>
                <c:pt idx="1">
                  <c:v>Carolinas</c:v>
                </c:pt>
                <c:pt idx="2">
                  <c:v>DC_Chesapeake</c:v>
                </c:pt>
                <c:pt idx="3">
                  <c:v>Florida</c:v>
                </c:pt>
                <c:pt idx="4">
                  <c:v>Georgia_Alabama</c:v>
                </c:pt>
                <c:pt idx="5">
                  <c:v>NY Metro</c:v>
                </c:pt>
                <c:pt idx="6">
                  <c:v>Philadelphia</c:v>
                </c:pt>
                <c:pt idx="7">
                  <c:v>New York</c:v>
                </c:pt>
                <c:pt idx="8">
                  <c:v>Atlanta, Georgia</c:v>
                </c:pt>
                <c:pt idx="9">
                  <c:v>Hunt Valley, Maryland</c:v>
                </c:pt>
                <c:pt idx="10">
                  <c:v>Greater Philadelphia</c:v>
                </c:pt>
                <c:pt idx="11">
                  <c:v>Stamford, Connecticut</c:v>
                </c:pt>
                <c:pt idx="12">
                  <c:v>Richmond, Virginia</c:v>
                </c:pt>
                <c:pt idx="13">
                  <c:v>Chicago</c:v>
                </c:pt>
                <c:pt idx="14">
                  <c:v>Michigan</c:v>
                </c:pt>
                <c:pt idx="15">
                  <c:v>Milwaukee</c:v>
                </c:pt>
                <c:pt idx="16">
                  <c:v>Minneapolis</c:v>
                </c:pt>
                <c:pt idx="17">
                  <c:v>Missouri</c:v>
                </c:pt>
                <c:pt idx="18">
                  <c:v>OH and Western PA</c:v>
                </c:pt>
                <c:pt idx="19">
                  <c:v>Pittsburgh</c:v>
                </c:pt>
                <c:pt idx="20">
                  <c:v>Cleveland</c:v>
                </c:pt>
                <c:pt idx="21">
                  <c:v>Kansan City</c:v>
                </c:pt>
                <c:pt idx="22">
                  <c:v>Michigan - Grand Rapids</c:v>
                </c:pt>
                <c:pt idx="23">
                  <c:v>Overland Park, Kansas (AKA Kansas City)</c:v>
                </c:pt>
                <c:pt idx="24">
                  <c:v>St. Louis, Missouri</c:v>
                </c:pt>
                <c:pt idx="25">
                  <c:v>Michigan - Southfield</c:v>
                </c:pt>
                <c:pt idx="26">
                  <c:v>Dallas</c:v>
                </c:pt>
                <c:pt idx="27">
                  <c:v>Denver</c:v>
                </c:pt>
                <c:pt idx="28">
                  <c:v>Houston</c:v>
                </c:pt>
                <c:pt idx="29">
                  <c:v>NorCal</c:v>
                </c:pt>
                <c:pt idx="30">
                  <c:v>Pacific Northwest</c:v>
                </c:pt>
                <c:pt idx="31">
                  <c:v>SoCal Phoenix</c:v>
                </c:pt>
                <c:pt idx="32">
                  <c:v>Seattle</c:v>
                </c:pt>
                <c:pt idx="33">
                  <c:v>Irvine</c:v>
                </c:pt>
                <c:pt idx="34">
                  <c:v>Phoenix, Arizona</c:v>
                </c:pt>
                <c:pt idx="35">
                  <c:v>San Francisco</c:v>
                </c:pt>
                <c:pt idx="36">
                  <c:v>Los Angeles</c:v>
                </c:pt>
              </c:strCache>
            </c:strRef>
          </c:cat>
          <c:val>
            <c:numRef>
              <c:f>Sheet1!$D$2:$D$38</c:f>
              <c:numCache>
                <c:formatCode>General</c:formatCode>
                <c:ptCount val="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numCache>
            </c:numRef>
          </c:val>
          <c:extLst>
            <c:ext xmlns:c16="http://schemas.microsoft.com/office/drawing/2014/chart" uri="{C3380CC4-5D6E-409C-BE32-E72D297353CC}">
              <c16:uniqueId val="{00000001-9D20-430A-AAC1-EE07C7D4EC3B}"/>
            </c:ext>
          </c:extLst>
        </c:ser>
        <c:ser>
          <c:idx val="3"/>
          <c:order val="3"/>
          <c:tx>
            <c:strRef>
              <c:f>Sheet1!$E$1</c:f>
              <c:strCache>
                <c:ptCount val="1"/>
                <c:pt idx="0">
                  <c:v>Financial Benchmark Survey</c:v>
                </c:pt>
              </c:strCache>
            </c:strRef>
          </c:tx>
          <c:spPr>
            <a:solidFill>
              <a:schemeClr val="accent4">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Sheet1!$A$2:$A$38</c:f>
              <c:strCache>
                <c:ptCount val="37"/>
                <c:pt idx="0">
                  <c:v>Boston</c:v>
                </c:pt>
                <c:pt idx="1">
                  <c:v>Carolinas</c:v>
                </c:pt>
                <c:pt idx="2">
                  <c:v>DC_Chesapeake</c:v>
                </c:pt>
                <c:pt idx="3">
                  <c:v>Florida</c:v>
                </c:pt>
                <c:pt idx="4">
                  <c:v>Georgia_Alabama</c:v>
                </c:pt>
                <c:pt idx="5">
                  <c:v>NY Metro</c:v>
                </c:pt>
                <c:pt idx="6">
                  <c:v>Philadelphia</c:v>
                </c:pt>
                <c:pt idx="7">
                  <c:v>New York</c:v>
                </c:pt>
                <c:pt idx="8">
                  <c:v>Atlanta, Georgia</c:v>
                </c:pt>
                <c:pt idx="9">
                  <c:v>Hunt Valley, Maryland</c:v>
                </c:pt>
                <c:pt idx="10">
                  <c:v>Greater Philadelphia</c:v>
                </c:pt>
                <c:pt idx="11">
                  <c:v>Stamford, Connecticut</c:v>
                </c:pt>
                <c:pt idx="12">
                  <c:v>Richmond, Virginia</c:v>
                </c:pt>
                <c:pt idx="13">
                  <c:v>Chicago</c:v>
                </c:pt>
                <c:pt idx="14">
                  <c:v>Michigan</c:v>
                </c:pt>
                <c:pt idx="15">
                  <c:v>Milwaukee</c:v>
                </c:pt>
                <c:pt idx="16">
                  <c:v>Minneapolis</c:v>
                </c:pt>
                <c:pt idx="17">
                  <c:v>Missouri</c:v>
                </c:pt>
                <c:pt idx="18">
                  <c:v>OH and Western PA</c:v>
                </c:pt>
                <c:pt idx="19">
                  <c:v>Pittsburgh</c:v>
                </c:pt>
                <c:pt idx="20">
                  <c:v>Cleveland</c:v>
                </c:pt>
                <c:pt idx="21">
                  <c:v>Kansan City</c:v>
                </c:pt>
                <c:pt idx="22">
                  <c:v>Michigan - Grand Rapids</c:v>
                </c:pt>
                <c:pt idx="23">
                  <c:v>Overland Park, Kansas (AKA Kansas City)</c:v>
                </c:pt>
                <c:pt idx="24">
                  <c:v>St. Louis, Missouri</c:v>
                </c:pt>
                <c:pt idx="25">
                  <c:v>Michigan - Southfield</c:v>
                </c:pt>
                <c:pt idx="26">
                  <c:v>Dallas</c:v>
                </c:pt>
                <c:pt idx="27">
                  <c:v>Denver</c:v>
                </c:pt>
                <c:pt idx="28">
                  <c:v>Houston</c:v>
                </c:pt>
                <c:pt idx="29">
                  <c:v>NorCal</c:v>
                </c:pt>
                <c:pt idx="30">
                  <c:v>Pacific Northwest</c:v>
                </c:pt>
                <c:pt idx="31">
                  <c:v>SoCal Phoenix</c:v>
                </c:pt>
                <c:pt idx="32">
                  <c:v>Seattle</c:v>
                </c:pt>
                <c:pt idx="33">
                  <c:v>Irvine</c:v>
                </c:pt>
                <c:pt idx="34">
                  <c:v>Phoenix, Arizona</c:v>
                </c:pt>
                <c:pt idx="35">
                  <c:v>San Francisco</c:v>
                </c:pt>
                <c:pt idx="36">
                  <c:v>Los Angeles</c:v>
                </c:pt>
              </c:strCache>
            </c:strRef>
          </c:cat>
          <c:val>
            <c:numRef>
              <c:f>Sheet1!$E$2:$E$38</c:f>
              <c:numCache>
                <c:formatCode>General</c:formatCode>
                <c:ptCount val="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numCache>
            </c:numRef>
          </c:val>
          <c:extLst>
            <c:ext xmlns:c16="http://schemas.microsoft.com/office/drawing/2014/chart" uri="{C3380CC4-5D6E-409C-BE32-E72D297353CC}">
              <c16:uniqueId val="{00000002-9D20-430A-AAC1-EE07C7D4EC3B}"/>
            </c:ext>
          </c:extLst>
        </c:ser>
        <c:ser>
          <c:idx val="4"/>
          <c:order val="4"/>
          <c:tx>
            <c:strRef>
              <c:f>Sheet1!$F$1</c:f>
              <c:strCache>
                <c:ptCount val="1"/>
                <c:pt idx="0">
                  <c:v>HealthMaps</c:v>
                </c:pt>
              </c:strCache>
            </c:strRef>
          </c:tx>
          <c:spPr>
            <a:solidFill>
              <a:schemeClr val="accent5">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Sheet1!$A$2:$A$38</c:f>
              <c:strCache>
                <c:ptCount val="37"/>
                <c:pt idx="0">
                  <c:v>Boston</c:v>
                </c:pt>
                <c:pt idx="1">
                  <c:v>Carolinas</c:v>
                </c:pt>
                <c:pt idx="2">
                  <c:v>DC_Chesapeake</c:v>
                </c:pt>
                <c:pt idx="3">
                  <c:v>Florida</c:v>
                </c:pt>
                <c:pt idx="4">
                  <c:v>Georgia_Alabama</c:v>
                </c:pt>
                <c:pt idx="5">
                  <c:v>NY Metro</c:v>
                </c:pt>
                <c:pt idx="6">
                  <c:v>Philadelphia</c:v>
                </c:pt>
                <c:pt idx="7">
                  <c:v>New York</c:v>
                </c:pt>
                <c:pt idx="8">
                  <c:v>Atlanta, Georgia</c:v>
                </c:pt>
                <c:pt idx="9">
                  <c:v>Hunt Valley, Maryland</c:v>
                </c:pt>
                <c:pt idx="10">
                  <c:v>Greater Philadelphia</c:v>
                </c:pt>
                <c:pt idx="11">
                  <c:v>Stamford, Connecticut</c:v>
                </c:pt>
                <c:pt idx="12">
                  <c:v>Richmond, Virginia</c:v>
                </c:pt>
                <c:pt idx="13">
                  <c:v>Chicago</c:v>
                </c:pt>
                <c:pt idx="14">
                  <c:v>Michigan</c:v>
                </c:pt>
                <c:pt idx="15">
                  <c:v>Milwaukee</c:v>
                </c:pt>
                <c:pt idx="16">
                  <c:v>Minneapolis</c:v>
                </c:pt>
                <c:pt idx="17">
                  <c:v>Missouri</c:v>
                </c:pt>
                <c:pt idx="18">
                  <c:v>OH and Western PA</c:v>
                </c:pt>
                <c:pt idx="19">
                  <c:v>Pittsburgh</c:v>
                </c:pt>
                <c:pt idx="20">
                  <c:v>Cleveland</c:v>
                </c:pt>
                <c:pt idx="21">
                  <c:v>Kansan City</c:v>
                </c:pt>
                <c:pt idx="22">
                  <c:v>Michigan - Grand Rapids</c:v>
                </c:pt>
                <c:pt idx="23">
                  <c:v>Overland Park, Kansas (AKA Kansas City)</c:v>
                </c:pt>
                <c:pt idx="24">
                  <c:v>St. Louis, Missouri</c:v>
                </c:pt>
                <c:pt idx="25">
                  <c:v>Michigan - Southfield</c:v>
                </c:pt>
                <c:pt idx="26">
                  <c:v>Dallas</c:v>
                </c:pt>
                <c:pt idx="27">
                  <c:v>Denver</c:v>
                </c:pt>
                <c:pt idx="28">
                  <c:v>Houston</c:v>
                </c:pt>
                <c:pt idx="29">
                  <c:v>NorCal</c:v>
                </c:pt>
                <c:pt idx="30">
                  <c:v>Pacific Northwest</c:v>
                </c:pt>
                <c:pt idx="31">
                  <c:v>SoCal Phoenix</c:v>
                </c:pt>
                <c:pt idx="32">
                  <c:v>Seattle</c:v>
                </c:pt>
                <c:pt idx="33">
                  <c:v>Irvine</c:v>
                </c:pt>
                <c:pt idx="34">
                  <c:v>Phoenix, Arizona</c:v>
                </c:pt>
                <c:pt idx="35">
                  <c:v>San Francisco</c:v>
                </c:pt>
                <c:pt idx="36">
                  <c:v>Los Angeles</c:v>
                </c:pt>
              </c:strCache>
            </c:strRef>
          </c:cat>
          <c:val>
            <c:numRef>
              <c:f>Sheet1!$F$2:$F$38</c:f>
              <c:numCache>
                <c:formatCode>General</c:formatCode>
                <c:ptCount val="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numCache>
            </c:numRef>
          </c:val>
          <c:extLst>
            <c:ext xmlns:c16="http://schemas.microsoft.com/office/drawing/2014/chart" uri="{C3380CC4-5D6E-409C-BE32-E72D297353CC}">
              <c16:uniqueId val="{00000003-9D20-430A-AAC1-EE07C7D4EC3B}"/>
            </c:ext>
          </c:extLst>
        </c:ser>
        <c:ser>
          <c:idx val="5"/>
          <c:order val="5"/>
          <c:tx>
            <c:strRef>
              <c:f>Sheet1!$G$1</c:f>
              <c:strCache>
                <c:ptCount val="1"/>
                <c:pt idx="0">
                  <c:v>PCORI</c:v>
                </c:pt>
              </c:strCache>
            </c:strRef>
          </c:tx>
          <c:spPr>
            <a:solidFill>
              <a:schemeClr val="accent6">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Sheet1!$A$2:$A$38</c:f>
              <c:strCache>
                <c:ptCount val="37"/>
                <c:pt idx="0">
                  <c:v>Boston</c:v>
                </c:pt>
                <c:pt idx="1">
                  <c:v>Carolinas</c:v>
                </c:pt>
                <c:pt idx="2">
                  <c:v>DC_Chesapeake</c:v>
                </c:pt>
                <c:pt idx="3">
                  <c:v>Florida</c:v>
                </c:pt>
                <c:pt idx="4">
                  <c:v>Georgia_Alabama</c:v>
                </c:pt>
                <c:pt idx="5">
                  <c:v>NY Metro</c:v>
                </c:pt>
                <c:pt idx="6">
                  <c:v>Philadelphia</c:v>
                </c:pt>
                <c:pt idx="7">
                  <c:v>New York</c:v>
                </c:pt>
                <c:pt idx="8">
                  <c:v>Atlanta, Georgia</c:v>
                </c:pt>
                <c:pt idx="9">
                  <c:v>Hunt Valley, Maryland</c:v>
                </c:pt>
                <c:pt idx="10">
                  <c:v>Greater Philadelphia</c:v>
                </c:pt>
                <c:pt idx="11">
                  <c:v>Stamford, Connecticut</c:v>
                </c:pt>
                <c:pt idx="12">
                  <c:v>Richmond, Virginia</c:v>
                </c:pt>
                <c:pt idx="13">
                  <c:v>Chicago</c:v>
                </c:pt>
                <c:pt idx="14">
                  <c:v>Michigan</c:v>
                </c:pt>
                <c:pt idx="15">
                  <c:v>Milwaukee</c:v>
                </c:pt>
                <c:pt idx="16">
                  <c:v>Minneapolis</c:v>
                </c:pt>
                <c:pt idx="17">
                  <c:v>Missouri</c:v>
                </c:pt>
                <c:pt idx="18">
                  <c:v>OH and Western PA</c:v>
                </c:pt>
                <c:pt idx="19">
                  <c:v>Pittsburgh</c:v>
                </c:pt>
                <c:pt idx="20">
                  <c:v>Cleveland</c:v>
                </c:pt>
                <c:pt idx="21">
                  <c:v>Kansan City</c:v>
                </c:pt>
                <c:pt idx="22">
                  <c:v>Michigan - Grand Rapids</c:v>
                </c:pt>
                <c:pt idx="23">
                  <c:v>Overland Park, Kansas (AKA Kansas City)</c:v>
                </c:pt>
                <c:pt idx="24">
                  <c:v>St. Louis, Missouri</c:v>
                </c:pt>
                <c:pt idx="25">
                  <c:v>Michigan - Southfield</c:v>
                </c:pt>
                <c:pt idx="26">
                  <c:v>Dallas</c:v>
                </c:pt>
                <c:pt idx="27">
                  <c:v>Denver</c:v>
                </c:pt>
                <c:pt idx="28">
                  <c:v>Houston</c:v>
                </c:pt>
                <c:pt idx="29">
                  <c:v>NorCal</c:v>
                </c:pt>
                <c:pt idx="30">
                  <c:v>Pacific Northwest</c:v>
                </c:pt>
                <c:pt idx="31">
                  <c:v>SoCal Phoenix</c:v>
                </c:pt>
                <c:pt idx="32">
                  <c:v>Seattle</c:v>
                </c:pt>
                <c:pt idx="33">
                  <c:v>Irvine</c:v>
                </c:pt>
                <c:pt idx="34">
                  <c:v>Phoenix, Arizona</c:v>
                </c:pt>
                <c:pt idx="35">
                  <c:v>San Francisco</c:v>
                </c:pt>
                <c:pt idx="36">
                  <c:v>Los Angeles</c:v>
                </c:pt>
              </c:strCache>
            </c:strRef>
          </c:cat>
          <c:val>
            <c:numRef>
              <c:f>Sheet1!$G$2:$G$38</c:f>
              <c:numCache>
                <c:formatCode>General</c:formatCode>
                <c:ptCount val="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numCache>
            </c:numRef>
          </c:val>
          <c:extLst>
            <c:ext xmlns:c16="http://schemas.microsoft.com/office/drawing/2014/chart" uri="{C3380CC4-5D6E-409C-BE32-E72D297353CC}">
              <c16:uniqueId val="{00000004-9D20-430A-AAC1-EE07C7D4EC3B}"/>
            </c:ext>
          </c:extLst>
        </c:ser>
        <c:ser>
          <c:idx val="6"/>
          <c:order val="6"/>
          <c:tx>
            <c:strRef>
              <c:f>Sheet1!$H$1</c:f>
              <c:strCache>
                <c:ptCount val="1"/>
                <c:pt idx="0">
                  <c:v>Other Adhoc</c:v>
                </c:pt>
              </c:strCache>
            </c:strRef>
          </c:tx>
          <c:spPr>
            <a:solidFill>
              <a:schemeClr val="accent1">
                <a:lumMod val="60000"/>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Sheet1!$A$2:$A$38</c:f>
              <c:strCache>
                <c:ptCount val="37"/>
                <c:pt idx="0">
                  <c:v>Boston</c:v>
                </c:pt>
                <c:pt idx="1">
                  <c:v>Carolinas</c:v>
                </c:pt>
                <c:pt idx="2">
                  <c:v>DC_Chesapeake</c:v>
                </c:pt>
                <c:pt idx="3">
                  <c:v>Florida</c:v>
                </c:pt>
                <c:pt idx="4">
                  <c:v>Georgia_Alabama</c:v>
                </c:pt>
                <c:pt idx="5">
                  <c:v>NY Metro</c:v>
                </c:pt>
                <c:pt idx="6">
                  <c:v>Philadelphia</c:v>
                </c:pt>
                <c:pt idx="7">
                  <c:v>New York</c:v>
                </c:pt>
                <c:pt idx="8">
                  <c:v>Atlanta, Georgia</c:v>
                </c:pt>
                <c:pt idx="9">
                  <c:v>Hunt Valley, Maryland</c:v>
                </c:pt>
                <c:pt idx="10">
                  <c:v>Greater Philadelphia</c:v>
                </c:pt>
                <c:pt idx="11">
                  <c:v>Stamford, Connecticut</c:v>
                </c:pt>
                <c:pt idx="12">
                  <c:v>Richmond, Virginia</c:v>
                </c:pt>
                <c:pt idx="13">
                  <c:v>Chicago</c:v>
                </c:pt>
                <c:pt idx="14">
                  <c:v>Michigan</c:v>
                </c:pt>
                <c:pt idx="15">
                  <c:v>Milwaukee</c:v>
                </c:pt>
                <c:pt idx="16">
                  <c:v>Minneapolis</c:v>
                </c:pt>
                <c:pt idx="17">
                  <c:v>Missouri</c:v>
                </c:pt>
                <c:pt idx="18">
                  <c:v>OH and Western PA</c:v>
                </c:pt>
                <c:pt idx="19">
                  <c:v>Pittsburgh</c:v>
                </c:pt>
                <c:pt idx="20">
                  <c:v>Cleveland</c:v>
                </c:pt>
                <c:pt idx="21">
                  <c:v>Kansan City</c:v>
                </c:pt>
                <c:pt idx="22">
                  <c:v>Michigan - Grand Rapids</c:v>
                </c:pt>
                <c:pt idx="23">
                  <c:v>Overland Park, Kansas (AKA Kansas City)</c:v>
                </c:pt>
                <c:pt idx="24">
                  <c:v>St. Louis, Missouri</c:v>
                </c:pt>
                <c:pt idx="25">
                  <c:v>Michigan - Southfield</c:v>
                </c:pt>
                <c:pt idx="26">
                  <c:v>Dallas</c:v>
                </c:pt>
                <c:pt idx="27">
                  <c:v>Denver</c:v>
                </c:pt>
                <c:pt idx="28">
                  <c:v>Houston</c:v>
                </c:pt>
                <c:pt idx="29">
                  <c:v>NorCal</c:v>
                </c:pt>
                <c:pt idx="30">
                  <c:v>Pacific Northwest</c:v>
                </c:pt>
                <c:pt idx="31">
                  <c:v>SoCal Phoenix</c:v>
                </c:pt>
                <c:pt idx="32">
                  <c:v>Seattle</c:v>
                </c:pt>
                <c:pt idx="33">
                  <c:v>Irvine</c:v>
                </c:pt>
                <c:pt idx="34">
                  <c:v>Phoenix, Arizona</c:v>
                </c:pt>
                <c:pt idx="35">
                  <c:v>San Francisco</c:v>
                </c:pt>
                <c:pt idx="36">
                  <c:v>Los Angeles</c:v>
                </c:pt>
              </c:strCache>
            </c:strRef>
          </c:cat>
          <c:val>
            <c:numRef>
              <c:f>Sheet1!$H$2:$H$38</c:f>
              <c:numCache>
                <c:formatCode>General</c:formatCode>
                <c:ptCount val="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numCache>
            </c:numRef>
          </c:val>
          <c:extLst>
            <c:ext xmlns:c16="http://schemas.microsoft.com/office/drawing/2014/chart" uri="{C3380CC4-5D6E-409C-BE32-E72D297353CC}">
              <c16:uniqueId val="{00000005-9D20-430A-AAC1-EE07C7D4EC3B}"/>
            </c:ext>
          </c:extLst>
        </c:ser>
        <c:ser>
          <c:idx val="7"/>
          <c:order val="7"/>
          <c:tx>
            <c:strRef>
              <c:f>Sheet1!$I$1</c:f>
              <c:strCache>
                <c:ptCount val="1"/>
                <c:pt idx="0">
                  <c:v>Other DM Support</c:v>
                </c:pt>
              </c:strCache>
            </c:strRef>
          </c:tx>
          <c:spPr>
            <a:solidFill>
              <a:schemeClr val="accent2">
                <a:lumMod val="60000"/>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Sheet1!$A$2:$A$38</c:f>
              <c:strCache>
                <c:ptCount val="37"/>
                <c:pt idx="0">
                  <c:v>Boston</c:v>
                </c:pt>
                <c:pt idx="1">
                  <c:v>Carolinas</c:v>
                </c:pt>
                <c:pt idx="2">
                  <c:v>DC_Chesapeake</c:v>
                </c:pt>
                <c:pt idx="3">
                  <c:v>Florida</c:v>
                </c:pt>
                <c:pt idx="4">
                  <c:v>Georgia_Alabama</c:v>
                </c:pt>
                <c:pt idx="5">
                  <c:v>NY Metro</c:v>
                </c:pt>
                <c:pt idx="6">
                  <c:v>Philadelphia</c:v>
                </c:pt>
                <c:pt idx="7">
                  <c:v>New York</c:v>
                </c:pt>
                <c:pt idx="8">
                  <c:v>Atlanta, Georgia</c:v>
                </c:pt>
                <c:pt idx="9">
                  <c:v>Hunt Valley, Maryland</c:v>
                </c:pt>
                <c:pt idx="10">
                  <c:v>Greater Philadelphia</c:v>
                </c:pt>
                <c:pt idx="11">
                  <c:v>Stamford, Connecticut</c:v>
                </c:pt>
                <c:pt idx="12">
                  <c:v>Richmond, Virginia</c:v>
                </c:pt>
                <c:pt idx="13">
                  <c:v>Chicago</c:v>
                </c:pt>
                <c:pt idx="14">
                  <c:v>Michigan</c:v>
                </c:pt>
                <c:pt idx="15">
                  <c:v>Milwaukee</c:v>
                </c:pt>
                <c:pt idx="16">
                  <c:v>Minneapolis</c:v>
                </c:pt>
                <c:pt idx="17">
                  <c:v>Missouri</c:v>
                </c:pt>
                <c:pt idx="18">
                  <c:v>OH and Western PA</c:v>
                </c:pt>
                <c:pt idx="19">
                  <c:v>Pittsburgh</c:v>
                </c:pt>
                <c:pt idx="20">
                  <c:v>Cleveland</c:v>
                </c:pt>
                <c:pt idx="21">
                  <c:v>Kansan City</c:v>
                </c:pt>
                <c:pt idx="22">
                  <c:v>Michigan - Grand Rapids</c:v>
                </c:pt>
                <c:pt idx="23">
                  <c:v>Overland Park, Kansas (AKA Kansas City)</c:v>
                </c:pt>
                <c:pt idx="24">
                  <c:v>St. Louis, Missouri</c:v>
                </c:pt>
                <c:pt idx="25">
                  <c:v>Michigan - Southfield</c:v>
                </c:pt>
                <c:pt idx="26">
                  <c:v>Dallas</c:v>
                </c:pt>
                <c:pt idx="27">
                  <c:v>Denver</c:v>
                </c:pt>
                <c:pt idx="28">
                  <c:v>Houston</c:v>
                </c:pt>
                <c:pt idx="29">
                  <c:v>NorCal</c:v>
                </c:pt>
                <c:pt idx="30">
                  <c:v>Pacific Northwest</c:v>
                </c:pt>
                <c:pt idx="31">
                  <c:v>SoCal Phoenix</c:v>
                </c:pt>
                <c:pt idx="32">
                  <c:v>Seattle</c:v>
                </c:pt>
                <c:pt idx="33">
                  <c:v>Irvine</c:v>
                </c:pt>
                <c:pt idx="34">
                  <c:v>Phoenix, Arizona</c:v>
                </c:pt>
                <c:pt idx="35">
                  <c:v>San Francisco</c:v>
                </c:pt>
                <c:pt idx="36">
                  <c:v>Los Angeles</c:v>
                </c:pt>
              </c:strCache>
            </c:strRef>
          </c:cat>
          <c:val>
            <c:numRef>
              <c:f>Sheet1!$I$2:$I$38</c:f>
              <c:numCache>
                <c:formatCode>General</c:formatCode>
                <c:ptCount val="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numCache>
            </c:numRef>
          </c:val>
          <c:extLst>
            <c:ext xmlns:c16="http://schemas.microsoft.com/office/drawing/2014/chart" uri="{C3380CC4-5D6E-409C-BE32-E72D297353CC}">
              <c16:uniqueId val="{00000006-9D20-430A-AAC1-EE07C7D4EC3B}"/>
            </c:ext>
          </c:extLst>
        </c:ser>
        <c:dLbls>
          <c:showLegendKey val="0"/>
          <c:showVal val="1"/>
          <c:showCatName val="0"/>
          <c:showSerName val="0"/>
          <c:showPercent val="0"/>
          <c:showBubbleSize val="0"/>
        </c:dLbls>
        <c:gapWidth val="75"/>
        <c:overlap val="100"/>
        <c:axId val="2130740248"/>
        <c:axId val="2130734344"/>
      </c:barChart>
      <c:catAx>
        <c:axId val="2130740248"/>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2130734344"/>
        <c:crosses val="autoZero"/>
        <c:auto val="1"/>
        <c:lblAlgn val="ctr"/>
        <c:lblOffset val="100"/>
        <c:noMultiLvlLbl val="0"/>
      </c:catAx>
      <c:valAx>
        <c:axId val="2130734344"/>
        <c:scaling>
          <c:orientation val="minMax"/>
        </c:scaling>
        <c:delete val="1"/>
        <c:axPos val="b"/>
        <c:numFmt formatCode="General" sourceLinked="1"/>
        <c:majorTickMark val="none"/>
        <c:minorTickMark val="none"/>
        <c:tickLblPos val="nextTo"/>
        <c:crossAx val="2130740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sz="700"/>
      </a:pPr>
      <a:endParaRPr lang="en-US"/>
    </a:p>
  </c:txPr>
  <c:externalData r:id="rId4">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dirty="0"/>
              <a:t>AHT CDT 2021</a:t>
            </a:r>
          </a:p>
        </c:rich>
      </c:tx>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Volume</c:v>
                </c:pt>
              </c:strCache>
            </c:strRef>
          </c:tx>
          <c:spPr>
            <a:solidFill>
              <a:schemeClr val="accent2"/>
            </a:solidFill>
            <a:ln>
              <a:noFill/>
            </a:ln>
            <a:effectLst/>
          </c:spPr>
          <c:invertIfNegative val="0"/>
          <c:cat>
            <c:strRef>
              <c:f>Sheet1!$A$2:$A$11</c:f>
              <c:strCache>
                <c:ptCount val="10"/>
                <c:pt idx="0">
                  <c:v>NetRPM B&amp;A</c:v>
                </c:pt>
                <c:pt idx="1">
                  <c:v>CCMU Reporting</c:v>
                </c:pt>
                <c:pt idx="2">
                  <c:v>GeoAccess</c:v>
                </c:pt>
                <c:pt idx="3">
                  <c:v>NetRPM Consulting</c:v>
                </c:pt>
                <c:pt idx="4">
                  <c:v>Disruption Analysis</c:v>
                </c:pt>
                <c:pt idx="5">
                  <c:v>NDT Consulting</c:v>
                </c:pt>
                <c:pt idx="6">
                  <c:v>CCMU Billing</c:v>
                </c:pt>
                <c:pt idx="7">
                  <c:v>ADML Benchmarking</c:v>
                </c:pt>
                <c:pt idx="8">
                  <c:v>CCMU Vetting</c:v>
                </c:pt>
                <c:pt idx="9">
                  <c:v>NDT B&amp;A</c:v>
                </c:pt>
              </c:strCache>
            </c:strRef>
          </c:cat>
          <c:val>
            <c:numRef>
              <c:f>Sheet1!$B$2:$B$11</c:f>
              <c:numCache>
                <c:formatCode>0.0</c:formatCode>
                <c:ptCount val="10"/>
                <c:pt idx="0" formatCode="#,##0.00">
                  <c:v>0</c:v>
                </c:pt>
                <c:pt idx="1">
                  <c:v>0</c:v>
                </c:pt>
                <c:pt idx="2" formatCode="General">
                  <c:v>0</c:v>
                </c:pt>
                <c:pt idx="3" formatCode="General">
                  <c:v>0</c:v>
                </c:pt>
                <c:pt idx="4" formatCode="General">
                  <c:v>0</c:v>
                </c:pt>
                <c:pt idx="5" formatCode="General">
                  <c:v>0</c:v>
                </c:pt>
                <c:pt idx="6" formatCode="General">
                  <c:v>0</c:v>
                </c:pt>
                <c:pt idx="7" formatCode="General">
                  <c:v>0</c:v>
                </c:pt>
                <c:pt idx="8" formatCode="General">
                  <c:v>0</c:v>
                </c:pt>
                <c:pt idx="9" formatCode="General">
                  <c:v>0</c:v>
                </c:pt>
              </c:numCache>
            </c:numRef>
          </c:val>
          <c:extLst>
            <c:ext xmlns:c16="http://schemas.microsoft.com/office/drawing/2014/chart" uri="{C3380CC4-5D6E-409C-BE32-E72D297353CC}">
              <c16:uniqueId val="{00000000-E113-43C0-8770-1ED93C073235}"/>
            </c:ext>
          </c:extLst>
        </c:ser>
        <c:dLbls>
          <c:showLegendKey val="0"/>
          <c:showVal val="0"/>
          <c:showCatName val="0"/>
          <c:showSerName val="0"/>
          <c:showPercent val="0"/>
          <c:showBubbleSize val="0"/>
        </c:dLbls>
        <c:gapWidth val="150"/>
        <c:axId val="472697568"/>
        <c:axId val="472697240"/>
      </c:barChart>
      <c:lineChart>
        <c:grouping val="standard"/>
        <c:varyColors val="0"/>
        <c:ser>
          <c:idx val="1"/>
          <c:order val="1"/>
          <c:tx>
            <c:strRef>
              <c:f>Sheet1!$C$1</c:f>
              <c:strCache>
                <c:ptCount val="1"/>
                <c:pt idx="0">
                  <c:v>AHT</c:v>
                </c:pt>
              </c:strCache>
            </c:strRef>
          </c:tx>
          <c:spPr>
            <a:ln w="22225" cap="rnd">
              <a:solidFill>
                <a:schemeClr val="accent4"/>
              </a:solidFill>
              <a:round/>
            </a:ln>
            <a:effectLst/>
          </c:spPr>
          <c:marker>
            <c:symbol val="circle"/>
            <c:size val="6"/>
            <c:spPr>
              <a:solidFill>
                <a:schemeClr val="lt1"/>
              </a:solidFill>
              <a:ln w="15875">
                <a:solidFill>
                  <a:schemeClr val="accent4"/>
                </a:solidFill>
                <a:round/>
              </a:ln>
              <a:effectLst/>
            </c:spPr>
          </c:marker>
          <c:cat>
            <c:strRef>
              <c:f>Sheet1!$A$2:$A$11</c:f>
              <c:strCache>
                <c:ptCount val="10"/>
                <c:pt idx="0">
                  <c:v>NetRPM B&amp;A</c:v>
                </c:pt>
                <c:pt idx="1">
                  <c:v>CCMU Reporting</c:v>
                </c:pt>
                <c:pt idx="2">
                  <c:v>GeoAccess</c:v>
                </c:pt>
                <c:pt idx="3">
                  <c:v>NetRPM Consulting</c:v>
                </c:pt>
                <c:pt idx="4">
                  <c:v>Disruption Analysis</c:v>
                </c:pt>
                <c:pt idx="5">
                  <c:v>NDT Consulting</c:v>
                </c:pt>
                <c:pt idx="6">
                  <c:v>CCMU Billing</c:v>
                </c:pt>
                <c:pt idx="7">
                  <c:v>ADML Benchmarking</c:v>
                </c:pt>
                <c:pt idx="8">
                  <c:v>CCMU Vetting</c:v>
                </c:pt>
                <c:pt idx="9">
                  <c:v>NDT B&amp;A</c:v>
                </c:pt>
              </c:strCache>
            </c:strRef>
          </c:cat>
          <c:val>
            <c:numRef>
              <c:f>Sheet1!$C$2:$C$11</c:f>
              <c:numCache>
                <c:formatCode>General</c:formatCode>
                <c:ptCount val="10"/>
                <c:pt idx="0">
                  <c:v>0</c:v>
                </c:pt>
                <c:pt idx="1">
                  <c:v>0</c:v>
                </c:pt>
                <c:pt idx="2">
                  <c:v>0</c:v>
                </c:pt>
                <c:pt idx="3">
                  <c:v>0</c:v>
                </c:pt>
                <c:pt idx="4">
                  <c:v>0</c:v>
                </c:pt>
                <c:pt idx="5">
                  <c:v>0</c:v>
                </c:pt>
                <c:pt idx="6">
                  <c:v>0</c:v>
                </c:pt>
                <c:pt idx="7">
                  <c:v>0</c:v>
                </c:pt>
                <c:pt idx="8">
                  <c:v>0</c:v>
                </c:pt>
                <c:pt idx="9">
                  <c:v>0</c:v>
                </c:pt>
              </c:numCache>
            </c:numRef>
          </c:val>
          <c:smooth val="0"/>
          <c:extLst>
            <c:ext xmlns:c16="http://schemas.microsoft.com/office/drawing/2014/chart" uri="{C3380CC4-5D6E-409C-BE32-E72D297353CC}">
              <c16:uniqueId val="{00000001-33C4-4A61-BC53-5B5E1329D6B5}"/>
            </c:ext>
          </c:extLst>
        </c:ser>
        <c:dLbls>
          <c:showLegendKey val="0"/>
          <c:showVal val="0"/>
          <c:showCatName val="0"/>
          <c:showSerName val="0"/>
          <c:showPercent val="0"/>
          <c:showBubbleSize val="0"/>
        </c:dLbls>
        <c:marker val="1"/>
        <c:smooth val="0"/>
        <c:axId val="472692320"/>
        <c:axId val="472689040"/>
      </c:lineChart>
      <c:valAx>
        <c:axId val="472689040"/>
        <c:scaling>
          <c:orientation val="minMax"/>
        </c:scaling>
        <c:delete val="0"/>
        <c:axPos val="r"/>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US" dirty="0"/>
                  <a:t>AHT</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472692320"/>
        <c:crosses val="max"/>
        <c:crossBetween val="between"/>
      </c:valAx>
      <c:catAx>
        <c:axId val="472692320"/>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472689040"/>
        <c:crosses val="autoZero"/>
        <c:auto val="1"/>
        <c:lblAlgn val="ctr"/>
        <c:lblOffset val="100"/>
        <c:noMultiLvlLbl val="0"/>
      </c:catAx>
      <c:valAx>
        <c:axId val="472697240"/>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472697568"/>
        <c:crosses val="autoZero"/>
        <c:crossBetween val="between"/>
      </c:valAx>
      <c:catAx>
        <c:axId val="472697568"/>
        <c:scaling>
          <c:orientation val="minMax"/>
        </c:scaling>
        <c:delete val="1"/>
        <c:axPos val="b"/>
        <c:numFmt formatCode="General" sourceLinked="1"/>
        <c:majorTickMark val="out"/>
        <c:minorTickMark val="none"/>
        <c:tickLblPos val="nextTo"/>
        <c:crossAx val="472697240"/>
        <c:crosses val="autoZero"/>
        <c:auto val="1"/>
        <c:lblAlgn val="ctr"/>
        <c:lblOffset val="100"/>
        <c:noMultiLvlLbl val="0"/>
      </c:catAx>
      <c:dTable>
        <c:showHorzBorder val="1"/>
        <c:showVertBorder val="1"/>
        <c:showOutline val="1"/>
        <c:showKeys val="1"/>
        <c:spPr>
          <a:noFill/>
          <a:ln w="9525" cap="flat" cmpd="sng" algn="ctr">
            <a:solidFill>
              <a:schemeClr val="dk1">
                <a:lumMod val="15000"/>
                <a:lumOff val="85000"/>
              </a:schemeClr>
            </a:solidFill>
            <a:round/>
          </a:ln>
          <a:effectLst/>
        </c:spPr>
        <c:txPr>
          <a:bodyPr rot="0" spcFirstLastPara="1" vertOverflow="ellipsis" vert="horz" wrap="square" anchor="ctr" anchorCtr="1"/>
          <a:lstStyle/>
          <a:p>
            <a:pPr rtl="0">
              <a:defRPr sz="1064" b="0" i="0" u="none" strike="noStrike" kern="1200" baseline="0">
                <a:solidFill>
                  <a:schemeClr val="dk1">
                    <a:lumMod val="65000"/>
                    <a:lumOff val="35000"/>
                  </a:schemeClr>
                </a:solidFill>
                <a:latin typeface="+mn-lt"/>
                <a:ea typeface="+mn-ea"/>
                <a:cs typeface="+mn-cs"/>
              </a:defRPr>
            </a:pPr>
            <a:endParaRPr lang="en-US"/>
          </a:p>
        </c:txPr>
      </c:dTable>
      <c:spPr>
        <a:pattFill prst="ltDnDiag">
          <a:fgClr>
            <a:schemeClr val="dk1">
              <a:lumMod val="15000"/>
              <a:lumOff val="85000"/>
            </a:schemeClr>
          </a:fgClr>
          <a:bgClr>
            <a:schemeClr val="lt1"/>
          </a:bgClr>
        </a:patt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3">
  <a:schemeClr val="accent3"/>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withinLinear" id="15">
  <a:schemeClr val="accent2"/>
</cs:colorStyle>
</file>

<file path=ppt/charts/colors10.xml><?xml version="1.0" encoding="utf-8"?>
<cs:colorStyle xmlns:cs="http://schemas.microsoft.com/office/drawing/2012/chartStyle" xmlns:a="http://schemas.openxmlformats.org/drawingml/2006/main" meth="withinLinear" id="17">
  <a:schemeClr val="accent4"/>
</cs:colorStyle>
</file>

<file path=ppt/charts/colors11.xml><?xml version="1.0" encoding="utf-8"?>
<cs:colorStyle xmlns:cs="http://schemas.microsoft.com/office/drawing/2012/chartStyle" xmlns:a="http://schemas.openxmlformats.org/drawingml/2006/main" meth="withinLinear" id="14">
  <a:schemeClr val="accent1"/>
</cs:colorStyle>
</file>

<file path=ppt/charts/colors12.xml><?xml version="1.0" encoding="utf-8"?>
<cs:colorStyle xmlns:cs="http://schemas.microsoft.com/office/drawing/2012/chartStyle" xmlns:a="http://schemas.openxmlformats.org/drawingml/2006/main" meth="withinLinear" id="14">
  <a:schemeClr val="accent1"/>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0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32">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alpha val="54000"/>
          </a:schemeClr>
        </a:solidFill>
        <a:round/>
      </a:ln>
    </cs:spPr>
  </cs:gridlineMajor>
  <cs:gridlineMinor>
    <cs:lnRef idx="0"/>
    <cs:fillRef idx="0"/>
    <cs:effectRef idx="0"/>
    <cs:fontRef idx="minor">
      <a:schemeClr val="dk1"/>
    </cs:fontRef>
    <cs:spPr>
      <a:ln w="9525" cap="flat" cmpd="sng" algn="ctr">
        <a:solidFill>
          <a:schemeClr val="dk1">
            <a:lumMod val="15000"/>
            <a:lumOff val="85000"/>
            <a:alpha val="51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9.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0.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2.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3.xml><?xml version="1.0" encoding="utf-8"?>
<cs:chartStyle xmlns:cs="http://schemas.microsoft.com/office/drawing/2012/chartStyle" xmlns:a="http://schemas.openxmlformats.org/drawingml/2006/main" id="221">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8B19F8-90B1-409E-BB42-6BEDB1C8BFCC}" type="doc">
      <dgm:prSet loTypeId="urn:microsoft.com/office/officeart/2008/layout/SquareAccentList" loCatId="list" qsTypeId="urn:microsoft.com/office/officeart/2005/8/quickstyle/simple1" qsCatId="simple" csTypeId="urn:microsoft.com/office/officeart/2005/8/colors/colorful4" csCatId="colorful" phldr="1"/>
      <dgm:spPr/>
      <dgm:t>
        <a:bodyPr/>
        <a:lstStyle/>
        <a:p>
          <a:endParaRPr lang="en-US"/>
        </a:p>
      </dgm:t>
    </dgm:pt>
    <dgm:pt modelId="{C4567F79-E8E1-4BEA-B736-1A5968C7845D}">
      <dgm:prSet phldrT="[Text]" custT="1"/>
      <dgm:spPr/>
      <dgm:t>
        <a:bodyPr/>
        <a:lstStyle/>
        <a:p>
          <a:r>
            <a:rPr lang="en-US" sz="1400" b="1" dirty="0"/>
            <a:t>Financial Data Management</a:t>
          </a:r>
        </a:p>
      </dgm:t>
    </dgm:pt>
    <dgm:pt modelId="{2B46F448-5806-42C8-8277-50F6BBFBDB23}" type="parTrans" cxnId="{717DB362-1CE1-4282-A0DD-7962F1510CC7}">
      <dgm:prSet/>
      <dgm:spPr/>
      <dgm:t>
        <a:bodyPr/>
        <a:lstStyle/>
        <a:p>
          <a:endParaRPr lang="en-US"/>
        </a:p>
      </dgm:t>
    </dgm:pt>
    <dgm:pt modelId="{BFFCC130-6FEF-4D59-AE49-8261B5455E1B}" type="sibTrans" cxnId="{717DB362-1CE1-4282-A0DD-7962F1510CC7}">
      <dgm:prSet/>
      <dgm:spPr/>
      <dgm:t>
        <a:bodyPr/>
        <a:lstStyle/>
        <a:p>
          <a:endParaRPr lang="en-US"/>
        </a:p>
      </dgm:t>
    </dgm:pt>
    <dgm:pt modelId="{4F931680-4CFF-45C8-ACF3-EB80A64272A0}">
      <dgm:prSet phldrT="[Text]" custT="1"/>
      <dgm:spPr/>
      <dgm:t>
        <a:bodyPr/>
        <a:lstStyle/>
        <a:p>
          <a:r>
            <a:rPr lang="en-US" sz="1400" dirty="0"/>
            <a:t>FPA</a:t>
          </a:r>
        </a:p>
      </dgm:t>
    </dgm:pt>
    <dgm:pt modelId="{BD85D274-A670-4B99-9FB0-BA10DD1A5CF2}" type="parTrans" cxnId="{82111EC3-5E78-423E-BCAD-5003F8713770}">
      <dgm:prSet/>
      <dgm:spPr/>
      <dgm:t>
        <a:bodyPr/>
        <a:lstStyle/>
        <a:p>
          <a:endParaRPr lang="en-US"/>
        </a:p>
      </dgm:t>
    </dgm:pt>
    <dgm:pt modelId="{D12A309B-7061-432C-B436-0F2F5814A53B}" type="sibTrans" cxnId="{82111EC3-5E78-423E-BCAD-5003F8713770}">
      <dgm:prSet/>
      <dgm:spPr/>
      <dgm:t>
        <a:bodyPr/>
        <a:lstStyle/>
        <a:p>
          <a:endParaRPr lang="en-US"/>
        </a:p>
      </dgm:t>
    </dgm:pt>
    <dgm:pt modelId="{4F56561F-BB52-45D1-99A3-F163CCC76A5C}">
      <dgm:prSet phldrT="[Text]" custT="1"/>
      <dgm:spPr/>
      <dgm:t>
        <a:bodyPr/>
        <a:lstStyle/>
        <a:p>
          <a:r>
            <a:rPr lang="en-US" sz="1400" b="1" dirty="0"/>
            <a:t>Central Data</a:t>
          </a:r>
        </a:p>
      </dgm:t>
    </dgm:pt>
    <dgm:pt modelId="{AAF8C8C7-776C-473D-AF14-BD6C4E954115}" type="parTrans" cxnId="{E73C488F-64C2-4FA6-A099-9E26AFA69A5A}">
      <dgm:prSet/>
      <dgm:spPr/>
      <dgm:t>
        <a:bodyPr/>
        <a:lstStyle/>
        <a:p>
          <a:endParaRPr lang="en-US"/>
        </a:p>
      </dgm:t>
    </dgm:pt>
    <dgm:pt modelId="{ADDAF77D-B938-4EDD-8938-FA72B6AC49B9}" type="sibTrans" cxnId="{E73C488F-64C2-4FA6-A099-9E26AFA69A5A}">
      <dgm:prSet/>
      <dgm:spPr/>
      <dgm:t>
        <a:bodyPr/>
        <a:lstStyle/>
        <a:p>
          <a:endParaRPr lang="en-US"/>
        </a:p>
      </dgm:t>
    </dgm:pt>
    <dgm:pt modelId="{BBDB1841-BD88-4E2D-85FA-080E272D1DB7}">
      <dgm:prSet phldrT="[Text]" custT="1"/>
      <dgm:spPr/>
      <dgm:t>
        <a:bodyPr/>
        <a:lstStyle/>
        <a:p>
          <a:r>
            <a:rPr lang="en-US" sz="1400" dirty="0"/>
            <a:t>NetRPM</a:t>
          </a:r>
        </a:p>
      </dgm:t>
    </dgm:pt>
    <dgm:pt modelId="{DF2E907F-5B95-479E-A33B-416ADED8217F}" type="parTrans" cxnId="{9650FCC3-0C33-4613-9F1E-3A834747BE1E}">
      <dgm:prSet/>
      <dgm:spPr/>
      <dgm:t>
        <a:bodyPr/>
        <a:lstStyle/>
        <a:p>
          <a:endParaRPr lang="en-US"/>
        </a:p>
      </dgm:t>
    </dgm:pt>
    <dgm:pt modelId="{E2B0B009-08A8-4F13-AC27-1494EC45C9AB}" type="sibTrans" cxnId="{9650FCC3-0C33-4613-9F1E-3A834747BE1E}">
      <dgm:prSet/>
      <dgm:spPr/>
      <dgm:t>
        <a:bodyPr/>
        <a:lstStyle/>
        <a:p>
          <a:endParaRPr lang="en-US"/>
        </a:p>
      </dgm:t>
    </dgm:pt>
    <dgm:pt modelId="{61524C63-5379-4217-AA56-30726EC7D713}">
      <dgm:prSet phldrT="[Text]" custT="1"/>
      <dgm:spPr/>
      <dgm:t>
        <a:bodyPr/>
        <a:lstStyle/>
        <a:p>
          <a:r>
            <a:rPr lang="en-US" sz="1400" dirty="0"/>
            <a:t>Non Discrimination Testing</a:t>
          </a:r>
        </a:p>
      </dgm:t>
    </dgm:pt>
    <dgm:pt modelId="{1665234D-CB82-462A-865A-941F31CC6FA8}" type="parTrans" cxnId="{69814DB5-6223-451A-9688-6EB07FD6896E}">
      <dgm:prSet/>
      <dgm:spPr/>
      <dgm:t>
        <a:bodyPr/>
        <a:lstStyle/>
        <a:p>
          <a:endParaRPr lang="en-US"/>
        </a:p>
      </dgm:t>
    </dgm:pt>
    <dgm:pt modelId="{27A33EB7-9ABB-4645-A097-071AF93C95CB}" type="sibTrans" cxnId="{69814DB5-6223-451A-9688-6EB07FD6896E}">
      <dgm:prSet/>
      <dgm:spPr/>
      <dgm:t>
        <a:bodyPr/>
        <a:lstStyle/>
        <a:p>
          <a:endParaRPr lang="en-US"/>
        </a:p>
      </dgm:t>
    </dgm:pt>
    <dgm:pt modelId="{DEB8DDC0-8CF4-424F-A0E2-8F7BAC0EBAFD}">
      <dgm:prSet phldrT="[Text]" custT="1"/>
      <dgm:spPr/>
      <dgm:t>
        <a:bodyPr/>
        <a:lstStyle/>
        <a:p>
          <a:r>
            <a:rPr lang="en-US" sz="1400" b="1" dirty="0"/>
            <a:t>Carrier Operations</a:t>
          </a:r>
        </a:p>
      </dgm:t>
    </dgm:pt>
    <dgm:pt modelId="{E5C5E73F-6368-4B54-A48C-F7BF6E1F734D}" type="parTrans" cxnId="{DDDFFD52-0525-4189-8AB1-4071D9C7B0CD}">
      <dgm:prSet/>
      <dgm:spPr/>
      <dgm:t>
        <a:bodyPr/>
        <a:lstStyle/>
        <a:p>
          <a:endParaRPr lang="en-US"/>
        </a:p>
      </dgm:t>
    </dgm:pt>
    <dgm:pt modelId="{499A5AEF-D120-4A05-AEB3-304AB4285CC0}" type="sibTrans" cxnId="{DDDFFD52-0525-4189-8AB1-4071D9C7B0CD}">
      <dgm:prSet/>
      <dgm:spPr/>
      <dgm:t>
        <a:bodyPr/>
        <a:lstStyle/>
        <a:p>
          <a:endParaRPr lang="en-US"/>
        </a:p>
      </dgm:t>
    </dgm:pt>
    <dgm:pt modelId="{2AF31390-09A5-48AC-8435-9EC1388B5162}">
      <dgm:prSet phldrT="[Text]" custT="1"/>
      <dgm:spPr/>
      <dgm:t>
        <a:bodyPr/>
        <a:lstStyle/>
        <a:p>
          <a:r>
            <a:rPr lang="en-US" sz="1400" b="1" dirty="0"/>
            <a:t>Rx  Collaborative</a:t>
          </a:r>
        </a:p>
      </dgm:t>
    </dgm:pt>
    <dgm:pt modelId="{8F3A23FD-E326-4F69-963B-9A3EAC52E42D}" type="parTrans" cxnId="{722B5C79-C15F-4705-945F-B1132C6CED18}">
      <dgm:prSet/>
      <dgm:spPr/>
      <dgm:t>
        <a:bodyPr/>
        <a:lstStyle/>
        <a:p>
          <a:endParaRPr lang="en-US"/>
        </a:p>
      </dgm:t>
    </dgm:pt>
    <dgm:pt modelId="{5F9A8694-73B8-46B8-9D7C-E42742F65C78}" type="sibTrans" cxnId="{722B5C79-C15F-4705-945F-B1132C6CED18}">
      <dgm:prSet/>
      <dgm:spPr/>
      <dgm:t>
        <a:bodyPr/>
        <a:lstStyle/>
        <a:p>
          <a:endParaRPr lang="en-US"/>
        </a:p>
      </dgm:t>
    </dgm:pt>
    <dgm:pt modelId="{4C5D95B1-E1E9-4C33-9A6F-196C6C4B35A9}">
      <dgm:prSet phldrT="[Text]" custT="1"/>
      <dgm:spPr/>
      <dgm:t>
        <a:bodyPr/>
        <a:lstStyle/>
        <a:p>
          <a:r>
            <a:rPr lang="en-US" sz="1400" b="1" dirty="0"/>
            <a:t>RFP</a:t>
          </a:r>
        </a:p>
      </dgm:t>
    </dgm:pt>
    <dgm:pt modelId="{D60525D3-8F57-4A66-9B91-E9A1991D10F1}" type="parTrans" cxnId="{DBF6F38E-DE11-494D-9882-4A9F2A6E33CC}">
      <dgm:prSet/>
      <dgm:spPr/>
      <dgm:t>
        <a:bodyPr/>
        <a:lstStyle/>
        <a:p>
          <a:endParaRPr lang="en-US"/>
        </a:p>
      </dgm:t>
    </dgm:pt>
    <dgm:pt modelId="{EB575605-4141-43AD-A421-D67E18B82D9E}" type="sibTrans" cxnId="{DBF6F38E-DE11-494D-9882-4A9F2A6E33CC}">
      <dgm:prSet/>
      <dgm:spPr/>
      <dgm:t>
        <a:bodyPr/>
        <a:lstStyle/>
        <a:p>
          <a:endParaRPr lang="en-US"/>
        </a:p>
      </dgm:t>
    </dgm:pt>
    <dgm:pt modelId="{3BA9B449-8FDA-41EB-B8C7-DAA651717CB8}">
      <dgm:prSet phldrT="[Text]" custT="1"/>
      <dgm:spPr/>
      <dgm:t>
        <a:bodyPr/>
        <a:lstStyle/>
        <a:p>
          <a:r>
            <a:rPr lang="en-US" sz="1400" dirty="0"/>
            <a:t>IBNR</a:t>
          </a:r>
        </a:p>
      </dgm:t>
    </dgm:pt>
    <dgm:pt modelId="{154CDC84-72D3-4E3D-9397-98C825FA92A1}" type="parTrans" cxnId="{D83831C2-91B5-4DE8-A73F-D97FA301D8A2}">
      <dgm:prSet/>
      <dgm:spPr/>
      <dgm:t>
        <a:bodyPr/>
        <a:lstStyle/>
        <a:p>
          <a:endParaRPr lang="en-US"/>
        </a:p>
      </dgm:t>
    </dgm:pt>
    <dgm:pt modelId="{35CB954A-5197-4416-84A1-571773CB4452}" type="sibTrans" cxnId="{D83831C2-91B5-4DE8-A73F-D97FA301D8A2}">
      <dgm:prSet/>
      <dgm:spPr/>
      <dgm:t>
        <a:bodyPr/>
        <a:lstStyle/>
        <a:p>
          <a:endParaRPr lang="en-US"/>
        </a:p>
      </dgm:t>
    </dgm:pt>
    <dgm:pt modelId="{D05F8602-20DD-41F1-87DC-E1BB657E48A6}">
      <dgm:prSet phldrT="[Text]" custT="1"/>
      <dgm:spPr/>
      <dgm:t>
        <a:bodyPr/>
        <a:lstStyle/>
        <a:p>
          <a:r>
            <a:rPr lang="en-US" sz="1400" dirty="0"/>
            <a:t>PUT</a:t>
          </a:r>
        </a:p>
      </dgm:t>
    </dgm:pt>
    <dgm:pt modelId="{2BAEA1FF-E388-4E54-B242-16F23F11C25F}" type="parTrans" cxnId="{D7E2C173-498F-4FFE-B418-6DD859F01D13}">
      <dgm:prSet/>
      <dgm:spPr/>
      <dgm:t>
        <a:bodyPr/>
        <a:lstStyle/>
        <a:p>
          <a:endParaRPr lang="en-US"/>
        </a:p>
      </dgm:t>
    </dgm:pt>
    <dgm:pt modelId="{180279E3-33A8-458A-90E5-473BFAE6433F}" type="sibTrans" cxnId="{D7E2C173-498F-4FFE-B418-6DD859F01D13}">
      <dgm:prSet/>
      <dgm:spPr/>
      <dgm:t>
        <a:bodyPr/>
        <a:lstStyle/>
        <a:p>
          <a:endParaRPr lang="en-US"/>
        </a:p>
      </dgm:t>
    </dgm:pt>
    <dgm:pt modelId="{DE969BE8-F037-484B-A41C-5AFFBA250EFC}">
      <dgm:prSet phldrT="[Text]" custT="1"/>
      <dgm:spPr/>
      <dgm:t>
        <a:bodyPr/>
        <a:lstStyle/>
        <a:p>
          <a:r>
            <a:rPr lang="en-US" sz="1400" dirty="0"/>
            <a:t>FBS</a:t>
          </a:r>
        </a:p>
      </dgm:t>
    </dgm:pt>
    <dgm:pt modelId="{E0380484-435B-4AFA-A473-31314442184D}" type="parTrans" cxnId="{F5F6FCCB-459B-4834-882B-1DA8079A7218}">
      <dgm:prSet/>
      <dgm:spPr/>
      <dgm:t>
        <a:bodyPr/>
        <a:lstStyle/>
        <a:p>
          <a:endParaRPr lang="en-US"/>
        </a:p>
      </dgm:t>
    </dgm:pt>
    <dgm:pt modelId="{484DA7F4-8177-46EB-8842-D9F85CDAD3A2}" type="sibTrans" cxnId="{F5F6FCCB-459B-4834-882B-1DA8079A7218}">
      <dgm:prSet/>
      <dgm:spPr/>
      <dgm:t>
        <a:bodyPr/>
        <a:lstStyle/>
        <a:p>
          <a:endParaRPr lang="en-US"/>
        </a:p>
      </dgm:t>
    </dgm:pt>
    <dgm:pt modelId="{560D81DD-241B-4B8C-9D2F-1F66534515C8}">
      <dgm:prSet phldrT="[Text]" custT="1"/>
      <dgm:spPr/>
      <dgm:t>
        <a:bodyPr/>
        <a:lstStyle/>
        <a:p>
          <a:r>
            <a:rPr lang="en-US" sz="1400" dirty="0" err="1"/>
            <a:t>HealthMaps</a:t>
          </a:r>
          <a:r>
            <a:rPr lang="en-US" sz="1400" dirty="0"/>
            <a:t> </a:t>
          </a:r>
        </a:p>
      </dgm:t>
    </dgm:pt>
    <dgm:pt modelId="{862455C2-A395-406F-BD8B-AC7E65F9824C}" type="parTrans" cxnId="{3A5B4173-37AD-4C20-930A-3B0F7DB57867}">
      <dgm:prSet/>
      <dgm:spPr/>
      <dgm:t>
        <a:bodyPr/>
        <a:lstStyle/>
        <a:p>
          <a:endParaRPr lang="en-US"/>
        </a:p>
      </dgm:t>
    </dgm:pt>
    <dgm:pt modelId="{F6ABB387-7AAF-42FB-BCBC-1EAAFDE4DE2F}" type="sibTrans" cxnId="{3A5B4173-37AD-4C20-930A-3B0F7DB57867}">
      <dgm:prSet/>
      <dgm:spPr/>
      <dgm:t>
        <a:bodyPr/>
        <a:lstStyle/>
        <a:p>
          <a:endParaRPr lang="en-US"/>
        </a:p>
      </dgm:t>
    </dgm:pt>
    <dgm:pt modelId="{04EDA9A8-DDA2-4656-98DF-B3ADCE17F903}">
      <dgm:prSet phldrT="[Text]" custT="1"/>
      <dgm:spPr/>
      <dgm:t>
        <a:bodyPr/>
        <a:lstStyle/>
        <a:p>
          <a:r>
            <a:rPr lang="en-US" sz="1400" dirty="0"/>
            <a:t>PCORI Fee </a:t>
          </a:r>
        </a:p>
      </dgm:t>
    </dgm:pt>
    <dgm:pt modelId="{B7C2EB48-D1CA-4374-A1F0-6AFB44501B4E}" type="parTrans" cxnId="{11416A01-66D4-4C21-A5A8-89BB8A3EE507}">
      <dgm:prSet/>
      <dgm:spPr/>
      <dgm:t>
        <a:bodyPr/>
        <a:lstStyle/>
        <a:p>
          <a:endParaRPr lang="en-US"/>
        </a:p>
      </dgm:t>
    </dgm:pt>
    <dgm:pt modelId="{8A08EA01-D2B6-4D68-AAC5-FBB1B1D61CF7}" type="sibTrans" cxnId="{11416A01-66D4-4C21-A5A8-89BB8A3EE507}">
      <dgm:prSet/>
      <dgm:spPr/>
      <dgm:t>
        <a:bodyPr/>
        <a:lstStyle/>
        <a:p>
          <a:endParaRPr lang="en-US"/>
        </a:p>
      </dgm:t>
    </dgm:pt>
    <dgm:pt modelId="{3128943C-E845-48AF-9FAD-1DE4BE44B48B}">
      <dgm:prSet phldrT="[Text]" custT="1"/>
      <dgm:spPr/>
      <dgm:t>
        <a:bodyPr/>
        <a:lstStyle/>
        <a:p>
          <a:r>
            <a:rPr lang="en-US" sz="1400" dirty="0"/>
            <a:t>CCMU (Billing, Reporting, Vetting)</a:t>
          </a:r>
        </a:p>
      </dgm:t>
    </dgm:pt>
    <dgm:pt modelId="{B4467AC0-FFA9-433A-95C4-8A359D18005F}" type="parTrans" cxnId="{F3EE0984-8551-41EB-8D95-2CDA1D75BE3C}">
      <dgm:prSet/>
      <dgm:spPr/>
      <dgm:t>
        <a:bodyPr/>
        <a:lstStyle/>
        <a:p>
          <a:endParaRPr lang="en-US"/>
        </a:p>
      </dgm:t>
    </dgm:pt>
    <dgm:pt modelId="{9A80C9C0-C1B5-4C2D-9DD3-50EE2283EAA3}" type="sibTrans" cxnId="{F3EE0984-8551-41EB-8D95-2CDA1D75BE3C}">
      <dgm:prSet/>
      <dgm:spPr/>
      <dgm:t>
        <a:bodyPr/>
        <a:lstStyle/>
        <a:p>
          <a:endParaRPr lang="en-US"/>
        </a:p>
      </dgm:t>
    </dgm:pt>
    <dgm:pt modelId="{F90B1A83-A64E-4816-A045-06DAC8348871}">
      <dgm:prSet phldrT="[Text]" custT="1"/>
      <dgm:spPr/>
      <dgm:t>
        <a:bodyPr/>
        <a:lstStyle/>
        <a:p>
          <a:r>
            <a:rPr lang="en-US" sz="1400" dirty="0"/>
            <a:t>Client Profiling</a:t>
          </a:r>
        </a:p>
      </dgm:t>
    </dgm:pt>
    <dgm:pt modelId="{78305F19-7923-49AA-8C31-E919B20B7497}" type="parTrans" cxnId="{7510EF54-2F39-4C4F-8F73-5767F3E23CD5}">
      <dgm:prSet/>
      <dgm:spPr/>
      <dgm:t>
        <a:bodyPr/>
        <a:lstStyle/>
        <a:p>
          <a:endParaRPr lang="en-US"/>
        </a:p>
      </dgm:t>
    </dgm:pt>
    <dgm:pt modelId="{4765057F-FA04-4741-B459-17DAACE229C9}" type="sibTrans" cxnId="{7510EF54-2F39-4C4F-8F73-5767F3E23CD5}">
      <dgm:prSet/>
      <dgm:spPr/>
      <dgm:t>
        <a:bodyPr/>
        <a:lstStyle/>
        <a:p>
          <a:endParaRPr lang="en-US"/>
        </a:p>
      </dgm:t>
    </dgm:pt>
    <dgm:pt modelId="{1A9883DD-3F2C-4353-80E7-9044ED330618}">
      <dgm:prSet phldrT="[Text]" custT="1"/>
      <dgm:spPr/>
      <dgm:t>
        <a:bodyPr/>
        <a:lstStyle/>
        <a:p>
          <a:r>
            <a:rPr lang="en-US" sz="1400" dirty="0"/>
            <a:t>Priority Email Assistance</a:t>
          </a:r>
        </a:p>
      </dgm:t>
    </dgm:pt>
    <dgm:pt modelId="{FB779813-567B-4F00-93E7-35D1B5D9B0F9}" type="parTrans" cxnId="{05848EAD-D2D6-4341-8ACA-B1C341D00161}">
      <dgm:prSet/>
      <dgm:spPr/>
      <dgm:t>
        <a:bodyPr/>
        <a:lstStyle/>
        <a:p>
          <a:endParaRPr lang="en-US"/>
        </a:p>
      </dgm:t>
    </dgm:pt>
    <dgm:pt modelId="{7DAFF038-58AD-4B9F-9468-F16D4D76943A}" type="sibTrans" cxnId="{05848EAD-D2D6-4341-8ACA-B1C341D00161}">
      <dgm:prSet/>
      <dgm:spPr/>
      <dgm:t>
        <a:bodyPr/>
        <a:lstStyle/>
        <a:p>
          <a:endParaRPr lang="en-US"/>
        </a:p>
      </dgm:t>
    </dgm:pt>
    <dgm:pt modelId="{8F327AE3-658B-41DB-A3DF-BB5B20E42D1E}">
      <dgm:prSet phldrT="[Text]" custT="1"/>
      <dgm:spPr/>
      <dgm:t>
        <a:bodyPr/>
        <a:lstStyle/>
        <a:p>
          <a:r>
            <a:rPr lang="en-US" sz="1400" dirty="0"/>
            <a:t>Record Keeping</a:t>
          </a:r>
        </a:p>
      </dgm:t>
    </dgm:pt>
    <dgm:pt modelId="{457A12F4-F61C-416E-873F-D25DB67619A0}" type="parTrans" cxnId="{7DACFD10-32E1-4916-9A41-90FA0FEF768B}">
      <dgm:prSet/>
      <dgm:spPr/>
      <dgm:t>
        <a:bodyPr/>
        <a:lstStyle/>
        <a:p>
          <a:endParaRPr lang="en-US"/>
        </a:p>
      </dgm:t>
    </dgm:pt>
    <dgm:pt modelId="{1E7837E0-371B-42FD-83CB-865110572702}" type="sibTrans" cxnId="{7DACFD10-32E1-4916-9A41-90FA0FEF768B}">
      <dgm:prSet/>
      <dgm:spPr/>
      <dgm:t>
        <a:bodyPr/>
        <a:lstStyle/>
        <a:p>
          <a:endParaRPr lang="en-US"/>
        </a:p>
      </dgm:t>
    </dgm:pt>
    <dgm:pt modelId="{931ABBAB-8FAF-4A89-81CD-A5D2CECCE52F}">
      <dgm:prSet phldrT="[Text]" custT="1"/>
      <dgm:spPr/>
      <dgm:t>
        <a:bodyPr/>
        <a:lstStyle/>
        <a:p>
          <a:r>
            <a:rPr lang="en-US" sz="1400" dirty="0"/>
            <a:t>High Performing &amp; Alternative Zip Code</a:t>
          </a:r>
        </a:p>
      </dgm:t>
    </dgm:pt>
    <dgm:pt modelId="{0F7E1BC2-354F-4C01-A5B5-1EE830274989}" type="parTrans" cxnId="{0A7600E3-7483-43FC-B862-81B201CBAC86}">
      <dgm:prSet/>
      <dgm:spPr/>
      <dgm:t>
        <a:bodyPr/>
        <a:lstStyle/>
        <a:p>
          <a:endParaRPr lang="en-US"/>
        </a:p>
      </dgm:t>
    </dgm:pt>
    <dgm:pt modelId="{1BC7E31B-8519-4CED-B82E-FAA2F5340082}" type="sibTrans" cxnId="{0A7600E3-7483-43FC-B862-81B201CBAC86}">
      <dgm:prSet/>
      <dgm:spPr/>
      <dgm:t>
        <a:bodyPr/>
        <a:lstStyle/>
        <a:p>
          <a:endParaRPr lang="en-US"/>
        </a:p>
      </dgm:t>
    </dgm:pt>
    <dgm:pt modelId="{32B3955E-9A28-4955-BCFB-65F3B9C805D6}">
      <dgm:prSet phldrT="[Text]" custT="1"/>
      <dgm:spPr/>
      <dgm:t>
        <a:bodyPr/>
        <a:lstStyle/>
        <a:p>
          <a:r>
            <a:rPr lang="en-US" sz="1400" dirty="0"/>
            <a:t>Summary of Benefits &amp; Coverage</a:t>
          </a:r>
        </a:p>
      </dgm:t>
    </dgm:pt>
    <dgm:pt modelId="{99510252-8FF9-4AA8-BACB-9381AE838EDC}" type="parTrans" cxnId="{A6D7A414-E877-4340-A28A-9224EC33CC0C}">
      <dgm:prSet/>
      <dgm:spPr/>
      <dgm:t>
        <a:bodyPr/>
        <a:lstStyle/>
        <a:p>
          <a:endParaRPr lang="en-US"/>
        </a:p>
      </dgm:t>
    </dgm:pt>
    <dgm:pt modelId="{EC6404C4-3061-41F3-82BF-BEB76D801F4A}" type="sibTrans" cxnId="{A6D7A414-E877-4340-A28A-9224EC33CC0C}">
      <dgm:prSet/>
      <dgm:spPr/>
      <dgm:t>
        <a:bodyPr/>
        <a:lstStyle/>
        <a:p>
          <a:endParaRPr lang="en-US"/>
        </a:p>
      </dgm:t>
    </dgm:pt>
    <dgm:pt modelId="{E9EE8D40-4C98-4056-9A48-8B5F9A78AF07}">
      <dgm:prSet phldrT="[Text]" custT="1"/>
      <dgm:spPr/>
      <dgm:t>
        <a:bodyPr/>
        <a:lstStyle/>
        <a:p>
          <a:r>
            <a:rPr lang="en-US" sz="1400" dirty="0"/>
            <a:t>API Letters</a:t>
          </a:r>
        </a:p>
      </dgm:t>
    </dgm:pt>
    <dgm:pt modelId="{A3FF3329-7A64-4A83-8DF1-8D48A7F8E352}" type="parTrans" cxnId="{F5891EA7-242D-49FF-9EE3-AFFAEFD7E31A}">
      <dgm:prSet/>
      <dgm:spPr/>
      <dgm:t>
        <a:bodyPr/>
        <a:lstStyle/>
        <a:p>
          <a:endParaRPr lang="en-US"/>
        </a:p>
      </dgm:t>
    </dgm:pt>
    <dgm:pt modelId="{513B8D8C-425A-4334-886F-ED2C7F9A87A9}" type="sibTrans" cxnId="{F5891EA7-242D-49FF-9EE3-AFFAEFD7E31A}">
      <dgm:prSet/>
      <dgm:spPr/>
      <dgm:t>
        <a:bodyPr/>
        <a:lstStyle/>
        <a:p>
          <a:endParaRPr lang="en-US"/>
        </a:p>
      </dgm:t>
    </dgm:pt>
    <dgm:pt modelId="{ED7525C4-98A4-4282-B9E2-87AAF45E02EC}">
      <dgm:prSet phldrT="[Text]" custT="1"/>
      <dgm:spPr/>
      <dgm:t>
        <a:bodyPr/>
        <a:lstStyle/>
        <a:p>
          <a:r>
            <a:rPr lang="en-US" sz="1400" dirty="0"/>
            <a:t>Population of Price Grid for letters</a:t>
          </a:r>
        </a:p>
      </dgm:t>
    </dgm:pt>
    <dgm:pt modelId="{2E880961-BF13-4CC0-BB4D-7FDBFE344A20}" type="parTrans" cxnId="{62B1B1E7-7517-4214-8209-A13C7FED3C00}">
      <dgm:prSet/>
      <dgm:spPr/>
      <dgm:t>
        <a:bodyPr/>
        <a:lstStyle/>
        <a:p>
          <a:endParaRPr lang="en-US"/>
        </a:p>
      </dgm:t>
    </dgm:pt>
    <dgm:pt modelId="{CFA4EB02-C432-48DB-BCA0-4CFCA054CDB4}" type="sibTrans" cxnId="{62B1B1E7-7517-4214-8209-A13C7FED3C00}">
      <dgm:prSet/>
      <dgm:spPr/>
      <dgm:t>
        <a:bodyPr/>
        <a:lstStyle/>
        <a:p>
          <a:endParaRPr lang="en-US"/>
        </a:p>
      </dgm:t>
    </dgm:pt>
    <dgm:pt modelId="{0423EB27-09F7-494F-A9A2-F8E064170723}">
      <dgm:prSet phldrT="[Text]" custT="1"/>
      <dgm:spPr/>
      <dgm:t>
        <a:bodyPr/>
        <a:lstStyle/>
        <a:p>
          <a:r>
            <a:rPr lang="en-US" sz="1400" dirty="0"/>
            <a:t>Reconciliation Results Aggregation</a:t>
          </a:r>
        </a:p>
      </dgm:t>
    </dgm:pt>
    <dgm:pt modelId="{EA0085D4-67FB-4CF9-B4C1-F68D74AC377C}" type="parTrans" cxnId="{7A5C8B17-9BCC-46D9-8550-6C0E76B293EF}">
      <dgm:prSet/>
      <dgm:spPr/>
      <dgm:t>
        <a:bodyPr/>
        <a:lstStyle/>
        <a:p>
          <a:endParaRPr lang="en-US"/>
        </a:p>
      </dgm:t>
    </dgm:pt>
    <dgm:pt modelId="{563C9E57-3EE3-4C88-8233-605DAC5CBC0B}" type="sibTrans" cxnId="{7A5C8B17-9BCC-46D9-8550-6C0E76B293EF}">
      <dgm:prSet/>
      <dgm:spPr/>
      <dgm:t>
        <a:bodyPr/>
        <a:lstStyle/>
        <a:p>
          <a:endParaRPr lang="en-US"/>
        </a:p>
      </dgm:t>
    </dgm:pt>
    <dgm:pt modelId="{3F351C7A-D0E1-42D4-9012-73833E697C66}">
      <dgm:prSet phldrT="[Text]" custT="1"/>
      <dgm:spPr/>
      <dgm:t>
        <a:bodyPr/>
        <a:lstStyle/>
        <a:p>
          <a:r>
            <a:rPr lang="en-US" sz="1400" dirty="0"/>
            <a:t>Medical</a:t>
          </a:r>
        </a:p>
      </dgm:t>
    </dgm:pt>
    <dgm:pt modelId="{D1C0E02C-01AD-43BE-8E81-33E94F59EA82}" type="parTrans" cxnId="{19CDAB07-07C6-44A6-BA9C-59775CB33D7E}">
      <dgm:prSet/>
      <dgm:spPr/>
      <dgm:t>
        <a:bodyPr/>
        <a:lstStyle/>
        <a:p>
          <a:endParaRPr lang="en-US"/>
        </a:p>
      </dgm:t>
    </dgm:pt>
    <dgm:pt modelId="{764B6F1B-6060-4C93-945F-2AE8992CD13B}" type="sibTrans" cxnId="{19CDAB07-07C6-44A6-BA9C-59775CB33D7E}">
      <dgm:prSet/>
      <dgm:spPr/>
      <dgm:t>
        <a:bodyPr/>
        <a:lstStyle/>
        <a:p>
          <a:endParaRPr lang="en-US"/>
        </a:p>
      </dgm:t>
    </dgm:pt>
    <dgm:pt modelId="{4691612C-C8D3-4357-84D0-CF4F6922BE7B}">
      <dgm:prSet phldrT="[Text]" custT="1"/>
      <dgm:spPr/>
      <dgm:t>
        <a:bodyPr/>
        <a:lstStyle/>
        <a:p>
          <a:r>
            <a:rPr lang="en-US" sz="1400" dirty="0"/>
            <a:t>Dental</a:t>
          </a:r>
        </a:p>
      </dgm:t>
    </dgm:pt>
    <dgm:pt modelId="{A8ECEBB3-3244-40F1-9929-01F91C829BC4}" type="parTrans" cxnId="{90D06959-AA68-4341-B309-6359BE8BF57D}">
      <dgm:prSet/>
      <dgm:spPr/>
      <dgm:t>
        <a:bodyPr/>
        <a:lstStyle/>
        <a:p>
          <a:endParaRPr lang="en-US"/>
        </a:p>
      </dgm:t>
    </dgm:pt>
    <dgm:pt modelId="{527D9E9C-3C6D-4B3B-892C-C349B487CA1E}" type="sibTrans" cxnId="{90D06959-AA68-4341-B309-6359BE8BF57D}">
      <dgm:prSet/>
      <dgm:spPr/>
      <dgm:t>
        <a:bodyPr/>
        <a:lstStyle/>
        <a:p>
          <a:endParaRPr lang="en-US"/>
        </a:p>
      </dgm:t>
    </dgm:pt>
    <dgm:pt modelId="{C11604BF-250D-478D-ABF4-12ACDDA2F5A8}">
      <dgm:prSet phldrT="[Text]" custT="1"/>
      <dgm:spPr/>
      <dgm:t>
        <a:bodyPr/>
        <a:lstStyle/>
        <a:p>
          <a:r>
            <a:rPr lang="en-US" sz="1400" dirty="0"/>
            <a:t>Vision</a:t>
          </a:r>
        </a:p>
      </dgm:t>
    </dgm:pt>
    <dgm:pt modelId="{3E945B5F-09A8-46DB-9778-A2F36D73D500}" type="parTrans" cxnId="{62B33A16-FDCA-4883-AE2B-59B153650F19}">
      <dgm:prSet/>
      <dgm:spPr/>
      <dgm:t>
        <a:bodyPr/>
        <a:lstStyle/>
        <a:p>
          <a:endParaRPr lang="en-US"/>
        </a:p>
      </dgm:t>
    </dgm:pt>
    <dgm:pt modelId="{07F52B0E-7AC4-4BE8-AB0D-F2BDD1B761DF}" type="sibTrans" cxnId="{62B33A16-FDCA-4883-AE2B-59B153650F19}">
      <dgm:prSet/>
      <dgm:spPr/>
      <dgm:t>
        <a:bodyPr/>
        <a:lstStyle/>
        <a:p>
          <a:endParaRPr lang="en-US"/>
        </a:p>
      </dgm:t>
    </dgm:pt>
    <dgm:pt modelId="{BBB488DF-94E5-4614-BB80-EDE0D41DAAEE}">
      <dgm:prSet phldrT="[Text]" custT="1"/>
      <dgm:spPr/>
      <dgm:t>
        <a:bodyPr/>
        <a:lstStyle/>
        <a:p>
          <a:r>
            <a:rPr lang="en-US" sz="1400" dirty="0"/>
            <a:t>ID Theft</a:t>
          </a:r>
        </a:p>
      </dgm:t>
    </dgm:pt>
    <dgm:pt modelId="{4EE950E3-31BE-4188-BB1A-03E53966ECDA}" type="parTrans" cxnId="{68203D01-E1CC-4E0A-B837-302885C1CE4B}">
      <dgm:prSet/>
      <dgm:spPr/>
      <dgm:t>
        <a:bodyPr/>
        <a:lstStyle/>
        <a:p>
          <a:endParaRPr lang="en-US"/>
        </a:p>
      </dgm:t>
    </dgm:pt>
    <dgm:pt modelId="{DED4B255-FAF9-4AD4-BF2F-FE48B7E878CC}" type="sibTrans" cxnId="{68203D01-E1CC-4E0A-B837-302885C1CE4B}">
      <dgm:prSet/>
      <dgm:spPr/>
      <dgm:t>
        <a:bodyPr/>
        <a:lstStyle/>
        <a:p>
          <a:endParaRPr lang="en-US"/>
        </a:p>
      </dgm:t>
    </dgm:pt>
    <dgm:pt modelId="{CDBC2F14-94D2-4FB7-BC67-15AAFC768928}">
      <dgm:prSet phldrT="[Text]" custT="1"/>
      <dgm:spPr/>
      <dgm:t>
        <a:bodyPr/>
        <a:lstStyle/>
        <a:p>
          <a:r>
            <a:rPr lang="en-US" sz="1400" dirty="0"/>
            <a:t>ADML </a:t>
          </a:r>
        </a:p>
      </dgm:t>
    </dgm:pt>
    <dgm:pt modelId="{24F673F2-8D48-4BAF-83CD-FDF8F2E98394}" type="parTrans" cxnId="{CD1098F4-6358-49E0-BF5E-9BF6A19C1DA3}">
      <dgm:prSet/>
      <dgm:spPr/>
      <dgm:t>
        <a:bodyPr/>
        <a:lstStyle/>
        <a:p>
          <a:endParaRPr lang="en-US"/>
        </a:p>
      </dgm:t>
    </dgm:pt>
    <dgm:pt modelId="{844F0751-F5DC-4496-A8A5-223DE2F3AD76}" type="sibTrans" cxnId="{CD1098F4-6358-49E0-BF5E-9BF6A19C1DA3}">
      <dgm:prSet/>
      <dgm:spPr/>
      <dgm:t>
        <a:bodyPr/>
        <a:lstStyle/>
        <a:p>
          <a:endParaRPr lang="en-US"/>
        </a:p>
      </dgm:t>
    </dgm:pt>
    <dgm:pt modelId="{D9C943F3-3831-4D67-B89A-F72BF6282D07}">
      <dgm:prSet phldrT="[Text]" custT="1"/>
      <dgm:spPr/>
      <dgm:t>
        <a:bodyPr/>
        <a:lstStyle/>
        <a:p>
          <a:r>
            <a:rPr lang="en-US" sz="1400" dirty="0"/>
            <a:t>Rebate Reconciliation (ESI &amp; CVS)</a:t>
          </a:r>
        </a:p>
      </dgm:t>
    </dgm:pt>
    <dgm:pt modelId="{4220359A-BE4E-4217-A2D8-C356A57AC2BA}" type="parTrans" cxnId="{7CF678A8-557E-429E-92AB-18CCF8E3EE29}">
      <dgm:prSet/>
      <dgm:spPr/>
      <dgm:t>
        <a:bodyPr/>
        <a:lstStyle/>
        <a:p>
          <a:endParaRPr lang="en-US"/>
        </a:p>
      </dgm:t>
    </dgm:pt>
    <dgm:pt modelId="{BA40E5A4-28C0-4E1D-8947-1F93A78E10D4}" type="sibTrans" cxnId="{7CF678A8-557E-429E-92AB-18CCF8E3EE29}">
      <dgm:prSet/>
      <dgm:spPr/>
      <dgm:t>
        <a:bodyPr/>
        <a:lstStyle/>
        <a:p>
          <a:endParaRPr lang="en-US"/>
        </a:p>
      </dgm:t>
    </dgm:pt>
    <dgm:pt modelId="{5268877E-D36E-44A5-BDC9-F07573D02DD2}">
      <dgm:prSet phldrT="[Text]" custT="1"/>
      <dgm:spPr/>
      <dgm:t>
        <a:bodyPr/>
        <a:lstStyle/>
        <a:p>
          <a:r>
            <a:rPr lang="en-US" sz="1400" dirty="0"/>
            <a:t>Retiree Medical per Capita</a:t>
          </a:r>
        </a:p>
      </dgm:t>
    </dgm:pt>
    <dgm:pt modelId="{B3AF7DD7-6711-4AC2-92C8-42D632048ECD}" type="parTrans" cxnId="{2D44ECA5-A924-46F7-AAA3-701A353D7A94}">
      <dgm:prSet/>
      <dgm:spPr/>
      <dgm:t>
        <a:bodyPr/>
        <a:lstStyle/>
        <a:p>
          <a:endParaRPr lang="en-US"/>
        </a:p>
      </dgm:t>
    </dgm:pt>
    <dgm:pt modelId="{668AA6EC-2F58-44B6-AB22-48DED8B18AEB}" type="sibTrans" cxnId="{2D44ECA5-A924-46F7-AAA3-701A353D7A94}">
      <dgm:prSet/>
      <dgm:spPr/>
      <dgm:t>
        <a:bodyPr/>
        <a:lstStyle/>
        <a:p>
          <a:endParaRPr lang="en-US"/>
        </a:p>
      </dgm:t>
    </dgm:pt>
    <dgm:pt modelId="{A895E592-E91C-4811-BCE2-1F7690227FBE}">
      <dgm:prSet phldrT="[Text]" custT="1"/>
      <dgm:spPr/>
      <dgm:t>
        <a:bodyPr/>
        <a:lstStyle/>
        <a:p>
          <a:r>
            <a:rPr lang="en-US" sz="1400" dirty="0"/>
            <a:t>CCMU Ops and Sales Support</a:t>
          </a:r>
        </a:p>
      </dgm:t>
    </dgm:pt>
    <dgm:pt modelId="{1A33DDDB-4159-48C7-ACB1-E629F6AC0FEF}" type="parTrans" cxnId="{8536C383-C478-44D6-9862-05A027A5B892}">
      <dgm:prSet/>
      <dgm:spPr/>
      <dgm:t>
        <a:bodyPr/>
        <a:lstStyle/>
        <a:p>
          <a:endParaRPr lang="en-US"/>
        </a:p>
      </dgm:t>
    </dgm:pt>
    <dgm:pt modelId="{E1F4F829-23FA-4ACB-9639-14887CF8DA85}" type="sibTrans" cxnId="{8536C383-C478-44D6-9862-05A027A5B892}">
      <dgm:prSet/>
      <dgm:spPr/>
      <dgm:t>
        <a:bodyPr/>
        <a:lstStyle/>
        <a:p>
          <a:endParaRPr lang="en-US"/>
        </a:p>
      </dgm:t>
    </dgm:pt>
    <dgm:pt modelId="{B2288861-85EB-4A58-940F-A9460DA39D32}">
      <dgm:prSet phldrT="[Text]" custT="1"/>
      <dgm:spPr/>
      <dgm:t>
        <a:bodyPr/>
        <a:lstStyle/>
        <a:p>
          <a:r>
            <a:rPr lang="en-US" sz="1400" dirty="0"/>
            <a:t>ADML Benchmarking</a:t>
          </a:r>
        </a:p>
      </dgm:t>
    </dgm:pt>
    <dgm:pt modelId="{0D3FD16B-C25F-4ADE-8A10-4D99727EF169}" type="parTrans" cxnId="{EA60B8EF-1A06-4D49-9F67-979E43E8A102}">
      <dgm:prSet/>
      <dgm:spPr/>
      <dgm:t>
        <a:bodyPr/>
        <a:lstStyle/>
        <a:p>
          <a:endParaRPr lang="en-US"/>
        </a:p>
      </dgm:t>
    </dgm:pt>
    <dgm:pt modelId="{7390F576-0B10-4927-B837-42757CECB59B}" type="sibTrans" cxnId="{EA60B8EF-1A06-4D49-9F67-979E43E8A102}">
      <dgm:prSet/>
      <dgm:spPr/>
      <dgm:t>
        <a:bodyPr/>
        <a:lstStyle/>
        <a:p>
          <a:endParaRPr lang="en-US"/>
        </a:p>
      </dgm:t>
    </dgm:pt>
    <dgm:pt modelId="{DC15AE6B-E1B4-4C50-BD4E-0F8781F87FD6}">
      <dgm:prSet phldrT="[Text]" custT="1"/>
      <dgm:spPr/>
      <dgm:t>
        <a:bodyPr/>
        <a:lstStyle/>
        <a:p>
          <a:r>
            <a:rPr lang="en-US" sz="1400" dirty="0"/>
            <a:t>Legal</a:t>
          </a:r>
        </a:p>
      </dgm:t>
    </dgm:pt>
    <dgm:pt modelId="{E215B6F2-C27A-4233-B50E-4833F86CAA15}" type="parTrans" cxnId="{B0071F38-5B6C-483C-A3DA-03EE6F49E40F}">
      <dgm:prSet/>
      <dgm:spPr/>
      <dgm:t>
        <a:bodyPr/>
        <a:lstStyle/>
        <a:p>
          <a:endParaRPr lang="en-US"/>
        </a:p>
      </dgm:t>
    </dgm:pt>
    <dgm:pt modelId="{A4A6A4AF-C80F-4C5E-9345-B94E165CB6E1}" type="sibTrans" cxnId="{B0071F38-5B6C-483C-A3DA-03EE6F49E40F}">
      <dgm:prSet/>
      <dgm:spPr/>
      <dgm:t>
        <a:bodyPr/>
        <a:lstStyle/>
        <a:p>
          <a:endParaRPr lang="en-US"/>
        </a:p>
      </dgm:t>
    </dgm:pt>
    <dgm:pt modelId="{D80BC89B-B8A0-4C1B-8693-422C372A9D1B}">
      <dgm:prSet phldrT="[Text]" custT="1"/>
      <dgm:spPr/>
      <dgm:t>
        <a:bodyPr/>
        <a:lstStyle/>
        <a:p>
          <a:r>
            <a:rPr lang="en-US" sz="1400" dirty="0"/>
            <a:t>Network Summary</a:t>
          </a:r>
        </a:p>
      </dgm:t>
    </dgm:pt>
    <dgm:pt modelId="{EE97CE32-300B-4411-926C-178C09A6AB4E}" type="parTrans" cxnId="{9D6B119A-0E5F-4E5E-965E-295F98386D29}">
      <dgm:prSet/>
      <dgm:spPr/>
      <dgm:t>
        <a:bodyPr/>
        <a:lstStyle/>
        <a:p>
          <a:endParaRPr lang="en-US"/>
        </a:p>
      </dgm:t>
    </dgm:pt>
    <dgm:pt modelId="{D29C575F-43BC-4166-A22B-3D4DD5701B78}" type="sibTrans" cxnId="{9D6B119A-0E5F-4E5E-965E-295F98386D29}">
      <dgm:prSet/>
      <dgm:spPr/>
      <dgm:t>
        <a:bodyPr/>
        <a:lstStyle/>
        <a:p>
          <a:endParaRPr lang="en-US"/>
        </a:p>
      </dgm:t>
    </dgm:pt>
    <dgm:pt modelId="{BD37751C-32EF-49AE-9795-5D78ADF9D035}">
      <dgm:prSet phldrT="[Text]" custT="1"/>
      <dgm:spPr/>
      <dgm:t>
        <a:bodyPr/>
        <a:lstStyle/>
        <a:p>
          <a:r>
            <a:rPr lang="en-US" sz="1400" dirty="0"/>
            <a:t>Benefit Set-Up</a:t>
          </a:r>
        </a:p>
      </dgm:t>
    </dgm:pt>
    <dgm:pt modelId="{E36D411B-146D-4F84-A0D6-B71F946E420F}" type="parTrans" cxnId="{DD79B219-A0A0-4D41-B512-53B3A95CD344}">
      <dgm:prSet/>
      <dgm:spPr/>
      <dgm:t>
        <a:bodyPr/>
        <a:lstStyle/>
        <a:p>
          <a:endParaRPr lang="en-US"/>
        </a:p>
      </dgm:t>
    </dgm:pt>
    <dgm:pt modelId="{326CFA10-B174-4279-A25E-3D3C14CF9D39}" type="sibTrans" cxnId="{DD79B219-A0A0-4D41-B512-53B3A95CD344}">
      <dgm:prSet/>
      <dgm:spPr/>
      <dgm:t>
        <a:bodyPr/>
        <a:lstStyle/>
        <a:p>
          <a:endParaRPr lang="en-US"/>
        </a:p>
      </dgm:t>
    </dgm:pt>
    <dgm:pt modelId="{C3C1FD4A-140B-439D-9C22-6B79BA095FFB}">
      <dgm:prSet phldrT="[Text]" custT="1"/>
      <dgm:spPr/>
      <dgm:t>
        <a:bodyPr/>
        <a:lstStyle/>
        <a:p>
          <a:r>
            <a:rPr lang="en-US" sz="1400" dirty="0"/>
            <a:t>Geo Access</a:t>
          </a:r>
        </a:p>
      </dgm:t>
    </dgm:pt>
    <dgm:pt modelId="{AF6E60B0-676D-4BD1-8930-0616CAF6971A}" type="parTrans" cxnId="{5C614491-51A6-4013-B5F4-FCDDD302D5CA}">
      <dgm:prSet/>
      <dgm:spPr/>
      <dgm:t>
        <a:bodyPr/>
        <a:lstStyle/>
        <a:p>
          <a:endParaRPr lang="en-US"/>
        </a:p>
      </dgm:t>
    </dgm:pt>
    <dgm:pt modelId="{F65AEAC7-DB48-4648-8574-6955B9761544}" type="sibTrans" cxnId="{5C614491-51A6-4013-B5F4-FCDDD302D5CA}">
      <dgm:prSet/>
      <dgm:spPr/>
      <dgm:t>
        <a:bodyPr/>
        <a:lstStyle/>
        <a:p>
          <a:endParaRPr lang="en-US"/>
        </a:p>
      </dgm:t>
    </dgm:pt>
    <dgm:pt modelId="{ED5C51F9-D751-42F1-BC80-7E606CB782EF}">
      <dgm:prSet phldrT="[Text]" custT="1"/>
      <dgm:spPr/>
      <dgm:t>
        <a:bodyPr/>
        <a:lstStyle/>
        <a:p>
          <a:r>
            <a:rPr lang="en-US" sz="1400" dirty="0"/>
            <a:t>Disruption Analysis</a:t>
          </a:r>
        </a:p>
      </dgm:t>
    </dgm:pt>
    <dgm:pt modelId="{9184BE78-CAFA-4B4C-B6E9-748ABA16544B}" type="parTrans" cxnId="{BEEE2AFB-873A-4906-B71A-DE08B51C2D19}">
      <dgm:prSet/>
      <dgm:spPr/>
      <dgm:t>
        <a:bodyPr/>
        <a:lstStyle/>
        <a:p>
          <a:endParaRPr lang="en-US"/>
        </a:p>
      </dgm:t>
    </dgm:pt>
    <dgm:pt modelId="{36A3C840-1483-45ED-93B7-610AECA42706}" type="sibTrans" cxnId="{BEEE2AFB-873A-4906-B71A-DE08B51C2D19}">
      <dgm:prSet/>
      <dgm:spPr/>
      <dgm:t>
        <a:bodyPr/>
        <a:lstStyle/>
        <a:p>
          <a:endParaRPr lang="en-US"/>
        </a:p>
      </dgm:t>
    </dgm:pt>
    <dgm:pt modelId="{BC7F3C3D-AB57-43B3-8C7D-997C6DE37411}">
      <dgm:prSet phldrT="[Text]" custT="1"/>
      <dgm:spPr/>
      <dgm:t>
        <a:bodyPr/>
        <a:lstStyle/>
        <a:p>
          <a:r>
            <a:rPr lang="en-US" sz="1400" b="1" dirty="0"/>
            <a:t>WillisMed</a:t>
          </a:r>
        </a:p>
      </dgm:t>
    </dgm:pt>
    <dgm:pt modelId="{4A42E56B-88B4-4A10-8EEE-2E0E2A32AB77}" type="parTrans" cxnId="{0076F87E-9E16-4E6B-B9F4-F755104346A8}">
      <dgm:prSet/>
      <dgm:spPr/>
      <dgm:t>
        <a:bodyPr/>
        <a:lstStyle/>
        <a:p>
          <a:endParaRPr lang="en-US"/>
        </a:p>
      </dgm:t>
    </dgm:pt>
    <dgm:pt modelId="{DE0125FC-9C2A-4E5B-94D1-6AFA3DA5F51E}" type="sibTrans" cxnId="{0076F87E-9E16-4E6B-B9F4-F755104346A8}">
      <dgm:prSet/>
      <dgm:spPr/>
      <dgm:t>
        <a:bodyPr/>
        <a:lstStyle/>
        <a:p>
          <a:endParaRPr lang="en-US"/>
        </a:p>
      </dgm:t>
    </dgm:pt>
    <dgm:pt modelId="{B22B3854-DC91-4EEA-A3A5-CE804F1093E8}">
      <dgm:prSet phldrT="[Text]" custT="1"/>
      <dgm:spPr/>
      <dgm:t>
        <a:bodyPr/>
        <a:lstStyle/>
        <a:p>
          <a:r>
            <a:rPr lang="en-US" sz="1400" dirty="0"/>
            <a:t>Client Setup</a:t>
          </a:r>
        </a:p>
      </dgm:t>
    </dgm:pt>
    <dgm:pt modelId="{52BBF84D-EC23-40AC-9C43-259FF7C51AE9}" type="parTrans" cxnId="{54945FF5-6ACF-4D60-99F0-07A3400429FE}">
      <dgm:prSet/>
      <dgm:spPr/>
      <dgm:t>
        <a:bodyPr/>
        <a:lstStyle/>
        <a:p>
          <a:endParaRPr lang="en-US"/>
        </a:p>
      </dgm:t>
    </dgm:pt>
    <dgm:pt modelId="{247DEF55-9008-445B-968A-785AE8E4F616}" type="sibTrans" cxnId="{54945FF5-6ACF-4D60-99F0-07A3400429FE}">
      <dgm:prSet/>
      <dgm:spPr/>
      <dgm:t>
        <a:bodyPr/>
        <a:lstStyle/>
        <a:p>
          <a:endParaRPr lang="en-US"/>
        </a:p>
      </dgm:t>
    </dgm:pt>
    <dgm:pt modelId="{AE25D091-5F56-4B70-AC28-D4BA8018CC70}" type="pres">
      <dgm:prSet presAssocID="{518B19F8-90B1-409E-BB42-6BEDB1C8BFCC}" presName="layout" presStyleCnt="0">
        <dgm:presLayoutVars>
          <dgm:chMax/>
          <dgm:chPref/>
          <dgm:dir/>
          <dgm:resizeHandles/>
        </dgm:presLayoutVars>
      </dgm:prSet>
      <dgm:spPr/>
    </dgm:pt>
    <dgm:pt modelId="{C7541C41-768B-4B71-9DD5-61C1B420C3D9}" type="pres">
      <dgm:prSet presAssocID="{C4567F79-E8E1-4BEA-B736-1A5968C7845D}" presName="root" presStyleCnt="0">
        <dgm:presLayoutVars>
          <dgm:chMax/>
          <dgm:chPref/>
        </dgm:presLayoutVars>
      </dgm:prSet>
      <dgm:spPr/>
    </dgm:pt>
    <dgm:pt modelId="{09B29DBA-30FA-4FA1-909E-3AE35FB2E081}" type="pres">
      <dgm:prSet presAssocID="{C4567F79-E8E1-4BEA-B736-1A5968C7845D}" presName="rootComposite" presStyleCnt="0">
        <dgm:presLayoutVars/>
      </dgm:prSet>
      <dgm:spPr/>
    </dgm:pt>
    <dgm:pt modelId="{E3814BDF-F207-4DF9-B67A-66A3A612A651}" type="pres">
      <dgm:prSet presAssocID="{C4567F79-E8E1-4BEA-B736-1A5968C7845D}" presName="ParentAccent" presStyleLbl="alignNode1" presStyleIdx="0" presStyleCnt="6"/>
      <dgm:spPr/>
    </dgm:pt>
    <dgm:pt modelId="{731B6446-7E80-47E7-A0F2-F6B6A8A973D1}" type="pres">
      <dgm:prSet presAssocID="{C4567F79-E8E1-4BEA-B736-1A5968C7845D}" presName="ParentSmallAccent" presStyleLbl="fgAcc1" presStyleIdx="0" presStyleCnt="6"/>
      <dgm:spPr/>
    </dgm:pt>
    <dgm:pt modelId="{40460469-8DD2-4C34-A865-6437A03B42A3}" type="pres">
      <dgm:prSet presAssocID="{C4567F79-E8E1-4BEA-B736-1A5968C7845D}" presName="Parent" presStyleLbl="revTx" presStyleIdx="0" presStyleCnt="38">
        <dgm:presLayoutVars>
          <dgm:chMax/>
          <dgm:chPref val="4"/>
          <dgm:bulletEnabled val="1"/>
        </dgm:presLayoutVars>
      </dgm:prSet>
      <dgm:spPr/>
    </dgm:pt>
    <dgm:pt modelId="{2430088D-27EF-424E-89ED-425754CF329E}" type="pres">
      <dgm:prSet presAssocID="{C4567F79-E8E1-4BEA-B736-1A5968C7845D}" presName="childShape" presStyleCnt="0">
        <dgm:presLayoutVars>
          <dgm:chMax val="0"/>
          <dgm:chPref val="0"/>
        </dgm:presLayoutVars>
      </dgm:prSet>
      <dgm:spPr/>
    </dgm:pt>
    <dgm:pt modelId="{262F4351-FE32-45D3-8DF4-2F2B198B12E3}" type="pres">
      <dgm:prSet presAssocID="{4F931680-4CFF-45C8-ACF3-EB80A64272A0}" presName="childComposite" presStyleCnt="0">
        <dgm:presLayoutVars>
          <dgm:chMax val="0"/>
          <dgm:chPref val="0"/>
        </dgm:presLayoutVars>
      </dgm:prSet>
      <dgm:spPr/>
    </dgm:pt>
    <dgm:pt modelId="{D5365D83-DC4D-42B7-A300-695A43541428}" type="pres">
      <dgm:prSet presAssocID="{4F931680-4CFF-45C8-ACF3-EB80A64272A0}" presName="ChildAccent" presStyleLbl="solidFgAcc1" presStyleIdx="0" presStyleCnt="32"/>
      <dgm:spPr/>
    </dgm:pt>
    <dgm:pt modelId="{32A06A73-46D5-4613-B521-79971B752828}" type="pres">
      <dgm:prSet presAssocID="{4F931680-4CFF-45C8-ACF3-EB80A64272A0}" presName="Child" presStyleLbl="revTx" presStyleIdx="1" presStyleCnt="38">
        <dgm:presLayoutVars>
          <dgm:chMax val="0"/>
          <dgm:chPref val="0"/>
          <dgm:bulletEnabled val="1"/>
        </dgm:presLayoutVars>
      </dgm:prSet>
      <dgm:spPr/>
    </dgm:pt>
    <dgm:pt modelId="{F2479DBC-79B2-4725-A174-4544D9C46AF7}" type="pres">
      <dgm:prSet presAssocID="{3BA9B449-8FDA-41EB-B8C7-DAA651717CB8}" presName="childComposite" presStyleCnt="0">
        <dgm:presLayoutVars>
          <dgm:chMax val="0"/>
          <dgm:chPref val="0"/>
        </dgm:presLayoutVars>
      </dgm:prSet>
      <dgm:spPr/>
    </dgm:pt>
    <dgm:pt modelId="{D459BD66-DE55-40E6-AE50-6BC9C4127CA1}" type="pres">
      <dgm:prSet presAssocID="{3BA9B449-8FDA-41EB-B8C7-DAA651717CB8}" presName="ChildAccent" presStyleLbl="solidFgAcc1" presStyleIdx="1" presStyleCnt="32"/>
      <dgm:spPr/>
    </dgm:pt>
    <dgm:pt modelId="{C9B94B41-E5BC-4781-A4FC-BE8D3EA47144}" type="pres">
      <dgm:prSet presAssocID="{3BA9B449-8FDA-41EB-B8C7-DAA651717CB8}" presName="Child" presStyleLbl="revTx" presStyleIdx="2" presStyleCnt="38">
        <dgm:presLayoutVars>
          <dgm:chMax val="0"/>
          <dgm:chPref val="0"/>
          <dgm:bulletEnabled val="1"/>
        </dgm:presLayoutVars>
      </dgm:prSet>
      <dgm:spPr/>
    </dgm:pt>
    <dgm:pt modelId="{CE55958C-63F5-48EF-8825-352B25354ED7}" type="pres">
      <dgm:prSet presAssocID="{D05F8602-20DD-41F1-87DC-E1BB657E48A6}" presName="childComposite" presStyleCnt="0">
        <dgm:presLayoutVars>
          <dgm:chMax val="0"/>
          <dgm:chPref val="0"/>
        </dgm:presLayoutVars>
      </dgm:prSet>
      <dgm:spPr/>
    </dgm:pt>
    <dgm:pt modelId="{8ABF9E97-3E53-4147-95F7-1FBAF8FD68E2}" type="pres">
      <dgm:prSet presAssocID="{D05F8602-20DD-41F1-87DC-E1BB657E48A6}" presName="ChildAccent" presStyleLbl="solidFgAcc1" presStyleIdx="2" presStyleCnt="32"/>
      <dgm:spPr/>
    </dgm:pt>
    <dgm:pt modelId="{65F84F01-9438-49EB-A130-E3F3954CD67C}" type="pres">
      <dgm:prSet presAssocID="{D05F8602-20DD-41F1-87DC-E1BB657E48A6}" presName="Child" presStyleLbl="revTx" presStyleIdx="3" presStyleCnt="38">
        <dgm:presLayoutVars>
          <dgm:chMax val="0"/>
          <dgm:chPref val="0"/>
          <dgm:bulletEnabled val="1"/>
        </dgm:presLayoutVars>
      </dgm:prSet>
      <dgm:spPr/>
    </dgm:pt>
    <dgm:pt modelId="{2E616602-D416-4367-A29B-4B1383485EF9}" type="pres">
      <dgm:prSet presAssocID="{DE969BE8-F037-484B-A41C-5AFFBA250EFC}" presName="childComposite" presStyleCnt="0">
        <dgm:presLayoutVars>
          <dgm:chMax val="0"/>
          <dgm:chPref val="0"/>
        </dgm:presLayoutVars>
      </dgm:prSet>
      <dgm:spPr/>
    </dgm:pt>
    <dgm:pt modelId="{6FE9B08B-69EE-445D-A980-ABD0F895FBAD}" type="pres">
      <dgm:prSet presAssocID="{DE969BE8-F037-484B-A41C-5AFFBA250EFC}" presName="ChildAccent" presStyleLbl="solidFgAcc1" presStyleIdx="3" presStyleCnt="32"/>
      <dgm:spPr/>
    </dgm:pt>
    <dgm:pt modelId="{427196A5-353E-42DB-AD53-5E4D166C9CAB}" type="pres">
      <dgm:prSet presAssocID="{DE969BE8-F037-484B-A41C-5AFFBA250EFC}" presName="Child" presStyleLbl="revTx" presStyleIdx="4" presStyleCnt="38">
        <dgm:presLayoutVars>
          <dgm:chMax val="0"/>
          <dgm:chPref val="0"/>
          <dgm:bulletEnabled val="1"/>
        </dgm:presLayoutVars>
      </dgm:prSet>
      <dgm:spPr/>
    </dgm:pt>
    <dgm:pt modelId="{C4562871-5C76-43EA-A065-1B7F390095CC}" type="pres">
      <dgm:prSet presAssocID="{560D81DD-241B-4B8C-9D2F-1F66534515C8}" presName="childComposite" presStyleCnt="0">
        <dgm:presLayoutVars>
          <dgm:chMax val="0"/>
          <dgm:chPref val="0"/>
        </dgm:presLayoutVars>
      </dgm:prSet>
      <dgm:spPr/>
    </dgm:pt>
    <dgm:pt modelId="{AD3AAFDA-86DB-4EC4-815D-9DCC09B38442}" type="pres">
      <dgm:prSet presAssocID="{560D81DD-241B-4B8C-9D2F-1F66534515C8}" presName="ChildAccent" presStyleLbl="solidFgAcc1" presStyleIdx="4" presStyleCnt="32"/>
      <dgm:spPr/>
    </dgm:pt>
    <dgm:pt modelId="{86AFBE19-5044-4037-85E0-9C72F2DB6698}" type="pres">
      <dgm:prSet presAssocID="{560D81DD-241B-4B8C-9D2F-1F66534515C8}" presName="Child" presStyleLbl="revTx" presStyleIdx="5" presStyleCnt="38">
        <dgm:presLayoutVars>
          <dgm:chMax val="0"/>
          <dgm:chPref val="0"/>
          <dgm:bulletEnabled val="1"/>
        </dgm:presLayoutVars>
      </dgm:prSet>
      <dgm:spPr/>
    </dgm:pt>
    <dgm:pt modelId="{2C434B5D-5483-4BC3-BDF3-D6C890BC68F4}" type="pres">
      <dgm:prSet presAssocID="{04EDA9A8-DDA2-4656-98DF-B3ADCE17F903}" presName="childComposite" presStyleCnt="0">
        <dgm:presLayoutVars>
          <dgm:chMax val="0"/>
          <dgm:chPref val="0"/>
        </dgm:presLayoutVars>
      </dgm:prSet>
      <dgm:spPr/>
    </dgm:pt>
    <dgm:pt modelId="{AC0326C1-AB41-4CE0-9A18-D97BFA98816B}" type="pres">
      <dgm:prSet presAssocID="{04EDA9A8-DDA2-4656-98DF-B3ADCE17F903}" presName="ChildAccent" presStyleLbl="solidFgAcc1" presStyleIdx="5" presStyleCnt="32"/>
      <dgm:spPr/>
    </dgm:pt>
    <dgm:pt modelId="{D858669A-B5C2-465E-A93B-FFC957124B83}" type="pres">
      <dgm:prSet presAssocID="{04EDA9A8-DDA2-4656-98DF-B3ADCE17F903}" presName="Child" presStyleLbl="revTx" presStyleIdx="6" presStyleCnt="38">
        <dgm:presLayoutVars>
          <dgm:chMax val="0"/>
          <dgm:chPref val="0"/>
          <dgm:bulletEnabled val="1"/>
        </dgm:presLayoutVars>
      </dgm:prSet>
      <dgm:spPr/>
    </dgm:pt>
    <dgm:pt modelId="{36EE5D50-58E3-4B58-BF1C-D72E47B858EB}" type="pres">
      <dgm:prSet presAssocID="{5268877E-D36E-44A5-BDC9-F07573D02DD2}" presName="childComposite" presStyleCnt="0">
        <dgm:presLayoutVars>
          <dgm:chMax val="0"/>
          <dgm:chPref val="0"/>
        </dgm:presLayoutVars>
      </dgm:prSet>
      <dgm:spPr/>
    </dgm:pt>
    <dgm:pt modelId="{EEB9B24E-D213-47FD-8B72-70D9F410A38C}" type="pres">
      <dgm:prSet presAssocID="{5268877E-D36E-44A5-BDC9-F07573D02DD2}" presName="ChildAccent" presStyleLbl="solidFgAcc1" presStyleIdx="6" presStyleCnt="32"/>
      <dgm:spPr/>
    </dgm:pt>
    <dgm:pt modelId="{C48C4BC3-C229-4FA3-947E-CBC0562F97A1}" type="pres">
      <dgm:prSet presAssocID="{5268877E-D36E-44A5-BDC9-F07573D02DD2}" presName="Child" presStyleLbl="revTx" presStyleIdx="7" presStyleCnt="38" custLinFactNeighborX="-1122" custLinFactNeighborY="37027">
        <dgm:presLayoutVars>
          <dgm:chMax val="0"/>
          <dgm:chPref val="0"/>
          <dgm:bulletEnabled val="1"/>
        </dgm:presLayoutVars>
      </dgm:prSet>
      <dgm:spPr/>
    </dgm:pt>
    <dgm:pt modelId="{7ED0351D-6BCD-46C9-A251-9AD7BC27367D}" type="pres">
      <dgm:prSet presAssocID="{4F56561F-BB52-45D1-99A3-F163CCC76A5C}" presName="root" presStyleCnt="0">
        <dgm:presLayoutVars>
          <dgm:chMax/>
          <dgm:chPref/>
        </dgm:presLayoutVars>
      </dgm:prSet>
      <dgm:spPr/>
    </dgm:pt>
    <dgm:pt modelId="{D553D84D-D76A-4E1B-AE87-E058B4F254B8}" type="pres">
      <dgm:prSet presAssocID="{4F56561F-BB52-45D1-99A3-F163CCC76A5C}" presName="rootComposite" presStyleCnt="0">
        <dgm:presLayoutVars/>
      </dgm:prSet>
      <dgm:spPr/>
    </dgm:pt>
    <dgm:pt modelId="{88A12D04-2DA1-4BDD-BF8C-6F852A8CA7E0}" type="pres">
      <dgm:prSet presAssocID="{4F56561F-BB52-45D1-99A3-F163CCC76A5C}" presName="ParentAccent" presStyleLbl="alignNode1" presStyleIdx="1" presStyleCnt="6"/>
      <dgm:spPr/>
    </dgm:pt>
    <dgm:pt modelId="{168EE785-FBFF-455B-B3DA-FD2B33A2612E}" type="pres">
      <dgm:prSet presAssocID="{4F56561F-BB52-45D1-99A3-F163CCC76A5C}" presName="ParentSmallAccent" presStyleLbl="fgAcc1" presStyleIdx="1" presStyleCnt="6"/>
      <dgm:spPr/>
    </dgm:pt>
    <dgm:pt modelId="{21B78CF1-D5AD-468C-BC84-EBC7011C0E96}" type="pres">
      <dgm:prSet presAssocID="{4F56561F-BB52-45D1-99A3-F163CCC76A5C}" presName="Parent" presStyleLbl="revTx" presStyleIdx="8" presStyleCnt="38">
        <dgm:presLayoutVars>
          <dgm:chMax/>
          <dgm:chPref val="4"/>
          <dgm:bulletEnabled val="1"/>
        </dgm:presLayoutVars>
      </dgm:prSet>
      <dgm:spPr/>
    </dgm:pt>
    <dgm:pt modelId="{A0C26A82-656C-4C44-A73A-1D3D46808033}" type="pres">
      <dgm:prSet presAssocID="{4F56561F-BB52-45D1-99A3-F163CCC76A5C}" presName="childShape" presStyleCnt="0">
        <dgm:presLayoutVars>
          <dgm:chMax val="0"/>
          <dgm:chPref val="0"/>
        </dgm:presLayoutVars>
      </dgm:prSet>
      <dgm:spPr/>
    </dgm:pt>
    <dgm:pt modelId="{2DFAF7FF-E85F-41EA-8784-A3C0CE16F0D3}" type="pres">
      <dgm:prSet presAssocID="{BBDB1841-BD88-4E2D-85FA-080E272D1DB7}" presName="childComposite" presStyleCnt="0">
        <dgm:presLayoutVars>
          <dgm:chMax val="0"/>
          <dgm:chPref val="0"/>
        </dgm:presLayoutVars>
      </dgm:prSet>
      <dgm:spPr/>
    </dgm:pt>
    <dgm:pt modelId="{F7D843F0-3245-460D-A4ED-13912F00B5A4}" type="pres">
      <dgm:prSet presAssocID="{BBDB1841-BD88-4E2D-85FA-080E272D1DB7}" presName="ChildAccent" presStyleLbl="solidFgAcc1" presStyleIdx="7" presStyleCnt="32"/>
      <dgm:spPr/>
    </dgm:pt>
    <dgm:pt modelId="{23864349-D7FA-4866-A604-0663E1A97866}" type="pres">
      <dgm:prSet presAssocID="{BBDB1841-BD88-4E2D-85FA-080E272D1DB7}" presName="Child" presStyleLbl="revTx" presStyleIdx="9" presStyleCnt="38">
        <dgm:presLayoutVars>
          <dgm:chMax val="0"/>
          <dgm:chPref val="0"/>
          <dgm:bulletEnabled val="1"/>
        </dgm:presLayoutVars>
      </dgm:prSet>
      <dgm:spPr/>
    </dgm:pt>
    <dgm:pt modelId="{03E79625-B641-4463-B33C-E75BD7908ED3}" type="pres">
      <dgm:prSet presAssocID="{61524C63-5379-4217-AA56-30726EC7D713}" presName="childComposite" presStyleCnt="0">
        <dgm:presLayoutVars>
          <dgm:chMax val="0"/>
          <dgm:chPref val="0"/>
        </dgm:presLayoutVars>
      </dgm:prSet>
      <dgm:spPr/>
    </dgm:pt>
    <dgm:pt modelId="{CAFF47A2-AC17-490B-88E8-CC7D55D154BD}" type="pres">
      <dgm:prSet presAssocID="{61524C63-5379-4217-AA56-30726EC7D713}" presName="ChildAccent" presStyleLbl="solidFgAcc1" presStyleIdx="8" presStyleCnt="32"/>
      <dgm:spPr/>
    </dgm:pt>
    <dgm:pt modelId="{526468AA-3055-436B-BEEC-AFFA7AFA728E}" type="pres">
      <dgm:prSet presAssocID="{61524C63-5379-4217-AA56-30726EC7D713}" presName="Child" presStyleLbl="revTx" presStyleIdx="10" presStyleCnt="38" custLinFactNeighborX="204" custLinFactNeighborY="46239">
        <dgm:presLayoutVars>
          <dgm:chMax val="0"/>
          <dgm:chPref val="0"/>
          <dgm:bulletEnabled val="1"/>
        </dgm:presLayoutVars>
      </dgm:prSet>
      <dgm:spPr/>
    </dgm:pt>
    <dgm:pt modelId="{87036EA7-C7D5-472F-9DE7-8A4AA73243C4}" type="pres">
      <dgm:prSet presAssocID="{B2288861-85EB-4A58-940F-A9460DA39D32}" presName="childComposite" presStyleCnt="0">
        <dgm:presLayoutVars>
          <dgm:chMax val="0"/>
          <dgm:chPref val="0"/>
        </dgm:presLayoutVars>
      </dgm:prSet>
      <dgm:spPr/>
    </dgm:pt>
    <dgm:pt modelId="{085830E9-BA3A-4CAD-8123-1BD122A0DDD2}" type="pres">
      <dgm:prSet presAssocID="{B2288861-85EB-4A58-940F-A9460DA39D32}" presName="ChildAccent" presStyleLbl="solidFgAcc1" presStyleIdx="9" presStyleCnt="32" custLinFactY="75680" custLinFactNeighborX="-7103" custLinFactNeighborY="100000"/>
      <dgm:spPr/>
    </dgm:pt>
    <dgm:pt modelId="{1DDF2DEA-6621-4CEB-B3F4-D133104FCB89}" type="pres">
      <dgm:prSet presAssocID="{B2288861-85EB-4A58-940F-A9460DA39D32}" presName="Child" presStyleLbl="revTx" presStyleIdx="11" presStyleCnt="38" custLinFactY="10105" custLinFactNeighborX="1010" custLinFactNeighborY="100000">
        <dgm:presLayoutVars>
          <dgm:chMax val="0"/>
          <dgm:chPref val="0"/>
          <dgm:bulletEnabled val="1"/>
        </dgm:presLayoutVars>
      </dgm:prSet>
      <dgm:spPr/>
    </dgm:pt>
    <dgm:pt modelId="{B321E5E2-6D1B-42AF-B106-2FE8E3FD2D58}" type="pres">
      <dgm:prSet presAssocID="{3128943C-E845-48AF-9FAD-1DE4BE44B48B}" presName="childComposite" presStyleCnt="0">
        <dgm:presLayoutVars>
          <dgm:chMax val="0"/>
          <dgm:chPref val="0"/>
        </dgm:presLayoutVars>
      </dgm:prSet>
      <dgm:spPr/>
    </dgm:pt>
    <dgm:pt modelId="{83E87DAF-BCC6-41F5-A898-44ABB6892EBE}" type="pres">
      <dgm:prSet presAssocID="{3128943C-E845-48AF-9FAD-1DE4BE44B48B}" presName="ChildAccent" presStyleLbl="solidFgAcc1" presStyleIdx="10" presStyleCnt="32" custLinFactY="100000" custLinFactNeighborX="-14206" custLinFactNeighborY="163429"/>
      <dgm:spPr/>
    </dgm:pt>
    <dgm:pt modelId="{B5F470C8-22F7-43B6-A839-D08232DBECE5}" type="pres">
      <dgm:prSet presAssocID="{3128943C-E845-48AF-9FAD-1DE4BE44B48B}" presName="Child" presStyleLbl="revTx" presStyleIdx="12" presStyleCnt="38" custLinFactY="79474" custLinFactNeighborX="1683" custLinFactNeighborY="100000">
        <dgm:presLayoutVars>
          <dgm:chMax val="0"/>
          <dgm:chPref val="0"/>
          <dgm:bulletEnabled val="1"/>
        </dgm:presLayoutVars>
      </dgm:prSet>
      <dgm:spPr/>
    </dgm:pt>
    <dgm:pt modelId="{FA3A4563-2341-4C34-97EA-2C94CAC41C43}" type="pres">
      <dgm:prSet presAssocID="{C3C1FD4A-140B-439D-9C22-6B79BA095FFB}" presName="childComposite" presStyleCnt="0">
        <dgm:presLayoutVars>
          <dgm:chMax val="0"/>
          <dgm:chPref val="0"/>
        </dgm:presLayoutVars>
      </dgm:prSet>
      <dgm:spPr/>
    </dgm:pt>
    <dgm:pt modelId="{E0AA81BB-CD12-4BB5-8C46-420D702298F7}" type="pres">
      <dgm:prSet presAssocID="{C3C1FD4A-140B-439D-9C22-6B79BA095FFB}" presName="ChildAccent" presStyleLbl="solidFgAcc1" presStyleIdx="11" presStyleCnt="32" custLinFactY="225605" custLinFactNeighborX="-14205" custLinFactNeighborY="300000"/>
      <dgm:spPr/>
    </dgm:pt>
    <dgm:pt modelId="{3FFF6FB0-87FF-44A1-AD45-3D203D21AD78}" type="pres">
      <dgm:prSet presAssocID="{C3C1FD4A-140B-439D-9C22-6B79BA095FFB}" presName="Child" presStyleLbl="revTx" presStyleIdx="13" presStyleCnt="38" custLinFactY="100000" custLinFactNeighborX="1011" custLinFactNeighborY="129605">
        <dgm:presLayoutVars>
          <dgm:chMax val="0"/>
          <dgm:chPref val="0"/>
          <dgm:bulletEnabled val="1"/>
        </dgm:presLayoutVars>
      </dgm:prSet>
      <dgm:spPr/>
    </dgm:pt>
    <dgm:pt modelId="{926FD2BB-407D-4033-9B1D-727035F67764}" type="pres">
      <dgm:prSet presAssocID="{ED5C51F9-D751-42F1-BC80-7E606CB782EF}" presName="childComposite" presStyleCnt="0">
        <dgm:presLayoutVars>
          <dgm:chMax val="0"/>
          <dgm:chPref val="0"/>
        </dgm:presLayoutVars>
      </dgm:prSet>
      <dgm:spPr/>
    </dgm:pt>
    <dgm:pt modelId="{2578DD36-A994-4E0C-BBA1-3C5E9FD67903}" type="pres">
      <dgm:prSet presAssocID="{ED5C51F9-D751-42F1-BC80-7E606CB782EF}" presName="ChildAccent" presStyleLbl="solidFgAcc1" presStyleIdx="12" presStyleCnt="32" custLinFactY="270862" custLinFactNeighborX="-21309" custLinFactNeighborY="300000"/>
      <dgm:spPr/>
    </dgm:pt>
    <dgm:pt modelId="{ECC119E2-F238-4981-B0DA-883916FED91E}" type="pres">
      <dgm:prSet presAssocID="{ED5C51F9-D751-42F1-BC80-7E606CB782EF}" presName="Child" presStyleLbl="revTx" presStyleIdx="14" presStyleCnt="38" custLinFactY="100000" custLinFactNeighborX="1821" custLinFactNeighborY="161049">
        <dgm:presLayoutVars>
          <dgm:chMax val="0"/>
          <dgm:chPref val="0"/>
          <dgm:bulletEnabled val="1"/>
        </dgm:presLayoutVars>
      </dgm:prSet>
      <dgm:spPr/>
    </dgm:pt>
    <dgm:pt modelId="{59CCE9E2-C413-4E2C-B06B-C8E345A6F8A4}" type="pres">
      <dgm:prSet presAssocID="{A895E592-E91C-4811-BCE2-1F7690227FBE}" presName="childComposite" presStyleCnt="0">
        <dgm:presLayoutVars>
          <dgm:chMax val="0"/>
          <dgm:chPref val="0"/>
        </dgm:presLayoutVars>
      </dgm:prSet>
      <dgm:spPr/>
    </dgm:pt>
    <dgm:pt modelId="{8C8E272D-94BE-4CA3-AE63-4921AB9FAE07}" type="pres">
      <dgm:prSet presAssocID="{A895E592-E91C-4811-BCE2-1F7690227FBE}" presName="ChildAccent" presStyleLbl="solidFgAcc1" presStyleIdx="13" presStyleCnt="32" custLinFactY="306019" custLinFactNeighborX="-28411" custLinFactNeighborY="400000"/>
      <dgm:spPr/>
    </dgm:pt>
    <dgm:pt modelId="{35CB4B54-CEDD-4993-B1D1-94773C566717}" type="pres">
      <dgm:prSet presAssocID="{A895E592-E91C-4811-BCE2-1F7690227FBE}" presName="Child" presStyleLbl="revTx" presStyleIdx="15" presStyleCnt="38" custLinFactY="131432" custLinFactNeighborX="-111" custLinFactNeighborY="200000">
        <dgm:presLayoutVars>
          <dgm:chMax val="0"/>
          <dgm:chPref val="0"/>
          <dgm:bulletEnabled val="1"/>
        </dgm:presLayoutVars>
      </dgm:prSet>
      <dgm:spPr/>
    </dgm:pt>
    <dgm:pt modelId="{B47E948E-C1F9-4F46-9040-21091B5E387E}" type="pres">
      <dgm:prSet presAssocID="{DEB8DDC0-8CF4-424F-A0E2-8F7BAC0EBAFD}" presName="root" presStyleCnt="0">
        <dgm:presLayoutVars>
          <dgm:chMax/>
          <dgm:chPref/>
        </dgm:presLayoutVars>
      </dgm:prSet>
      <dgm:spPr/>
    </dgm:pt>
    <dgm:pt modelId="{727D92DD-72AF-4C58-BB6F-96FE4AEEF27A}" type="pres">
      <dgm:prSet presAssocID="{DEB8DDC0-8CF4-424F-A0E2-8F7BAC0EBAFD}" presName="rootComposite" presStyleCnt="0">
        <dgm:presLayoutVars/>
      </dgm:prSet>
      <dgm:spPr/>
    </dgm:pt>
    <dgm:pt modelId="{83E3E2B1-25E4-48AC-9F54-4BDCA54DA3AF}" type="pres">
      <dgm:prSet presAssocID="{DEB8DDC0-8CF4-424F-A0E2-8F7BAC0EBAFD}" presName="ParentAccent" presStyleLbl="alignNode1" presStyleIdx="2" presStyleCnt="6"/>
      <dgm:spPr/>
    </dgm:pt>
    <dgm:pt modelId="{E78D5E08-D178-4E54-ACAA-9035F1E3CF87}" type="pres">
      <dgm:prSet presAssocID="{DEB8DDC0-8CF4-424F-A0E2-8F7BAC0EBAFD}" presName="ParentSmallAccent" presStyleLbl="fgAcc1" presStyleIdx="2" presStyleCnt="6"/>
      <dgm:spPr/>
    </dgm:pt>
    <dgm:pt modelId="{49F39F63-5697-4700-B26F-7DFD59FB2A83}" type="pres">
      <dgm:prSet presAssocID="{DEB8DDC0-8CF4-424F-A0E2-8F7BAC0EBAFD}" presName="Parent" presStyleLbl="revTx" presStyleIdx="16" presStyleCnt="38">
        <dgm:presLayoutVars>
          <dgm:chMax/>
          <dgm:chPref val="4"/>
          <dgm:bulletEnabled val="1"/>
        </dgm:presLayoutVars>
      </dgm:prSet>
      <dgm:spPr/>
    </dgm:pt>
    <dgm:pt modelId="{B5EC8596-E32C-4F34-B0E4-ABCD5550884F}" type="pres">
      <dgm:prSet presAssocID="{DEB8DDC0-8CF4-424F-A0E2-8F7BAC0EBAFD}" presName="childShape" presStyleCnt="0">
        <dgm:presLayoutVars>
          <dgm:chMax val="0"/>
          <dgm:chPref val="0"/>
        </dgm:presLayoutVars>
      </dgm:prSet>
      <dgm:spPr/>
    </dgm:pt>
    <dgm:pt modelId="{FDEE1403-C92F-4111-8216-6C274A00E9B8}" type="pres">
      <dgm:prSet presAssocID="{F90B1A83-A64E-4816-A045-06DAC8348871}" presName="childComposite" presStyleCnt="0">
        <dgm:presLayoutVars>
          <dgm:chMax val="0"/>
          <dgm:chPref val="0"/>
        </dgm:presLayoutVars>
      </dgm:prSet>
      <dgm:spPr/>
    </dgm:pt>
    <dgm:pt modelId="{96246F1F-1C08-444E-AC29-8686C24FDEFB}" type="pres">
      <dgm:prSet presAssocID="{F90B1A83-A64E-4816-A045-06DAC8348871}" presName="ChildAccent" presStyleLbl="solidFgAcc1" presStyleIdx="14" presStyleCnt="32"/>
      <dgm:spPr/>
    </dgm:pt>
    <dgm:pt modelId="{90A148FA-68D3-45A7-BBF2-6BBA03E13C0F}" type="pres">
      <dgm:prSet presAssocID="{F90B1A83-A64E-4816-A045-06DAC8348871}" presName="Child" presStyleLbl="revTx" presStyleIdx="17" presStyleCnt="38">
        <dgm:presLayoutVars>
          <dgm:chMax val="0"/>
          <dgm:chPref val="0"/>
          <dgm:bulletEnabled val="1"/>
        </dgm:presLayoutVars>
      </dgm:prSet>
      <dgm:spPr/>
    </dgm:pt>
    <dgm:pt modelId="{B5BA48DE-C3DC-4915-BAB9-F7495AC22C1B}" type="pres">
      <dgm:prSet presAssocID="{1A9883DD-3F2C-4353-80E7-9044ED330618}" presName="childComposite" presStyleCnt="0">
        <dgm:presLayoutVars>
          <dgm:chMax val="0"/>
          <dgm:chPref val="0"/>
        </dgm:presLayoutVars>
      </dgm:prSet>
      <dgm:spPr/>
    </dgm:pt>
    <dgm:pt modelId="{8CDD8AE1-65FD-450A-B76B-14D68DD1E46C}" type="pres">
      <dgm:prSet presAssocID="{1A9883DD-3F2C-4353-80E7-9044ED330618}" presName="ChildAccent" presStyleLbl="solidFgAcc1" presStyleIdx="15" presStyleCnt="32"/>
      <dgm:spPr/>
    </dgm:pt>
    <dgm:pt modelId="{41BED444-ACB6-4FA1-9FAB-7BEC95E0C8A7}" type="pres">
      <dgm:prSet presAssocID="{1A9883DD-3F2C-4353-80E7-9044ED330618}" presName="Child" presStyleLbl="revTx" presStyleIdx="18" presStyleCnt="38">
        <dgm:presLayoutVars>
          <dgm:chMax val="0"/>
          <dgm:chPref val="0"/>
          <dgm:bulletEnabled val="1"/>
        </dgm:presLayoutVars>
      </dgm:prSet>
      <dgm:spPr/>
    </dgm:pt>
    <dgm:pt modelId="{6437C6F4-FD36-46FE-9EA7-B77D80B82DB6}" type="pres">
      <dgm:prSet presAssocID="{8F327AE3-658B-41DB-A3DF-BB5B20E42D1E}" presName="childComposite" presStyleCnt="0">
        <dgm:presLayoutVars>
          <dgm:chMax val="0"/>
          <dgm:chPref val="0"/>
        </dgm:presLayoutVars>
      </dgm:prSet>
      <dgm:spPr/>
    </dgm:pt>
    <dgm:pt modelId="{6FE01F62-5DC5-4A76-BE16-293FF01E2A36}" type="pres">
      <dgm:prSet presAssocID="{8F327AE3-658B-41DB-A3DF-BB5B20E42D1E}" presName="ChildAccent" presStyleLbl="solidFgAcc1" presStyleIdx="16" presStyleCnt="32" custLinFactNeighborX="-5545" custLinFactNeighborY="43005"/>
      <dgm:spPr/>
    </dgm:pt>
    <dgm:pt modelId="{9809C958-8A56-48ED-86BA-227CD3CE7B4E}" type="pres">
      <dgm:prSet presAssocID="{8F327AE3-658B-41DB-A3DF-BB5B20E42D1E}" presName="Child" presStyleLbl="revTx" presStyleIdx="19" presStyleCnt="38" custLinFactNeighborX="-117" custLinFactNeighborY="19960">
        <dgm:presLayoutVars>
          <dgm:chMax val="0"/>
          <dgm:chPref val="0"/>
          <dgm:bulletEnabled val="1"/>
        </dgm:presLayoutVars>
      </dgm:prSet>
      <dgm:spPr/>
    </dgm:pt>
    <dgm:pt modelId="{4266627F-4453-4558-ABC4-D65FDAE47ACA}" type="pres">
      <dgm:prSet presAssocID="{931ABBAB-8FAF-4A89-81CD-A5D2CECCE52F}" presName="childComposite" presStyleCnt="0">
        <dgm:presLayoutVars>
          <dgm:chMax val="0"/>
          <dgm:chPref val="0"/>
        </dgm:presLayoutVars>
      </dgm:prSet>
      <dgm:spPr/>
    </dgm:pt>
    <dgm:pt modelId="{511B101B-7629-4EFB-B96A-20B8BFB1DB2A}" type="pres">
      <dgm:prSet presAssocID="{931ABBAB-8FAF-4A89-81CD-A5D2CECCE52F}" presName="ChildAccent" presStyleLbl="solidFgAcc1" presStyleIdx="17" presStyleCnt="32"/>
      <dgm:spPr/>
    </dgm:pt>
    <dgm:pt modelId="{2CE0A0D7-207C-4A28-8701-0D9AA5AF17AC}" type="pres">
      <dgm:prSet presAssocID="{931ABBAB-8FAF-4A89-81CD-A5D2CECCE52F}" presName="Child" presStyleLbl="revTx" presStyleIdx="20" presStyleCnt="38" custLinFactNeighborX="-117" custLinFactNeighborY="63144">
        <dgm:presLayoutVars>
          <dgm:chMax val="0"/>
          <dgm:chPref val="0"/>
          <dgm:bulletEnabled val="1"/>
        </dgm:presLayoutVars>
      </dgm:prSet>
      <dgm:spPr/>
    </dgm:pt>
    <dgm:pt modelId="{984771A4-01F1-4F7E-9E02-59E315BE961A}" type="pres">
      <dgm:prSet presAssocID="{32B3955E-9A28-4955-BCFB-65F3B9C805D6}" presName="childComposite" presStyleCnt="0">
        <dgm:presLayoutVars>
          <dgm:chMax val="0"/>
          <dgm:chPref val="0"/>
        </dgm:presLayoutVars>
      </dgm:prSet>
      <dgm:spPr/>
    </dgm:pt>
    <dgm:pt modelId="{96648D73-25C4-41CF-BAE6-697090BF3E26}" type="pres">
      <dgm:prSet presAssocID="{32B3955E-9A28-4955-BCFB-65F3B9C805D6}" presName="ChildAccent" presStyleLbl="solidFgAcc1" presStyleIdx="18" presStyleCnt="32" custLinFactY="100000" custLinFactNeighborX="-19751" custLinFactNeighborY="123453"/>
      <dgm:spPr/>
    </dgm:pt>
    <dgm:pt modelId="{75A62F8B-624A-4212-975E-AA523DD97511}" type="pres">
      <dgm:prSet presAssocID="{32B3955E-9A28-4955-BCFB-65F3B9C805D6}" presName="Child" presStyleLbl="revTx" presStyleIdx="21" presStyleCnt="38" custLinFactY="53566" custLinFactNeighborX="-117" custLinFactNeighborY="100000">
        <dgm:presLayoutVars>
          <dgm:chMax val="0"/>
          <dgm:chPref val="0"/>
          <dgm:bulletEnabled val="1"/>
        </dgm:presLayoutVars>
      </dgm:prSet>
      <dgm:spPr/>
    </dgm:pt>
    <dgm:pt modelId="{EC7260A2-0CD5-4939-BD4F-7CCB61A182B7}" type="pres">
      <dgm:prSet presAssocID="{D80BC89B-B8A0-4C1B-8693-422C372A9D1B}" presName="childComposite" presStyleCnt="0">
        <dgm:presLayoutVars>
          <dgm:chMax val="0"/>
          <dgm:chPref val="0"/>
        </dgm:presLayoutVars>
      </dgm:prSet>
      <dgm:spPr/>
    </dgm:pt>
    <dgm:pt modelId="{0CFE5622-9729-46A5-BC7A-9D0D3C42DC03}" type="pres">
      <dgm:prSet presAssocID="{D80BC89B-B8A0-4C1B-8693-422C372A9D1B}" presName="ChildAccent" presStyleLbl="solidFgAcc1" presStyleIdx="19" presStyleCnt="32" custLinFactY="200000" custLinFactNeighborX="-19751" custLinFactNeighborY="215714"/>
      <dgm:spPr/>
    </dgm:pt>
    <dgm:pt modelId="{214F24F1-A446-47EC-ABEA-8C1337DCB646}" type="pres">
      <dgm:prSet presAssocID="{D80BC89B-B8A0-4C1B-8693-422C372A9D1B}" presName="Child" presStyleLbl="revTx" presStyleIdx="22" presStyleCnt="38" custLinFactY="100000" custLinFactNeighborX="444" custLinFactNeighborY="118845">
        <dgm:presLayoutVars>
          <dgm:chMax val="0"/>
          <dgm:chPref val="0"/>
          <dgm:bulletEnabled val="1"/>
        </dgm:presLayoutVars>
      </dgm:prSet>
      <dgm:spPr/>
    </dgm:pt>
    <dgm:pt modelId="{0DD371FB-0BA6-4542-B348-D5D25390990A}" type="pres">
      <dgm:prSet presAssocID="{BD37751C-32EF-49AE-9795-5D78ADF9D035}" presName="childComposite" presStyleCnt="0">
        <dgm:presLayoutVars>
          <dgm:chMax val="0"/>
          <dgm:chPref val="0"/>
        </dgm:presLayoutVars>
      </dgm:prSet>
      <dgm:spPr/>
    </dgm:pt>
    <dgm:pt modelId="{CA8B81F1-A403-488B-ADC6-0EAD914692C6}" type="pres">
      <dgm:prSet presAssocID="{BD37751C-32EF-49AE-9795-5D78ADF9D035}" presName="ChildAccent" presStyleLbl="solidFgAcc1" presStyleIdx="20" presStyleCnt="32" custLinFactY="242970" custLinFactNeighborX="-19751" custLinFactNeighborY="300000"/>
      <dgm:spPr/>
    </dgm:pt>
    <dgm:pt modelId="{401BE9A6-1695-4FA4-B0A7-6D46CBAE1ED4}" type="pres">
      <dgm:prSet presAssocID="{BD37751C-32EF-49AE-9795-5D78ADF9D035}" presName="Child" presStyleLbl="revTx" presStyleIdx="23" presStyleCnt="38" custLinFactY="100000" custLinFactNeighborX="-117" custLinFactNeighborY="132141">
        <dgm:presLayoutVars>
          <dgm:chMax val="0"/>
          <dgm:chPref val="0"/>
          <dgm:bulletEnabled val="1"/>
        </dgm:presLayoutVars>
      </dgm:prSet>
      <dgm:spPr/>
    </dgm:pt>
    <dgm:pt modelId="{8A23CD33-59A9-4290-80A9-312F058FDFE7}" type="pres">
      <dgm:prSet presAssocID="{2AF31390-09A5-48AC-8435-9EC1388B5162}" presName="root" presStyleCnt="0">
        <dgm:presLayoutVars>
          <dgm:chMax/>
          <dgm:chPref/>
        </dgm:presLayoutVars>
      </dgm:prSet>
      <dgm:spPr/>
    </dgm:pt>
    <dgm:pt modelId="{D58A3658-B632-491D-B6CD-14403C6C1AEA}" type="pres">
      <dgm:prSet presAssocID="{2AF31390-09A5-48AC-8435-9EC1388B5162}" presName="rootComposite" presStyleCnt="0">
        <dgm:presLayoutVars/>
      </dgm:prSet>
      <dgm:spPr/>
    </dgm:pt>
    <dgm:pt modelId="{7C85187E-B830-40A4-AEDE-4E9014E4275F}" type="pres">
      <dgm:prSet presAssocID="{2AF31390-09A5-48AC-8435-9EC1388B5162}" presName="ParentAccent" presStyleLbl="alignNode1" presStyleIdx="3" presStyleCnt="6"/>
      <dgm:spPr/>
    </dgm:pt>
    <dgm:pt modelId="{B9A4263F-6FCD-4A28-B030-988516282A8B}" type="pres">
      <dgm:prSet presAssocID="{2AF31390-09A5-48AC-8435-9EC1388B5162}" presName="ParentSmallAccent" presStyleLbl="fgAcc1" presStyleIdx="3" presStyleCnt="6"/>
      <dgm:spPr/>
    </dgm:pt>
    <dgm:pt modelId="{7195230D-9343-4E59-853D-12A7B337A844}" type="pres">
      <dgm:prSet presAssocID="{2AF31390-09A5-48AC-8435-9EC1388B5162}" presName="Parent" presStyleLbl="revTx" presStyleIdx="24" presStyleCnt="38">
        <dgm:presLayoutVars>
          <dgm:chMax/>
          <dgm:chPref val="4"/>
          <dgm:bulletEnabled val="1"/>
        </dgm:presLayoutVars>
      </dgm:prSet>
      <dgm:spPr/>
    </dgm:pt>
    <dgm:pt modelId="{2FB1584B-0854-4F39-B3B0-F4AFDF5B963D}" type="pres">
      <dgm:prSet presAssocID="{2AF31390-09A5-48AC-8435-9EC1388B5162}" presName="childShape" presStyleCnt="0">
        <dgm:presLayoutVars>
          <dgm:chMax val="0"/>
          <dgm:chPref val="0"/>
        </dgm:presLayoutVars>
      </dgm:prSet>
      <dgm:spPr/>
    </dgm:pt>
    <dgm:pt modelId="{0DC9FCDA-FF71-455E-8479-FA76CD196CC1}" type="pres">
      <dgm:prSet presAssocID="{D9C943F3-3831-4D67-B89A-F72BF6282D07}" presName="childComposite" presStyleCnt="0">
        <dgm:presLayoutVars>
          <dgm:chMax val="0"/>
          <dgm:chPref val="0"/>
        </dgm:presLayoutVars>
      </dgm:prSet>
      <dgm:spPr/>
    </dgm:pt>
    <dgm:pt modelId="{AECD0C08-9270-486E-A44C-A4E539583CA3}" type="pres">
      <dgm:prSet presAssocID="{D9C943F3-3831-4D67-B89A-F72BF6282D07}" presName="ChildAccent" presStyleLbl="solidFgAcc1" presStyleIdx="21" presStyleCnt="32"/>
      <dgm:spPr/>
    </dgm:pt>
    <dgm:pt modelId="{8D0CA638-53D3-48A8-B9AF-F83E8EF3C5BC}" type="pres">
      <dgm:prSet presAssocID="{D9C943F3-3831-4D67-B89A-F72BF6282D07}" presName="Child" presStyleLbl="revTx" presStyleIdx="25" presStyleCnt="38" custLinFactNeighborX="3855" custLinFactNeighborY="55526">
        <dgm:presLayoutVars>
          <dgm:chMax val="0"/>
          <dgm:chPref val="0"/>
          <dgm:bulletEnabled val="1"/>
        </dgm:presLayoutVars>
      </dgm:prSet>
      <dgm:spPr/>
    </dgm:pt>
    <dgm:pt modelId="{BECB9C64-A335-4EDB-A055-4EDBA50EAD6D}" type="pres">
      <dgm:prSet presAssocID="{E9EE8D40-4C98-4056-9A48-8B5F9A78AF07}" presName="childComposite" presStyleCnt="0">
        <dgm:presLayoutVars>
          <dgm:chMax val="0"/>
          <dgm:chPref val="0"/>
        </dgm:presLayoutVars>
      </dgm:prSet>
      <dgm:spPr/>
    </dgm:pt>
    <dgm:pt modelId="{9EDBF4CA-3E3F-4843-AC7C-E83E6A14E78C}" type="pres">
      <dgm:prSet presAssocID="{E9EE8D40-4C98-4056-9A48-8B5F9A78AF07}" presName="ChildAccent" presStyleLbl="solidFgAcc1" presStyleIdx="22" presStyleCnt="32" custLinFactY="100000" custLinFactNeighborX="-12722" custLinFactNeighborY="119281"/>
      <dgm:spPr/>
    </dgm:pt>
    <dgm:pt modelId="{F2CBAA15-9BA8-4996-ADEC-6BC2EE30CC95}" type="pres">
      <dgm:prSet presAssocID="{E9EE8D40-4C98-4056-9A48-8B5F9A78AF07}" presName="Child" presStyleLbl="revTx" presStyleIdx="26" presStyleCnt="38" custLinFactY="9582" custLinFactNeighborX="1683" custLinFactNeighborY="100000">
        <dgm:presLayoutVars>
          <dgm:chMax val="0"/>
          <dgm:chPref val="0"/>
          <dgm:bulletEnabled val="1"/>
        </dgm:presLayoutVars>
      </dgm:prSet>
      <dgm:spPr/>
    </dgm:pt>
    <dgm:pt modelId="{F0547C2A-B30A-407E-8223-2CE7CADE92AA}" type="pres">
      <dgm:prSet presAssocID="{ED7525C4-98A4-4282-B9E2-87AAF45E02EC}" presName="childComposite" presStyleCnt="0">
        <dgm:presLayoutVars>
          <dgm:chMax val="0"/>
          <dgm:chPref val="0"/>
        </dgm:presLayoutVars>
      </dgm:prSet>
      <dgm:spPr/>
    </dgm:pt>
    <dgm:pt modelId="{B522DD12-649E-4E98-944A-E6C9654AE25D}" type="pres">
      <dgm:prSet presAssocID="{ED7525C4-98A4-4282-B9E2-87AAF45E02EC}" presName="ChildAccent" presStyleLbl="solidFgAcc1" presStyleIdx="23" presStyleCnt="32" custLinFactY="100000" custLinFactNeighborX="-19825" custLinFactNeighborY="141616"/>
      <dgm:spPr/>
    </dgm:pt>
    <dgm:pt modelId="{9BF37CAE-0CA3-4D23-BB8A-A05ADF83E6E9}" type="pres">
      <dgm:prSet presAssocID="{ED7525C4-98A4-4282-B9E2-87AAF45E02EC}" presName="Child" presStyleLbl="revTx" presStyleIdx="27" presStyleCnt="38" custLinFactY="68145" custLinFactNeighborX="-561" custLinFactNeighborY="100000">
        <dgm:presLayoutVars>
          <dgm:chMax val="0"/>
          <dgm:chPref val="0"/>
          <dgm:bulletEnabled val="1"/>
        </dgm:presLayoutVars>
      </dgm:prSet>
      <dgm:spPr/>
    </dgm:pt>
    <dgm:pt modelId="{742B51FF-1B37-40A9-ABB2-71E6A3A21251}" type="pres">
      <dgm:prSet presAssocID="{0423EB27-09F7-494F-A9A2-F8E064170723}" presName="childComposite" presStyleCnt="0">
        <dgm:presLayoutVars>
          <dgm:chMax val="0"/>
          <dgm:chPref val="0"/>
        </dgm:presLayoutVars>
      </dgm:prSet>
      <dgm:spPr/>
    </dgm:pt>
    <dgm:pt modelId="{0BCAEE21-3BED-41A5-8E12-A15DA7753709}" type="pres">
      <dgm:prSet presAssocID="{0423EB27-09F7-494F-A9A2-F8E064170723}" presName="ChildAccent" presStyleLbl="solidFgAcc1" presStyleIdx="24" presStyleCnt="32" custLinFactY="200000" custLinFactNeighborX="-28413" custLinFactNeighborY="266812"/>
      <dgm:spPr/>
    </dgm:pt>
    <dgm:pt modelId="{ECD4E8DB-9228-4D19-B1C5-9B237021D328}" type="pres">
      <dgm:prSet presAssocID="{0423EB27-09F7-494F-A9A2-F8E064170723}" presName="Child" presStyleLbl="revTx" presStyleIdx="28" presStyleCnt="38" custLinFactY="100000" custLinFactNeighborX="561" custLinFactNeighborY="171779">
        <dgm:presLayoutVars>
          <dgm:chMax val="0"/>
          <dgm:chPref val="0"/>
          <dgm:bulletEnabled val="1"/>
        </dgm:presLayoutVars>
      </dgm:prSet>
      <dgm:spPr/>
    </dgm:pt>
    <dgm:pt modelId="{3FC5508F-C8DE-43EB-9FA6-C3AAC8A02ABB}" type="pres">
      <dgm:prSet presAssocID="{4C5D95B1-E1E9-4C33-9A6F-196C6C4B35A9}" presName="root" presStyleCnt="0">
        <dgm:presLayoutVars>
          <dgm:chMax/>
          <dgm:chPref/>
        </dgm:presLayoutVars>
      </dgm:prSet>
      <dgm:spPr/>
    </dgm:pt>
    <dgm:pt modelId="{8A6B2FC7-5E8E-4D2F-9B17-EF884F0E307A}" type="pres">
      <dgm:prSet presAssocID="{4C5D95B1-E1E9-4C33-9A6F-196C6C4B35A9}" presName="rootComposite" presStyleCnt="0">
        <dgm:presLayoutVars/>
      </dgm:prSet>
      <dgm:spPr/>
    </dgm:pt>
    <dgm:pt modelId="{C19EB53A-E31F-4E42-AD10-927AC9A6261E}" type="pres">
      <dgm:prSet presAssocID="{4C5D95B1-E1E9-4C33-9A6F-196C6C4B35A9}" presName="ParentAccent" presStyleLbl="alignNode1" presStyleIdx="4" presStyleCnt="6"/>
      <dgm:spPr/>
    </dgm:pt>
    <dgm:pt modelId="{9F1D3195-A3B0-4532-A3FF-391D8A730DBB}" type="pres">
      <dgm:prSet presAssocID="{4C5D95B1-E1E9-4C33-9A6F-196C6C4B35A9}" presName="ParentSmallAccent" presStyleLbl="fgAcc1" presStyleIdx="4" presStyleCnt="6"/>
      <dgm:spPr/>
    </dgm:pt>
    <dgm:pt modelId="{94ABB777-5597-48BF-9CBD-FD638365B774}" type="pres">
      <dgm:prSet presAssocID="{4C5D95B1-E1E9-4C33-9A6F-196C6C4B35A9}" presName="Parent" presStyleLbl="revTx" presStyleIdx="29" presStyleCnt="38">
        <dgm:presLayoutVars>
          <dgm:chMax/>
          <dgm:chPref val="4"/>
          <dgm:bulletEnabled val="1"/>
        </dgm:presLayoutVars>
      </dgm:prSet>
      <dgm:spPr/>
    </dgm:pt>
    <dgm:pt modelId="{5E2BD164-460F-43FA-8E7E-BB7153134C1F}" type="pres">
      <dgm:prSet presAssocID="{4C5D95B1-E1E9-4C33-9A6F-196C6C4B35A9}" presName="childShape" presStyleCnt="0">
        <dgm:presLayoutVars>
          <dgm:chMax val="0"/>
          <dgm:chPref val="0"/>
        </dgm:presLayoutVars>
      </dgm:prSet>
      <dgm:spPr/>
    </dgm:pt>
    <dgm:pt modelId="{DAAC56B4-6342-4012-941E-472A5A605358}" type="pres">
      <dgm:prSet presAssocID="{3F351C7A-D0E1-42D4-9012-73833E697C66}" presName="childComposite" presStyleCnt="0">
        <dgm:presLayoutVars>
          <dgm:chMax val="0"/>
          <dgm:chPref val="0"/>
        </dgm:presLayoutVars>
      </dgm:prSet>
      <dgm:spPr/>
    </dgm:pt>
    <dgm:pt modelId="{512888B9-3E0F-4D03-BBB8-2D3280FD3F98}" type="pres">
      <dgm:prSet presAssocID="{3F351C7A-D0E1-42D4-9012-73833E697C66}" presName="ChildAccent" presStyleLbl="solidFgAcc1" presStyleIdx="25" presStyleCnt="32"/>
      <dgm:spPr/>
    </dgm:pt>
    <dgm:pt modelId="{51B2E79D-D306-459D-BE02-6311C6BDF8F9}" type="pres">
      <dgm:prSet presAssocID="{3F351C7A-D0E1-42D4-9012-73833E697C66}" presName="Child" presStyleLbl="revTx" presStyleIdx="30" presStyleCnt="38">
        <dgm:presLayoutVars>
          <dgm:chMax val="0"/>
          <dgm:chPref val="0"/>
          <dgm:bulletEnabled val="1"/>
        </dgm:presLayoutVars>
      </dgm:prSet>
      <dgm:spPr/>
    </dgm:pt>
    <dgm:pt modelId="{2D3F5427-8DFC-440A-BD30-F21EA0A99CF0}" type="pres">
      <dgm:prSet presAssocID="{4691612C-C8D3-4357-84D0-CF4F6922BE7B}" presName="childComposite" presStyleCnt="0">
        <dgm:presLayoutVars>
          <dgm:chMax val="0"/>
          <dgm:chPref val="0"/>
        </dgm:presLayoutVars>
      </dgm:prSet>
      <dgm:spPr/>
    </dgm:pt>
    <dgm:pt modelId="{6E4D8120-FBC5-4606-9EF5-CC8AC0B87572}" type="pres">
      <dgm:prSet presAssocID="{4691612C-C8D3-4357-84D0-CF4F6922BE7B}" presName="ChildAccent" presStyleLbl="solidFgAcc1" presStyleIdx="26" presStyleCnt="32"/>
      <dgm:spPr/>
    </dgm:pt>
    <dgm:pt modelId="{D012BE7B-C9ED-4BB0-8E95-DA27C309FE8F}" type="pres">
      <dgm:prSet presAssocID="{4691612C-C8D3-4357-84D0-CF4F6922BE7B}" presName="Child" presStyleLbl="revTx" presStyleIdx="31" presStyleCnt="38">
        <dgm:presLayoutVars>
          <dgm:chMax val="0"/>
          <dgm:chPref val="0"/>
          <dgm:bulletEnabled val="1"/>
        </dgm:presLayoutVars>
      </dgm:prSet>
      <dgm:spPr/>
    </dgm:pt>
    <dgm:pt modelId="{CEE7C4B4-F278-458E-947D-D9AFBCD77089}" type="pres">
      <dgm:prSet presAssocID="{C11604BF-250D-478D-ABF4-12ACDDA2F5A8}" presName="childComposite" presStyleCnt="0">
        <dgm:presLayoutVars>
          <dgm:chMax val="0"/>
          <dgm:chPref val="0"/>
        </dgm:presLayoutVars>
      </dgm:prSet>
      <dgm:spPr/>
    </dgm:pt>
    <dgm:pt modelId="{69BDF514-3348-4F76-807F-72FEB45BD879}" type="pres">
      <dgm:prSet presAssocID="{C11604BF-250D-478D-ABF4-12ACDDA2F5A8}" presName="ChildAccent" presStyleLbl="solidFgAcc1" presStyleIdx="27" presStyleCnt="32"/>
      <dgm:spPr/>
    </dgm:pt>
    <dgm:pt modelId="{33521766-3C71-4CE1-8263-3B5C76CBBEB0}" type="pres">
      <dgm:prSet presAssocID="{C11604BF-250D-478D-ABF4-12ACDDA2F5A8}" presName="Child" presStyleLbl="revTx" presStyleIdx="32" presStyleCnt="38">
        <dgm:presLayoutVars>
          <dgm:chMax val="0"/>
          <dgm:chPref val="0"/>
          <dgm:bulletEnabled val="1"/>
        </dgm:presLayoutVars>
      </dgm:prSet>
      <dgm:spPr/>
    </dgm:pt>
    <dgm:pt modelId="{1014C573-3F73-4BD2-A025-5696E200BF60}" type="pres">
      <dgm:prSet presAssocID="{BBB488DF-94E5-4614-BB80-EDE0D41DAAEE}" presName="childComposite" presStyleCnt="0">
        <dgm:presLayoutVars>
          <dgm:chMax val="0"/>
          <dgm:chPref val="0"/>
        </dgm:presLayoutVars>
      </dgm:prSet>
      <dgm:spPr/>
    </dgm:pt>
    <dgm:pt modelId="{A72E701C-1BE9-4789-A425-42E0B9A81C3D}" type="pres">
      <dgm:prSet presAssocID="{BBB488DF-94E5-4614-BB80-EDE0D41DAAEE}" presName="ChildAccent" presStyleLbl="solidFgAcc1" presStyleIdx="28" presStyleCnt="32"/>
      <dgm:spPr/>
    </dgm:pt>
    <dgm:pt modelId="{AA5BC991-DCC3-43AF-A88F-5A546B0B8DF0}" type="pres">
      <dgm:prSet presAssocID="{BBB488DF-94E5-4614-BB80-EDE0D41DAAEE}" presName="Child" presStyleLbl="revTx" presStyleIdx="33" presStyleCnt="38">
        <dgm:presLayoutVars>
          <dgm:chMax val="0"/>
          <dgm:chPref val="0"/>
          <dgm:bulletEnabled val="1"/>
        </dgm:presLayoutVars>
      </dgm:prSet>
      <dgm:spPr/>
    </dgm:pt>
    <dgm:pt modelId="{00CA0022-4A59-4299-B2D9-D8EB6675867C}" type="pres">
      <dgm:prSet presAssocID="{CDBC2F14-94D2-4FB7-BC67-15AAFC768928}" presName="childComposite" presStyleCnt="0">
        <dgm:presLayoutVars>
          <dgm:chMax val="0"/>
          <dgm:chPref val="0"/>
        </dgm:presLayoutVars>
      </dgm:prSet>
      <dgm:spPr/>
    </dgm:pt>
    <dgm:pt modelId="{B5116000-9B75-4F86-83D1-EFF49D508BD5}" type="pres">
      <dgm:prSet presAssocID="{CDBC2F14-94D2-4FB7-BC67-15AAFC768928}" presName="ChildAccent" presStyleLbl="solidFgAcc1" presStyleIdx="29" presStyleCnt="32"/>
      <dgm:spPr/>
    </dgm:pt>
    <dgm:pt modelId="{78119AFE-1F90-41D7-B717-3EB4B889C213}" type="pres">
      <dgm:prSet presAssocID="{CDBC2F14-94D2-4FB7-BC67-15AAFC768928}" presName="Child" presStyleLbl="revTx" presStyleIdx="34" presStyleCnt="38">
        <dgm:presLayoutVars>
          <dgm:chMax val="0"/>
          <dgm:chPref val="0"/>
          <dgm:bulletEnabled val="1"/>
        </dgm:presLayoutVars>
      </dgm:prSet>
      <dgm:spPr/>
    </dgm:pt>
    <dgm:pt modelId="{FA2CC23C-C93D-4634-996A-A65689D81F4C}" type="pres">
      <dgm:prSet presAssocID="{DC15AE6B-E1B4-4C50-BD4E-0F8781F87FD6}" presName="childComposite" presStyleCnt="0">
        <dgm:presLayoutVars>
          <dgm:chMax val="0"/>
          <dgm:chPref val="0"/>
        </dgm:presLayoutVars>
      </dgm:prSet>
      <dgm:spPr/>
    </dgm:pt>
    <dgm:pt modelId="{EC616191-0950-4619-8BDF-79C7D91DDAAA}" type="pres">
      <dgm:prSet presAssocID="{DC15AE6B-E1B4-4C50-BD4E-0F8781F87FD6}" presName="ChildAccent" presStyleLbl="solidFgAcc1" presStyleIdx="30" presStyleCnt="32"/>
      <dgm:spPr/>
    </dgm:pt>
    <dgm:pt modelId="{E71E1125-D9B2-4679-ABB8-BB7619638AAF}" type="pres">
      <dgm:prSet presAssocID="{DC15AE6B-E1B4-4C50-BD4E-0F8781F87FD6}" presName="Child" presStyleLbl="revTx" presStyleIdx="35" presStyleCnt="38">
        <dgm:presLayoutVars>
          <dgm:chMax val="0"/>
          <dgm:chPref val="0"/>
          <dgm:bulletEnabled val="1"/>
        </dgm:presLayoutVars>
      </dgm:prSet>
      <dgm:spPr/>
    </dgm:pt>
    <dgm:pt modelId="{9521C4CF-5C00-439A-B648-71ECCE63E571}" type="pres">
      <dgm:prSet presAssocID="{BC7F3C3D-AB57-43B3-8C7D-997C6DE37411}" presName="root" presStyleCnt="0">
        <dgm:presLayoutVars>
          <dgm:chMax/>
          <dgm:chPref/>
        </dgm:presLayoutVars>
      </dgm:prSet>
      <dgm:spPr/>
    </dgm:pt>
    <dgm:pt modelId="{607615FA-04EC-4798-A392-22B4D6861E0E}" type="pres">
      <dgm:prSet presAssocID="{BC7F3C3D-AB57-43B3-8C7D-997C6DE37411}" presName="rootComposite" presStyleCnt="0">
        <dgm:presLayoutVars/>
      </dgm:prSet>
      <dgm:spPr/>
    </dgm:pt>
    <dgm:pt modelId="{FEC1D5E7-E0B8-41AE-AABD-44491062204E}" type="pres">
      <dgm:prSet presAssocID="{BC7F3C3D-AB57-43B3-8C7D-997C6DE37411}" presName="ParentAccent" presStyleLbl="alignNode1" presStyleIdx="5" presStyleCnt="6"/>
      <dgm:spPr/>
    </dgm:pt>
    <dgm:pt modelId="{0093F1D8-3AC6-4515-8425-43CF95DA4B10}" type="pres">
      <dgm:prSet presAssocID="{BC7F3C3D-AB57-43B3-8C7D-997C6DE37411}" presName="ParentSmallAccent" presStyleLbl="fgAcc1" presStyleIdx="5" presStyleCnt="6"/>
      <dgm:spPr/>
    </dgm:pt>
    <dgm:pt modelId="{C1710848-FBB0-4A09-B44A-4E377B9C5C4E}" type="pres">
      <dgm:prSet presAssocID="{BC7F3C3D-AB57-43B3-8C7D-997C6DE37411}" presName="Parent" presStyleLbl="revTx" presStyleIdx="36" presStyleCnt="38">
        <dgm:presLayoutVars>
          <dgm:chMax/>
          <dgm:chPref val="4"/>
          <dgm:bulletEnabled val="1"/>
        </dgm:presLayoutVars>
      </dgm:prSet>
      <dgm:spPr/>
    </dgm:pt>
    <dgm:pt modelId="{8EC2AF7D-1C72-4E77-A7D2-812181F79B9B}" type="pres">
      <dgm:prSet presAssocID="{BC7F3C3D-AB57-43B3-8C7D-997C6DE37411}" presName="childShape" presStyleCnt="0">
        <dgm:presLayoutVars>
          <dgm:chMax val="0"/>
          <dgm:chPref val="0"/>
        </dgm:presLayoutVars>
      </dgm:prSet>
      <dgm:spPr/>
    </dgm:pt>
    <dgm:pt modelId="{DC6B62A7-939E-4BB1-B986-45A8AFBB89C1}" type="pres">
      <dgm:prSet presAssocID="{B22B3854-DC91-4EEA-A3A5-CE804F1093E8}" presName="childComposite" presStyleCnt="0">
        <dgm:presLayoutVars>
          <dgm:chMax val="0"/>
          <dgm:chPref val="0"/>
        </dgm:presLayoutVars>
      </dgm:prSet>
      <dgm:spPr/>
    </dgm:pt>
    <dgm:pt modelId="{24BF5449-C38A-41A3-8EA2-0275765A09F8}" type="pres">
      <dgm:prSet presAssocID="{B22B3854-DC91-4EEA-A3A5-CE804F1093E8}" presName="ChildAccent" presStyleLbl="solidFgAcc1" presStyleIdx="31" presStyleCnt="32"/>
      <dgm:spPr/>
    </dgm:pt>
    <dgm:pt modelId="{FB920A4D-5DF1-4A33-ADC6-581B6AEA9DC3}" type="pres">
      <dgm:prSet presAssocID="{B22B3854-DC91-4EEA-A3A5-CE804F1093E8}" presName="Child" presStyleLbl="revTx" presStyleIdx="37" presStyleCnt="38">
        <dgm:presLayoutVars>
          <dgm:chMax val="0"/>
          <dgm:chPref val="0"/>
          <dgm:bulletEnabled val="1"/>
        </dgm:presLayoutVars>
      </dgm:prSet>
      <dgm:spPr/>
    </dgm:pt>
  </dgm:ptLst>
  <dgm:cxnLst>
    <dgm:cxn modelId="{68203D01-E1CC-4E0A-B837-302885C1CE4B}" srcId="{4C5D95B1-E1E9-4C33-9A6F-196C6C4B35A9}" destId="{BBB488DF-94E5-4614-BB80-EDE0D41DAAEE}" srcOrd="3" destOrd="0" parTransId="{4EE950E3-31BE-4188-BB1A-03E53966ECDA}" sibTransId="{DED4B255-FAF9-4AD4-BF2F-FE48B7E878CC}"/>
    <dgm:cxn modelId="{11416A01-66D4-4C21-A5A8-89BB8A3EE507}" srcId="{C4567F79-E8E1-4BEA-B736-1A5968C7845D}" destId="{04EDA9A8-DDA2-4656-98DF-B3ADCE17F903}" srcOrd="5" destOrd="0" parTransId="{B7C2EB48-D1CA-4374-A1F0-6AFB44501B4E}" sibTransId="{8A08EA01-D2B6-4D68-AAC5-FBB1B1D61CF7}"/>
    <dgm:cxn modelId="{19CDAB07-07C6-44A6-BA9C-59775CB33D7E}" srcId="{4C5D95B1-E1E9-4C33-9A6F-196C6C4B35A9}" destId="{3F351C7A-D0E1-42D4-9012-73833E697C66}" srcOrd="0" destOrd="0" parTransId="{D1C0E02C-01AD-43BE-8E81-33E94F59EA82}" sibTransId="{764B6F1B-6060-4C93-945F-2AE8992CD13B}"/>
    <dgm:cxn modelId="{7DACFD10-32E1-4916-9A41-90FA0FEF768B}" srcId="{DEB8DDC0-8CF4-424F-A0E2-8F7BAC0EBAFD}" destId="{8F327AE3-658B-41DB-A3DF-BB5B20E42D1E}" srcOrd="2" destOrd="0" parTransId="{457A12F4-F61C-416E-873F-D25DB67619A0}" sibTransId="{1E7837E0-371B-42FD-83CB-865110572702}"/>
    <dgm:cxn modelId="{A6D7A414-E877-4340-A28A-9224EC33CC0C}" srcId="{DEB8DDC0-8CF4-424F-A0E2-8F7BAC0EBAFD}" destId="{32B3955E-9A28-4955-BCFB-65F3B9C805D6}" srcOrd="4" destOrd="0" parTransId="{99510252-8FF9-4AA8-BACB-9381AE838EDC}" sibTransId="{EC6404C4-3061-41F3-82BF-BEB76D801F4A}"/>
    <dgm:cxn modelId="{62B33A16-FDCA-4883-AE2B-59B153650F19}" srcId="{4C5D95B1-E1E9-4C33-9A6F-196C6C4B35A9}" destId="{C11604BF-250D-478D-ABF4-12ACDDA2F5A8}" srcOrd="2" destOrd="0" parTransId="{3E945B5F-09A8-46DB-9778-A2F36D73D500}" sibTransId="{07F52B0E-7AC4-4BE8-AB0D-F2BDD1B761DF}"/>
    <dgm:cxn modelId="{7A5C8B17-9BCC-46D9-8550-6C0E76B293EF}" srcId="{2AF31390-09A5-48AC-8435-9EC1388B5162}" destId="{0423EB27-09F7-494F-A9A2-F8E064170723}" srcOrd="3" destOrd="0" parTransId="{EA0085D4-67FB-4CF9-B4C1-F68D74AC377C}" sibTransId="{563C9E57-3EE3-4C88-8233-605DAC5CBC0B}"/>
    <dgm:cxn modelId="{DD79B219-A0A0-4D41-B512-53B3A95CD344}" srcId="{DEB8DDC0-8CF4-424F-A0E2-8F7BAC0EBAFD}" destId="{BD37751C-32EF-49AE-9795-5D78ADF9D035}" srcOrd="6" destOrd="0" parTransId="{E36D411B-146D-4F84-A0D6-B71F946E420F}" sibTransId="{326CFA10-B174-4279-A25E-3D3C14CF9D39}"/>
    <dgm:cxn modelId="{AF65C929-6EC1-4409-BC10-9921817A70E8}" type="presOf" srcId="{931ABBAB-8FAF-4A89-81CD-A5D2CECCE52F}" destId="{2CE0A0D7-207C-4A28-8701-0D9AA5AF17AC}" srcOrd="0" destOrd="0" presId="urn:microsoft.com/office/officeart/2008/layout/SquareAccentList"/>
    <dgm:cxn modelId="{B0071F38-5B6C-483C-A3DA-03EE6F49E40F}" srcId="{4C5D95B1-E1E9-4C33-9A6F-196C6C4B35A9}" destId="{DC15AE6B-E1B4-4C50-BD4E-0F8781F87FD6}" srcOrd="5" destOrd="0" parTransId="{E215B6F2-C27A-4233-B50E-4833F86CAA15}" sibTransId="{A4A6A4AF-C80F-4C5E-9345-B94E165CB6E1}"/>
    <dgm:cxn modelId="{BA8DEB39-6B5E-4157-B063-B03EA320FB93}" type="presOf" srcId="{560D81DD-241B-4B8C-9D2F-1F66534515C8}" destId="{86AFBE19-5044-4037-85E0-9C72F2DB6698}" srcOrd="0" destOrd="0" presId="urn:microsoft.com/office/officeart/2008/layout/SquareAccentList"/>
    <dgm:cxn modelId="{7D1AA53B-FE85-4B8D-AA8E-292A9AFB5EAC}" type="presOf" srcId="{C4567F79-E8E1-4BEA-B736-1A5968C7845D}" destId="{40460469-8DD2-4C34-A865-6437A03B42A3}" srcOrd="0" destOrd="0" presId="urn:microsoft.com/office/officeart/2008/layout/SquareAccentList"/>
    <dgm:cxn modelId="{0BF30D5B-C6B4-4D76-8A2C-931884947687}" type="presOf" srcId="{8F327AE3-658B-41DB-A3DF-BB5B20E42D1E}" destId="{9809C958-8A56-48ED-86BA-227CD3CE7B4E}" srcOrd="0" destOrd="0" presId="urn:microsoft.com/office/officeart/2008/layout/SquareAccentList"/>
    <dgm:cxn modelId="{1275015D-84B1-4679-BF9F-F5F5F0C43CC1}" type="presOf" srcId="{BBB488DF-94E5-4614-BB80-EDE0D41DAAEE}" destId="{AA5BC991-DCC3-43AF-A88F-5A546B0B8DF0}" srcOrd="0" destOrd="0" presId="urn:microsoft.com/office/officeart/2008/layout/SquareAccentList"/>
    <dgm:cxn modelId="{70C1D141-1330-49E7-BAAC-C9F0778E8BC9}" type="presOf" srcId="{B22B3854-DC91-4EEA-A3A5-CE804F1093E8}" destId="{FB920A4D-5DF1-4A33-ADC6-581B6AEA9DC3}" srcOrd="0" destOrd="0" presId="urn:microsoft.com/office/officeart/2008/layout/SquareAccentList"/>
    <dgm:cxn modelId="{717DB362-1CE1-4282-A0DD-7962F1510CC7}" srcId="{518B19F8-90B1-409E-BB42-6BEDB1C8BFCC}" destId="{C4567F79-E8E1-4BEA-B736-1A5968C7845D}" srcOrd="0" destOrd="0" parTransId="{2B46F448-5806-42C8-8277-50F6BBFBDB23}" sibTransId="{BFFCC130-6FEF-4D59-AE49-8261B5455E1B}"/>
    <dgm:cxn modelId="{1446D464-569C-4C3F-9865-8671B0F28278}" type="presOf" srcId="{4691612C-C8D3-4357-84D0-CF4F6922BE7B}" destId="{D012BE7B-C9ED-4BB0-8E95-DA27C309FE8F}" srcOrd="0" destOrd="0" presId="urn:microsoft.com/office/officeart/2008/layout/SquareAccentList"/>
    <dgm:cxn modelId="{7AE56C45-9F80-47EA-8E16-958375E214D9}" type="presOf" srcId="{ED7525C4-98A4-4282-B9E2-87AAF45E02EC}" destId="{9BF37CAE-0CA3-4D23-BB8A-A05ADF83E6E9}" srcOrd="0" destOrd="0" presId="urn:microsoft.com/office/officeart/2008/layout/SquareAccentList"/>
    <dgm:cxn modelId="{9FA9B549-CEBA-4852-BFFB-72B411393648}" type="presOf" srcId="{ED5C51F9-D751-42F1-BC80-7E606CB782EF}" destId="{ECC119E2-F238-4981-B0DA-883916FED91E}" srcOrd="0" destOrd="0" presId="urn:microsoft.com/office/officeart/2008/layout/SquareAccentList"/>
    <dgm:cxn modelId="{9EDA3E6A-193A-47AE-BC81-BF7F935258F1}" type="presOf" srcId="{DE969BE8-F037-484B-A41C-5AFFBA250EFC}" destId="{427196A5-353E-42DB-AD53-5E4D166C9CAB}" srcOrd="0" destOrd="0" presId="urn:microsoft.com/office/officeart/2008/layout/SquareAccentList"/>
    <dgm:cxn modelId="{2F5A1F6C-415A-425B-8E8E-FC2B00DB7F4C}" type="presOf" srcId="{04EDA9A8-DDA2-4656-98DF-B3ADCE17F903}" destId="{D858669A-B5C2-465E-A93B-FFC957124B83}" srcOrd="0" destOrd="0" presId="urn:microsoft.com/office/officeart/2008/layout/SquareAccentList"/>
    <dgm:cxn modelId="{B7C96A50-A37A-4B49-8923-C0570B123579}" type="presOf" srcId="{3F351C7A-D0E1-42D4-9012-73833E697C66}" destId="{51B2E79D-D306-459D-BE02-6311C6BDF8F9}" srcOrd="0" destOrd="0" presId="urn:microsoft.com/office/officeart/2008/layout/SquareAccentList"/>
    <dgm:cxn modelId="{D6156051-ACD9-41B4-A7B1-332DFDD9A042}" type="presOf" srcId="{3128943C-E845-48AF-9FAD-1DE4BE44B48B}" destId="{B5F470C8-22F7-43B6-A839-D08232DBECE5}" srcOrd="0" destOrd="0" presId="urn:microsoft.com/office/officeart/2008/layout/SquareAccentList"/>
    <dgm:cxn modelId="{DDDFFD52-0525-4189-8AB1-4071D9C7B0CD}" srcId="{518B19F8-90B1-409E-BB42-6BEDB1C8BFCC}" destId="{DEB8DDC0-8CF4-424F-A0E2-8F7BAC0EBAFD}" srcOrd="2" destOrd="0" parTransId="{E5C5E73F-6368-4B54-A48C-F7BF6E1F734D}" sibTransId="{499A5AEF-D120-4A05-AEB3-304AB4285CC0}"/>
    <dgm:cxn modelId="{3A5B4173-37AD-4C20-930A-3B0F7DB57867}" srcId="{C4567F79-E8E1-4BEA-B736-1A5968C7845D}" destId="{560D81DD-241B-4B8C-9D2F-1F66534515C8}" srcOrd="4" destOrd="0" parTransId="{862455C2-A395-406F-BD8B-AC7E65F9824C}" sibTransId="{F6ABB387-7AAF-42FB-BCBC-1EAAFDE4DE2F}"/>
    <dgm:cxn modelId="{68159C53-91CE-4738-A6BE-B731F230B24D}" type="presOf" srcId="{61524C63-5379-4217-AA56-30726EC7D713}" destId="{526468AA-3055-436B-BEEC-AFFA7AFA728E}" srcOrd="0" destOrd="0" presId="urn:microsoft.com/office/officeart/2008/layout/SquareAccentList"/>
    <dgm:cxn modelId="{D7E2C173-498F-4FFE-B418-6DD859F01D13}" srcId="{C4567F79-E8E1-4BEA-B736-1A5968C7845D}" destId="{D05F8602-20DD-41F1-87DC-E1BB657E48A6}" srcOrd="2" destOrd="0" parTransId="{2BAEA1FF-E388-4E54-B242-16F23F11C25F}" sibTransId="{180279E3-33A8-458A-90E5-473BFAE6433F}"/>
    <dgm:cxn modelId="{7510EF54-2F39-4C4F-8F73-5767F3E23CD5}" srcId="{DEB8DDC0-8CF4-424F-A0E2-8F7BAC0EBAFD}" destId="{F90B1A83-A64E-4816-A045-06DAC8348871}" srcOrd="0" destOrd="0" parTransId="{78305F19-7923-49AA-8C31-E919B20B7497}" sibTransId="{4765057F-FA04-4741-B459-17DAACE229C9}"/>
    <dgm:cxn modelId="{CEA85176-21F7-481C-BF3B-762B533CB471}" type="presOf" srcId="{D80BC89B-B8A0-4C1B-8693-422C372A9D1B}" destId="{214F24F1-A446-47EC-ABEA-8C1337DCB646}" srcOrd="0" destOrd="0" presId="urn:microsoft.com/office/officeart/2008/layout/SquareAccentList"/>
    <dgm:cxn modelId="{79D2ED56-0B79-4FD7-AB26-07A409B290A1}" type="presOf" srcId="{DEB8DDC0-8CF4-424F-A0E2-8F7BAC0EBAFD}" destId="{49F39F63-5697-4700-B26F-7DFD59FB2A83}" srcOrd="0" destOrd="0" presId="urn:microsoft.com/office/officeart/2008/layout/SquareAccentList"/>
    <dgm:cxn modelId="{722B5C79-C15F-4705-945F-B1132C6CED18}" srcId="{518B19F8-90B1-409E-BB42-6BEDB1C8BFCC}" destId="{2AF31390-09A5-48AC-8435-9EC1388B5162}" srcOrd="3" destOrd="0" parTransId="{8F3A23FD-E326-4F69-963B-9A3EAC52E42D}" sibTransId="{5F9A8694-73B8-46B8-9D7C-E42742F65C78}"/>
    <dgm:cxn modelId="{90D06959-AA68-4341-B309-6359BE8BF57D}" srcId="{4C5D95B1-E1E9-4C33-9A6F-196C6C4B35A9}" destId="{4691612C-C8D3-4357-84D0-CF4F6922BE7B}" srcOrd="1" destOrd="0" parTransId="{A8ECEBB3-3244-40F1-9929-01F91C829BC4}" sibTransId="{527D9E9C-3C6D-4B3B-892C-C349B487CA1E}"/>
    <dgm:cxn modelId="{0B8EA17E-F3C4-451D-A07C-41FCAE3D8DB9}" type="presOf" srcId="{C3C1FD4A-140B-439D-9C22-6B79BA095FFB}" destId="{3FFF6FB0-87FF-44A1-AD45-3D203D21AD78}" srcOrd="0" destOrd="0" presId="urn:microsoft.com/office/officeart/2008/layout/SquareAccentList"/>
    <dgm:cxn modelId="{0076F87E-9E16-4E6B-B9F4-F755104346A8}" srcId="{518B19F8-90B1-409E-BB42-6BEDB1C8BFCC}" destId="{BC7F3C3D-AB57-43B3-8C7D-997C6DE37411}" srcOrd="5" destOrd="0" parTransId="{4A42E56B-88B4-4A10-8EEE-2E0E2A32AB77}" sibTransId="{DE0125FC-9C2A-4E5B-94D1-6AFA3DA5F51E}"/>
    <dgm:cxn modelId="{8536C383-C478-44D6-9862-05A027A5B892}" srcId="{4F56561F-BB52-45D1-99A3-F163CCC76A5C}" destId="{A895E592-E91C-4811-BCE2-1F7690227FBE}" srcOrd="6" destOrd="0" parTransId="{1A33DDDB-4159-48C7-ACB1-E629F6AC0FEF}" sibTransId="{E1F4F829-23FA-4ACB-9639-14887CF8DA85}"/>
    <dgm:cxn modelId="{F3EE0984-8551-41EB-8D95-2CDA1D75BE3C}" srcId="{4F56561F-BB52-45D1-99A3-F163CCC76A5C}" destId="{3128943C-E845-48AF-9FAD-1DE4BE44B48B}" srcOrd="3" destOrd="0" parTransId="{B4467AC0-FFA9-433A-95C4-8A359D18005F}" sibTransId="{9A80C9C0-C1B5-4C2D-9DD3-50EE2283EAA3}"/>
    <dgm:cxn modelId="{29A8F986-DCDB-4146-B467-4F1F6C9CFCC4}" type="presOf" srcId="{518B19F8-90B1-409E-BB42-6BEDB1C8BFCC}" destId="{AE25D091-5F56-4B70-AC28-D4BA8018CC70}" srcOrd="0" destOrd="0" presId="urn:microsoft.com/office/officeart/2008/layout/SquareAccentList"/>
    <dgm:cxn modelId="{89EF588C-0A4C-442D-B3C3-F09D2CC997AD}" type="presOf" srcId="{32B3955E-9A28-4955-BCFB-65F3B9C805D6}" destId="{75A62F8B-624A-4212-975E-AA523DD97511}" srcOrd="0" destOrd="0" presId="urn:microsoft.com/office/officeart/2008/layout/SquareAccentList"/>
    <dgm:cxn modelId="{522D268E-AA45-42B6-B1AD-3F6886192760}" type="presOf" srcId="{2AF31390-09A5-48AC-8435-9EC1388B5162}" destId="{7195230D-9343-4E59-853D-12A7B337A844}" srcOrd="0" destOrd="0" presId="urn:microsoft.com/office/officeart/2008/layout/SquareAccentList"/>
    <dgm:cxn modelId="{DBF6F38E-DE11-494D-9882-4A9F2A6E33CC}" srcId="{518B19F8-90B1-409E-BB42-6BEDB1C8BFCC}" destId="{4C5D95B1-E1E9-4C33-9A6F-196C6C4B35A9}" srcOrd="4" destOrd="0" parTransId="{D60525D3-8F57-4A66-9B91-E9A1991D10F1}" sibTransId="{EB575605-4141-43AD-A421-D67E18B82D9E}"/>
    <dgm:cxn modelId="{E73C488F-64C2-4FA6-A099-9E26AFA69A5A}" srcId="{518B19F8-90B1-409E-BB42-6BEDB1C8BFCC}" destId="{4F56561F-BB52-45D1-99A3-F163CCC76A5C}" srcOrd="1" destOrd="0" parTransId="{AAF8C8C7-776C-473D-AF14-BD6C4E954115}" sibTransId="{ADDAF77D-B938-4EDD-8938-FA72B6AC49B9}"/>
    <dgm:cxn modelId="{EF3BAB8F-F1EE-4BF9-8415-A2A20828A64F}" type="presOf" srcId="{1A9883DD-3F2C-4353-80E7-9044ED330618}" destId="{41BED444-ACB6-4FA1-9FAB-7BEC95E0C8A7}" srcOrd="0" destOrd="0" presId="urn:microsoft.com/office/officeart/2008/layout/SquareAccentList"/>
    <dgm:cxn modelId="{5C614491-51A6-4013-B5F4-FCDDD302D5CA}" srcId="{4F56561F-BB52-45D1-99A3-F163CCC76A5C}" destId="{C3C1FD4A-140B-439D-9C22-6B79BA095FFB}" srcOrd="4" destOrd="0" parTransId="{AF6E60B0-676D-4BD1-8930-0616CAF6971A}" sibTransId="{F65AEAC7-DB48-4648-8574-6955B9761544}"/>
    <dgm:cxn modelId="{D2AF0B98-6F66-40BB-B2B3-F3C6EF21ABB9}" type="presOf" srcId="{4F931680-4CFF-45C8-ACF3-EB80A64272A0}" destId="{32A06A73-46D5-4613-B521-79971B752828}" srcOrd="0" destOrd="0" presId="urn:microsoft.com/office/officeart/2008/layout/SquareAccentList"/>
    <dgm:cxn modelId="{9D6B119A-0E5F-4E5E-965E-295F98386D29}" srcId="{DEB8DDC0-8CF4-424F-A0E2-8F7BAC0EBAFD}" destId="{D80BC89B-B8A0-4C1B-8693-422C372A9D1B}" srcOrd="5" destOrd="0" parTransId="{EE97CE32-300B-4411-926C-178C09A6AB4E}" sibTransId="{D29C575F-43BC-4166-A22B-3D4DD5701B78}"/>
    <dgm:cxn modelId="{6721269A-6273-4739-9975-98986DFCB698}" type="presOf" srcId="{DC15AE6B-E1B4-4C50-BD4E-0F8781F87FD6}" destId="{E71E1125-D9B2-4679-ABB8-BB7619638AAF}" srcOrd="0" destOrd="0" presId="urn:microsoft.com/office/officeart/2008/layout/SquareAccentList"/>
    <dgm:cxn modelId="{EDF50EA0-59EF-4EAD-A0DB-8D09613A386A}" type="presOf" srcId="{A895E592-E91C-4811-BCE2-1F7690227FBE}" destId="{35CB4B54-CEDD-4993-B1D1-94773C566717}" srcOrd="0" destOrd="0" presId="urn:microsoft.com/office/officeart/2008/layout/SquareAccentList"/>
    <dgm:cxn modelId="{0B6812A0-5159-4E9C-AF6C-18177CC71240}" type="presOf" srcId="{E9EE8D40-4C98-4056-9A48-8B5F9A78AF07}" destId="{F2CBAA15-9BA8-4996-ADEC-6BC2EE30CC95}" srcOrd="0" destOrd="0" presId="urn:microsoft.com/office/officeart/2008/layout/SquareAccentList"/>
    <dgm:cxn modelId="{2D44ECA5-A924-46F7-AAA3-701A353D7A94}" srcId="{C4567F79-E8E1-4BEA-B736-1A5968C7845D}" destId="{5268877E-D36E-44A5-BDC9-F07573D02DD2}" srcOrd="6" destOrd="0" parTransId="{B3AF7DD7-6711-4AC2-92C8-42D632048ECD}" sibTransId="{668AA6EC-2F58-44B6-AB22-48DED8B18AEB}"/>
    <dgm:cxn modelId="{F5891EA7-242D-49FF-9EE3-AFFAEFD7E31A}" srcId="{2AF31390-09A5-48AC-8435-9EC1388B5162}" destId="{E9EE8D40-4C98-4056-9A48-8B5F9A78AF07}" srcOrd="1" destOrd="0" parTransId="{A3FF3329-7A64-4A83-8DF1-8D48A7F8E352}" sibTransId="{513B8D8C-425A-4334-886F-ED2C7F9A87A9}"/>
    <dgm:cxn modelId="{7CF678A8-557E-429E-92AB-18CCF8E3EE29}" srcId="{2AF31390-09A5-48AC-8435-9EC1388B5162}" destId="{D9C943F3-3831-4D67-B89A-F72BF6282D07}" srcOrd="0" destOrd="0" parTransId="{4220359A-BE4E-4217-A2D8-C356A57AC2BA}" sibTransId="{BA40E5A4-28C0-4E1D-8947-1F93A78E10D4}"/>
    <dgm:cxn modelId="{05848EAD-D2D6-4341-8ACA-B1C341D00161}" srcId="{DEB8DDC0-8CF4-424F-A0E2-8F7BAC0EBAFD}" destId="{1A9883DD-3F2C-4353-80E7-9044ED330618}" srcOrd="1" destOrd="0" parTransId="{FB779813-567B-4F00-93E7-35D1B5D9B0F9}" sibTransId="{7DAFF038-58AD-4B9F-9468-F16D4D76943A}"/>
    <dgm:cxn modelId="{69814DB5-6223-451A-9688-6EB07FD6896E}" srcId="{4F56561F-BB52-45D1-99A3-F163CCC76A5C}" destId="{61524C63-5379-4217-AA56-30726EC7D713}" srcOrd="1" destOrd="0" parTransId="{1665234D-CB82-462A-865A-941F31CC6FA8}" sibTransId="{27A33EB7-9ABB-4645-A097-071AF93C95CB}"/>
    <dgm:cxn modelId="{6292E9B5-1A21-4134-B5C7-CB1250EF4135}" type="presOf" srcId="{4C5D95B1-E1E9-4C33-9A6F-196C6C4B35A9}" destId="{94ABB777-5597-48BF-9CBD-FD638365B774}" srcOrd="0" destOrd="0" presId="urn:microsoft.com/office/officeart/2008/layout/SquareAccentList"/>
    <dgm:cxn modelId="{62A59FB8-8B6C-4DDC-A90B-C1D72A061F30}" type="presOf" srcId="{5268877E-D36E-44A5-BDC9-F07573D02DD2}" destId="{C48C4BC3-C229-4FA3-947E-CBC0562F97A1}" srcOrd="0" destOrd="0" presId="urn:microsoft.com/office/officeart/2008/layout/SquareAccentList"/>
    <dgm:cxn modelId="{350DCABA-A6A2-4C2B-A4BF-62CF645F28DC}" type="presOf" srcId="{D9C943F3-3831-4D67-B89A-F72BF6282D07}" destId="{8D0CA638-53D3-48A8-B9AF-F83E8EF3C5BC}" srcOrd="0" destOrd="0" presId="urn:microsoft.com/office/officeart/2008/layout/SquareAccentList"/>
    <dgm:cxn modelId="{202B8CBB-2A17-4CD2-ACCB-61063768DEFE}" type="presOf" srcId="{F90B1A83-A64E-4816-A045-06DAC8348871}" destId="{90A148FA-68D3-45A7-BBF2-6BBA03E13C0F}" srcOrd="0" destOrd="0" presId="urn:microsoft.com/office/officeart/2008/layout/SquareAccentList"/>
    <dgm:cxn modelId="{266529C2-9A86-4D2C-A791-B7AD19CD1C46}" type="presOf" srcId="{4F56561F-BB52-45D1-99A3-F163CCC76A5C}" destId="{21B78CF1-D5AD-468C-BC84-EBC7011C0E96}" srcOrd="0" destOrd="0" presId="urn:microsoft.com/office/officeart/2008/layout/SquareAccentList"/>
    <dgm:cxn modelId="{D83831C2-91B5-4DE8-A73F-D97FA301D8A2}" srcId="{C4567F79-E8E1-4BEA-B736-1A5968C7845D}" destId="{3BA9B449-8FDA-41EB-B8C7-DAA651717CB8}" srcOrd="1" destOrd="0" parTransId="{154CDC84-72D3-4E3D-9397-98C825FA92A1}" sibTransId="{35CB954A-5197-4416-84A1-571773CB4452}"/>
    <dgm:cxn modelId="{82111EC3-5E78-423E-BCAD-5003F8713770}" srcId="{C4567F79-E8E1-4BEA-B736-1A5968C7845D}" destId="{4F931680-4CFF-45C8-ACF3-EB80A64272A0}" srcOrd="0" destOrd="0" parTransId="{BD85D274-A670-4B99-9FB0-BA10DD1A5CF2}" sibTransId="{D12A309B-7061-432C-B436-0F2F5814A53B}"/>
    <dgm:cxn modelId="{9650FCC3-0C33-4613-9F1E-3A834747BE1E}" srcId="{4F56561F-BB52-45D1-99A3-F163CCC76A5C}" destId="{BBDB1841-BD88-4E2D-85FA-080E272D1DB7}" srcOrd="0" destOrd="0" parTransId="{DF2E907F-5B95-479E-A33B-416ADED8217F}" sibTransId="{E2B0B009-08A8-4F13-AC27-1494EC45C9AB}"/>
    <dgm:cxn modelId="{681B48CA-E53D-47AF-9548-1DCB303A65C2}" type="presOf" srcId="{B2288861-85EB-4A58-940F-A9460DA39D32}" destId="{1DDF2DEA-6621-4CEB-B3F4-D133104FCB89}" srcOrd="0" destOrd="0" presId="urn:microsoft.com/office/officeart/2008/layout/SquareAccentList"/>
    <dgm:cxn modelId="{F5F6FCCB-459B-4834-882B-1DA8079A7218}" srcId="{C4567F79-E8E1-4BEA-B736-1A5968C7845D}" destId="{DE969BE8-F037-484B-A41C-5AFFBA250EFC}" srcOrd="3" destOrd="0" parTransId="{E0380484-435B-4AFA-A473-31314442184D}" sibTransId="{484DA7F4-8177-46EB-8842-D9F85CDAD3A2}"/>
    <dgm:cxn modelId="{95C148D4-DC5F-480F-BDA2-C4EE5B3151A7}" type="presOf" srcId="{3BA9B449-8FDA-41EB-B8C7-DAA651717CB8}" destId="{C9B94B41-E5BC-4781-A4FC-BE8D3EA47144}" srcOrd="0" destOrd="0" presId="urn:microsoft.com/office/officeart/2008/layout/SquareAccentList"/>
    <dgm:cxn modelId="{E9738FD8-1C22-4B2A-BB2D-7E83A7FF0FAE}" type="presOf" srcId="{CDBC2F14-94D2-4FB7-BC67-15AAFC768928}" destId="{78119AFE-1F90-41D7-B717-3EB4B889C213}" srcOrd="0" destOrd="0" presId="urn:microsoft.com/office/officeart/2008/layout/SquareAccentList"/>
    <dgm:cxn modelId="{DCAC3FD9-ACCD-496E-92E4-127BA22D8EFF}" type="presOf" srcId="{BC7F3C3D-AB57-43B3-8C7D-997C6DE37411}" destId="{C1710848-FBB0-4A09-B44A-4E377B9C5C4E}" srcOrd="0" destOrd="0" presId="urn:microsoft.com/office/officeart/2008/layout/SquareAccentList"/>
    <dgm:cxn modelId="{E28F2DE2-587D-4FED-A1B6-C1FF16D10458}" type="presOf" srcId="{C11604BF-250D-478D-ABF4-12ACDDA2F5A8}" destId="{33521766-3C71-4CE1-8263-3B5C76CBBEB0}" srcOrd="0" destOrd="0" presId="urn:microsoft.com/office/officeart/2008/layout/SquareAccentList"/>
    <dgm:cxn modelId="{0A7600E3-7483-43FC-B862-81B201CBAC86}" srcId="{DEB8DDC0-8CF4-424F-A0E2-8F7BAC0EBAFD}" destId="{931ABBAB-8FAF-4A89-81CD-A5D2CECCE52F}" srcOrd="3" destOrd="0" parTransId="{0F7E1BC2-354F-4C01-A5B5-1EE830274989}" sibTransId="{1BC7E31B-8519-4CED-B82E-FAA2F5340082}"/>
    <dgm:cxn modelId="{62B1B1E7-7517-4214-8209-A13C7FED3C00}" srcId="{2AF31390-09A5-48AC-8435-9EC1388B5162}" destId="{ED7525C4-98A4-4282-B9E2-87AAF45E02EC}" srcOrd="2" destOrd="0" parTransId="{2E880961-BF13-4CC0-BB4D-7FDBFE344A20}" sibTransId="{CFA4EB02-C432-48DB-BCA0-4CFCA054CDB4}"/>
    <dgm:cxn modelId="{540A64E9-4205-4766-9691-6189720D38CF}" type="presOf" srcId="{BBDB1841-BD88-4E2D-85FA-080E272D1DB7}" destId="{23864349-D7FA-4866-A604-0663E1A97866}" srcOrd="0" destOrd="0" presId="urn:microsoft.com/office/officeart/2008/layout/SquareAccentList"/>
    <dgm:cxn modelId="{EA60B8EF-1A06-4D49-9F67-979E43E8A102}" srcId="{4F56561F-BB52-45D1-99A3-F163CCC76A5C}" destId="{B2288861-85EB-4A58-940F-A9460DA39D32}" srcOrd="2" destOrd="0" parTransId="{0D3FD16B-C25F-4ADE-8A10-4D99727EF169}" sibTransId="{7390F576-0B10-4927-B837-42757CECB59B}"/>
    <dgm:cxn modelId="{CD1098F4-6358-49E0-BF5E-9BF6A19C1DA3}" srcId="{4C5D95B1-E1E9-4C33-9A6F-196C6C4B35A9}" destId="{CDBC2F14-94D2-4FB7-BC67-15AAFC768928}" srcOrd="4" destOrd="0" parTransId="{24F673F2-8D48-4BAF-83CD-FDF8F2E98394}" sibTransId="{844F0751-F5DC-4496-A8A5-223DE2F3AD76}"/>
    <dgm:cxn modelId="{54945FF5-6ACF-4D60-99F0-07A3400429FE}" srcId="{BC7F3C3D-AB57-43B3-8C7D-997C6DE37411}" destId="{B22B3854-DC91-4EEA-A3A5-CE804F1093E8}" srcOrd="0" destOrd="0" parTransId="{52BBF84D-EC23-40AC-9C43-259FF7C51AE9}" sibTransId="{247DEF55-9008-445B-968A-785AE8E4F616}"/>
    <dgm:cxn modelId="{D169CEFA-FAC6-4499-B715-C4D1859D29F0}" type="presOf" srcId="{0423EB27-09F7-494F-A9A2-F8E064170723}" destId="{ECD4E8DB-9228-4D19-B1C5-9B237021D328}" srcOrd="0" destOrd="0" presId="urn:microsoft.com/office/officeart/2008/layout/SquareAccentList"/>
    <dgm:cxn modelId="{2B76E8FA-DDF6-42B7-9EA5-50A41C661477}" type="presOf" srcId="{D05F8602-20DD-41F1-87DC-E1BB657E48A6}" destId="{65F84F01-9438-49EB-A130-E3F3954CD67C}" srcOrd="0" destOrd="0" presId="urn:microsoft.com/office/officeart/2008/layout/SquareAccentList"/>
    <dgm:cxn modelId="{BEEE2AFB-873A-4906-B71A-DE08B51C2D19}" srcId="{4F56561F-BB52-45D1-99A3-F163CCC76A5C}" destId="{ED5C51F9-D751-42F1-BC80-7E606CB782EF}" srcOrd="5" destOrd="0" parTransId="{9184BE78-CAFA-4B4C-B6E9-748ABA16544B}" sibTransId="{36A3C840-1483-45ED-93B7-610AECA42706}"/>
    <dgm:cxn modelId="{ABA841FD-0F16-4789-9913-96A88F6B05B3}" type="presOf" srcId="{BD37751C-32EF-49AE-9795-5D78ADF9D035}" destId="{401BE9A6-1695-4FA4-B0A7-6D46CBAE1ED4}" srcOrd="0" destOrd="0" presId="urn:microsoft.com/office/officeart/2008/layout/SquareAccentList"/>
    <dgm:cxn modelId="{A4010174-FFDD-41AA-8EB2-1408AC113753}" type="presParOf" srcId="{AE25D091-5F56-4B70-AC28-D4BA8018CC70}" destId="{C7541C41-768B-4B71-9DD5-61C1B420C3D9}" srcOrd="0" destOrd="0" presId="urn:microsoft.com/office/officeart/2008/layout/SquareAccentList"/>
    <dgm:cxn modelId="{A60541CE-7612-4D50-BCAA-4C160AD36759}" type="presParOf" srcId="{C7541C41-768B-4B71-9DD5-61C1B420C3D9}" destId="{09B29DBA-30FA-4FA1-909E-3AE35FB2E081}" srcOrd="0" destOrd="0" presId="urn:microsoft.com/office/officeart/2008/layout/SquareAccentList"/>
    <dgm:cxn modelId="{316912AB-9EA8-442B-8310-BF48CD394A1B}" type="presParOf" srcId="{09B29DBA-30FA-4FA1-909E-3AE35FB2E081}" destId="{E3814BDF-F207-4DF9-B67A-66A3A612A651}" srcOrd="0" destOrd="0" presId="urn:microsoft.com/office/officeart/2008/layout/SquareAccentList"/>
    <dgm:cxn modelId="{EF404D6F-1AE1-4CBF-90AD-4F0797F70C51}" type="presParOf" srcId="{09B29DBA-30FA-4FA1-909E-3AE35FB2E081}" destId="{731B6446-7E80-47E7-A0F2-F6B6A8A973D1}" srcOrd="1" destOrd="0" presId="urn:microsoft.com/office/officeart/2008/layout/SquareAccentList"/>
    <dgm:cxn modelId="{F438715A-35E4-4224-A128-DA84AC6C545D}" type="presParOf" srcId="{09B29DBA-30FA-4FA1-909E-3AE35FB2E081}" destId="{40460469-8DD2-4C34-A865-6437A03B42A3}" srcOrd="2" destOrd="0" presId="urn:microsoft.com/office/officeart/2008/layout/SquareAccentList"/>
    <dgm:cxn modelId="{A749D6D1-27A4-48EB-B03A-FBD60F1FC003}" type="presParOf" srcId="{C7541C41-768B-4B71-9DD5-61C1B420C3D9}" destId="{2430088D-27EF-424E-89ED-425754CF329E}" srcOrd="1" destOrd="0" presId="urn:microsoft.com/office/officeart/2008/layout/SquareAccentList"/>
    <dgm:cxn modelId="{FC9FE866-67A9-4BAE-BD35-49E39C01A79C}" type="presParOf" srcId="{2430088D-27EF-424E-89ED-425754CF329E}" destId="{262F4351-FE32-45D3-8DF4-2F2B198B12E3}" srcOrd="0" destOrd="0" presId="urn:microsoft.com/office/officeart/2008/layout/SquareAccentList"/>
    <dgm:cxn modelId="{47F1FC96-F5A4-465A-B523-FC262EB78341}" type="presParOf" srcId="{262F4351-FE32-45D3-8DF4-2F2B198B12E3}" destId="{D5365D83-DC4D-42B7-A300-695A43541428}" srcOrd="0" destOrd="0" presId="urn:microsoft.com/office/officeart/2008/layout/SquareAccentList"/>
    <dgm:cxn modelId="{7ECB9B7F-541E-482D-9849-92D22DB48685}" type="presParOf" srcId="{262F4351-FE32-45D3-8DF4-2F2B198B12E3}" destId="{32A06A73-46D5-4613-B521-79971B752828}" srcOrd="1" destOrd="0" presId="urn:microsoft.com/office/officeart/2008/layout/SquareAccentList"/>
    <dgm:cxn modelId="{34F5158E-9752-44E6-8270-8C2E169E3C0B}" type="presParOf" srcId="{2430088D-27EF-424E-89ED-425754CF329E}" destId="{F2479DBC-79B2-4725-A174-4544D9C46AF7}" srcOrd="1" destOrd="0" presId="urn:microsoft.com/office/officeart/2008/layout/SquareAccentList"/>
    <dgm:cxn modelId="{60F8F606-B559-4303-AE83-DAAB509EF936}" type="presParOf" srcId="{F2479DBC-79B2-4725-A174-4544D9C46AF7}" destId="{D459BD66-DE55-40E6-AE50-6BC9C4127CA1}" srcOrd="0" destOrd="0" presId="urn:microsoft.com/office/officeart/2008/layout/SquareAccentList"/>
    <dgm:cxn modelId="{990C11F5-3CF4-422E-A638-632F16689505}" type="presParOf" srcId="{F2479DBC-79B2-4725-A174-4544D9C46AF7}" destId="{C9B94B41-E5BC-4781-A4FC-BE8D3EA47144}" srcOrd="1" destOrd="0" presId="urn:microsoft.com/office/officeart/2008/layout/SquareAccentList"/>
    <dgm:cxn modelId="{7E1E17FF-6B56-4935-95B4-611373A865EC}" type="presParOf" srcId="{2430088D-27EF-424E-89ED-425754CF329E}" destId="{CE55958C-63F5-48EF-8825-352B25354ED7}" srcOrd="2" destOrd="0" presId="urn:microsoft.com/office/officeart/2008/layout/SquareAccentList"/>
    <dgm:cxn modelId="{75540A44-24BA-437A-B001-09A89B812E39}" type="presParOf" srcId="{CE55958C-63F5-48EF-8825-352B25354ED7}" destId="{8ABF9E97-3E53-4147-95F7-1FBAF8FD68E2}" srcOrd="0" destOrd="0" presId="urn:microsoft.com/office/officeart/2008/layout/SquareAccentList"/>
    <dgm:cxn modelId="{A795D55C-5006-45E7-8E65-E54AD15CDB7A}" type="presParOf" srcId="{CE55958C-63F5-48EF-8825-352B25354ED7}" destId="{65F84F01-9438-49EB-A130-E3F3954CD67C}" srcOrd="1" destOrd="0" presId="urn:microsoft.com/office/officeart/2008/layout/SquareAccentList"/>
    <dgm:cxn modelId="{360F2D88-65C1-482D-987E-6CCC7E736CA2}" type="presParOf" srcId="{2430088D-27EF-424E-89ED-425754CF329E}" destId="{2E616602-D416-4367-A29B-4B1383485EF9}" srcOrd="3" destOrd="0" presId="urn:microsoft.com/office/officeart/2008/layout/SquareAccentList"/>
    <dgm:cxn modelId="{878F0E9D-A3FD-4D34-A5D4-3973A214E995}" type="presParOf" srcId="{2E616602-D416-4367-A29B-4B1383485EF9}" destId="{6FE9B08B-69EE-445D-A980-ABD0F895FBAD}" srcOrd="0" destOrd="0" presId="urn:microsoft.com/office/officeart/2008/layout/SquareAccentList"/>
    <dgm:cxn modelId="{B172EF12-2CED-4B8A-81BF-C7A070FFEC84}" type="presParOf" srcId="{2E616602-D416-4367-A29B-4B1383485EF9}" destId="{427196A5-353E-42DB-AD53-5E4D166C9CAB}" srcOrd="1" destOrd="0" presId="urn:microsoft.com/office/officeart/2008/layout/SquareAccentList"/>
    <dgm:cxn modelId="{FB738170-A79A-4B49-A4AA-EDD9F43D0F59}" type="presParOf" srcId="{2430088D-27EF-424E-89ED-425754CF329E}" destId="{C4562871-5C76-43EA-A065-1B7F390095CC}" srcOrd="4" destOrd="0" presId="urn:microsoft.com/office/officeart/2008/layout/SquareAccentList"/>
    <dgm:cxn modelId="{E1153FD7-411E-482E-9040-2E32A349814F}" type="presParOf" srcId="{C4562871-5C76-43EA-A065-1B7F390095CC}" destId="{AD3AAFDA-86DB-4EC4-815D-9DCC09B38442}" srcOrd="0" destOrd="0" presId="urn:microsoft.com/office/officeart/2008/layout/SquareAccentList"/>
    <dgm:cxn modelId="{D995A1D3-A318-41FB-BE07-925B4D3B9DAB}" type="presParOf" srcId="{C4562871-5C76-43EA-A065-1B7F390095CC}" destId="{86AFBE19-5044-4037-85E0-9C72F2DB6698}" srcOrd="1" destOrd="0" presId="urn:microsoft.com/office/officeart/2008/layout/SquareAccentList"/>
    <dgm:cxn modelId="{B0665941-E654-449A-99A1-C467ABA92B11}" type="presParOf" srcId="{2430088D-27EF-424E-89ED-425754CF329E}" destId="{2C434B5D-5483-4BC3-BDF3-D6C890BC68F4}" srcOrd="5" destOrd="0" presId="urn:microsoft.com/office/officeart/2008/layout/SquareAccentList"/>
    <dgm:cxn modelId="{72823E3B-69A1-44D3-8749-F8AB050901CB}" type="presParOf" srcId="{2C434B5D-5483-4BC3-BDF3-D6C890BC68F4}" destId="{AC0326C1-AB41-4CE0-9A18-D97BFA98816B}" srcOrd="0" destOrd="0" presId="urn:microsoft.com/office/officeart/2008/layout/SquareAccentList"/>
    <dgm:cxn modelId="{F6527F37-2BF3-4BA2-ACFA-0F7A9F31A550}" type="presParOf" srcId="{2C434B5D-5483-4BC3-BDF3-D6C890BC68F4}" destId="{D858669A-B5C2-465E-A93B-FFC957124B83}" srcOrd="1" destOrd="0" presId="urn:microsoft.com/office/officeart/2008/layout/SquareAccentList"/>
    <dgm:cxn modelId="{F84B13DB-15B0-4E0D-8A75-3FDC541F7CF2}" type="presParOf" srcId="{2430088D-27EF-424E-89ED-425754CF329E}" destId="{36EE5D50-58E3-4B58-BF1C-D72E47B858EB}" srcOrd="6" destOrd="0" presId="urn:microsoft.com/office/officeart/2008/layout/SquareAccentList"/>
    <dgm:cxn modelId="{5DEDE52C-B364-46D5-A2FD-0720F3DC0757}" type="presParOf" srcId="{36EE5D50-58E3-4B58-BF1C-D72E47B858EB}" destId="{EEB9B24E-D213-47FD-8B72-70D9F410A38C}" srcOrd="0" destOrd="0" presId="urn:microsoft.com/office/officeart/2008/layout/SquareAccentList"/>
    <dgm:cxn modelId="{73D43985-78C6-4BDB-9629-E3A4CB81E7E9}" type="presParOf" srcId="{36EE5D50-58E3-4B58-BF1C-D72E47B858EB}" destId="{C48C4BC3-C229-4FA3-947E-CBC0562F97A1}" srcOrd="1" destOrd="0" presId="urn:microsoft.com/office/officeart/2008/layout/SquareAccentList"/>
    <dgm:cxn modelId="{C499A894-0F79-4726-9524-7A8D642FEE88}" type="presParOf" srcId="{AE25D091-5F56-4B70-AC28-D4BA8018CC70}" destId="{7ED0351D-6BCD-46C9-A251-9AD7BC27367D}" srcOrd="1" destOrd="0" presId="urn:microsoft.com/office/officeart/2008/layout/SquareAccentList"/>
    <dgm:cxn modelId="{CF665EB8-A6A5-494D-B697-F6AA8C18CFA9}" type="presParOf" srcId="{7ED0351D-6BCD-46C9-A251-9AD7BC27367D}" destId="{D553D84D-D76A-4E1B-AE87-E058B4F254B8}" srcOrd="0" destOrd="0" presId="urn:microsoft.com/office/officeart/2008/layout/SquareAccentList"/>
    <dgm:cxn modelId="{B9B3A1AE-12C5-450F-BF9D-36B929BD6879}" type="presParOf" srcId="{D553D84D-D76A-4E1B-AE87-E058B4F254B8}" destId="{88A12D04-2DA1-4BDD-BF8C-6F852A8CA7E0}" srcOrd="0" destOrd="0" presId="urn:microsoft.com/office/officeart/2008/layout/SquareAccentList"/>
    <dgm:cxn modelId="{EAB6F38E-2533-4147-8AE9-F863D34E82BC}" type="presParOf" srcId="{D553D84D-D76A-4E1B-AE87-E058B4F254B8}" destId="{168EE785-FBFF-455B-B3DA-FD2B33A2612E}" srcOrd="1" destOrd="0" presId="urn:microsoft.com/office/officeart/2008/layout/SquareAccentList"/>
    <dgm:cxn modelId="{B684E8F8-5782-4D29-8621-332A6984E254}" type="presParOf" srcId="{D553D84D-D76A-4E1B-AE87-E058B4F254B8}" destId="{21B78CF1-D5AD-468C-BC84-EBC7011C0E96}" srcOrd="2" destOrd="0" presId="urn:microsoft.com/office/officeart/2008/layout/SquareAccentList"/>
    <dgm:cxn modelId="{6ABCFF87-34E5-41DD-B526-28F5121EF8D3}" type="presParOf" srcId="{7ED0351D-6BCD-46C9-A251-9AD7BC27367D}" destId="{A0C26A82-656C-4C44-A73A-1D3D46808033}" srcOrd="1" destOrd="0" presId="urn:microsoft.com/office/officeart/2008/layout/SquareAccentList"/>
    <dgm:cxn modelId="{9F189CE1-E866-48D7-BF47-0249B2AC1BEC}" type="presParOf" srcId="{A0C26A82-656C-4C44-A73A-1D3D46808033}" destId="{2DFAF7FF-E85F-41EA-8784-A3C0CE16F0D3}" srcOrd="0" destOrd="0" presId="urn:microsoft.com/office/officeart/2008/layout/SquareAccentList"/>
    <dgm:cxn modelId="{AEFA1E2E-884E-4E19-897A-37BCDE3AF200}" type="presParOf" srcId="{2DFAF7FF-E85F-41EA-8784-A3C0CE16F0D3}" destId="{F7D843F0-3245-460D-A4ED-13912F00B5A4}" srcOrd="0" destOrd="0" presId="urn:microsoft.com/office/officeart/2008/layout/SquareAccentList"/>
    <dgm:cxn modelId="{F5440BD4-1383-4143-97FF-45665BBA6D72}" type="presParOf" srcId="{2DFAF7FF-E85F-41EA-8784-A3C0CE16F0D3}" destId="{23864349-D7FA-4866-A604-0663E1A97866}" srcOrd="1" destOrd="0" presId="urn:microsoft.com/office/officeart/2008/layout/SquareAccentList"/>
    <dgm:cxn modelId="{616FF82E-0F31-48BE-885A-030DB5727DA6}" type="presParOf" srcId="{A0C26A82-656C-4C44-A73A-1D3D46808033}" destId="{03E79625-B641-4463-B33C-E75BD7908ED3}" srcOrd="1" destOrd="0" presId="urn:microsoft.com/office/officeart/2008/layout/SquareAccentList"/>
    <dgm:cxn modelId="{DF05E578-3D59-41DD-99D9-98E2D6411005}" type="presParOf" srcId="{03E79625-B641-4463-B33C-E75BD7908ED3}" destId="{CAFF47A2-AC17-490B-88E8-CC7D55D154BD}" srcOrd="0" destOrd="0" presId="urn:microsoft.com/office/officeart/2008/layout/SquareAccentList"/>
    <dgm:cxn modelId="{2960A2B9-97EB-4AFF-89F6-0941C344102B}" type="presParOf" srcId="{03E79625-B641-4463-B33C-E75BD7908ED3}" destId="{526468AA-3055-436B-BEEC-AFFA7AFA728E}" srcOrd="1" destOrd="0" presId="urn:microsoft.com/office/officeart/2008/layout/SquareAccentList"/>
    <dgm:cxn modelId="{EEE0B353-1A50-4DE4-9474-DA51273F6B20}" type="presParOf" srcId="{A0C26A82-656C-4C44-A73A-1D3D46808033}" destId="{87036EA7-C7D5-472F-9DE7-8A4AA73243C4}" srcOrd="2" destOrd="0" presId="urn:microsoft.com/office/officeart/2008/layout/SquareAccentList"/>
    <dgm:cxn modelId="{64F6E7EC-A327-4DF1-9BAC-969528ADF1E1}" type="presParOf" srcId="{87036EA7-C7D5-472F-9DE7-8A4AA73243C4}" destId="{085830E9-BA3A-4CAD-8123-1BD122A0DDD2}" srcOrd="0" destOrd="0" presId="urn:microsoft.com/office/officeart/2008/layout/SquareAccentList"/>
    <dgm:cxn modelId="{E9BE7B68-315B-48A0-A948-9434813CA34A}" type="presParOf" srcId="{87036EA7-C7D5-472F-9DE7-8A4AA73243C4}" destId="{1DDF2DEA-6621-4CEB-B3F4-D133104FCB89}" srcOrd="1" destOrd="0" presId="urn:microsoft.com/office/officeart/2008/layout/SquareAccentList"/>
    <dgm:cxn modelId="{A6D85889-071D-4F4D-B3DA-C57D1DF7F209}" type="presParOf" srcId="{A0C26A82-656C-4C44-A73A-1D3D46808033}" destId="{B321E5E2-6D1B-42AF-B106-2FE8E3FD2D58}" srcOrd="3" destOrd="0" presId="urn:microsoft.com/office/officeart/2008/layout/SquareAccentList"/>
    <dgm:cxn modelId="{2392C731-6BEE-46E6-A662-E09ABE029B76}" type="presParOf" srcId="{B321E5E2-6D1B-42AF-B106-2FE8E3FD2D58}" destId="{83E87DAF-BCC6-41F5-A898-44ABB6892EBE}" srcOrd="0" destOrd="0" presId="urn:microsoft.com/office/officeart/2008/layout/SquareAccentList"/>
    <dgm:cxn modelId="{8E86D389-2453-4A88-9E45-F125F385D73D}" type="presParOf" srcId="{B321E5E2-6D1B-42AF-B106-2FE8E3FD2D58}" destId="{B5F470C8-22F7-43B6-A839-D08232DBECE5}" srcOrd="1" destOrd="0" presId="urn:microsoft.com/office/officeart/2008/layout/SquareAccentList"/>
    <dgm:cxn modelId="{508AB896-A18E-4757-947A-52EE4F69C1C2}" type="presParOf" srcId="{A0C26A82-656C-4C44-A73A-1D3D46808033}" destId="{FA3A4563-2341-4C34-97EA-2C94CAC41C43}" srcOrd="4" destOrd="0" presId="urn:microsoft.com/office/officeart/2008/layout/SquareAccentList"/>
    <dgm:cxn modelId="{213CC08F-192E-4AD0-9026-F4E325D91351}" type="presParOf" srcId="{FA3A4563-2341-4C34-97EA-2C94CAC41C43}" destId="{E0AA81BB-CD12-4BB5-8C46-420D702298F7}" srcOrd="0" destOrd="0" presId="urn:microsoft.com/office/officeart/2008/layout/SquareAccentList"/>
    <dgm:cxn modelId="{3839D3AB-E081-4E0A-895B-E5D6B1D9FB97}" type="presParOf" srcId="{FA3A4563-2341-4C34-97EA-2C94CAC41C43}" destId="{3FFF6FB0-87FF-44A1-AD45-3D203D21AD78}" srcOrd="1" destOrd="0" presId="urn:microsoft.com/office/officeart/2008/layout/SquareAccentList"/>
    <dgm:cxn modelId="{C350BA1D-79B0-4709-B019-6BFEF629BCFB}" type="presParOf" srcId="{A0C26A82-656C-4C44-A73A-1D3D46808033}" destId="{926FD2BB-407D-4033-9B1D-727035F67764}" srcOrd="5" destOrd="0" presId="urn:microsoft.com/office/officeart/2008/layout/SquareAccentList"/>
    <dgm:cxn modelId="{23F350A7-DD59-4704-A672-56DF1FC880EB}" type="presParOf" srcId="{926FD2BB-407D-4033-9B1D-727035F67764}" destId="{2578DD36-A994-4E0C-BBA1-3C5E9FD67903}" srcOrd="0" destOrd="0" presId="urn:microsoft.com/office/officeart/2008/layout/SquareAccentList"/>
    <dgm:cxn modelId="{E681E5E2-37CE-448A-B4F6-DFC2CE440A02}" type="presParOf" srcId="{926FD2BB-407D-4033-9B1D-727035F67764}" destId="{ECC119E2-F238-4981-B0DA-883916FED91E}" srcOrd="1" destOrd="0" presId="urn:microsoft.com/office/officeart/2008/layout/SquareAccentList"/>
    <dgm:cxn modelId="{632C0CB5-488C-4531-9CA4-1AB3B3DE3070}" type="presParOf" srcId="{A0C26A82-656C-4C44-A73A-1D3D46808033}" destId="{59CCE9E2-C413-4E2C-B06B-C8E345A6F8A4}" srcOrd="6" destOrd="0" presId="urn:microsoft.com/office/officeart/2008/layout/SquareAccentList"/>
    <dgm:cxn modelId="{0302B850-7136-4F8D-8564-A6C3078678C9}" type="presParOf" srcId="{59CCE9E2-C413-4E2C-B06B-C8E345A6F8A4}" destId="{8C8E272D-94BE-4CA3-AE63-4921AB9FAE07}" srcOrd="0" destOrd="0" presId="urn:microsoft.com/office/officeart/2008/layout/SquareAccentList"/>
    <dgm:cxn modelId="{3ADC1717-463B-4315-8FFD-F16D9EE7B51A}" type="presParOf" srcId="{59CCE9E2-C413-4E2C-B06B-C8E345A6F8A4}" destId="{35CB4B54-CEDD-4993-B1D1-94773C566717}" srcOrd="1" destOrd="0" presId="urn:microsoft.com/office/officeart/2008/layout/SquareAccentList"/>
    <dgm:cxn modelId="{C4FC386D-9FC3-4282-98D8-AD918E11BD47}" type="presParOf" srcId="{AE25D091-5F56-4B70-AC28-D4BA8018CC70}" destId="{B47E948E-C1F9-4F46-9040-21091B5E387E}" srcOrd="2" destOrd="0" presId="urn:microsoft.com/office/officeart/2008/layout/SquareAccentList"/>
    <dgm:cxn modelId="{96295B0A-46D3-4EA7-9914-C3541A08423E}" type="presParOf" srcId="{B47E948E-C1F9-4F46-9040-21091B5E387E}" destId="{727D92DD-72AF-4C58-BB6F-96FE4AEEF27A}" srcOrd="0" destOrd="0" presId="urn:microsoft.com/office/officeart/2008/layout/SquareAccentList"/>
    <dgm:cxn modelId="{9A8BACD9-C5F0-450F-AF51-AE38E5E74702}" type="presParOf" srcId="{727D92DD-72AF-4C58-BB6F-96FE4AEEF27A}" destId="{83E3E2B1-25E4-48AC-9F54-4BDCA54DA3AF}" srcOrd="0" destOrd="0" presId="urn:microsoft.com/office/officeart/2008/layout/SquareAccentList"/>
    <dgm:cxn modelId="{34DA9282-0C52-4A20-BAF4-525C61595E02}" type="presParOf" srcId="{727D92DD-72AF-4C58-BB6F-96FE4AEEF27A}" destId="{E78D5E08-D178-4E54-ACAA-9035F1E3CF87}" srcOrd="1" destOrd="0" presId="urn:microsoft.com/office/officeart/2008/layout/SquareAccentList"/>
    <dgm:cxn modelId="{43F0DCF0-A844-4942-8BAA-BABE473C310D}" type="presParOf" srcId="{727D92DD-72AF-4C58-BB6F-96FE4AEEF27A}" destId="{49F39F63-5697-4700-B26F-7DFD59FB2A83}" srcOrd="2" destOrd="0" presId="urn:microsoft.com/office/officeart/2008/layout/SquareAccentList"/>
    <dgm:cxn modelId="{F46E5B76-9AD6-49FE-B236-76C8820A9DC4}" type="presParOf" srcId="{B47E948E-C1F9-4F46-9040-21091B5E387E}" destId="{B5EC8596-E32C-4F34-B0E4-ABCD5550884F}" srcOrd="1" destOrd="0" presId="urn:microsoft.com/office/officeart/2008/layout/SquareAccentList"/>
    <dgm:cxn modelId="{901F567D-2BE8-45F3-8B74-26F743928332}" type="presParOf" srcId="{B5EC8596-E32C-4F34-B0E4-ABCD5550884F}" destId="{FDEE1403-C92F-4111-8216-6C274A00E9B8}" srcOrd="0" destOrd="0" presId="urn:microsoft.com/office/officeart/2008/layout/SquareAccentList"/>
    <dgm:cxn modelId="{63037E54-15ED-4025-A150-0E0C0F6E6B62}" type="presParOf" srcId="{FDEE1403-C92F-4111-8216-6C274A00E9B8}" destId="{96246F1F-1C08-444E-AC29-8686C24FDEFB}" srcOrd="0" destOrd="0" presId="urn:microsoft.com/office/officeart/2008/layout/SquareAccentList"/>
    <dgm:cxn modelId="{2C7826BF-329F-445D-B827-3EDE78E99BCD}" type="presParOf" srcId="{FDEE1403-C92F-4111-8216-6C274A00E9B8}" destId="{90A148FA-68D3-45A7-BBF2-6BBA03E13C0F}" srcOrd="1" destOrd="0" presId="urn:microsoft.com/office/officeart/2008/layout/SquareAccentList"/>
    <dgm:cxn modelId="{8C8E50EF-FD4C-4C87-A4FC-E285EBF54A78}" type="presParOf" srcId="{B5EC8596-E32C-4F34-B0E4-ABCD5550884F}" destId="{B5BA48DE-C3DC-4915-BAB9-F7495AC22C1B}" srcOrd="1" destOrd="0" presId="urn:microsoft.com/office/officeart/2008/layout/SquareAccentList"/>
    <dgm:cxn modelId="{D7B17F79-CCCF-485C-8485-E21F2B897FBF}" type="presParOf" srcId="{B5BA48DE-C3DC-4915-BAB9-F7495AC22C1B}" destId="{8CDD8AE1-65FD-450A-B76B-14D68DD1E46C}" srcOrd="0" destOrd="0" presId="urn:microsoft.com/office/officeart/2008/layout/SquareAccentList"/>
    <dgm:cxn modelId="{0036B8C4-849A-4325-AA3E-FE266D029F1F}" type="presParOf" srcId="{B5BA48DE-C3DC-4915-BAB9-F7495AC22C1B}" destId="{41BED444-ACB6-4FA1-9FAB-7BEC95E0C8A7}" srcOrd="1" destOrd="0" presId="urn:microsoft.com/office/officeart/2008/layout/SquareAccentList"/>
    <dgm:cxn modelId="{093DAEB2-CD47-4039-98B5-63962B6EC28A}" type="presParOf" srcId="{B5EC8596-E32C-4F34-B0E4-ABCD5550884F}" destId="{6437C6F4-FD36-46FE-9EA7-B77D80B82DB6}" srcOrd="2" destOrd="0" presId="urn:microsoft.com/office/officeart/2008/layout/SquareAccentList"/>
    <dgm:cxn modelId="{F4818855-00DA-4C21-82DD-0E7FDF22D2F9}" type="presParOf" srcId="{6437C6F4-FD36-46FE-9EA7-B77D80B82DB6}" destId="{6FE01F62-5DC5-4A76-BE16-293FF01E2A36}" srcOrd="0" destOrd="0" presId="urn:microsoft.com/office/officeart/2008/layout/SquareAccentList"/>
    <dgm:cxn modelId="{819B2FAE-B50B-440F-8952-6174C8BD91D0}" type="presParOf" srcId="{6437C6F4-FD36-46FE-9EA7-B77D80B82DB6}" destId="{9809C958-8A56-48ED-86BA-227CD3CE7B4E}" srcOrd="1" destOrd="0" presId="urn:microsoft.com/office/officeart/2008/layout/SquareAccentList"/>
    <dgm:cxn modelId="{43511042-44FF-4A92-9E76-68F991D967BA}" type="presParOf" srcId="{B5EC8596-E32C-4F34-B0E4-ABCD5550884F}" destId="{4266627F-4453-4558-ABC4-D65FDAE47ACA}" srcOrd="3" destOrd="0" presId="urn:microsoft.com/office/officeart/2008/layout/SquareAccentList"/>
    <dgm:cxn modelId="{970A441A-4086-49D5-8C47-250A59BE9F0A}" type="presParOf" srcId="{4266627F-4453-4558-ABC4-D65FDAE47ACA}" destId="{511B101B-7629-4EFB-B96A-20B8BFB1DB2A}" srcOrd="0" destOrd="0" presId="urn:microsoft.com/office/officeart/2008/layout/SquareAccentList"/>
    <dgm:cxn modelId="{2821A958-212B-49BE-B1D1-CBE1C85F8EA9}" type="presParOf" srcId="{4266627F-4453-4558-ABC4-D65FDAE47ACA}" destId="{2CE0A0D7-207C-4A28-8701-0D9AA5AF17AC}" srcOrd="1" destOrd="0" presId="urn:microsoft.com/office/officeart/2008/layout/SquareAccentList"/>
    <dgm:cxn modelId="{03F72062-2D53-46A8-B871-596C40AE5261}" type="presParOf" srcId="{B5EC8596-E32C-4F34-B0E4-ABCD5550884F}" destId="{984771A4-01F1-4F7E-9E02-59E315BE961A}" srcOrd="4" destOrd="0" presId="urn:microsoft.com/office/officeart/2008/layout/SquareAccentList"/>
    <dgm:cxn modelId="{B056CB2E-241B-4BD4-A5B6-E310A75FFFCB}" type="presParOf" srcId="{984771A4-01F1-4F7E-9E02-59E315BE961A}" destId="{96648D73-25C4-41CF-BAE6-697090BF3E26}" srcOrd="0" destOrd="0" presId="urn:microsoft.com/office/officeart/2008/layout/SquareAccentList"/>
    <dgm:cxn modelId="{55C71B77-EE68-4588-AEB1-9D5A557B549B}" type="presParOf" srcId="{984771A4-01F1-4F7E-9E02-59E315BE961A}" destId="{75A62F8B-624A-4212-975E-AA523DD97511}" srcOrd="1" destOrd="0" presId="urn:microsoft.com/office/officeart/2008/layout/SquareAccentList"/>
    <dgm:cxn modelId="{88C52C51-25DD-496D-8D31-A9548F1192CE}" type="presParOf" srcId="{B5EC8596-E32C-4F34-B0E4-ABCD5550884F}" destId="{EC7260A2-0CD5-4939-BD4F-7CCB61A182B7}" srcOrd="5" destOrd="0" presId="urn:microsoft.com/office/officeart/2008/layout/SquareAccentList"/>
    <dgm:cxn modelId="{EDF76B7A-BC46-4CFD-87A5-2B9D25A56267}" type="presParOf" srcId="{EC7260A2-0CD5-4939-BD4F-7CCB61A182B7}" destId="{0CFE5622-9729-46A5-BC7A-9D0D3C42DC03}" srcOrd="0" destOrd="0" presId="urn:microsoft.com/office/officeart/2008/layout/SquareAccentList"/>
    <dgm:cxn modelId="{87D6E2A5-AE4A-4350-A3C3-665B7562E77B}" type="presParOf" srcId="{EC7260A2-0CD5-4939-BD4F-7CCB61A182B7}" destId="{214F24F1-A446-47EC-ABEA-8C1337DCB646}" srcOrd="1" destOrd="0" presId="urn:microsoft.com/office/officeart/2008/layout/SquareAccentList"/>
    <dgm:cxn modelId="{B8BF7E54-E124-4BDB-865B-3393BAF8AA7C}" type="presParOf" srcId="{B5EC8596-E32C-4F34-B0E4-ABCD5550884F}" destId="{0DD371FB-0BA6-4542-B348-D5D25390990A}" srcOrd="6" destOrd="0" presId="urn:microsoft.com/office/officeart/2008/layout/SquareAccentList"/>
    <dgm:cxn modelId="{074D2E75-6355-44DA-9E48-9F16AFEC5C6A}" type="presParOf" srcId="{0DD371FB-0BA6-4542-B348-D5D25390990A}" destId="{CA8B81F1-A403-488B-ADC6-0EAD914692C6}" srcOrd="0" destOrd="0" presId="urn:microsoft.com/office/officeart/2008/layout/SquareAccentList"/>
    <dgm:cxn modelId="{AC4F1C8C-938B-4B9E-8BD5-155D1BE6B6C7}" type="presParOf" srcId="{0DD371FB-0BA6-4542-B348-D5D25390990A}" destId="{401BE9A6-1695-4FA4-B0A7-6D46CBAE1ED4}" srcOrd="1" destOrd="0" presId="urn:microsoft.com/office/officeart/2008/layout/SquareAccentList"/>
    <dgm:cxn modelId="{B066AFCF-AE5D-44A5-869D-DDBFC1F45A86}" type="presParOf" srcId="{AE25D091-5F56-4B70-AC28-D4BA8018CC70}" destId="{8A23CD33-59A9-4290-80A9-312F058FDFE7}" srcOrd="3" destOrd="0" presId="urn:microsoft.com/office/officeart/2008/layout/SquareAccentList"/>
    <dgm:cxn modelId="{AA6EC36A-52BE-4279-8928-95798B0E7DCF}" type="presParOf" srcId="{8A23CD33-59A9-4290-80A9-312F058FDFE7}" destId="{D58A3658-B632-491D-B6CD-14403C6C1AEA}" srcOrd="0" destOrd="0" presId="urn:microsoft.com/office/officeart/2008/layout/SquareAccentList"/>
    <dgm:cxn modelId="{9FBD9344-B857-4DE0-9CF4-2D89EA32C610}" type="presParOf" srcId="{D58A3658-B632-491D-B6CD-14403C6C1AEA}" destId="{7C85187E-B830-40A4-AEDE-4E9014E4275F}" srcOrd="0" destOrd="0" presId="urn:microsoft.com/office/officeart/2008/layout/SquareAccentList"/>
    <dgm:cxn modelId="{4C0E7C8E-07C1-4003-A986-BB6C2DC3389A}" type="presParOf" srcId="{D58A3658-B632-491D-B6CD-14403C6C1AEA}" destId="{B9A4263F-6FCD-4A28-B030-988516282A8B}" srcOrd="1" destOrd="0" presId="urn:microsoft.com/office/officeart/2008/layout/SquareAccentList"/>
    <dgm:cxn modelId="{75FEE9D0-A3F4-40F0-A8CB-0D61DAF71B90}" type="presParOf" srcId="{D58A3658-B632-491D-B6CD-14403C6C1AEA}" destId="{7195230D-9343-4E59-853D-12A7B337A844}" srcOrd="2" destOrd="0" presId="urn:microsoft.com/office/officeart/2008/layout/SquareAccentList"/>
    <dgm:cxn modelId="{FBDF2E3C-207D-476E-A6B0-ECB72711DB75}" type="presParOf" srcId="{8A23CD33-59A9-4290-80A9-312F058FDFE7}" destId="{2FB1584B-0854-4F39-B3B0-F4AFDF5B963D}" srcOrd="1" destOrd="0" presId="urn:microsoft.com/office/officeart/2008/layout/SquareAccentList"/>
    <dgm:cxn modelId="{843BC322-6CC0-48D4-B54F-2BE01A181E32}" type="presParOf" srcId="{2FB1584B-0854-4F39-B3B0-F4AFDF5B963D}" destId="{0DC9FCDA-FF71-455E-8479-FA76CD196CC1}" srcOrd="0" destOrd="0" presId="urn:microsoft.com/office/officeart/2008/layout/SquareAccentList"/>
    <dgm:cxn modelId="{90E6691D-7BE0-4D59-91A7-84EC060D3EC3}" type="presParOf" srcId="{0DC9FCDA-FF71-455E-8479-FA76CD196CC1}" destId="{AECD0C08-9270-486E-A44C-A4E539583CA3}" srcOrd="0" destOrd="0" presId="urn:microsoft.com/office/officeart/2008/layout/SquareAccentList"/>
    <dgm:cxn modelId="{01785179-964D-4D6A-AEFF-A664CC46DEDA}" type="presParOf" srcId="{0DC9FCDA-FF71-455E-8479-FA76CD196CC1}" destId="{8D0CA638-53D3-48A8-B9AF-F83E8EF3C5BC}" srcOrd="1" destOrd="0" presId="urn:microsoft.com/office/officeart/2008/layout/SquareAccentList"/>
    <dgm:cxn modelId="{89221FED-48F0-4F5C-8943-5313ADD79607}" type="presParOf" srcId="{2FB1584B-0854-4F39-B3B0-F4AFDF5B963D}" destId="{BECB9C64-A335-4EDB-A055-4EDBA50EAD6D}" srcOrd="1" destOrd="0" presId="urn:microsoft.com/office/officeart/2008/layout/SquareAccentList"/>
    <dgm:cxn modelId="{821833BF-C817-4724-9FBA-63A5FBAFBD59}" type="presParOf" srcId="{BECB9C64-A335-4EDB-A055-4EDBA50EAD6D}" destId="{9EDBF4CA-3E3F-4843-AC7C-E83E6A14E78C}" srcOrd="0" destOrd="0" presId="urn:microsoft.com/office/officeart/2008/layout/SquareAccentList"/>
    <dgm:cxn modelId="{3A6EEC71-73D7-4801-B6D2-C4DD8FCD832F}" type="presParOf" srcId="{BECB9C64-A335-4EDB-A055-4EDBA50EAD6D}" destId="{F2CBAA15-9BA8-4996-ADEC-6BC2EE30CC95}" srcOrd="1" destOrd="0" presId="urn:microsoft.com/office/officeart/2008/layout/SquareAccentList"/>
    <dgm:cxn modelId="{5AD3E2DF-F3EF-498B-B6AA-071261771CAF}" type="presParOf" srcId="{2FB1584B-0854-4F39-B3B0-F4AFDF5B963D}" destId="{F0547C2A-B30A-407E-8223-2CE7CADE92AA}" srcOrd="2" destOrd="0" presId="urn:microsoft.com/office/officeart/2008/layout/SquareAccentList"/>
    <dgm:cxn modelId="{9442ED17-A5DB-45EB-96B6-5515B57BE036}" type="presParOf" srcId="{F0547C2A-B30A-407E-8223-2CE7CADE92AA}" destId="{B522DD12-649E-4E98-944A-E6C9654AE25D}" srcOrd="0" destOrd="0" presId="urn:microsoft.com/office/officeart/2008/layout/SquareAccentList"/>
    <dgm:cxn modelId="{58AEC4B2-E2B0-4828-99F6-A61B0BB7B9A8}" type="presParOf" srcId="{F0547C2A-B30A-407E-8223-2CE7CADE92AA}" destId="{9BF37CAE-0CA3-4D23-BB8A-A05ADF83E6E9}" srcOrd="1" destOrd="0" presId="urn:microsoft.com/office/officeart/2008/layout/SquareAccentList"/>
    <dgm:cxn modelId="{26E77981-4166-4B55-BBB7-7AB0AED55432}" type="presParOf" srcId="{2FB1584B-0854-4F39-B3B0-F4AFDF5B963D}" destId="{742B51FF-1B37-40A9-ABB2-71E6A3A21251}" srcOrd="3" destOrd="0" presId="urn:microsoft.com/office/officeart/2008/layout/SquareAccentList"/>
    <dgm:cxn modelId="{74AB93A3-ACA3-4153-834B-D4980DE4F115}" type="presParOf" srcId="{742B51FF-1B37-40A9-ABB2-71E6A3A21251}" destId="{0BCAEE21-3BED-41A5-8E12-A15DA7753709}" srcOrd="0" destOrd="0" presId="urn:microsoft.com/office/officeart/2008/layout/SquareAccentList"/>
    <dgm:cxn modelId="{CA9D7C56-C029-4117-9AC3-AB27A9791907}" type="presParOf" srcId="{742B51FF-1B37-40A9-ABB2-71E6A3A21251}" destId="{ECD4E8DB-9228-4D19-B1C5-9B237021D328}" srcOrd="1" destOrd="0" presId="urn:microsoft.com/office/officeart/2008/layout/SquareAccentList"/>
    <dgm:cxn modelId="{9830AC55-5571-4165-A7C0-7CCF0FC0CEE4}" type="presParOf" srcId="{AE25D091-5F56-4B70-AC28-D4BA8018CC70}" destId="{3FC5508F-C8DE-43EB-9FA6-C3AAC8A02ABB}" srcOrd="4" destOrd="0" presId="urn:microsoft.com/office/officeart/2008/layout/SquareAccentList"/>
    <dgm:cxn modelId="{F3A89DE1-3F21-46E7-803C-2D3673133D66}" type="presParOf" srcId="{3FC5508F-C8DE-43EB-9FA6-C3AAC8A02ABB}" destId="{8A6B2FC7-5E8E-4D2F-9B17-EF884F0E307A}" srcOrd="0" destOrd="0" presId="urn:microsoft.com/office/officeart/2008/layout/SquareAccentList"/>
    <dgm:cxn modelId="{B723EDF4-2066-413F-A92A-650B788DF079}" type="presParOf" srcId="{8A6B2FC7-5E8E-4D2F-9B17-EF884F0E307A}" destId="{C19EB53A-E31F-4E42-AD10-927AC9A6261E}" srcOrd="0" destOrd="0" presId="urn:microsoft.com/office/officeart/2008/layout/SquareAccentList"/>
    <dgm:cxn modelId="{82E14EEB-1CC4-4EA7-9131-D84823550F54}" type="presParOf" srcId="{8A6B2FC7-5E8E-4D2F-9B17-EF884F0E307A}" destId="{9F1D3195-A3B0-4532-A3FF-391D8A730DBB}" srcOrd="1" destOrd="0" presId="urn:microsoft.com/office/officeart/2008/layout/SquareAccentList"/>
    <dgm:cxn modelId="{4A8006DE-A8F1-443C-BE37-0D1838E9F837}" type="presParOf" srcId="{8A6B2FC7-5E8E-4D2F-9B17-EF884F0E307A}" destId="{94ABB777-5597-48BF-9CBD-FD638365B774}" srcOrd="2" destOrd="0" presId="urn:microsoft.com/office/officeart/2008/layout/SquareAccentList"/>
    <dgm:cxn modelId="{0D07AEC5-33FA-43B3-8CB0-3E8CAD17DCA7}" type="presParOf" srcId="{3FC5508F-C8DE-43EB-9FA6-C3AAC8A02ABB}" destId="{5E2BD164-460F-43FA-8E7E-BB7153134C1F}" srcOrd="1" destOrd="0" presId="urn:microsoft.com/office/officeart/2008/layout/SquareAccentList"/>
    <dgm:cxn modelId="{4EE78582-303F-44D1-B2F6-B0E3B9BF7883}" type="presParOf" srcId="{5E2BD164-460F-43FA-8E7E-BB7153134C1F}" destId="{DAAC56B4-6342-4012-941E-472A5A605358}" srcOrd="0" destOrd="0" presId="urn:microsoft.com/office/officeart/2008/layout/SquareAccentList"/>
    <dgm:cxn modelId="{9EB2E382-5587-45AA-8952-E5760ACB8870}" type="presParOf" srcId="{DAAC56B4-6342-4012-941E-472A5A605358}" destId="{512888B9-3E0F-4D03-BBB8-2D3280FD3F98}" srcOrd="0" destOrd="0" presId="urn:microsoft.com/office/officeart/2008/layout/SquareAccentList"/>
    <dgm:cxn modelId="{E1FEFED2-8B13-4567-9A3B-08F5C37E1D3F}" type="presParOf" srcId="{DAAC56B4-6342-4012-941E-472A5A605358}" destId="{51B2E79D-D306-459D-BE02-6311C6BDF8F9}" srcOrd="1" destOrd="0" presId="urn:microsoft.com/office/officeart/2008/layout/SquareAccentList"/>
    <dgm:cxn modelId="{29F4AE4E-8078-460F-B1F8-4625FF230041}" type="presParOf" srcId="{5E2BD164-460F-43FA-8E7E-BB7153134C1F}" destId="{2D3F5427-8DFC-440A-BD30-F21EA0A99CF0}" srcOrd="1" destOrd="0" presId="urn:microsoft.com/office/officeart/2008/layout/SquareAccentList"/>
    <dgm:cxn modelId="{9BFBA7E5-7AEC-43A7-A315-63E3286F9F8D}" type="presParOf" srcId="{2D3F5427-8DFC-440A-BD30-F21EA0A99CF0}" destId="{6E4D8120-FBC5-4606-9EF5-CC8AC0B87572}" srcOrd="0" destOrd="0" presId="urn:microsoft.com/office/officeart/2008/layout/SquareAccentList"/>
    <dgm:cxn modelId="{AB3070EA-04D4-4639-A714-C186C17121BC}" type="presParOf" srcId="{2D3F5427-8DFC-440A-BD30-F21EA0A99CF0}" destId="{D012BE7B-C9ED-4BB0-8E95-DA27C309FE8F}" srcOrd="1" destOrd="0" presId="urn:microsoft.com/office/officeart/2008/layout/SquareAccentList"/>
    <dgm:cxn modelId="{5D550A3D-E8AD-413C-AA04-8BA9E52C8706}" type="presParOf" srcId="{5E2BD164-460F-43FA-8E7E-BB7153134C1F}" destId="{CEE7C4B4-F278-458E-947D-D9AFBCD77089}" srcOrd="2" destOrd="0" presId="urn:microsoft.com/office/officeart/2008/layout/SquareAccentList"/>
    <dgm:cxn modelId="{5974C080-69DA-4D10-84F9-BD6696366C16}" type="presParOf" srcId="{CEE7C4B4-F278-458E-947D-D9AFBCD77089}" destId="{69BDF514-3348-4F76-807F-72FEB45BD879}" srcOrd="0" destOrd="0" presId="urn:microsoft.com/office/officeart/2008/layout/SquareAccentList"/>
    <dgm:cxn modelId="{C21D42C2-0785-4FC6-8B8B-750B49A67C53}" type="presParOf" srcId="{CEE7C4B4-F278-458E-947D-D9AFBCD77089}" destId="{33521766-3C71-4CE1-8263-3B5C76CBBEB0}" srcOrd="1" destOrd="0" presId="urn:microsoft.com/office/officeart/2008/layout/SquareAccentList"/>
    <dgm:cxn modelId="{FD55CBF7-905A-41A3-84F8-CF596795187E}" type="presParOf" srcId="{5E2BD164-460F-43FA-8E7E-BB7153134C1F}" destId="{1014C573-3F73-4BD2-A025-5696E200BF60}" srcOrd="3" destOrd="0" presId="urn:microsoft.com/office/officeart/2008/layout/SquareAccentList"/>
    <dgm:cxn modelId="{C3ECBD66-3B72-4819-AEAC-6B0054CDD43A}" type="presParOf" srcId="{1014C573-3F73-4BD2-A025-5696E200BF60}" destId="{A72E701C-1BE9-4789-A425-42E0B9A81C3D}" srcOrd="0" destOrd="0" presId="urn:microsoft.com/office/officeart/2008/layout/SquareAccentList"/>
    <dgm:cxn modelId="{2A6F2813-C079-4845-8246-C012FC7DD738}" type="presParOf" srcId="{1014C573-3F73-4BD2-A025-5696E200BF60}" destId="{AA5BC991-DCC3-43AF-A88F-5A546B0B8DF0}" srcOrd="1" destOrd="0" presId="urn:microsoft.com/office/officeart/2008/layout/SquareAccentList"/>
    <dgm:cxn modelId="{CAE7AD02-1809-44EB-80BD-98DD032B745B}" type="presParOf" srcId="{5E2BD164-460F-43FA-8E7E-BB7153134C1F}" destId="{00CA0022-4A59-4299-B2D9-D8EB6675867C}" srcOrd="4" destOrd="0" presId="urn:microsoft.com/office/officeart/2008/layout/SquareAccentList"/>
    <dgm:cxn modelId="{D7736FC5-1053-4837-8178-3E969F583D97}" type="presParOf" srcId="{00CA0022-4A59-4299-B2D9-D8EB6675867C}" destId="{B5116000-9B75-4F86-83D1-EFF49D508BD5}" srcOrd="0" destOrd="0" presId="urn:microsoft.com/office/officeart/2008/layout/SquareAccentList"/>
    <dgm:cxn modelId="{623A153D-5565-4F4F-ADA7-0CD38ACD00B9}" type="presParOf" srcId="{00CA0022-4A59-4299-B2D9-D8EB6675867C}" destId="{78119AFE-1F90-41D7-B717-3EB4B889C213}" srcOrd="1" destOrd="0" presId="urn:microsoft.com/office/officeart/2008/layout/SquareAccentList"/>
    <dgm:cxn modelId="{FB04CC56-E5A2-42F4-ACB8-EE4CE47F217A}" type="presParOf" srcId="{5E2BD164-460F-43FA-8E7E-BB7153134C1F}" destId="{FA2CC23C-C93D-4634-996A-A65689D81F4C}" srcOrd="5" destOrd="0" presId="urn:microsoft.com/office/officeart/2008/layout/SquareAccentList"/>
    <dgm:cxn modelId="{A11D10E5-1AF9-4E93-8E70-505AE4DA7030}" type="presParOf" srcId="{FA2CC23C-C93D-4634-996A-A65689D81F4C}" destId="{EC616191-0950-4619-8BDF-79C7D91DDAAA}" srcOrd="0" destOrd="0" presId="urn:microsoft.com/office/officeart/2008/layout/SquareAccentList"/>
    <dgm:cxn modelId="{621F7E09-19FC-4E78-AB63-B704004B5731}" type="presParOf" srcId="{FA2CC23C-C93D-4634-996A-A65689D81F4C}" destId="{E71E1125-D9B2-4679-ABB8-BB7619638AAF}" srcOrd="1" destOrd="0" presId="urn:microsoft.com/office/officeart/2008/layout/SquareAccentList"/>
    <dgm:cxn modelId="{49A0E0C4-80B8-45DD-B65F-6F5392DAB956}" type="presParOf" srcId="{AE25D091-5F56-4B70-AC28-D4BA8018CC70}" destId="{9521C4CF-5C00-439A-B648-71ECCE63E571}" srcOrd="5" destOrd="0" presId="urn:microsoft.com/office/officeart/2008/layout/SquareAccentList"/>
    <dgm:cxn modelId="{7B9446B6-AA74-44D2-9657-B841D0345F02}" type="presParOf" srcId="{9521C4CF-5C00-439A-B648-71ECCE63E571}" destId="{607615FA-04EC-4798-A392-22B4D6861E0E}" srcOrd="0" destOrd="0" presId="urn:microsoft.com/office/officeart/2008/layout/SquareAccentList"/>
    <dgm:cxn modelId="{47720D2C-4CBE-4971-803B-EB51D4EBC313}" type="presParOf" srcId="{607615FA-04EC-4798-A392-22B4D6861E0E}" destId="{FEC1D5E7-E0B8-41AE-AABD-44491062204E}" srcOrd="0" destOrd="0" presId="urn:microsoft.com/office/officeart/2008/layout/SquareAccentList"/>
    <dgm:cxn modelId="{2479B0BA-14F7-43DF-84AB-B4F635F298CB}" type="presParOf" srcId="{607615FA-04EC-4798-A392-22B4D6861E0E}" destId="{0093F1D8-3AC6-4515-8425-43CF95DA4B10}" srcOrd="1" destOrd="0" presId="urn:microsoft.com/office/officeart/2008/layout/SquareAccentList"/>
    <dgm:cxn modelId="{786D8BFA-10B7-4F31-B906-DB6F1B09B838}" type="presParOf" srcId="{607615FA-04EC-4798-A392-22B4D6861E0E}" destId="{C1710848-FBB0-4A09-B44A-4E377B9C5C4E}" srcOrd="2" destOrd="0" presId="urn:microsoft.com/office/officeart/2008/layout/SquareAccentList"/>
    <dgm:cxn modelId="{ED8630F2-8049-4D39-833B-028EEB2B5525}" type="presParOf" srcId="{9521C4CF-5C00-439A-B648-71ECCE63E571}" destId="{8EC2AF7D-1C72-4E77-A7D2-812181F79B9B}" srcOrd="1" destOrd="0" presId="urn:microsoft.com/office/officeart/2008/layout/SquareAccentList"/>
    <dgm:cxn modelId="{A5FE1B98-A285-4F52-B41B-2AE09A6ACE0D}" type="presParOf" srcId="{8EC2AF7D-1C72-4E77-A7D2-812181F79B9B}" destId="{DC6B62A7-939E-4BB1-B986-45A8AFBB89C1}" srcOrd="0" destOrd="0" presId="urn:microsoft.com/office/officeart/2008/layout/SquareAccentList"/>
    <dgm:cxn modelId="{B7F9B936-9557-4641-9995-F8846D4005F7}" type="presParOf" srcId="{DC6B62A7-939E-4BB1-B986-45A8AFBB89C1}" destId="{24BF5449-C38A-41A3-8EA2-0275765A09F8}" srcOrd="0" destOrd="0" presId="urn:microsoft.com/office/officeart/2008/layout/SquareAccentList"/>
    <dgm:cxn modelId="{584F7CC0-8FF8-4BD3-B95F-95D16D13A0D1}" type="presParOf" srcId="{DC6B62A7-939E-4BB1-B986-45A8AFBB89C1}" destId="{FB920A4D-5DF1-4A33-ADC6-581B6AEA9DC3}"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814BDF-F207-4DF9-B67A-66A3A612A651}">
      <dsp:nvSpPr>
        <dsp:cNvPr id="0" name=""/>
        <dsp:cNvSpPr/>
      </dsp:nvSpPr>
      <dsp:spPr>
        <a:xfrm>
          <a:off x="9967" y="370370"/>
          <a:ext cx="1752458" cy="206171"/>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1B6446-7E80-47E7-A0F2-F6B6A8A973D1}">
      <dsp:nvSpPr>
        <dsp:cNvPr id="0" name=""/>
        <dsp:cNvSpPr/>
      </dsp:nvSpPr>
      <dsp:spPr>
        <a:xfrm>
          <a:off x="9967" y="447800"/>
          <a:ext cx="128741" cy="128741"/>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460469-8DD2-4C34-A865-6437A03B42A3}">
      <dsp:nvSpPr>
        <dsp:cNvPr id="0" name=""/>
        <dsp:cNvSpPr/>
      </dsp:nvSpPr>
      <dsp:spPr>
        <a:xfrm>
          <a:off x="9967" y="0"/>
          <a:ext cx="1752458" cy="37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en-US" sz="1400" b="1" kern="1200" dirty="0"/>
            <a:t>Financial Data Management</a:t>
          </a:r>
        </a:p>
      </dsp:txBody>
      <dsp:txXfrm>
        <a:off x="9967" y="0"/>
        <a:ext cx="1752458" cy="370370"/>
      </dsp:txXfrm>
    </dsp:sp>
    <dsp:sp modelId="{D5365D83-DC4D-42B7-A300-695A43541428}">
      <dsp:nvSpPr>
        <dsp:cNvPr id="0" name=""/>
        <dsp:cNvSpPr/>
      </dsp:nvSpPr>
      <dsp:spPr>
        <a:xfrm>
          <a:off x="9967" y="747893"/>
          <a:ext cx="128738" cy="128738"/>
        </a:xfrm>
        <a:prstGeom prst="rect">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A06A73-46D5-4613-B521-79971B752828}">
      <dsp:nvSpPr>
        <dsp:cNvPr id="0" name=""/>
        <dsp:cNvSpPr/>
      </dsp:nvSpPr>
      <dsp:spPr>
        <a:xfrm>
          <a:off x="132640" y="66221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FPA</a:t>
          </a:r>
        </a:p>
      </dsp:txBody>
      <dsp:txXfrm>
        <a:off x="132640" y="662218"/>
        <a:ext cx="1629786" cy="300090"/>
      </dsp:txXfrm>
    </dsp:sp>
    <dsp:sp modelId="{D459BD66-DE55-40E6-AE50-6BC9C4127CA1}">
      <dsp:nvSpPr>
        <dsp:cNvPr id="0" name=""/>
        <dsp:cNvSpPr/>
      </dsp:nvSpPr>
      <dsp:spPr>
        <a:xfrm>
          <a:off x="9967" y="1047984"/>
          <a:ext cx="128738" cy="128738"/>
        </a:xfrm>
        <a:prstGeom prst="rect">
          <a:avLst/>
        </a:prstGeom>
        <a:solidFill>
          <a:schemeClr val="lt1">
            <a:hueOff val="0"/>
            <a:satOff val="0"/>
            <a:lumOff val="0"/>
            <a:alphaOff val="0"/>
          </a:schemeClr>
        </a:solidFill>
        <a:ln w="25400" cap="flat" cmpd="sng" algn="ctr">
          <a:solidFill>
            <a:schemeClr val="accent4">
              <a:hueOff val="-288450"/>
              <a:satOff val="494"/>
              <a:lumOff val="-89"/>
              <a:alphaOff val="0"/>
            </a:schemeClr>
          </a:solidFill>
          <a:prstDash val="solid"/>
        </a:ln>
        <a:effectLst/>
      </dsp:spPr>
      <dsp:style>
        <a:lnRef idx="2">
          <a:scrgbClr r="0" g="0" b="0"/>
        </a:lnRef>
        <a:fillRef idx="1">
          <a:scrgbClr r="0" g="0" b="0"/>
        </a:fillRef>
        <a:effectRef idx="0">
          <a:scrgbClr r="0" g="0" b="0"/>
        </a:effectRef>
        <a:fontRef idx="minor"/>
      </dsp:style>
    </dsp:sp>
    <dsp:sp modelId="{C9B94B41-E5BC-4781-A4FC-BE8D3EA47144}">
      <dsp:nvSpPr>
        <dsp:cNvPr id="0" name=""/>
        <dsp:cNvSpPr/>
      </dsp:nvSpPr>
      <dsp:spPr>
        <a:xfrm>
          <a:off x="132640" y="96230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IBNR</a:t>
          </a:r>
        </a:p>
      </dsp:txBody>
      <dsp:txXfrm>
        <a:off x="132640" y="962308"/>
        <a:ext cx="1629786" cy="300090"/>
      </dsp:txXfrm>
    </dsp:sp>
    <dsp:sp modelId="{8ABF9E97-3E53-4147-95F7-1FBAF8FD68E2}">
      <dsp:nvSpPr>
        <dsp:cNvPr id="0" name=""/>
        <dsp:cNvSpPr/>
      </dsp:nvSpPr>
      <dsp:spPr>
        <a:xfrm>
          <a:off x="9967" y="1348074"/>
          <a:ext cx="128738" cy="128738"/>
        </a:xfrm>
        <a:prstGeom prst="rect">
          <a:avLst/>
        </a:prstGeom>
        <a:solidFill>
          <a:schemeClr val="lt1">
            <a:hueOff val="0"/>
            <a:satOff val="0"/>
            <a:lumOff val="0"/>
            <a:alphaOff val="0"/>
          </a:schemeClr>
        </a:solidFill>
        <a:ln w="25400" cap="flat" cmpd="sng" algn="ctr">
          <a:solidFill>
            <a:schemeClr val="accent4">
              <a:hueOff val="-576900"/>
              <a:satOff val="988"/>
              <a:lumOff val="-177"/>
              <a:alphaOff val="0"/>
            </a:schemeClr>
          </a:solidFill>
          <a:prstDash val="solid"/>
        </a:ln>
        <a:effectLst/>
      </dsp:spPr>
      <dsp:style>
        <a:lnRef idx="2">
          <a:scrgbClr r="0" g="0" b="0"/>
        </a:lnRef>
        <a:fillRef idx="1">
          <a:scrgbClr r="0" g="0" b="0"/>
        </a:fillRef>
        <a:effectRef idx="0">
          <a:scrgbClr r="0" g="0" b="0"/>
        </a:effectRef>
        <a:fontRef idx="minor"/>
      </dsp:style>
    </dsp:sp>
    <dsp:sp modelId="{65F84F01-9438-49EB-A130-E3F3954CD67C}">
      <dsp:nvSpPr>
        <dsp:cNvPr id="0" name=""/>
        <dsp:cNvSpPr/>
      </dsp:nvSpPr>
      <dsp:spPr>
        <a:xfrm>
          <a:off x="132640" y="126239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PUT</a:t>
          </a:r>
        </a:p>
      </dsp:txBody>
      <dsp:txXfrm>
        <a:off x="132640" y="1262398"/>
        <a:ext cx="1629786" cy="300090"/>
      </dsp:txXfrm>
    </dsp:sp>
    <dsp:sp modelId="{6FE9B08B-69EE-445D-A980-ABD0F895FBAD}">
      <dsp:nvSpPr>
        <dsp:cNvPr id="0" name=""/>
        <dsp:cNvSpPr/>
      </dsp:nvSpPr>
      <dsp:spPr>
        <a:xfrm>
          <a:off x="9967" y="1648164"/>
          <a:ext cx="128738" cy="128738"/>
        </a:xfrm>
        <a:prstGeom prst="rect">
          <a:avLst/>
        </a:prstGeom>
        <a:solidFill>
          <a:schemeClr val="lt1">
            <a:hueOff val="0"/>
            <a:satOff val="0"/>
            <a:lumOff val="0"/>
            <a:alphaOff val="0"/>
          </a:schemeClr>
        </a:solidFill>
        <a:ln w="25400" cap="flat" cmpd="sng" algn="ctr">
          <a:solidFill>
            <a:schemeClr val="accent4">
              <a:hueOff val="-865349"/>
              <a:satOff val="1481"/>
              <a:lumOff val="-266"/>
              <a:alphaOff val="0"/>
            </a:schemeClr>
          </a:solidFill>
          <a:prstDash val="solid"/>
        </a:ln>
        <a:effectLst/>
      </dsp:spPr>
      <dsp:style>
        <a:lnRef idx="2">
          <a:scrgbClr r="0" g="0" b="0"/>
        </a:lnRef>
        <a:fillRef idx="1">
          <a:scrgbClr r="0" g="0" b="0"/>
        </a:fillRef>
        <a:effectRef idx="0">
          <a:scrgbClr r="0" g="0" b="0"/>
        </a:effectRef>
        <a:fontRef idx="minor"/>
      </dsp:style>
    </dsp:sp>
    <dsp:sp modelId="{427196A5-353E-42DB-AD53-5E4D166C9CAB}">
      <dsp:nvSpPr>
        <dsp:cNvPr id="0" name=""/>
        <dsp:cNvSpPr/>
      </dsp:nvSpPr>
      <dsp:spPr>
        <a:xfrm>
          <a:off x="132640" y="1562489"/>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FBS</a:t>
          </a:r>
        </a:p>
      </dsp:txBody>
      <dsp:txXfrm>
        <a:off x="132640" y="1562489"/>
        <a:ext cx="1629786" cy="300090"/>
      </dsp:txXfrm>
    </dsp:sp>
    <dsp:sp modelId="{AD3AAFDA-86DB-4EC4-815D-9DCC09B38442}">
      <dsp:nvSpPr>
        <dsp:cNvPr id="0" name=""/>
        <dsp:cNvSpPr/>
      </dsp:nvSpPr>
      <dsp:spPr>
        <a:xfrm>
          <a:off x="9967" y="1948255"/>
          <a:ext cx="128738" cy="128738"/>
        </a:xfrm>
        <a:prstGeom prst="rect">
          <a:avLst/>
        </a:prstGeom>
        <a:solidFill>
          <a:schemeClr val="lt1">
            <a:hueOff val="0"/>
            <a:satOff val="0"/>
            <a:lumOff val="0"/>
            <a:alphaOff val="0"/>
          </a:schemeClr>
        </a:solidFill>
        <a:ln w="25400" cap="flat" cmpd="sng" algn="ctr">
          <a:solidFill>
            <a:schemeClr val="accent4">
              <a:hueOff val="-1153799"/>
              <a:satOff val="1975"/>
              <a:lumOff val="-354"/>
              <a:alphaOff val="0"/>
            </a:schemeClr>
          </a:solidFill>
          <a:prstDash val="solid"/>
        </a:ln>
        <a:effectLst/>
      </dsp:spPr>
      <dsp:style>
        <a:lnRef idx="2">
          <a:scrgbClr r="0" g="0" b="0"/>
        </a:lnRef>
        <a:fillRef idx="1">
          <a:scrgbClr r="0" g="0" b="0"/>
        </a:fillRef>
        <a:effectRef idx="0">
          <a:scrgbClr r="0" g="0" b="0"/>
        </a:effectRef>
        <a:fontRef idx="minor"/>
      </dsp:style>
    </dsp:sp>
    <dsp:sp modelId="{86AFBE19-5044-4037-85E0-9C72F2DB6698}">
      <dsp:nvSpPr>
        <dsp:cNvPr id="0" name=""/>
        <dsp:cNvSpPr/>
      </dsp:nvSpPr>
      <dsp:spPr>
        <a:xfrm>
          <a:off x="132640" y="1862579"/>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err="1"/>
            <a:t>HealthMaps</a:t>
          </a:r>
          <a:r>
            <a:rPr lang="en-US" sz="1400" kern="1200" dirty="0"/>
            <a:t> </a:t>
          </a:r>
        </a:p>
      </dsp:txBody>
      <dsp:txXfrm>
        <a:off x="132640" y="1862579"/>
        <a:ext cx="1629786" cy="300090"/>
      </dsp:txXfrm>
    </dsp:sp>
    <dsp:sp modelId="{AC0326C1-AB41-4CE0-9A18-D97BFA98816B}">
      <dsp:nvSpPr>
        <dsp:cNvPr id="0" name=""/>
        <dsp:cNvSpPr/>
      </dsp:nvSpPr>
      <dsp:spPr>
        <a:xfrm>
          <a:off x="9967" y="2248345"/>
          <a:ext cx="128738" cy="128738"/>
        </a:xfrm>
        <a:prstGeom prst="rect">
          <a:avLst/>
        </a:prstGeom>
        <a:solidFill>
          <a:schemeClr val="lt1">
            <a:hueOff val="0"/>
            <a:satOff val="0"/>
            <a:lumOff val="0"/>
            <a:alphaOff val="0"/>
          </a:schemeClr>
        </a:solidFill>
        <a:ln w="25400" cap="flat" cmpd="sng" algn="ctr">
          <a:solidFill>
            <a:schemeClr val="accent4">
              <a:hueOff val="-1442249"/>
              <a:satOff val="2469"/>
              <a:lumOff val="-443"/>
              <a:alphaOff val="0"/>
            </a:schemeClr>
          </a:solidFill>
          <a:prstDash val="solid"/>
        </a:ln>
        <a:effectLst/>
      </dsp:spPr>
      <dsp:style>
        <a:lnRef idx="2">
          <a:scrgbClr r="0" g="0" b="0"/>
        </a:lnRef>
        <a:fillRef idx="1">
          <a:scrgbClr r="0" g="0" b="0"/>
        </a:fillRef>
        <a:effectRef idx="0">
          <a:scrgbClr r="0" g="0" b="0"/>
        </a:effectRef>
        <a:fontRef idx="minor"/>
      </dsp:style>
    </dsp:sp>
    <dsp:sp modelId="{D858669A-B5C2-465E-A93B-FFC957124B83}">
      <dsp:nvSpPr>
        <dsp:cNvPr id="0" name=""/>
        <dsp:cNvSpPr/>
      </dsp:nvSpPr>
      <dsp:spPr>
        <a:xfrm>
          <a:off x="132640" y="2162669"/>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PCORI Fee </a:t>
          </a:r>
        </a:p>
      </dsp:txBody>
      <dsp:txXfrm>
        <a:off x="132640" y="2162669"/>
        <a:ext cx="1629786" cy="300090"/>
      </dsp:txXfrm>
    </dsp:sp>
    <dsp:sp modelId="{EEB9B24E-D213-47FD-8B72-70D9F410A38C}">
      <dsp:nvSpPr>
        <dsp:cNvPr id="0" name=""/>
        <dsp:cNvSpPr/>
      </dsp:nvSpPr>
      <dsp:spPr>
        <a:xfrm>
          <a:off x="9967" y="2548435"/>
          <a:ext cx="128738" cy="128738"/>
        </a:xfrm>
        <a:prstGeom prst="rect">
          <a:avLst/>
        </a:prstGeom>
        <a:solidFill>
          <a:schemeClr val="lt1">
            <a:hueOff val="0"/>
            <a:satOff val="0"/>
            <a:lumOff val="0"/>
            <a:alphaOff val="0"/>
          </a:schemeClr>
        </a:solidFill>
        <a:ln w="25400" cap="flat" cmpd="sng" algn="ctr">
          <a:solidFill>
            <a:schemeClr val="accent4">
              <a:hueOff val="-1730699"/>
              <a:satOff val="2963"/>
              <a:lumOff val="-531"/>
              <a:alphaOff val="0"/>
            </a:schemeClr>
          </a:solidFill>
          <a:prstDash val="solid"/>
        </a:ln>
        <a:effectLst/>
      </dsp:spPr>
      <dsp:style>
        <a:lnRef idx="2">
          <a:scrgbClr r="0" g="0" b="0"/>
        </a:lnRef>
        <a:fillRef idx="1">
          <a:scrgbClr r="0" g="0" b="0"/>
        </a:fillRef>
        <a:effectRef idx="0">
          <a:scrgbClr r="0" g="0" b="0"/>
        </a:effectRef>
        <a:fontRef idx="minor"/>
      </dsp:style>
    </dsp:sp>
    <dsp:sp modelId="{C48C4BC3-C229-4FA3-947E-CBC0562F97A1}">
      <dsp:nvSpPr>
        <dsp:cNvPr id="0" name=""/>
        <dsp:cNvSpPr/>
      </dsp:nvSpPr>
      <dsp:spPr>
        <a:xfrm>
          <a:off x="114353" y="2573874"/>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Retiree Medical per Capita</a:t>
          </a:r>
        </a:p>
      </dsp:txBody>
      <dsp:txXfrm>
        <a:off x="114353" y="2573874"/>
        <a:ext cx="1629786" cy="300090"/>
      </dsp:txXfrm>
    </dsp:sp>
    <dsp:sp modelId="{88A12D04-2DA1-4BDD-BF8C-6F852A8CA7E0}">
      <dsp:nvSpPr>
        <dsp:cNvPr id="0" name=""/>
        <dsp:cNvSpPr/>
      </dsp:nvSpPr>
      <dsp:spPr>
        <a:xfrm>
          <a:off x="1850049" y="370370"/>
          <a:ext cx="1752458" cy="206171"/>
        </a:xfrm>
        <a:prstGeom prst="rect">
          <a:avLst/>
        </a:prstGeom>
        <a:solidFill>
          <a:schemeClr val="accent4">
            <a:hueOff val="-1788389"/>
            <a:satOff val="3062"/>
            <a:lumOff val="-549"/>
            <a:alphaOff val="0"/>
          </a:schemeClr>
        </a:solidFill>
        <a:ln w="25400" cap="flat" cmpd="sng" algn="ctr">
          <a:solidFill>
            <a:schemeClr val="accent4">
              <a:hueOff val="-1788389"/>
              <a:satOff val="3062"/>
              <a:lumOff val="-54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8EE785-FBFF-455B-B3DA-FD2B33A2612E}">
      <dsp:nvSpPr>
        <dsp:cNvPr id="0" name=""/>
        <dsp:cNvSpPr/>
      </dsp:nvSpPr>
      <dsp:spPr>
        <a:xfrm>
          <a:off x="1850049" y="447800"/>
          <a:ext cx="128741" cy="128741"/>
        </a:xfrm>
        <a:prstGeom prst="rect">
          <a:avLst/>
        </a:prstGeom>
        <a:solidFill>
          <a:schemeClr val="lt1">
            <a:alpha val="90000"/>
            <a:hueOff val="0"/>
            <a:satOff val="0"/>
            <a:lumOff val="0"/>
            <a:alphaOff val="0"/>
          </a:schemeClr>
        </a:solidFill>
        <a:ln w="25400" cap="flat" cmpd="sng" algn="ctr">
          <a:solidFill>
            <a:schemeClr val="accent4">
              <a:hueOff val="-1788389"/>
              <a:satOff val="3062"/>
              <a:lumOff val="-549"/>
              <a:alphaOff val="0"/>
            </a:schemeClr>
          </a:solidFill>
          <a:prstDash val="solid"/>
        </a:ln>
        <a:effectLst/>
      </dsp:spPr>
      <dsp:style>
        <a:lnRef idx="2">
          <a:scrgbClr r="0" g="0" b="0"/>
        </a:lnRef>
        <a:fillRef idx="1">
          <a:scrgbClr r="0" g="0" b="0"/>
        </a:fillRef>
        <a:effectRef idx="0">
          <a:scrgbClr r="0" g="0" b="0"/>
        </a:effectRef>
        <a:fontRef idx="minor"/>
      </dsp:style>
    </dsp:sp>
    <dsp:sp modelId="{21B78CF1-D5AD-468C-BC84-EBC7011C0E96}">
      <dsp:nvSpPr>
        <dsp:cNvPr id="0" name=""/>
        <dsp:cNvSpPr/>
      </dsp:nvSpPr>
      <dsp:spPr>
        <a:xfrm>
          <a:off x="1850049" y="0"/>
          <a:ext cx="1752458" cy="37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en-US" sz="1400" b="1" kern="1200" dirty="0"/>
            <a:t>Central Data</a:t>
          </a:r>
        </a:p>
      </dsp:txBody>
      <dsp:txXfrm>
        <a:off x="1850049" y="0"/>
        <a:ext cx="1752458" cy="370370"/>
      </dsp:txXfrm>
    </dsp:sp>
    <dsp:sp modelId="{F7D843F0-3245-460D-A4ED-13912F00B5A4}">
      <dsp:nvSpPr>
        <dsp:cNvPr id="0" name=""/>
        <dsp:cNvSpPr/>
      </dsp:nvSpPr>
      <dsp:spPr>
        <a:xfrm>
          <a:off x="1850049" y="747893"/>
          <a:ext cx="128738" cy="128738"/>
        </a:xfrm>
        <a:prstGeom prst="rect">
          <a:avLst/>
        </a:prstGeom>
        <a:solidFill>
          <a:schemeClr val="lt1">
            <a:hueOff val="0"/>
            <a:satOff val="0"/>
            <a:lumOff val="0"/>
            <a:alphaOff val="0"/>
          </a:schemeClr>
        </a:solidFill>
        <a:ln w="25400" cap="flat" cmpd="sng" algn="ctr">
          <a:solidFill>
            <a:schemeClr val="accent4">
              <a:hueOff val="-2019149"/>
              <a:satOff val="3457"/>
              <a:lumOff val="-620"/>
              <a:alphaOff val="0"/>
            </a:schemeClr>
          </a:solidFill>
          <a:prstDash val="solid"/>
        </a:ln>
        <a:effectLst/>
      </dsp:spPr>
      <dsp:style>
        <a:lnRef idx="2">
          <a:scrgbClr r="0" g="0" b="0"/>
        </a:lnRef>
        <a:fillRef idx="1">
          <a:scrgbClr r="0" g="0" b="0"/>
        </a:fillRef>
        <a:effectRef idx="0">
          <a:scrgbClr r="0" g="0" b="0"/>
        </a:effectRef>
        <a:fontRef idx="minor"/>
      </dsp:style>
    </dsp:sp>
    <dsp:sp modelId="{23864349-D7FA-4866-A604-0663E1A97866}">
      <dsp:nvSpPr>
        <dsp:cNvPr id="0" name=""/>
        <dsp:cNvSpPr/>
      </dsp:nvSpPr>
      <dsp:spPr>
        <a:xfrm>
          <a:off x="1972721" y="66221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NetRPM</a:t>
          </a:r>
        </a:p>
      </dsp:txBody>
      <dsp:txXfrm>
        <a:off x="1972721" y="662218"/>
        <a:ext cx="1629786" cy="300090"/>
      </dsp:txXfrm>
    </dsp:sp>
    <dsp:sp modelId="{CAFF47A2-AC17-490B-88E8-CC7D55D154BD}">
      <dsp:nvSpPr>
        <dsp:cNvPr id="0" name=""/>
        <dsp:cNvSpPr/>
      </dsp:nvSpPr>
      <dsp:spPr>
        <a:xfrm>
          <a:off x="1850049" y="1047984"/>
          <a:ext cx="128738" cy="128738"/>
        </a:xfrm>
        <a:prstGeom prst="rect">
          <a:avLst/>
        </a:prstGeom>
        <a:solidFill>
          <a:schemeClr val="lt1">
            <a:hueOff val="0"/>
            <a:satOff val="0"/>
            <a:lumOff val="0"/>
            <a:alphaOff val="0"/>
          </a:schemeClr>
        </a:solidFill>
        <a:ln w="25400" cap="flat" cmpd="sng" algn="ctr">
          <a:solidFill>
            <a:schemeClr val="accent4">
              <a:hueOff val="-2307599"/>
              <a:satOff val="3950"/>
              <a:lumOff val="-708"/>
              <a:alphaOff val="0"/>
            </a:schemeClr>
          </a:solidFill>
          <a:prstDash val="solid"/>
        </a:ln>
        <a:effectLst/>
      </dsp:spPr>
      <dsp:style>
        <a:lnRef idx="2">
          <a:scrgbClr r="0" g="0" b="0"/>
        </a:lnRef>
        <a:fillRef idx="1">
          <a:scrgbClr r="0" g="0" b="0"/>
        </a:fillRef>
        <a:effectRef idx="0">
          <a:scrgbClr r="0" g="0" b="0"/>
        </a:effectRef>
        <a:fontRef idx="minor"/>
      </dsp:style>
    </dsp:sp>
    <dsp:sp modelId="{526468AA-3055-436B-BEEC-AFFA7AFA728E}">
      <dsp:nvSpPr>
        <dsp:cNvPr id="0" name=""/>
        <dsp:cNvSpPr/>
      </dsp:nvSpPr>
      <dsp:spPr>
        <a:xfrm>
          <a:off x="1976045" y="1101067"/>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Non Discrimination Testing</a:t>
          </a:r>
        </a:p>
      </dsp:txBody>
      <dsp:txXfrm>
        <a:off x="1976045" y="1101067"/>
        <a:ext cx="1629786" cy="300090"/>
      </dsp:txXfrm>
    </dsp:sp>
    <dsp:sp modelId="{085830E9-BA3A-4CAD-8123-1BD122A0DDD2}">
      <dsp:nvSpPr>
        <dsp:cNvPr id="0" name=""/>
        <dsp:cNvSpPr/>
      </dsp:nvSpPr>
      <dsp:spPr>
        <a:xfrm>
          <a:off x="1840904" y="1574242"/>
          <a:ext cx="128738" cy="128738"/>
        </a:xfrm>
        <a:prstGeom prst="rect">
          <a:avLst/>
        </a:prstGeom>
        <a:solidFill>
          <a:schemeClr val="lt1">
            <a:hueOff val="0"/>
            <a:satOff val="0"/>
            <a:lumOff val="0"/>
            <a:alphaOff val="0"/>
          </a:schemeClr>
        </a:solidFill>
        <a:ln w="25400" cap="flat" cmpd="sng" algn="ctr">
          <a:solidFill>
            <a:schemeClr val="accent4">
              <a:hueOff val="-2596048"/>
              <a:satOff val="4444"/>
              <a:lumOff val="-797"/>
              <a:alphaOff val="0"/>
            </a:schemeClr>
          </a:solidFill>
          <a:prstDash val="solid"/>
        </a:ln>
        <a:effectLst/>
      </dsp:spPr>
      <dsp:style>
        <a:lnRef idx="2">
          <a:scrgbClr r="0" g="0" b="0"/>
        </a:lnRef>
        <a:fillRef idx="1">
          <a:scrgbClr r="0" g="0" b="0"/>
        </a:fillRef>
        <a:effectRef idx="0">
          <a:scrgbClr r="0" g="0" b="0"/>
        </a:effectRef>
        <a:fontRef idx="minor"/>
      </dsp:style>
    </dsp:sp>
    <dsp:sp modelId="{1DDF2DEA-6621-4CEB-B3F4-D133104FCB89}">
      <dsp:nvSpPr>
        <dsp:cNvPr id="0" name=""/>
        <dsp:cNvSpPr/>
      </dsp:nvSpPr>
      <dsp:spPr>
        <a:xfrm>
          <a:off x="1989182" y="1592813"/>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ADML Benchmarking</a:t>
          </a:r>
        </a:p>
      </dsp:txBody>
      <dsp:txXfrm>
        <a:off x="1989182" y="1592813"/>
        <a:ext cx="1629786" cy="300090"/>
      </dsp:txXfrm>
    </dsp:sp>
    <dsp:sp modelId="{83E87DAF-BCC6-41F5-A898-44ABB6892EBE}">
      <dsp:nvSpPr>
        <dsp:cNvPr id="0" name=""/>
        <dsp:cNvSpPr/>
      </dsp:nvSpPr>
      <dsp:spPr>
        <a:xfrm>
          <a:off x="1831760" y="1987300"/>
          <a:ext cx="128738" cy="128738"/>
        </a:xfrm>
        <a:prstGeom prst="rect">
          <a:avLst/>
        </a:prstGeom>
        <a:solidFill>
          <a:schemeClr val="lt1">
            <a:hueOff val="0"/>
            <a:satOff val="0"/>
            <a:lumOff val="0"/>
            <a:alphaOff val="0"/>
          </a:schemeClr>
        </a:solidFill>
        <a:ln w="25400" cap="flat" cmpd="sng" algn="ctr">
          <a:solidFill>
            <a:schemeClr val="accent4">
              <a:hueOff val="-2884498"/>
              <a:satOff val="4938"/>
              <a:lumOff val="-885"/>
              <a:alphaOff val="0"/>
            </a:schemeClr>
          </a:solidFill>
          <a:prstDash val="solid"/>
        </a:ln>
        <a:effectLst/>
      </dsp:spPr>
      <dsp:style>
        <a:lnRef idx="2">
          <a:scrgbClr r="0" g="0" b="0"/>
        </a:lnRef>
        <a:fillRef idx="1">
          <a:scrgbClr r="0" g="0" b="0"/>
        </a:fillRef>
        <a:effectRef idx="0">
          <a:scrgbClr r="0" g="0" b="0"/>
        </a:effectRef>
        <a:fontRef idx="minor"/>
      </dsp:style>
    </dsp:sp>
    <dsp:sp modelId="{B5F470C8-22F7-43B6-A839-D08232DBECE5}">
      <dsp:nvSpPr>
        <dsp:cNvPr id="0" name=""/>
        <dsp:cNvSpPr/>
      </dsp:nvSpPr>
      <dsp:spPr>
        <a:xfrm>
          <a:off x="2000150" y="2101073"/>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CCMU (Billing, Reporting, Vetting)</a:t>
          </a:r>
        </a:p>
      </dsp:txBody>
      <dsp:txXfrm>
        <a:off x="2000150" y="2101073"/>
        <a:ext cx="1629786" cy="300090"/>
      </dsp:txXfrm>
    </dsp:sp>
    <dsp:sp modelId="{E0AA81BB-CD12-4BB5-8C46-420D702298F7}">
      <dsp:nvSpPr>
        <dsp:cNvPr id="0" name=""/>
        <dsp:cNvSpPr/>
      </dsp:nvSpPr>
      <dsp:spPr>
        <a:xfrm>
          <a:off x="1831761" y="2624912"/>
          <a:ext cx="128738" cy="128738"/>
        </a:xfrm>
        <a:prstGeom prst="rect">
          <a:avLst/>
        </a:prstGeom>
        <a:solidFill>
          <a:schemeClr val="lt1">
            <a:hueOff val="0"/>
            <a:satOff val="0"/>
            <a:lumOff val="0"/>
            <a:alphaOff val="0"/>
          </a:schemeClr>
        </a:solidFill>
        <a:ln w="25400" cap="flat" cmpd="sng" algn="ctr">
          <a:solidFill>
            <a:schemeClr val="accent4">
              <a:hueOff val="-3172948"/>
              <a:satOff val="5432"/>
              <a:lumOff val="-974"/>
              <a:alphaOff val="0"/>
            </a:schemeClr>
          </a:solidFill>
          <a:prstDash val="solid"/>
        </a:ln>
        <a:effectLst/>
      </dsp:spPr>
      <dsp:style>
        <a:lnRef idx="2">
          <a:scrgbClr r="0" g="0" b="0"/>
        </a:lnRef>
        <a:fillRef idx="1">
          <a:scrgbClr r="0" g="0" b="0"/>
        </a:fillRef>
        <a:effectRef idx="0">
          <a:scrgbClr r="0" g="0" b="0"/>
        </a:effectRef>
        <a:fontRef idx="minor"/>
      </dsp:style>
    </dsp:sp>
    <dsp:sp modelId="{3FFF6FB0-87FF-44A1-AD45-3D203D21AD78}">
      <dsp:nvSpPr>
        <dsp:cNvPr id="0" name=""/>
        <dsp:cNvSpPr/>
      </dsp:nvSpPr>
      <dsp:spPr>
        <a:xfrm>
          <a:off x="1989198" y="2551601"/>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Geo Access</a:t>
          </a:r>
        </a:p>
      </dsp:txBody>
      <dsp:txXfrm>
        <a:off x="1989198" y="2551601"/>
        <a:ext cx="1629786" cy="300090"/>
      </dsp:txXfrm>
    </dsp:sp>
    <dsp:sp modelId="{2578DD36-A994-4E0C-BBA1-3C5E9FD67903}">
      <dsp:nvSpPr>
        <dsp:cNvPr id="0" name=""/>
        <dsp:cNvSpPr/>
      </dsp:nvSpPr>
      <dsp:spPr>
        <a:xfrm>
          <a:off x="1822616" y="2983266"/>
          <a:ext cx="128738" cy="128738"/>
        </a:xfrm>
        <a:prstGeom prst="rect">
          <a:avLst/>
        </a:prstGeom>
        <a:solidFill>
          <a:schemeClr val="lt1">
            <a:hueOff val="0"/>
            <a:satOff val="0"/>
            <a:lumOff val="0"/>
            <a:alphaOff val="0"/>
          </a:schemeClr>
        </a:solidFill>
        <a:ln w="25400" cap="flat" cmpd="sng" algn="ctr">
          <a:solidFill>
            <a:schemeClr val="accent4">
              <a:hueOff val="-3461398"/>
              <a:satOff val="5926"/>
              <a:lumOff val="-1063"/>
              <a:alphaOff val="0"/>
            </a:schemeClr>
          </a:solidFill>
          <a:prstDash val="solid"/>
        </a:ln>
        <a:effectLst/>
      </dsp:spPr>
      <dsp:style>
        <a:lnRef idx="2">
          <a:scrgbClr r="0" g="0" b="0"/>
        </a:lnRef>
        <a:fillRef idx="1">
          <a:scrgbClr r="0" g="0" b="0"/>
        </a:fillRef>
        <a:effectRef idx="0">
          <a:scrgbClr r="0" g="0" b="0"/>
        </a:effectRef>
        <a:fontRef idx="minor"/>
      </dsp:style>
    </dsp:sp>
    <dsp:sp modelId="{ECC119E2-F238-4981-B0DA-883916FED91E}">
      <dsp:nvSpPr>
        <dsp:cNvPr id="0" name=""/>
        <dsp:cNvSpPr/>
      </dsp:nvSpPr>
      <dsp:spPr>
        <a:xfrm>
          <a:off x="2002399" y="2946052"/>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Disruption Analysis</a:t>
          </a:r>
        </a:p>
      </dsp:txBody>
      <dsp:txXfrm>
        <a:off x="2002399" y="2946052"/>
        <a:ext cx="1629786" cy="300090"/>
      </dsp:txXfrm>
    </dsp:sp>
    <dsp:sp modelId="{8C8E272D-94BE-4CA3-AE63-4921AB9FAE07}">
      <dsp:nvSpPr>
        <dsp:cNvPr id="0" name=""/>
        <dsp:cNvSpPr/>
      </dsp:nvSpPr>
      <dsp:spPr>
        <a:xfrm>
          <a:off x="1813473" y="3457355"/>
          <a:ext cx="128738" cy="128738"/>
        </a:xfrm>
        <a:prstGeom prst="rect">
          <a:avLst/>
        </a:prstGeom>
        <a:solidFill>
          <a:schemeClr val="lt1">
            <a:hueOff val="0"/>
            <a:satOff val="0"/>
            <a:lumOff val="0"/>
            <a:alphaOff val="0"/>
          </a:schemeClr>
        </a:solidFill>
        <a:ln w="25400" cap="flat" cmpd="sng" algn="ctr">
          <a:solidFill>
            <a:schemeClr val="accent4">
              <a:hueOff val="-3749848"/>
              <a:satOff val="6419"/>
              <a:lumOff val="-1151"/>
              <a:alphaOff val="0"/>
            </a:schemeClr>
          </a:solidFill>
          <a:prstDash val="solid"/>
        </a:ln>
        <a:effectLst/>
      </dsp:spPr>
      <dsp:style>
        <a:lnRef idx="2">
          <a:scrgbClr r="0" g="0" b="0"/>
        </a:lnRef>
        <a:fillRef idx="1">
          <a:scrgbClr r="0" g="0" b="0"/>
        </a:fillRef>
        <a:effectRef idx="0">
          <a:scrgbClr r="0" g="0" b="0"/>
        </a:effectRef>
        <a:fontRef idx="minor"/>
      </dsp:style>
    </dsp:sp>
    <dsp:sp modelId="{35CB4B54-CEDD-4993-B1D1-94773C566717}">
      <dsp:nvSpPr>
        <dsp:cNvPr id="0" name=""/>
        <dsp:cNvSpPr/>
      </dsp:nvSpPr>
      <dsp:spPr>
        <a:xfrm>
          <a:off x="1970912" y="3457355"/>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CCMU Ops and Sales Support</a:t>
          </a:r>
        </a:p>
      </dsp:txBody>
      <dsp:txXfrm>
        <a:off x="1970912" y="3457355"/>
        <a:ext cx="1629786" cy="300090"/>
      </dsp:txXfrm>
    </dsp:sp>
    <dsp:sp modelId="{83E3E2B1-25E4-48AC-9F54-4BDCA54DA3AF}">
      <dsp:nvSpPr>
        <dsp:cNvPr id="0" name=""/>
        <dsp:cNvSpPr/>
      </dsp:nvSpPr>
      <dsp:spPr>
        <a:xfrm>
          <a:off x="3690130" y="370370"/>
          <a:ext cx="1752458" cy="206171"/>
        </a:xfrm>
        <a:prstGeom prst="rect">
          <a:avLst/>
        </a:prstGeom>
        <a:solidFill>
          <a:schemeClr val="accent4">
            <a:hueOff val="-3576778"/>
            <a:satOff val="6123"/>
            <a:lumOff val="-1098"/>
            <a:alphaOff val="0"/>
          </a:schemeClr>
        </a:solidFill>
        <a:ln w="25400" cap="flat" cmpd="sng" algn="ctr">
          <a:solidFill>
            <a:schemeClr val="accent4">
              <a:hueOff val="-3576778"/>
              <a:satOff val="6123"/>
              <a:lumOff val="-109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8D5E08-D178-4E54-ACAA-9035F1E3CF87}">
      <dsp:nvSpPr>
        <dsp:cNvPr id="0" name=""/>
        <dsp:cNvSpPr/>
      </dsp:nvSpPr>
      <dsp:spPr>
        <a:xfrm>
          <a:off x="3690130" y="447800"/>
          <a:ext cx="128741" cy="128741"/>
        </a:xfrm>
        <a:prstGeom prst="rect">
          <a:avLst/>
        </a:prstGeom>
        <a:solidFill>
          <a:schemeClr val="lt1">
            <a:alpha val="90000"/>
            <a:hueOff val="0"/>
            <a:satOff val="0"/>
            <a:lumOff val="0"/>
            <a:alphaOff val="0"/>
          </a:schemeClr>
        </a:solidFill>
        <a:ln w="25400" cap="flat" cmpd="sng" algn="ctr">
          <a:solidFill>
            <a:schemeClr val="accent4">
              <a:hueOff val="-3576778"/>
              <a:satOff val="6123"/>
              <a:lumOff val="-1098"/>
              <a:alphaOff val="0"/>
            </a:schemeClr>
          </a:solidFill>
          <a:prstDash val="solid"/>
        </a:ln>
        <a:effectLst/>
      </dsp:spPr>
      <dsp:style>
        <a:lnRef idx="2">
          <a:scrgbClr r="0" g="0" b="0"/>
        </a:lnRef>
        <a:fillRef idx="1">
          <a:scrgbClr r="0" g="0" b="0"/>
        </a:fillRef>
        <a:effectRef idx="0">
          <a:scrgbClr r="0" g="0" b="0"/>
        </a:effectRef>
        <a:fontRef idx="minor"/>
      </dsp:style>
    </dsp:sp>
    <dsp:sp modelId="{49F39F63-5697-4700-B26F-7DFD59FB2A83}">
      <dsp:nvSpPr>
        <dsp:cNvPr id="0" name=""/>
        <dsp:cNvSpPr/>
      </dsp:nvSpPr>
      <dsp:spPr>
        <a:xfrm>
          <a:off x="3690130" y="0"/>
          <a:ext cx="1752458" cy="37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en-US" sz="1400" b="1" kern="1200" dirty="0"/>
            <a:t>Carrier Operations</a:t>
          </a:r>
        </a:p>
      </dsp:txBody>
      <dsp:txXfrm>
        <a:off x="3690130" y="0"/>
        <a:ext cx="1752458" cy="370370"/>
      </dsp:txXfrm>
    </dsp:sp>
    <dsp:sp modelId="{96246F1F-1C08-444E-AC29-8686C24FDEFB}">
      <dsp:nvSpPr>
        <dsp:cNvPr id="0" name=""/>
        <dsp:cNvSpPr/>
      </dsp:nvSpPr>
      <dsp:spPr>
        <a:xfrm>
          <a:off x="3690130" y="747893"/>
          <a:ext cx="128738" cy="128738"/>
        </a:xfrm>
        <a:prstGeom prst="rect">
          <a:avLst/>
        </a:prstGeom>
        <a:solidFill>
          <a:schemeClr val="lt1">
            <a:hueOff val="0"/>
            <a:satOff val="0"/>
            <a:lumOff val="0"/>
            <a:alphaOff val="0"/>
          </a:schemeClr>
        </a:solidFill>
        <a:ln w="25400" cap="flat" cmpd="sng" algn="ctr">
          <a:solidFill>
            <a:schemeClr val="accent4">
              <a:hueOff val="-4038297"/>
              <a:satOff val="6913"/>
              <a:lumOff val="-1240"/>
              <a:alphaOff val="0"/>
            </a:schemeClr>
          </a:solidFill>
          <a:prstDash val="solid"/>
        </a:ln>
        <a:effectLst/>
      </dsp:spPr>
      <dsp:style>
        <a:lnRef idx="2">
          <a:scrgbClr r="0" g="0" b="0"/>
        </a:lnRef>
        <a:fillRef idx="1">
          <a:scrgbClr r="0" g="0" b="0"/>
        </a:fillRef>
        <a:effectRef idx="0">
          <a:scrgbClr r="0" g="0" b="0"/>
        </a:effectRef>
        <a:fontRef idx="minor"/>
      </dsp:style>
    </dsp:sp>
    <dsp:sp modelId="{90A148FA-68D3-45A7-BBF2-6BBA03E13C0F}">
      <dsp:nvSpPr>
        <dsp:cNvPr id="0" name=""/>
        <dsp:cNvSpPr/>
      </dsp:nvSpPr>
      <dsp:spPr>
        <a:xfrm>
          <a:off x="3812802" y="66221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Client Profiling</a:t>
          </a:r>
        </a:p>
      </dsp:txBody>
      <dsp:txXfrm>
        <a:off x="3812802" y="662218"/>
        <a:ext cx="1629786" cy="300090"/>
      </dsp:txXfrm>
    </dsp:sp>
    <dsp:sp modelId="{8CDD8AE1-65FD-450A-B76B-14D68DD1E46C}">
      <dsp:nvSpPr>
        <dsp:cNvPr id="0" name=""/>
        <dsp:cNvSpPr/>
      </dsp:nvSpPr>
      <dsp:spPr>
        <a:xfrm>
          <a:off x="3690130" y="1047984"/>
          <a:ext cx="128738" cy="128738"/>
        </a:xfrm>
        <a:prstGeom prst="rect">
          <a:avLst/>
        </a:prstGeom>
        <a:solidFill>
          <a:schemeClr val="lt1">
            <a:hueOff val="0"/>
            <a:satOff val="0"/>
            <a:lumOff val="0"/>
            <a:alphaOff val="0"/>
          </a:schemeClr>
        </a:solidFill>
        <a:ln w="25400" cap="flat" cmpd="sng" algn="ctr">
          <a:solidFill>
            <a:schemeClr val="accent4">
              <a:hueOff val="-4326747"/>
              <a:satOff val="7407"/>
              <a:lumOff val="-1328"/>
              <a:alphaOff val="0"/>
            </a:schemeClr>
          </a:solidFill>
          <a:prstDash val="solid"/>
        </a:ln>
        <a:effectLst/>
      </dsp:spPr>
      <dsp:style>
        <a:lnRef idx="2">
          <a:scrgbClr r="0" g="0" b="0"/>
        </a:lnRef>
        <a:fillRef idx="1">
          <a:scrgbClr r="0" g="0" b="0"/>
        </a:fillRef>
        <a:effectRef idx="0">
          <a:scrgbClr r="0" g="0" b="0"/>
        </a:effectRef>
        <a:fontRef idx="minor"/>
      </dsp:style>
    </dsp:sp>
    <dsp:sp modelId="{41BED444-ACB6-4FA1-9FAB-7BEC95E0C8A7}">
      <dsp:nvSpPr>
        <dsp:cNvPr id="0" name=""/>
        <dsp:cNvSpPr/>
      </dsp:nvSpPr>
      <dsp:spPr>
        <a:xfrm>
          <a:off x="3812802" y="96230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Priority Email Assistance</a:t>
          </a:r>
        </a:p>
      </dsp:txBody>
      <dsp:txXfrm>
        <a:off x="3812802" y="962308"/>
        <a:ext cx="1629786" cy="300090"/>
      </dsp:txXfrm>
    </dsp:sp>
    <dsp:sp modelId="{6FE01F62-5DC5-4A76-BE16-293FF01E2A36}">
      <dsp:nvSpPr>
        <dsp:cNvPr id="0" name=""/>
        <dsp:cNvSpPr/>
      </dsp:nvSpPr>
      <dsp:spPr>
        <a:xfrm>
          <a:off x="3682991" y="1403438"/>
          <a:ext cx="128738" cy="128738"/>
        </a:xfrm>
        <a:prstGeom prst="rect">
          <a:avLst/>
        </a:prstGeom>
        <a:solidFill>
          <a:schemeClr val="lt1">
            <a:hueOff val="0"/>
            <a:satOff val="0"/>
            <a:lumOff val="0"/>
            <a:alphaOff val="0"/>
          </a:schemeClr>
        </a:solidFill>
        <a:ln w="25400" cap="flat" cmpd="sng" algn="ctr">
          <a:solidFill>
            <a:schemeClr val="accent4">
              <a:hueOff val="-4615197"/>
              <a:satOff val="7901"/>
              <a:lumOff val="-1417"/>
              <a:alphaOff val="0"/>
            </a:schemeClr>
          </a:solidFill>
          <a:prstDash val="solid"/>
        </a:ln>
        <a:effectLst/>
      </dsp:spPr>
      <dsp:style>
        <a:lnRef idx="2">
          <a:scrgbClr r="0" g="0" b="0"/>
        </a:lnRef>
        <a:fillRef idx="1">
          <a:scrgbClr r="0" g="0" b="0"/>
        </a:fillRef>
        <a:effectRef idx="0">
          <a:scrgbClr r="0" g="0" b="0"/>
        </a:effectRef>
        <a:fontRef idx="minor"/>
      </dsp:style>
    </dsp:sp>
    <dsp:sp modelId="{9809C958-8A56-48ED-86BA-227CD3CE7B4E}">
      <dsp:nvSpPr>
        <dsp:cNvPr id="0" name=""/>
        <dsp:cNvSpPr/>
      </dsp:nvSpPr>
      <dsp:spPr>
        <a:xfrm>
          <a:off x="3810895" y="1322296"/>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Record Keeping</a:t>
          </a:r>
        </a:p>
      </dsp:txBody>
      <dsp:txXfrm>
        <a:off x="3810895" y="1322296"/>
        <a:ext cx="1629786" cy="300090"/>
      </dsp:txXfrm>
    </dsp:sp>
    <dsp:sp modelId="{511B101B-7629-4EFB-B96A-20B8BFB1DB2A}">
      <dsp:nvSpPr>
        <dsp:cNvPr id="0" name=""/>
        <dsp:cNvSpPr/>
      </dsp:nvSpPr>
      <dsp:spPr>
        <a:xfrm>
          <a:off x="3690130" y="1648164"/>
          <a:ext cx="128738" cy="128738"/>
        </a:xfrm>
        <a:prstGeom prst="rect">
          <a:avLst/>
        </a:prstGeom>
        <a:solidFill>
          <a:schemeClr val="lt1">
            <a:hueOff val="0"/>
            <a:satOff val="0"/>
            <a:lumOff val="0"/>
            <a:alphaOff val="0"/>
          </a:schemeClr>
        </a:solidFill>
        <a:ln w="25400" cap="flat" cmpd="sng" algn="ctr">
          <a:solidFill>
            <a:schemeClr val="accent4">
              <a:hueOff val="-4903647"/>
              <a:satOff val="8395"/>
              <a:lumOff val="-1505"/>
              <a:alphaOff val="0"/>
            </a:schemeClr>
          </a:solidFill>
          <a:prstDash val="solid"/>
        </a:ln>
        <a:effectLst/>
      </dsp:spPr>
      <dsp:style>
        <a:lnRef idx="2">
          <a:scrgbClr r="0" g="0" b="0"/>
        </a:lnRef>
        <a:fillRef idx="1">
          <a:scrgbClr r="0" g="0" b="0"/>
        </a:fillRef>
        <a:effectRef idx="0">
          <a:scrgbClr r="0" g="0" b="0"/>
        </a:effectRef>
        <a:fontRef idx="minor"/>
      </dsp:style>
    </dsp:sp>
    <dsp:sp modelId="{2CE0A0D7-207C-4A28-8701-0D9AA5AF17AC}">
      <dsp:nvSpPr>
        <dsp:cNvPr id="0" name=""/>
        <dsp:cNvSpPr/>
      </dsp:nvSpPr>
      <dsp:spPr>
        <a:xfrm>
          <a:off x="3810895" y="175197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High Performing &amp; Alternative Zip Code</a:t>
          </a:r>
        </a:p>
      </dsp:txBody>
      <dsp:txXfrm>
        <a:off x="3810895" y="1751978"/>
        <a:ext cx="1629786" cy="300090"/>
      </dsp:txXfrm>
    </dsp:sp>
    <dsp:sp modelId="{96648D73-25C4-41CF-BAE6-697090BF3E26}">
      <dsp:nvSpPr>
        <dsp:cNvPr id="0" name=""/>
        <dsp:cNvSpPr/>
      </dsp:nvSpPr>
      <dsp:spPr>
        <a:xfrm>
          <a:off x="3664703" y="2235925"/>
          <a:ext cx="128738" cy="128738"/>
        </a:xfrm>
        <a:prstGeom prst="rect">
          <a:avLst/>
        </a:prstGeom>
        <a:solidFill>
          <a:schemeClr val="lt1">
            <a:hueOff val="0"/>
            <a:satOff val="0"/>
            <a:lumOff val="0"/>
            <a:alphaOff val="0"/>
          </a:schemeClr>
        </a:solidFill>
        <a:ln w="25400" cap="flat" cmpd="sng" algn="ctr">
          <a:solidFill>
            <a:schemeClr val="accent4">
              <a:hueOff val="-5192097"/>
              <a:satOff val="8889"/>
              <a:lumOff val="-1594"/>
              <a:alphaOff val="0"/>
            </a:schemeClr>
          </a:solidFill>
          <a:prstDash val="solid"/>
        </a:ln>
        <a:effectLst/>
      </dsp:spPr>
      <dsp:style>
        <a:lnRef idx="2">
          <a:scrgbClr r="0" g="0" b="0"/>
        </a:lnRef>
        <a:fillRef idx="1">
          <a:scrgbClr r="0" g="0" b="0"/>
        </a:fillRef>
        <a:effectRef idx="0">
          <a:scrgbClr r="0" g="0" b="0"/>
        </a:effectRef>
        <a:fontRef idx="minor"/>
      </dsp:style>
    </dsp:sp>
    <dsp:sp modelId="{75A62F8B-624A-4212-975E-AA523DD97511}">
      <dsp:nvSpPr>
        <dsp:cNvPr id="0" name=""/>
        <dsp:cNvSpPr/>
      </dsp:nvSpPr>
      <dsp:spPr>
        <a:xfrm>
          <a:off x="3810895" y="2323416"/>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Summary of Benefits &amp; Coverage</a:t>
          </a:r>
        </a:p>
      </dsp:txBody>
      <dsp:txXfrm>
        <a:off x="3810895" y="2323416"/>
        <a:ext cx="1629786" cy="300090"/>
      </dsp:txXfrm>
    </dsp:sp>
    <dsp:sp modelId="{0CFE5622-9729-46A5-BC7A-9D0D3C42DC03}">
      <dsp:nvSpPr>
        <dsp:cNvPr id="0" name=""/>
        <dsp:cNvSpPr/>
      </dsp:nvSpPr>
      <dsp:spPr>
        <a:xfrm>
          <a:off x="3664703" y="2783530"/>
          <a:ext cx="128738" cy="128738"/>
        </a:xfrm>
        <a:prstGeom prst="rect">
          <a:avLst/>
        </a:prstGeom>
        <a:solidFill>
          <a:schemeClr val="lt1">
            <a:hueOff val="0"/>
            <a:satOff val="0"/>
            <a:lumOff val="0"/>
            <a:alphaOff val="0"/>
          </a:schemeClr>
        </a:solidFill>
        <a:ln w="25400" cap="flat" cmpd="sng" algn="ctr">
          <a:solidFill>
            <a:schemeClr val="accent4">
              <a:hueOff val="-5480547"/>
              <a:satOff val="9382"/>
              <a:lumOff val="-1682"/>
              <a:alphaOff val="0"/>
            </a:schemeClr>
          </a:solidFill>
          <a:prstDash val="solid"/>
        </a:ln>
        <a:effectLst/>
      </dsp:spPr>
      <dsp:style>
        <a:lnRef idx="2">
          <a:scrgbClr r="0" g="0" b="0"/>
        </a:lnRef>
        <a:fillRef idx="1">
          <a:scrgbClr r="0" g="0" b="0"/>
        </a:fillRef>
        <a:effectRef idx="0">
          <a:scrgbClr r="0" g="0" b="0"/>
        </a:effectRef>
        <a:fontRef idx="minor"/>
      </dsp:style>
    </dsp:sp>
    <dsp:sp modelId="{214F24F1-A446-47EC-ABEA-8C1337DCB646}">
      <dsp:nvSpPr>
        <dsp:cNvPr id="0" name=""/>
        <dsp:cNvSpPr/>
      </dsp:nvSpPr>
      <dsp:spPr>
        <a:xfrm>
          <a:off x="3820038" y="2819402"/>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Network Summary</a:t>
          </a:r>
        </a:p>
      </dsp:txBody>
      <dsp:txXfrm>
        <a:off x="3820038" y="2819402"/>
        <a:ext cx="1629786" cy="300090"/>
      </dsp:txXfrm>
    </dsp:sp>
    <dsp:sp modelId="{CA8B81F1-A403-488B-ADC6-0EAD914692C6}">
      <dsp:nvSpPr>
        <dsp:cNvPr id="0" name=""/>
        <dsp:cNvSpPr/>
      </dsp:nvSpPr>
      <dsp:spPr>
        <a:xfrm>
          <a:off x="3664703" y="3247448"/>
          <a:ext cx="128738" cy="128738"/>
        </a:xfrm>
        <a:prstGeom prst="rect">
          <a:avLst/>
        </a:prstGeom>
        <a:solidFill>
          <a:schemeClr val="lt1">
            <a:hueOff val="0"/>
            <a:satOff val="0"/>
            <a:lumOff val="0"/>
            <a:alphaOff val="0"/>
          </a:schemeClr>
        </a:solidFill>
        <a:ln w="25400" cap="flat" cmpd="sng" algn="ctr">
          <a:solidFill>
            <a:schemeClr val="accent4">
              <a:hueOff val="-5768996"/>
              <a:satOff val="9876"/>
              <a:lumOff val="-1771"/>
              <a:alphaOff val="0"/>
            </a:schemeClr>
          </a:solidFill>
          <a:prstDash val="solid"/>
        </a:ln>
        <a:effectLst/>
      </dsp:spPr>
      <dsp:style>
        <a:lnRef idx="2">
          <a:scrgbClr r="0" g="0" b="0"/>
        </a:lnRef>
        <a:fillRef idx="1">
          <a:scrgbClr r="0" g="0" b="0"/>
        </a:fillRef>
        <a:effectRef idx="0">
          <a:scrgbClr r="0" g="0" b="0"/>
        </a:effectRef>
        <a:fontRef idx="minor"/>
      </dsp:style>
    </dsp:sp>
    <dsp:sp modelId="{401BE9A6-1695-4FA4-B0A7-6D46CBAE1ED4}">
      <dsp:nvSpPr>
        <dsp:cNvPr id="0" name=""/>
        <dsp:cNvSpPr/>
      </dsp:nvSpPr>
      <dsp:spPr>
        <a:xfrm>
          <a:off x="3810895" y="3159392"/>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Benefit Set-Up</a:t>
          </a:r>
        </a:p>
      </dsp:txBody>
      <dsp:txXfrm>
        <a:off x="3810895" y="3159392"/>
        <a:ext cx="1629786" cy="300090"/>
      </dsp:txXfrm>
    </dsp:sp>
    <dsp:sp modelId="{7C85187E-B830-40A4-AEDE-4E9014E4275F}">
      <dsp:nvSpPr>
        <dsp:cNvPr id="0" name=""/>
        <dsp:cNvSpPr/>
      </dsp:nvSpPr>
      <dsp:spPr>
        <a:xfrm>
          <a:off x="5530211" y="370370"/>
          <a:ext cx="1752458" cy="206171"/>
        </a:xfrm>
        <a:prstGeom prst="rect">
          <a:avLst/>
        </a:prstGeom>
        <a:solidFill>
          <a:schemeClr val="accent4">
            <a:hueOff val="-5365167"/>
            <a:satOff val="9185"/>
            <a:lumOff val="-1647"/>
            <a:alphaOff val="0"/>
          </a:schemeClr>
        </a:solidFill>
        <a:ln w="25400" cap="flat" cmpd="sng" algn="ctr">
          <a:solidFill>
            <a:schemeClr val="accent4">
              <a:hueOff val="-5365167"/>
              <a:satOff val="9185"/>
              <a:lumOff val="-164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A4263F-6FCD-4A28-B030-988516282A8B}">
      <dsp:nvSpPr>
        <dsp:cNvPr id="0" name=""/>
        <dsp:cNvSpPr/>
      </dsp:nvSpPr>
      <dsp:spPr>
        <a:xfrm>
          <a:off x="5530211" y="447800"/>
          <a:ext cx="128741" cy="128741"/>
        </a:xfrm>
        <a:prstGeom prst="rect">
          <a:avLst/>
        </a:prstGeom>
        <a:solidFill>
          <a:schemeClr val="lt1">
            <a:alpha val="90000"/>
            <a:hueOff val="0"/>
            <a:satOff val="0"/>
            <a:lumOff val="0"/>
            <a:alphaOff val="0"/>
          </a:schemeClr>
        </a:solidFill>
        <a:ln w="25400" cap="flat" cmpd="sng" algn="ctr">
          <a:solidFill>
            <a:schemeClr val="accent4">
              <a:hueOff val="-5365167"/>
              <a:satOff val="9185"/>
              <a:lumOff val="-1647"/>
              <a:alphaOff val="0"/>
            </a:schemeClr>
          </a:solidFill>
          <a:prstDash val="solid"/>
        </a:ln>
        <a:effectLst/>
      </dsp:spPr>
      <dsp:style>
        <a:lnRef idx="2">
          <a:scrgbClr r="0" g="0" b="0"/>
        </a:lnRef>
        <a:fillRef idx="1">
          <a:scrgbClr r="0" g="0" b="0"/>
        </a:fillRef>
        <a:effectRef idx="0">
          <a:scrgbClr r="0" g="0" b="0"/>
        </a:effectRef>
        <a:fontRef idx="minor"/>
      </dsp:style>
    </dsp:sp>
    <dsp:sp modelId="{7195230D-9343-4E59-853D-12A7B337A844}">
      <dsp:nvSpPr>
        <dsp:cNvPr id="0" name=""/>
        <dsp:cNvSpPr/>
      </dsp:nvSpPr>
      <dsp:spPr>
        <a:xfrm>
          <a:off x="5530211" y="0"/>
          <a:ext cx="1752458" cy="37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en-US" sz="1400" b="1" kern="1200" dirty="0"/>
            <a:t>Rx  Collaborative</a:t>
          </a:r>
        </a:p>
      </dsp:txBody>
      <dsp:txXfrm>
        <a:off x="5530211" y="0"/>
        <a:ext cx="1752458" cy="370370"/>
      </dsp:txXfrm>
    </dsp:sp>
    <dsp:sp modelId="{AECD0C08-9270-486E-A44C-A4E539583CA3}">
      <dsp:nvSpPr>
        <dsp:cNvPr id="0" name=""/>
        <dsp:cNvSpPr/>
      </dsp:nvSpPr>
      <dsp:spPr>
        <a:xfrm>
          <a:off x="5530211" y="747893"/>
          <a:ext cx="128738" cy="128738"/>
        </a:xfrm>
        <a:prstGeom prst="rect">
          <a:avLst/>
        </a:prstGeom>
        <a:solidFill>
          <a:schemeClr val="lt1">
            <a:hueOff val="0"/>
            <a:satOff val="0"/>
            <a:lumOff val="0"/>
            <a:alphaOff val="0"/>
          </a:schemeClr>
        </a:solidFill>
        <a:ln w="25400" cap="flat" cmpd="sng" algn="ctr">
          <a:solidFill>
            <a:schemeClr val="accent4">
              <a:hueOff val="-6057447"/>
              <a:satOff val="10370"/>
              <a:lumOff val="-1860"/>
              <a:alphaOff val="0"/>
            </a:schemeClr>
          </a:solidFill>
          <a:prstDash val="solid"/>
        </a:ln>
        <a:effectLst/>
      </dsp:spPr>
      <dsp:style>
        <a:lnRef idx="2">
          <a:scrgbClr r="0" g="0" b="0"/>
        </a:lnRef>
        <a:fillRef idx="1">
          <a:scrgbClr r="0" g="0" b="0"/>
        </a:fillRef>
        <a:effectRef idx="0">
          <a:scrgbClr r="0" g="0" b="0"/>
        </a:effectRef>
        <a:fontRef idx="minor"/>
      </dsp:style>
    </dsp:sp>
    <dsp:sp modelId="{8D0CA638-53D3-48A8-B9AF-F83E8EF3C5BC}">
      <dsp:nvSpPr>
        <dsp:cNvPr id="0" name=""/>
        <dsp:cNvSpPr/>
      </dsp:nvSpPr>
      <dsp:spPr>
        <a:xfrm>
          <a:off x="5715711" y="828846"/>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Rebate Reconciliation (ESI &amp; CVS)</a:t>
          </a:r>
        </a:p>
      </dsp:txBody>
      <dsp:txXfrm>
        <a:off x="5715711" y="828846"/>
        <a:ext cx="1629786" cy="300090"/>
      </dsp:txXfrm>
    </dsp:sp>
    <dsp:sp modelId="{9EDBF4CA-3E3F-4843-AC7C-E83E6A14E78C}">
      <dsp:nvSpPr>
        <dsp:cNvPr id="0" name=""/>
        <dsp:cNvSpPr/>
      </dsp:nvSpPr>
      <dsp:spPr>
        <a:xfrm>
          <a:off x="5513833" y="1330283"/>
          <a:ext cx="128738" cy="128738"/>
        </a:xfrm>
        <a:prstGeom prst="rect">
          <a:avLst/>
        </a:prstGeom>
        <a:solidFill>
          <a:schemeClr val="lt1">
            <a:hueOff val="0"/>
            <a:satOff val="0"/>
            <a:lumOff val="0"/>
            <a:alphaOff val="0"/>
          </a:schemeClr>
        </a:solidFill>
        <a:ln w="25400" cap="flat" cmpd="sng" algn="ctr">
          <a:solidFill>
            <a:schemeClr val="accent4">
              <a:hueOff val="-6345896"/>
              <a:satOff val="10864"/>
              <a:lumOff val="-1948"/>
              <a:alphaOff val="0"/>
            </a:schemeClr>
          </a:solidFill>
          <a:prstDash val="solid"/>
        </a:ln>
        <a:effectLst/>
      </dsp:spPr>
      <dsp:style>
        <a:lnRef idx="2">
          <a:scrgbClr r="0" g="0" b="0"/>
        </a:lnRef>
        <a:fillRef idx="1">
          <a:scrgbClr r="0" g="0" b="0"/>
        </a:fillRef>
        <a:effectRef idx="0">
          <a:scrgbClr r="0" g="0" b="0"/>
        </a:effectRef>
        <a:fontRef idx="minor"/>
      </dsp:style>
    </dsp:sp>
    <dsp:sp modelId="{F2CBAA15-9BA8-4996-ADEC-6BC2EE30CC95}">
      <dsp:nvSpPr>
        <dsp:cNvPr id="0" name=""/>
        <dsp:cNvSpPr/>
      </dsp:nvSpPr>
      <dsp:spPr>
        <a:xfrm>
          <a:off x="5680312" y="1291153"/>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API Letters</a:t>
          </a:r>
        </a:p>
      </dsp:txBody>
      <dsp:txXfrm>
        <a:off x="5680312" y="1291153"/>
        <a:ext cx="1629786" cy="300090"/>
      </dsp:txXfrm>
    </dsp:sp>
    <dsp:sp modelId="{B522DD12-649E-4E98-944A-E6C9654AE25D}">
      <dsp:nvSpPr>
        <dsp:cNvPr id="0" name=""/>
        <dsp:cNvSpPr/>
      </dsp:nvSpPr>
      <dsp:spPr>
        <a:xfrm>
          <a:off x="5504689" y="1659128"/>
          <a:ext cx="128738" cy="128738"/>
        </a:xfrm>
        <a:prstGeom prst="rect">
          <a:avLst/>
        </a:prstGeom>
        <a:solidFill>
          <a:schemeClr val="lt1">
            <a:hueOff val="0"/>
            <a:satOff val="0"/>
            <a:lumOff val="0"/>
            <a:alphaOff val="0"/>
          </a:schemeClr>
        </a:solidFill>
        <a:ln w="25400" cap="flat" cmpd="sng" algn="ctr">
          <a:solidFill>
            <a:schemeClr val="accent4">
              <a:hueOff val="-6634346"/>
              <a:satOff val="11358"/>
              <a:lumOff val="-2037"/>
              <a:alphaOff val="0"/>
            </a:schemeClr>
          </a:solidFill>
          <a:prstDash val="solid"/>
        </a:ln>
        <a:effectLst/>
      </dsp:spPr>
      <dsp:style>
        <a:lnRef idx="2">
          <a:scrgbClr r="0" g="0" b="0"/>
        </a:lnRef>
        <a:fillRef idx="1">
          <a:scrgbClr r="0" g="0" b="0"/>
        </a:fillRef>
        <a:effectRef idx="0">
          <a:scrgbClr r="0" g="0" b="0"/>
        </a:effectRef>
        <a:fontRef idx="minor"/>
      </dsp:style>
    </dsp:sp>
    <dsp:sp modelId="{9BF37CAE-0CA3-4D23-BB8A-A05ADF83E6E9}">
      <dsp:nvSpPr>
        <dsp:cNvPr id="0" name=""/>
        <dsp:cNvSpPr/>
      </dsp:nvSpPr>
      <dsp:spPr>
        <a:xfrm>
          <a:off x="5643740" y="1766985"/>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Population of Price Grid for letters</a:t>
          </a:r>
        </a:p>
      </dsp:txBody>
      <dsp:txXfrm>
        <a:off x="5643740" y="1766985"/>
        <a:ext cx="1629786" cy="300090"/>
      </dsp:txXfrm>
    </dsp:sp>
    <dsp:sp modelId="{0BCAEE21-3BED-41A5-8E12-A15DA7753709}">
      <dsp:nvSpPr>
        <dsp:cNvPr id="0" name=""/>
        <dsp:cNvSpPr/>
      </dsp:nvSpPr>
      <dsp:spPr>
        <a:xfrm>
          <a:off x="5493632" y="2249132"/>
          <a:ext cx="128738" cy="128738"/>
        </a:xfrm>
        <a:prstGeom prst="rect">
          <a:avLst/>
        </a:prstGeom>
        <a:solidFill>
          <a:schemeClr val="lt1">
            <a:hueOff val="0"/>
            <a:satOff val="0"/>
            <a:lumOff val="0"/>
            <a:alphaOff val="0"/>
          </a:schemeClr>
        </a:solidFill>
        <a:ln w="25400" cap="flat" cmpd="sng" algn="ctr">
          <a:solidFill>
            <a:schemeClr val="accent4">
              <a:hueOff val="-6922796"/>
              <a:satOff val="11851"/>
              <a:lumOff val="-2125"/>
              <a:alphaOff val="0"/>
            </a:schemeClr>
          </a:solidFill>
          <a:prstDash val="solid"/>
        </a:ln>
        <a:effectLst/>
      </dsp:spPr>
      <dsp:style>
        <a:lnRef idx="2">
          <a:scrgbClr r="0" g="0" b="0"/>
        </a:lnRef>
        <a:fillRef idx="1">
          <a:scrgbClr r="0" g="0" b="0"/>
        </a:fillRef>
        <a:effectRef idx="0">
          <a:scrgbClr r="0" g="0" b="0"/>
        </a:effectRef>
        <a:fontRef idx="minor"/>
      </dsp:style>
    </dsp:sp>
    <dsp:sp modelId="{ECD4E8DB-9228-4D19-B1C5-9B237021D328}">
      <dsp:nvSpPr>
        <dsp:cNvPr id="0" name=""/>
        <dsp:cNvSpPr/>
      </dsp:nvSpPr>
      <dsp:spPr>
        <a:xfrm>
          <a:off x="5662026" y="2378071"/>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Reconciliation Results Aggregation</a:t>
          </a:r>
        </a:p>
      </dsp:txBody>
      <dsp:txXfrm>
        <a:off x="5662026" y="2378071"/>
        <a:ext cx="1629786" cy="300090"/>
      </dsp:txXfrm>
    </dsp:sp>
    <dsp:sp modelId="{C19EB53A-E31F-4E42-AD10-927AC9A6261E}">
      <dsp:nvSpPr>
        <dsp:cNvPr id="0" name=""/>
        <dsp:cNvSpPr/>
      </dsp:nvSpPr>
      <dsp:spPr>
        <a:xfrm>
          <a:off x="7370292" y="370370"/>
          <a:ext cx="1752458" cy="206171"/>
        </a:xfrm>
        <a:prstGeom prst="rect">
          <a:avLst/>
        </a:prstGeom>
        <a:solidFill>
          <a:schemeClr val="accent4">
            <a:hueOff val="-7153556"/>
            <a:satOff val="12246"/>
            <a:lumOff val="-2196"/>
            <a:alphaOff val="0"/>
          </a:schemeClr>
        </a:solidFill>
        <a:ln w="25400" cap="flat" cmpd="sng" algn="ctr">
          <a:solidFill>
            <a:schemeClr val="accent4">
              <a:hueOff val="-7153556"/>
              <a:satOff val="12246"/>
              <a:lumOff val="-219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1D3195-A3B0-4532-A3FF-391D8A730DBB}">
      <dsp:nvSpPr>
        <dsp:cNvPr id="0" name=""/>
        <dsp:cNvSpPr/>
      </dsp:nvSpPr>
      <dsp:spPr>
        <a:xfrm>
          <a:off x="7370292" y="447800"/>
          <a:ext cx="128741" cy="128741"/>
        </a:xfrm>
        <a:prstGeom prst="rect">
          <a:avLst/>
        </a:prstGeom>
        <a:solidFill>
          <a:schemeClr val="lt1">
            <a:alpha val="90000"/>
            <a:hueOff val="0"/>
            <a:satOff val="0"/>
            <a:lumOff val="0"/>
            <a:alphaOff val="0"/>
          </a:schemeClr>
        </a:solidFill>
        <a:ln w="25400" cap="flat" cmpd="sng" algn="ctr">
          <a:solidFill>
            <a:schemeClr val="accent4">
              <a:hueOff val="-7153556"/>
              <a:satOff val="12246"/>
              <a:lumOff val="-2196"/>
              <a:alphaOff val="0"/>
            </a:schemeClr>
          </a:solidFill>
          <a:prstDash val="solid"/>
        </a:ln>
        <a:effectLst/>
      </dsp:spPr>
      <dsp:style>
        <a:lnRef idx="2">
          <a:scrgbClr r="0" g="0" b="0"/>
        </a:lnRef>
        <a:fillRef idx="1">
          <a:scrgbClr r="0" g="0" b="0"/>
        </a:fillRef>
        <a:effectRef idx="0">
          <a:scrgbClr r="0" g="0" b="0"/>
        </a:effectRef>
        <a:fontRef idx="minor"/>
      </dsp:style>
    </dsp:sp>
    <dsp:sp modelId="{94ABB777-5597-48BF-9CBD-FD638365B774}">
      <dsp:nvSpPr>
        <dsp:cNvPr id="0" name=""/>
        <dsp:cNvSpPr/>
      </dsp:nvSpPr>
      <dsp:spPr>
        <a:xfrm>
          <a:off x="7370292" y="0"/>
          <a:ext cx="1752458" cy="37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en-US" sz="1400" b="1" kern="1200" dirty="0"/>
            <a:t>RFP</a:t>
          </a:r>
        </a:p>
      </dsp:txBody>
      <dsp:txXfrm>
        <a:off x="7370292" y="0"/>
        <a:ext cx="1752458" cy="370370"/>
      </dsp:txXfrm>
    </dsp:sp>
    <dsp:sp modelId="{512888B9-3E0F-4D03-BBB8-2D3280FD3F98}">
      <dsp:nvSpPr>
        <dsp:cNvPr id="0" name=""/>
        <dsp:cNvSpPr/>
      </dsp:nvSpPr>
      <dsp:spPr>
        <a:xfrm>
          <a:off x="7370292" y="747893"/>
          <a:ext cx="128738" cy="128738"/>
        </a:xfrm>
        <a:prstGeom prst="rect">
          <a:avLst/>
        </a:prstGeom>
        <a:solidFill>
          <a:schemeClr val="lt1">
            <a:hueOff val="0"/>
            <a:satOff val="0"/>
            <a:lumOff val="0"/>
            <a:alphaOff val="0"/>
          </a:schemeClr>
        </a:solidFill>
        <a:ln w="25400" cap="flat" cmpd="sng" algn="ctr">
          <a:solidFill>
            <a:schemeClr val="accent4">
              <a:hueOff val="-7211246"/>
              <a:satOff val="12345"/>
              <a:lumOff val="-2214"/>
              <a:alphaOff val="0"/>
            </a:schemeClr>
          </a:solidFill>
          <a:prstDash val="solid"/>
        </a:ln>
        <a:effectLst/>
      </dsp:spPr>
      <dsp:style>
        <a:lnRef idx="2">
          <a:scrgbClr r="0" g="0" b="0"/>
        </a:lnRef>
        <a:fillRef idx="1">
          <a:scrgbClr r="0" g="0" b="0"/>
        </a:fillRef>
        <a:effectRef idx="0">
          <a:scrgbClr r="0" g="0" b="0"/>
        </a:effectRef>
        <a:fontRef idx="minor"/>
      </dsp:style>
    </dsp:sp>
    <dsp:sp modelId="{51B2E79D-D306-459D-BE02-6311C6BDF8F9}">
      <dsp:nvSpPr>
        <dsp:cNvPr id="0" name=""/>
        <dsp:cNvSpPr/>
      </dsp:nvSpPr>
      <dsp:spPr>
        <a:xfrm>
          <a:off x="7492964" y="66221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Medical</a:t>
          </a:r>
        </a:p>
      </dsp:txBody>
      <dsp:txXfrm>
        <a:off x="7492964" y="662218"/>
        <a:ext cx="1629786" cy="300090"/>
      </dsp:txXfrm>
    </dsp:sp>
    <dsp:sp modelId="{6E4D8120-FBC5-4606-9EF5-CC8AC0B87572}">
      <dsp:nvSpPr>
        <dsp:cNvPr id="0" name=""/>
        <dsp:cNvSpPr/>
      </dsp:nvSpPr>
      <dsp:spPr>
        <a:xfrm>
          <a:off x="7370292" y="1047984"/>
          <a:ext cx="128738" cy="128738"/>
        </a:xfrm>
        <a:prstGeom prst="rect">
          <a:avLst/>
        </a:prstGeom>
        <a:solidFill>
          <a:schemeClr val="lt1">
            <a:hueOff val="0"/>
            <a:satOff val="0"/>
            <a:lumOff val="0"/>
            <a:alphaOff val="0"/>
          </a:schemeClr>
        </a:solidFill>
        <a:ln w="25400" cap="flat" cmpd="sng" algn="ctr">
          <a:solidFill>
            <a:schemeClr val="accent4">
              <a:hueOff val="-7499695"/>
              <a:satOff val="12839"/>
              <a:lumOff val="-2302"/>
              <a:alphaOff val="0"/>
            </a:schemeClr>
          </a:solidFill>
          <a:prstDash val="solid"/>
        </a:ln>
        <a:effectLst/>
      </dsp:spPr>
      <dsp:style>
        <a:lnRef idx="2">
          <a:scrgbClr r="0" g="0" b="0"/>
        </a:lnRef>
        <a:fillRef idx="1">
          <a:scrgbClr r="0" g="0" b="0"/>
        </a:fillRef>
        <a:effectRef idx="0">
          <a:scrgbClr r="0" g="0" b="0"/>
        </a:effectRef>
        <a:fontRef idx="minor"/>
      </dsp:style>
    </dsp:sp>
    <dsp:sp modelId="{D012BE7B-C9ED-4BB0-8E95-DA27C309FE8F}">
      <dsp:nvSpPr>
        <dsp:cNvPr id="0" name=""/>
        <dsp:cNvSpPr/>
      </dsp:nvSpPr>
      <dsp:spPr>
        <a:xfrm>
          <a:off x="7492964" y="96230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Dental</a:t>
          </a:r>
        </a:p>
      </dsp:txBody>
      <dsp:txXfrm>
        <a:off x="7492964" y="962308"/>
        <a:ext cx="1629786" cy="300090"/>
      </dsp:txXfrm>
    </dsp:sp>
    <dsp:sp modelId="{69BDF514-3348-4F76-807F-72FEB45BD879}">
      <dsp:nvSpPr>
        <dsp:cNvPr id="0" name=""/>
        <dsp:cNvSpPr/>
      </dsp:nvSpPr>
      <dsp:spPr>
        <a:xfrm>
          <a:off x="7370292" y="1348074"/>
          <a:ext cx="128738" cy="128738"/>
        </a:xfrm>
        <a:prstGeom prst="rect">
          <a:avLst/>
        </a:prstGeom>
        <a:solidFill>
          <a:schemeClr val="lt1">
            <a:hueOff val="0"/>
            <a:satOff val="0"/>
            <a:lumOff val="0"/>
            <a:alphaOff val="0"/>
          </a:schemeClr>
        </a:solidFill>
        <a:ln w="25400" cap="flat" cmpd="sng" algn="ctr">
          <a:solidFill>
            <a:schemeClr val="accent4">
              <a:hueOff val="-7788146"/>
              <a:satOff val="13333"/>
              <a:lumOff val="-2391"/>
              <a:alphaOff val="0"/>
            </a:schemeClr>
          </a:solidFill>
          <a:prstDash val="solid"/>
        </a:ln>
        <a:effectLst/>
      </dsp:spPr>
      <dsp:style>
        <a:lnRef idx="2">
          <a:scrgbClr r="0" g="0" b="0"/>
        </a:lnRef>
        <a:fillRef idx="1">
          <a:scrgbClr r="0" g="0" b="0"/>
        </a:fillRef>
        <a:effectRef idx="0">
          <a:scrgbClr r="0" g="0" b="0"/>
        </a:effectRef>
        <a:fontRef idx="minor"/>
      </dsp:style>
    </dsp:sp>
    <dsp:sp modelId="{33521766-3C71-4CE1-8263-3B5C76CBBEB0}">
      <dsp:nvSpPr>
        <dsp:cNvPr id="0" name=""/>
        <dsp:cNvSpPr/>
      </dsp:nvSpPr>
      <dsp:spPr>
        <a:xfrm>
          <a:off x="7492964" y="126239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Vision</a:t>
          </a:r>
        </a:p>
      </dsp:txBody>
      <dsp:txXfrm>
        <a:off x="7492964" y="1262398"/>
        <a:ext cx="1629786" cy="300090"/>
      </dsp:txXfrm>
    </dsp:sp>
    <dsp:sp modelId="{A72E701C-1BE9-4789-A425-42E0B9A81C3D}">
      <dsp:nvSpPr>
        <dsp:cNvPr id="0" name=""/>
        <dsp:cNvSpPr/>
      </dsp:nvSpPr>
      <dsp:spPr>
        <a:xfrm>
          <a:off x="7370292" y="1648164"/>
          <a:ext cx="128738" cy="128738"/>
        </a:xfrm>
        <a:prstGeom prst="rect">
          <a:avLst/>
        </a:prstGeom>
        <a:solidFill>
          <a:schemeClr val="lt1">
            <a:hueOff val="0"/>
            <a:satOff val="0"/>
            <a:lumOff val="0"/>
            <a:alphaOff val="0"/>
          </a:schemeClr>
        </a:solidFill>
        <a:ln w="25400" cap="flat" cmpd="sng" algn="ctr">
          <a:solidFill>
            <a:schemeClr val="accent4">
              <a:hueOff val="-8076595"/>
              <a:satOff val="13827"/>
              <a:lumOff val="-2479"/>
              <a:alphaOff val="0"/>
            </a:schemeClr>
          </a:solidFill>
          <a:prstDash val="solid"/>
        </a:ln>
        <a:effectLst/>
      </dsp:spPr>
      <dsp:style>
        <a:lnRef idx="2">
          <a:scrgbClr r="0" g="0" b="0"/>
        </a:lnRef>
        <a:fillRef idx="1">
          <a:scrgbClr r="0" g="0" b="0"/>
        </a:fillRef>
        <a:effectRef idx="0">
          <a:scrgbClr r="0" g="0" b="0"/>
        </a:effectRef>
        <a:fontRef idx="minor"/>
      </dsp:style>
    </dsp:sp>
    <dsp:sp modelId="{AA5BC991-DCC3-43AF-A88F-5A546B0B8DF0}">
      <dsp:nvSpPr>
        <dsp:cNvPr id="0" name=""/>
        <dsp:cNvSpPr/>
      </dsp:nvSpPr>
      <dsp:spPr>
        <a:xfrm>
          <a:off x="7492964" y="1562489"/>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ID Theft</a:t>
          </a:r>
        </a:p>
      </dsp:txBody>
      <dsp:txXfrm>
        <a:off x="7492964" y="1562489"/>
        <a:ext cx="1629786" cy="300090"/>
      </dsp:txXfrm>
    </dsp:sp>
    <dsp:sp modelId="{B5116000-9B75-4F86-83D1-EFF49D508BD5}">
      <dsp:nvSpPr>
        <dsp:cNvPr id="0" name=""/>
        <dsp:cNvSpPr/>
      </dsp:nvSpPr>
      <dsp:spPr>
        <a:xfrm>
          <a:off x="7370292" y="1948255"/>
          <a:ext cx="128738" cy="128738"/>
        </a:xfrm>
        <a:prstGeom prst="rect">
          <a:avLst/>
        </a:prstGeom>
        <a:solidFill>
          <a:schemeClr val="lt1">
            <a:hueOff val="0"/>
            <a:satOff val="0"/>
            <a:lumOff val="0"/>
            <a:alphaOff val="0"/>
          </a:schemeClr>
        </a:solidFill>
        <a:ln w="25400" cap="flat" cmpd="sng" algn="ctr">
          <a:solidFill>
            <a:schemeClr val="accent4">
              <a:hueOff val="-8365045"/>
              <a:satOff val="14320"/>
              <a:lumOff val="-2568"/>
              <a:alphaOff val="0"/>
            </a:schemeClr>
          </a:solidFill>
          <a:prstDash val="solid"/>
        </a:ln>
        <a:effectLst/>
      </dsp:spPr>
      <dsp:style>
        <a:lnRef idx="2">
          <a:scrgbClr r="0" g="0" b="0"/>
        </a:lnRef>
        <a:fillRef idx="1">
          <a:scrgbClr r="0" g="0" b="0"/>
        </a:fillRef>
        <a:effectRef idx="0">
          <a:scrgbClr r="0" g="0" b="0"/>
        </a:effectRef>
        <a:fontRef idx="minor"/>
      </dsp:style>
    </dsp:sp>
    <dsp:sp modelId="{78119AFE-1F90-41D7-B717-3EB4B889C213}">
      <dsp:nvSpPr>
        <dsp:cNvPr id="0" name=""/>
        <dsp:cNvSpPr/>
      </dsp:nvSpPr>
      <dsp:spPr>
        <a:xfrm>
          <a:off x="7492964" y="1862579"/>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ADML </a:t>
          </a:r>
        </a:p>
      </dsp:txBody>
      <dsp:txXfrm>
        <a:off x="7492964" y="1862579"/>
        <a:ext cx="1629786" cy="300090"/>
      </dsp:txXfrm>
    </dsp:sp>
    <dsp:sp modelId="{EC616191-0950-4619-8BDF-79C7D91DDAAA}">
      <dsp:nvSpPr>
        <dsp:cNvPr id="0" name=""/>
        <dsp:cNvSpPr/>
      </dsp:nvSpPr>
      <dsp:spPr>
        <a:xfrm>
          <a:off x="7370292" y="2248345"/>
          <a:ext cx="128738" cy="128738"/>
        </a:xfrm>
        <a:prstGeom prst="rect">
          <a:avLst/>
        </a:prstGeom>
        <a:solidFill>
          <a:schemeClr val="lt1">
            <a:hueOff val="0"/>
            <a:satOff val="0"/>
            <a:lumOff val="0"/>
            <a:alphaOff val="0"/>
          </a:schemeClr>
        </a:solidFill>
        <a:ln w="25400" cap="flat" cmpd="sng" algn="ctr">
          <a:solidFill>
            <a:schemeClr val="accent4">
              <a:hueOff val="-8653495"/>
              <a:satOff val="14814"/>
              <a:lumOff val="-2656"/>
              <a:alphaOff val="0"/>
            </a:schemeClr>
          </a:solidFill>
          <a:prstDash val="solid"/>
        </a:ln>
        <a:effectLst/>
      </dsp:spPr>
      <dsp:style>
        <a:lnRef idx="2">
          <a:scrgbClr r="0" g="0" b="0"/>
        </a:lnRef>
        <a:fillRef idx="1">
          <a:scrgbClr r="0" g="0" b="0"/>
        </a:fillRef>
        <a:effectRef idx="0">
          <a:scrgbClr r="0" g="0" b="0"/>
        </a:effectRef>
        <a:fontRef idx="minor"/>
      </dsp:style>
    </dsp:sp>
    <dsp:sp modelId="{E71E1125-D9B2-4679-ABB8-BB7619638AAF}">
      <dsp:nvSpPr>
        <dsp:cNvPr id="0" name=""/>
        <dsp:cNvSpPr/>
      </dsp:nvSpPr>
      <dsp:spPr>
        <a:xfrm>
          <a:off x="7492964" y="2162669"/>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Legal</a:t>
          </a:r>
        </a:p>
      </dsp:txBody>
      <dsp:txXfrm>
        <a:off x="7492964" y="2162669"/>
        <a:ext cx="1629786" cy="300090"/>
      </dsp:txXfrm>
    </dsp:sp>
    <dsp:sp modelId="{FEC1D5E7-E0B8-41AE-AABD-44491062204E}">
      <dsp:nvSpPr>
        <dsp:cNvPr id="0" name=""/>
        <dsp:cNvSpPr/>
      </dsp:nvSpPr>
      <dsp:spPr>
        <a:xfrm>
          <a:off x="9210373" y="370370"/>
          <a:ext cx="1752458" cy="206171"/>
        </a:xfrm>
        <a:prstGeom prst="rect">
          <a:avLst/>
        </a:prstGeom>
        <a:solidFill>
          <a:schemeClr val="accent4">
            <a:hueOff val="-8941945"/>
            <a:satOff val="15308"/>
            <a:lumOff val="-2745"/>
            <a:alphaOff val="0"/>
          </a:schemeClr>
        </a:solidFill>
        <a:ln w="25400" cap="flat" cmpd="sng" algn="ctr">
          <a:solidFill>
            <a:schemeClr val="accent4">
              <a:hueOff val="-8941945"/>
              <a:satOff val="15308"/>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93F1D8-3AC6-4515-8425-43CF95DA4B10}">
      <dsp:nvSpPr>
        <dsp:cNvPr id="0" name=""/>
        <dsp:cNvSpPr/>
      </dsp:nvSpPr>
      <dsp:spPr>
        <a:xfrm>
          <a:off x="9210373" y="447800"/>
          <a:ext cx="128741" cy="128741"/>
        </a:xfrm>
        <a:prstGeom prst="rect">
          <a:avLst/>
        </a:prstGeom>
        <a:solidFill>
          <a:schemeClr val="lt1">
            <a:alpha val="90000"/>
            <a:hueOff val="0"/>
            <a:satOff val="0"/>
            <a:lumOff val="0"/>
            <a:alphaOff val="0"/>
          </a:schemeClr>
        </a:solidFill>
        <a:ln w="25400" cap="flat" cmpd="sng" algn="ctr">
          <a:solidFill>
            <a:schemeClr val="accent4">
              <a:hueOff val="-8941945"/>
              <a:satOff val="15308"/>
              <a:lumOff val="-2745"/>
              <a:alphaOff val="0"/>
            </a:schemeClr>
          </a:solidFill>
          <a:prstDash val="solid"/>
        </a:ln>
        <a:effectLst/>
      </dsp:spPr>
      <dsp:style>
        <a:lnRef idx="2">
          <a:scrgbClr r="0" g="0" b="0"/>
        </a:lnRef>
        <a:fillRef idx="1">
          <a:scrgbClr r="0" g="0" b="0"/>
        </a:fillRef>
        <a:effectRef idx="0">
          <a:scrgbClr r="0" g="0" b="0"/>
        </a:effectRef>
        <a:fontRef idx="minor"/>
      </dsp:style>
    </dsp:sp>
    <dsp:sp modelId="{C1710848-FBB0-4A09-B44A-4E377B9C5C4E}">
      <dsp:nvSpPr>
        <dsp:cNvPr id="0" name=""/>
        <dsp:cNvSpPr/>
      </dsp:nvSpPr>
      <dsp:spPr>
        <a:xfrm>
          <a:off x="9210373" y="0"/>
          <a:ext cx="1752458" cy="37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l" defTabSz="622300">
            <a:lnSpc>
              <a:spcPct val="90000"/>
            </a:lnSpc>
            <a:spcBef>
              <a:spcPct val="0"/>
            </a:spcBef>
            <a:spcAft>
              <a:spcPct val="35000"/>
            </a:spcAft>
            <a:buNone/>
          </a:pPr>
          <a:r>
            <a:rPr lang="en-US" sz="1400" b="1" kern="1200" dirty="0"/>
            <a:t>WillisMed</a:t>
          </a:r>
        </a:p>
      </dsp:txBody>
      <dsp:txXfrm>
        <a:off x="9210373" y="0"/>
        <a:ext cx="1752458" cy="370370"/>
      </dsp:txXfrm>
    </dsp:sp>
    <dsp:sp modelId="{24BF5449-C38A-41A3-8EA2-0275765A09F8}">
      <dsp:nvSpPr>
        <dsp:cNvPr id="0" name=""/>
        <dsp:cNvSpPr/>
      </dsp:nvSpPr>
      <dsp:spPr>
        <a:xfrm>
          <a:off x="9210373" y="747893"/>
          <a:ext cx="128738" cy="128738"/>
        </a:xfrm>
        <a:prstGeom prst="rect">
          <a:avLst/>
        </a:prstGeom>
        <a:solidFill>
          <a:schemeClr val="lt1">
            <a:hueOff val="0"/>
            <a:satOff val="0"/>
            <a:lumOff val="0"/>
            <a:alphaOff val="0"/>
          </a:schemeClr>
        </a:solidFill>
        <a:ln w="25400" cap="flat" cmpd="sng" algn="ctr">
          <a:solidFill>
            <a:schemeClr val="accent4">
              <a:hueOff val="-8941945"/>
              <a:satOff val="15308"/>
              <a:lumOff val="-2745"/>
              <a:alphaOff val="0"/>
            </a:schemeClr>
          </a:solidFill>
          <a:prstDash val="solid"/>
        </a:ln>
        <a:effectLst/>
      </dsp:spPr>
      <dsp:style>
        <a:lnRef idx="2">
          <a:scrgbClr r="0" g="0" b="0"/>
        </a:lnRef>
        <a:fillRef idx="1">
          <a:scrgbClr r="0" g="0" b="0"/>
        </a:fillRef>
        <a:effectRef idx="0">
          <a:scrgbClr r="0" g="0" b="0"/>
        </a:effectRef>
        <a:fontRef idx="minor"/>
      </dsp:style>
    </dsp:sp>
    <dsp:sp modelId="{FB920A4D-5DF1-4A33-ADC6-581B6AEA9DC3}">
      <dsp:nvSpPr>
        <dsp:cNvPr id="0" name=""/>
        <dsp:cNvSpPr/>
      </dsp:nvSpPr>
      <dsp:spPr>
        <a:xfrm>
          <a:off x="9333045" y="662218"/>
          <a:ext cx="1629786" cy="30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Client Setup</a:t>
          </a:r>
        </a:p>
      </dsp:txBody>
      <dsp:txXfrm>
        <a:off x="9333045" y="662218"/>
        <a:ext cx="1629786" cy="300090"/>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drawing1.xml><?xml version="1.0" encoding="utf-8"?>
<c:userShapes xmlns:c="http://schemas.openxmlformats.org/drawingml/2006/chart">
  <cdr:relSizeAnchor xmlns:cdr="http://schemas.openxmlformats.org/drawingml/2006/chartDrawing">
    <cdr:from>
      <cdr:x>0.2833</cdr:x>
      <cdr:y>0.71537</cdr:y>
    </cdr:from>
    <cdr:to>
      <cdr:x>0.52957</cdr:x>
      <cdr:y>0.78685</cdr:y>
    </cdr:to>
    <cdr:sp macro="" textlink="">
      <cdr:nvSpPr>
        <cdr:cNvPr id="4" name="TextBox 15">
          <a:extLst xmlns:a="http://schemas.openxmlformats.org/drawingml/2006/main">
            <a:ext uri="{FF2B5EF4-FFF2-40B4-BE49-F238E27FC236}">
              <a16:creationId xmlns:a16="http://schemas.microsoft.com/office/drawing/2014/main" id="{E4647984-E7C7-4E69-B158-ED88949DDA13}"/>
            </a:ext>
          </a:extLst>
        </cdr:cNvPr>
        <cdr:cNvSpPr txBox="1"/>
      </cdr:nvSpPr>
      <cdr:spPr>
        <a:xfrm xmlns:a="http://schemas.openxmlformats.org/drawingml/2006/main">
          <a:off x="3075465" y="2156324"/>
          <a:ext cx="2673492" cy="215444"/>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lvl="0">
            <a:defRPr/>
          </a:pPr>
          <a:r>
            <a:rPr kumimoji="0" lang="en-US" sz="800" b="0" i="0" u="none" strike="noStrike" kern="1200" cap="none" spc="0" normalizeH="0" baseline="0" noProof="0" dirty="0">
              <a:ln>
                <a:noFill/>
              </a:ln>
              <a:solidFill>
                <a:prstClr val="black"/>
              </a:solidFill>
              <a:effectLst/>
              <a:uLnTx/>
              <a:uFillTx/>
              <a:latin typeface="Arial"/>
              <a:ea typeface="+mn-ea"/>
              <a:cs typeface="+mn-cs"/>
            </a:rPr>
            <a:t>     </a:t>
          </a:r>
          <a:r>
            <a:rPr lang="en-US" sz="600" dirty="0">
              <a:solidFill>
                <a:prstClr val="black"/>
              </a:solidFill>
              <a:latin typeface="Arial"/>
            </a:rPr>
            <a:t>Y</a:t>
          </a:r>
          <a:r>
            <a:rPr kumimoji="0" lang="en-US" sz="600" b="0" i="0" u="none" strike="noStrike" kern="1200" cap="none" spc="0" normalizeH="0" baseline="0" noProof="0" dirty="0">
              <a:ln>
                <a:noFill/>
              </a:ln>
              <a:solidFill>
                <a:prstClr val="black"/>
              </a:solidFill>
              <a:effectLst/>
              <a:uLnTx/>
              <a:uFillTx/>
              <a:latin typeface="Arial"/>
              <a:ea typeface="+mn-ea"/>
              <a:cs typeface="+mn-cs"/>
            </a:rPr>
            <a:t>20     Y21   Q120  Q121  Jan     Feb     Mar    Apr    May    </a:t>
          </a:r>
          <a:r>
            <a:rPr lang="en-US" sz="600" dirty="0">
              <a:solidFill>
                <a:prstClr val="black"/>
              </a:solidFill>
            </a:rPr>
            <a:t>YTD Goal</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cdr:txBody>
    </cdr:sp>
  </cdr:relSizeAnchor>
  <cdr:relSizeAnchor xmlns:cdr="http://schemas.openxmlformats.org/drawingml/2006/chartDrawing">
    <cdr:from>
      <cdr:x>0.51607</cdr:x>
      <cdr:y>0.71537</cdr:y>
    </cdr:from>
    <cdr:to>
      <cdr:x>0.76234</cdr:x>
      <cdr:y>0.78685</cdr:y>
    </cdr:to>
    <cdr:sp macro="" textlink="">
      <cdr:nvSpPr>
        <cdr:cNvPr id="7" name="TextBox 15">
          <a:extLst xmlns:a="http://schemas.openxmlformats.org/drawingml/2006/main">
            <a:ext uri="{FF2B5EF4-FFF2-40B4-BE49-F238E27FC236}">
              <a16:creationId xmlns:a16="http://schemas.microsoft.com/office/drawing/2014/main" id="{E4647984-E7C7-4E69-B158-ED88949DDA13}"/>
            </a:ext>
          </a:extLst>
        </cdr:cNvPr>
        <cdr:cNvSpPr txBox="1"/>
      </cdr:nvSpPr>
      <cdr:spPr>
        <a:xfrm xmlns:a="http://schemas.openxmlformats.org/drawingml/2006/main">
          <a:off x="5602346" y="2156324"/>
          <a:ext cx="2673492" cy="215444"/>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lvl="0">
            <a:defRPr/>
          </a:pPr>
          <a:r>
            <a:rPr kumimoji="0" lang="en-US" sz="800" b="0" i="0" u="none" strike="noStrike" kern="1200" cap="none" spc="0" normalizeH="0" baseline="0" noProof="0" dirty="0">
              <a:ln>
                <a:noFill/>
              </a:ln>
              <a:solidFill>
                <a:prstClr val="black"/>
              </a:solidFill>
              <a:effectLst/>
              <a:uLnTx/>
              <a:uFillTx/>
              <a:latin typeface="Arial"/>
              <a:ea typeface="+mn-ea"/>
              <a:cs typeface="+mn-cs"/>
            </a:rPr>
            <a:t>     </a:t>
          </a:r>
          <a:r>
            <a:rPr lang="en-US" sz="600" dirty="0">
              <a:solidFill>
                <a:prstClr val="black"/>
              </a:solidFill>
              <a:latin typeface="Arial"/>
            </a:rPr>
            <a:t>Y</a:t>
          </a:r>
          <a:r>
            <a:rPr kumimoji="0" lang="en-US" sz="600" b="0" i="0" u="none" strike="noStrike" kern="1200" cap="none" spc="0" normalizeH="0" baseline="0" noProof="0" dirty="0">
              <a:ln>
                <a:noFill/>
              </a:ln>
              <a:solidFill>
                <a:prstClr val="black"/>
              </a:solidFill>
              <a:effectLst/>
              <a:uLnTx/>
              <a:uFillTx/>
              <a:latin typeface="Arial"/>
              <a:ea typeface="+mn-ea"/>
              <a:cs typeface="+mn-cs"/>
            </a:rPr>
            <a:t>20     Y21   Q120  Q121  Jan     Feb     Mar    Apr    May    </a:t>
          </a:r>
          <a:r>
            <a:rPr lang="en-US" sz="600" dirty="0">
              <a:solidFill>
                <a:prstClr val="black"/>
              </a:solidFill>
            </a:rPr>
            <a:t>YTD Goal</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cdr:txBody>
    </cdr:sp>
  </cdr:relSizeAnchor>
  <cdr:relSizeAnchor xmlns:cdr="http://schemas.openxmlformats.org/drawingml/2006/chartDrawing">
    <cdr:from>
      <cdr:x>0.77186</cdr:x>
      <cdr:y>0.71338</cdr:y>
    </cdr:from>
    <cdr:to>
      <cdr:x>0.99891</cdr:x>
      <cdr:y>0.78486</cdr:y>
    </cdr:to>
    <cdr:sp macro="" textlink="">
      <cdr:nvSpPr>
        <cdr:cNvPr id="8" name="TextBox 15">
          <a:extLst xmlns:a="http://schemas.openxmlformats.org/drawingml/2006/main">
            <a:ext uri="{FF2B5EF4-FFF2-40B4-BE49-F238E27FC236}">
              <a16:creationId xmlns:a16="http://schemas.microsoft.com/office/drawing/2014/main" id="{E4647984-E7C7-4E69-B158-ED88949DDA13}"/>
            </a:ext>
          </a:extLst>
        </cdr:cNvPr>
        <cdr:cNvSpPr txBox="1"/>
      </cdr:nvSpPr>
      <cdr:spPr>
        <a:xfrm xmlns:a="http://schemas.openxmlformats.org/drawingml/2006/main">
          <a:off x="9063791" y="2150331"/>
          <a:ext cx="2666197" cy="215444"/>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lvl="0">
            <a:defRPr/>
          </a:pPr>
          <a:r>
            <a:rPr kumimoji="0" lang="en-US" sz="800" b="0" i="0" u="none" strike="noStrike" kern="1200" cap="none" spc="0" normalizeH="0" baseline="0" noProof="0" dirty="0">
              <a:ln>
                <a:noFill/>
              </a:ln>
              <a:solidFill>
                <a:prstClr val="black"/>
              </a:solidFill>
              <a:effectLst/>
              <a:uLnTx/>
              <a:uFillTx/>
              <a:latin typeface="Arial"/>
              <a:ea typeface="+mn-ea"/>
              <a:cs typeface="+mn-cs"/>
            </a:rPr>
            <a:t>     </a:t>
          </a:r>
          <a:r>
            <a:rPr lang="en-US" sz="600" dirty="0">
              <a:solidFill>
                <a:prstClr val="black"/>
              </a:solidFill>
              <a:latin typeface="Arial"/>
            </a:rPr>
            <a:t>Y</a:t>
          </a:r>
          <a:r>
            <a:rPr kumimoji="0" lang="en-US" sz="600" b="0" i="0" u="none" strike="noStrike" kern="1200" cap="none" spc="0" normalizeH="0" baseline="0" noProof="0" dirty="0">
              <a:ln>
                <a:noFill/>
              </a:ln>
              <a:solidFill>
                <a:prstClr val="black"/>
              </a:solidFill>
              <a:effectLst/>
              <a:uLnTx/>
              <a:uFillTx/>
              <a:latin typeface="Arial"/>
              <a:ea typeface="+mn-ea"/>
              <a:cs typeface="+mn-cs"/>
            </a:rPr>
            <a:t>20     Y21   Q120  Q121  Jan     Feb   Mar   Apr    May    </a:t>
          </a:r>
          <a:r>
            <a:rPr lang="en-US" sz="600" dirty="0">
              <a:solidFill>
                <a:prstClr val="black"/>
              </a:solidFill>
            </a:rPr>
            <a:t>YTD Goal</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5797"/>
          </a:xfrm>
          <a:prstGeom prst="rect">
            <a:avLst/>
          </a:prstGeom>
        </p:spPr>
        <p:txBody>
          <a:bodyPr vert="horz" lIns="92958" tIns="46479" rIns="92958" bIns="46479" rtlCol="0"/>
          <a:lstStyle>
            <a:lvl1pPr algn="l">
              <a:defRPr sz="1200"/>
            </a:lvl1pPr>
          </a:lstStyle>
          <a:p>
            <a:endParaRPr lang="en-US" dirty="0"/>
          </a:p>
        </p:txBody>
      </p:sp>
      <p:sp>
        <p:nvSpPr>
          <p:cNvPr id="3" name="Date Placeholder 2"/>
          <p:cNvSpPr>
            <a:spLocks noGrp="1"/>
          </p:cNvSpPr>
          <p:nvPr>
            <p:ph type="dt" sz="quarter" idx="1"/>
          </p:nvPr>
        </p:nvSpPr>
        <p:spPr>
          <a:xfrm>
            <a:off x="3956550" y="0"/>
            <a:ext cx="3026833" cy="465797"/>
          </a:xfrm>
          <a:prstGeom prst="rect">
            <a:avLst/>
          </a:prstGeom>
        </p:spPr>
        <p:txBody>
          <a:bodyPr vert="horz" lIns="92958" tIns="46479" rIns="92958" bIns="46479" rtlCol="0"/>
          <a:lstStyle>
            <a:lvl1pPr algn="r">
              <a:defRPr sz="1200"/>
            </a:lvl1pPr>
          </a:lstStyle>
          <a:p>
            <a:fld id="{D301E1B6-3125-48A0-B39B-258A8C29552C}" type="datetimeFigureOut">
              <a:rPr lang="en-US" smtClean="0"/>
              <a:t>8/1/2021</a:t>
            </a:fld>
            <a:endParaRPr lang="en-US" dirty="0"/>
          </a:p>
        </p:txBody>
      </p:sp>
      <p:sp>
        <p:nvSpPr>
          <p:cNvPr id="4" name="Footer Placeholder 3"/>
          <p:cNvSpPr>
            <a:spLocks noGrp="1"/>
          </p:cNvSpPr>
          <p:nvPr>
            <p:ph type="ftr" sz="quarter" idx="2"/>
          </p:nvPr>
        </p:nvSpPr>
        <p:spPr>
          <a:xfrm>
            <a:off x="0" y="8817904"/>
            <a:ext cx="3026833" cy="465796"/>
          </a:xfrm>
          <a:prstGeom prst="rect">
            <a:avLst/>
          </a:prstGeom>
        </p:spPr>
        <p:txBody>
          <a:bodyPr vert="horz" lIns="92958" tIns="46479" rIns="92958" bIns="46479" rtlCol="0" anchor="b"/>
          <a:lstStyle>
            <a:lvl1pPr algn="l">
              <a:defRPr sz="1200"/>
            </a:lvl1pPr>
          </a:lstStyle>
          <a:p>
            <a:endParaRPr lang="en-US" dirty="0"/>
          </a:p>
        </p:txBody>
      </p:sp>
    </p:spTree>
    <p:extLst>
      <p:ext uri="{BB962C8B-B14F-4D97-AF65-F5344CB8AC3E}">
        <p14:creationId xmlns:p14="http://schemas.microsoft.com/office/powerpoint/2010/main" val="1299402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dirty="0"/>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B97DC975-A455-47BB-A68D-520EABF783D0}" type="datetimeFigureOut">
              <a:rPr lang="en-US" smtClean="0"/>
              <a:pPr/>
              <a:t>8/1/2021</a:t>
            </a:fld>
            <a:endParaRPr lang="en-US" dirty="0"/>
          </a:p>
        </p:txBody>
      </p:sp>
      <p:sp>
        <p:nvSpPr>
          <p:cNvPr id="4" name="Slide Image Placeholder 3"/>
          <p:cNvSpPr>
            <a:spLocks noGrp="1" noRot="1" noChangeAspect="1"/>
          </p:cNvSpPr>
          <p:nvPr>
            <p:ph type="sldImg" idx="2"/>
          </p:nvPr>
        </p:nvSpPr>
        <p:spPr>
          <a:xfrm>
            <a:off x="398463" y="696913"/>
            <a:ext cx="6188075" cy="3481387"/>
          </a:xfrm>
          <a:prstGeom prst="rect">
            <a:avLst/>
          </a:prstGeom>
          <a:noFill/>
          <a:ln w="12700">
            <a:solidFill>
              <a:prstClr val="black"/>
            </a:solidFill>
          </a:ln>
        </p:spPr>
        <p:txBody>
          <a:bodyPr vert="horz" lIns="92958" tIns="46479" rIns="92958" bIns="46479" rtlCol="0" anchor="ctr"/>
          <a:lstStyle/>
          <a:p>
            <a:endParaRPr lang="en-US" dirty="0"/>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499B0F9-5275-4FDD-BFE5-B9E6F2FD770F}" type="slidenum">
              <a:rPr lang="en-US" smtClean="0"/>
              <a:pPr/>
              <a:t>‹#›</a:t>
            </a:fld>
            <a:endParaRPr lang="en-US" dirty="0"/>
          </a:p>
        </p:txBody>
      </p:sp>
    </p:spTree>
    <p:extLst>
      <p:ext uri="{BB962C8B-B14F-4D97-AF65-F5344CB8AC3E}">
        <p14:creationId xmlns:p14="http://schemas.microsoft.com/office/powerpoint/2010/main" val="780051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37549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212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1836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35161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98990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7796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9706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65195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99B0F9-5275-4FDD-BFE5-B9E6F2FD770F}" type="slidenum">
              <a:rPr lang="en-US" smtClean="0"/>
              <a:pPr/>
              <a:t>12</a:t>
            </a:fld>
            <a:endParaRPr lang="en-US" dirty="0"/>
          </a:p>
        </p:txBody>
      </p:sp>
    </p:spTree>
    <p:extLst>
      <p:ext uri="{BB962C8B-B14F-4D97-AF65-F5344CB8AC3E}">
        <p14:creationId xmlns:p14="http://schemas.microsoft.com/office/powerpoint/2010/main" val="559650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Tables represent the number of accounts per office with corresponding activity per reporting tool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6881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0061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15484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81544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2994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14252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5311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7263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9624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00773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52558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of AHT per month per tool</a:t>
            </a:r>
          </a:p>
          <a:p>
            <a:r>
              <a:rPr lang="en-US" dirty="0"/>
              <a:t>AHT against volume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055036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Manila Data Management Team has completed a total of </a:t>
            </a:r>
            <a:r>
              <a:rPr lang="en-US" sz="1200" b="1" dirty="0">
                <a:solidFill>
                  <a:schemeClr val="accent1"/>
                </a:solidFill>
              </a:rPr>
              <a:t>3621 reports </a:t>
            </a:r>
            <a:r>
              <a:rPr lang="en-US" sz="1200" dirty="0"/>
              <a:t>for 2020 YTD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Phase 1 - 2800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Phase 2 – 163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Phase 3 - 658</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7054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99B0F9-5275-4FDD-BFE5-B9E6F2FD770F}"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2127576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99B0F9-5275-4FDD-BFE5-B9E6F2FD770F}"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10983181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r>
              <a:rPr lang="en-US" dirty="0"/>
              <a:t>Sum of TR Feedback – Number of reports (all tools) submitted with TR Feedback received from Client Team</a:t>
            </a:r>
          </a:p>
          <a:p>
            <a:r>
              <a:rPr lang="en-US" dirty="0"/>
              <a:t>Sum of No TR Feedback – Number of reports (all tools) submitted with no TR Feedback received</a:t>
            </a:r>
          </a:p>
          <a:p>
            <a:r>
              <a:rPr lang="en-US" dirty="0"/>
              <a:t>Sum of Reports Sent to Client – Total reports (all tools) sent to Client YTD</a:t>
            </a:r>
          </a:p>
          <a:p>
            <a:r>
              <a:rPr lang="en-US" dirty="0"/>
              <a:t>Average Response Rate – Sum of TR Feedback Received/Sum of Reports Sent to Client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9B0F9-5275-4FDD-BFE5-B9E6F2FD770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70847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r>
              <a:rPr lang="en-US" dirty="0"/>
              <a:t>Sum of TR Feedback – Number of PUT submitted with TR Feedback received from Client Team</a:t>
            </a:r>
          </a:p>
          <a:p>
            <a:r>
              <a:rPr lang="en-US" dirty="0"/>
              <a:t>Sum of No TR Feedback – Number of PUT submitted with no TR Feedback received</a:t>
            </a:r>
          </a:p>
          <a:p>
            <a:r>
              <a:rPr lang="en-US" dirty="0"/>
              <a:t>Sum of Reports Sent to Client – Total PUT sent to Client YTD</a:t>
            </a:r>
          </a:p>
          <a:p>
            <a:r>
              <a:rPr lang="en-US" dirty="0"/>
              <a:t>Average Response Rate – Sum of TR Feedback Received/Sum of Reports Sent to Client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499B0F9-5275-4FDD-BFE5-B9E6F2FD770F}" type="slidenum">
              <a:rPr lang="en-US" smtClean="0"/>
              <a:pPr/>
              <a:t>36</a:t>
            </a:fld>
            <a:endParaRPr lang="en-US" dirty="0"/>
          </a:p>
        </p:txBody>
      </p:sp>
    </p:spTree>
    <p:extLst>
      <p:ext uri="{BB962C8B-B14F-4D97-AF65-F5344CB8AC3E}">
        <p14:creationId xmlns:p14="http://schemas.microsoft.com/office/powerpoint/2010/main" val="15794382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a:off x="304800" y="228600"/>
            <a:ext cx="7693152"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609600" y="457200"/>
            <a:ext cx="7010400" cy="612648"/>
          </a:xfrm>
        </p:spPr>
        <p:txBody>
          <a:bodyPr>
            <a:noAutofit/>
          </a:bodyPr>
          <a:lstStyle>
            <a:lvl1pPr>
              <a:lnSpc>
                <a:spcPts val="2300"/>
              </a:lnSpc>
              <a:defRPr baseline="0"/>
            </a:lvl1pPr>
          </a:lstStyle>
          <a:p>
            <a:r>
              <a:rPr lang="en-US" dirty="0"/>
              <a:t>Title image slide — click to edit</a:t>
            </a:r>
            <a:br>
              <a:rPr lang="en-US" dirty="0"/>
            </a:br>
            <a:r>
              <a:rPr lang="en-US" dirty="0"/>
              <a:t>second line if needed </a:t>
            </a:r>
          </a:p>
        </p:txBody>
      </p:sp>
      <p:sp>
        <p:nvSpPr>
          <p:cNvPr id="22" name="Text Placeholder 21"/>
          <p:cNvSpPr>
            <a:spLocks noGrp="1"/>
          </p:cNvSpPr>
          <p:nvPr>
            <p:ph type="body" sz="quarter" idx="15" hasCustomPrompt="1"/>
          </p:nvPr>
        </p:nvSpPr>
        <p:spPr>
          <a:xfrm>
            <a:off x="609600" y="1097280"/>
            <a:ext cx="7010400" cy="502920"/>
          </a:xfrm>
        </p:spPr>
        <p:txBody>
          <a:bodyPr/>
          <a:lstStyle>
            <a:lvl1pPr>
              <a:lnSpc>
                <a:spcPts val="2000"/>
              </a:lnSpc>
              <a:spcAft>
                <a:spcPts val="0"/>
              </a:spcAft>
              <a:defRPr sz="1800" b="0" baseline="0"/>
            </a:lvl1pPr>
          </a:lstStyle>
          <a:p>
            <a:pPr lvl="0"/>
            <a:r>
              <a:rPr lang="en-US" dirty="0"/>
              <a:t>Click to add subhead</a:t>
            </a:r>
          </a:p>
        </p:txBody>
      </p:sp>
      <p:sp>
        <p:nvSpPr>
          <p:cNvPr id="24" name="Text Placeholder 23"/>
          <p:cNvSpPr>
            <a:spLocks noGrp="1"/>
          </p:cNvSpPr>
          <p:nvPr>
            <p:ph type="body" sz="quarter" idx="16" hasCustomPrompt="1"/>
          </p:nvPr>
        </p:nvSpPr>
        <p:spPr>
          <a:xfrm>
            <a:off x="609600" y="2209670"/>
            <a:ext cx="2682240" cy="271081"/>
          </a:xfrm>
        </p:spPr>
        <p:txBody>
          <a:bodyPr/>
          <a:lstStyle>
            <a:lvl1pPr>
              <a:defRPr sz="1200" b="0" baseline="0"/>
            </a:lvl1pPr>
          </a:lstStyle>
          <a:p>
            <a:pPr lvl="0"/>
            <a:r>
              <a:rPr lang="en-US" dirty="0"/>
              <a:t>Insert date</a:t>
            </a:r>
          </a:p>
        </p:txBody>
      </p:sp>
      <p:sp>
        <p:nvSpPr>
          <p:cNvPr id="26" name="Text Placeholder 25"/>
          <p:cNvSpPr>
            <a:spLocks noGrp="1"/>
          </p:cNvSpPr>
          <p:nvPr>
            <p:ph type="body" sz="quarter" idx="17" hasCustomPrompt="1"/>
          </p:nvPr>
        </p:nvSpPr>
        <p:spPr>
          <a:xfrm>
            <a:off x="609600" y="1654457"/>
            <a:ext cx="7010400" cy="527386"/>
          </a:xfrm>
        </p:spPr>
        <p:txBody>
          <a:bodyPr/>
          <a:lstStyle>
            <a:lvl1pPr>
              <a:lnSpc>
                <a:spcPts val="1800"/>
              </a:lnSpc>
              <a:spcAft>
                <a:spcPts val="0"/>
              </a:spcAft>
              <a:defRPr sz="1600" b="0"/>
            </a:lvl1pPr>
          </a:lstStyle>
          <a:p>
            <a:pPr lvl="0"/>
            <a:r>
              <a:rPr lang="en-US" dirty="0"/>
              <a:t>Click to add text</a:t>
            </a:r>
          </a:p>
        </p:txBody>
      </p:sp>
      <p:pic>
        <p:nvPicPr>
          <p:cNvPr id="14" name="Picture 13"/>
          <p:cNvPicPr>
            <a:picLocks noChangeAspect="1"/>
          </p:cNvPicPr>
          <p:nvPr userDrawn="1"/>
        </p:nvPicPr>
        <p:blipFill>
          <a:blip r:embed="rId3" cstate="print"/>
          <a:stretch>
            <a:fillRect/>
          </a:stretch>
        </p:blipFill>
        <p:spPr>
          <a:xfrm>
            <a:off x="7836747" y="6273358"/>
            <a:ext cx="4030133" cy="584200"/>
          </a:xfrm>
          <a:prstGeom prst="rect">
            <a:avLst/>
          </a:prstGeom>
        </p:spPr>
      </p:pic>
      <p:sp>
        <p:nvSpPr>
          <p:cNvPr id="11" name="Footer Placeholder 4 Copyright"/>
          <p:cNvSpPr>
            <a:spLocks noGrp="1"/>
          </p:cNvSpPr>
          <p:nvPr>
            <p:ph type="ftr" sz="quarter" idx="3"/>
          </p:nvPr>
        </p:nvSpPr>
        <p:spPr>
          <a:xfrm>
            <a:off x="609599" y="6515097"/>
            <a:ext cx="3292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a:t>© [yyyy] Willis Towers Watson. All rights reserved.</a:t>
            </a:r>
            <a:endParaRPr lang="en-US" dirty="0"/>
          </a:p>
        </p:txBody>
      </p:sp>
    </p:spTree>
    <p:extLst>
      <p:ext uri="{BB962C8B-B14F-4D97-AF65-F5344CB8AC3E}">
        <p14:creationId xmlns:p14="http://schemas.microsoft.com/office/powerpoint/2010/main" val="3456336395"/>
      </p:ext>
    </p:extLst>
  </p:cSld>
  <p:clrMapOvr>
    <a:masterClrMapping/>
  </p:clrMapOvr>
  <p:hf hdr="0" dt="0"/>
  <p:extLst>
    <p:ext uri="{DCECCB84-F9BA-43D5-87BE-67443E8EF086}">
      <p15:sldGuideLst xmlns:p15="http://schemas.microsoft.com/office/powerpoint/2012/main">
        <p15:guide id="1" orient="horz" pos="4178"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brand 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0" name="Straight Connector 9"/>
          <p:cNvCxnSpPr/>
          <p:nvPr userDrawn="1"/>
        </p:nvCxnSpPr>
        <p:spPr>
          <a:xfrm>
            <a:off x="7853405" y="6359395"/>
            <a:ext cx="0" cy="320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9"/>
          <p:cNvSpPr>
            <a:spLocks noGrp="1"/>
          </p:cNvSpPr>
          <p:nvPr>
            <p:ph type="pic" sz="quarter" idx="14" hasCustomPrompt="1"/>
          </p:nvPr>
        </p:nvSpPr>
        <p:spPr>
          <a:xfrm>
            <a:off x="4330409" y="6354216"/>
            <a:ext cx="3289300" cy="390196"/>
          </a:xfrm>
        </p:spPr>
        <p:txBody>
          <a:bodyPr anchor="ctr" anchorCtr="0"/>
          <a:lstStyle>
            <a:lvl1pPr algn="ctr">
              <a:defRPr sz="1200"/>
            </a:lvl1pPr>
          </a:lstStyle>
          <a:p>
            <a:r>
              <a:rPr lang="en-US" dirty="0"/>
              <a:t>Click to insert cobrand logo</a:t>
            </a:r>
          </a:p>
        </p:txBody>
      </p:sp>
      <p:sp>
        <p:nvSpPr>
          <p:cNvPr id="15" name="Rectangle 14"/>
          <p:cNvSpPr/>
          <p:nvPr userDrawn="1"/>
        </p:nvSpPr>
        <p:spPr>
          <a:xfrm>
            <a:off x="304800" y="228600"/>
            <a:ext cx="7693152"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6" name="Title 1"/>
          <p:cNvSpPr>
            <a:spLocks noGrp="1"/>
          </p:cNvSpPr>
          <p:nvPr>
            <p:ph type="title" hasCustomPrompt="1"/>
          </p:nvPr>
        </p:nvSpPr>
        <p:spPr>
          <a:xfrm>
            <a:off x="609600" y="457200"/>
            <a:ext cx="7010400" cy="612648"/>
          </a:xfrm>
        </p:spPr>
        <p:txBody>
          <a:bodyPr>
            <a:noAutofit/>
          </a:bodyPr>
          <a:lstStyle>
            <a:lvl1pPr>
              <a:lnSpc>
                <a:spcPts val="2300"/>
              </a:lnSpc>
              <a:defRPr baseline="0"/>
            </a:lvl1pPr>
          </a:lstStyle>
          <a:p>
            <a:r>
              <a:rPr lang="en-US" dirty="0"/>
              <a:t>Title cobrand image slide — click to edit</a:t>
            </a:r>
            <a:br>
              <a:rPr lang="en-US" dirty="0"/>
            </a:br>
            <a:r>
              <a:rPr lang="en-US" dirty="0"/>
              <a:t>second line if needed </a:t>
            </a:r>
          </a:p>
        </p:txBody>
      </p:sp>
      <p:sp>
        <p:nvSpPr>
          <p:cNvPr id="17" name="Text Placeholder 21"/>
          <p:cNvSpPr>
            <a:spLocks noGrp="1"/>
          </p:cNvSpPr>
          <p:nvPr>
            <p:ph type="body" sz="quarter" idx="15" hasCustomPrompt="1"/>
          </p:nvPr>
        </p:nvSpPr>
        <p:spPr>
          <a:xfrm>
            <a:off x="609600" y="1097280"/>
            <a:ext cx="7010400" cy="502920"/>
          </a:xfrm>
        </p:spPr>
        <p:txBody>
          <a:bodyPr/>
          <a:lstStyle>
            <a:lvl1pPr>
              <a:lnSpc>
                <a:spcPts val="2000"/>
              </a:lnSpc>
              <a:spcAft>
                <a:spcPts val="0"/>
              </a:spcAft>
              <a:defRPr sz="1800" b="0" baseline="0"/>
            </a:lvl1pPr>
          </a:lstStyle>
          <a:p>
            <a:pPr lvl="0"/>
            <a:r>
              <a:rPr lang="en-US" dirty="0"/>
              <a:t>Click to add subhead</a:t>
            </a:r>
          </a:p>
        </p:txBody>
      </p:sp>
      <p:sp>
        <p:nvSpPr>
          <p:cNvPr id="18" name="Text Placeholder 23"/>
          <p:cNvSpPr>
            <a:spLocks noGrp="1"/>
          </p:cNvSpPr>
          <p:nvPr>
            <p:ph type="body" sz="quarter" idx="16" hasCustomPrompt="1"/>
          </p:nvPr>
        </p:nvSpPr>
        <p:spPr>
          <a:xfrm>
            <a:off x="609600" y="2209670"/>
            <a:ext cx="2682240" cy="271081"/>
          </a:xfrm>
        </p:spPr>
        <p:txBody>
          <a:bodyPr/>
          <a:lstStyle>
            <a:lvl1pPr>
              <a:defRPr sz="1200" b="0" baseline="0"/>
            </a:lvl1pPr>
          </a:lstStyle>
          <a:p>
            <a:pPr lvl="0"/>
            <a:r>
              <a:rPr lang="en-US" dirty="0"/>
              <a:t>Insert date</a:t>
            </a:r>
          </a:p>
        </p:txBody>
      </p:sp>
      <p:sp>
        <p:nvSpPr>
          <p:cNvPr id="19" name="Text Placeholder 25"/>
          <p:cNvSpPr>
            <a:spLocks noGrp="1"/>
          </p:cNvSpPr>
          <p:nvPr>
            <p:ph type="body" sz="quarter" idx="17" hasCustomPrompt="1"/>
          </p:nvPr>
        </p:nvSpPr>
        <p:spPr>
          <a:xfrm>
            <a:off x="609600" y="1654457"/>
            <a:ext cx="7010400" cy="527386"/>
          </a:xfrm>
        </p:spPr>
        <p:txBody>
          <a:bodyPr/>
          <a:lstStyle>
            <a:lvl1pPr>
              <a:lnSpc>
                <a:spcPts val="1800"/>
              </a:lnSpc>
              <a:spcAft>
                <a:spcPts val="0"/>
              </a:spcAft>
              <a:defRPr sz="1600" b="0"/>
            </a:lvl1pPr>
          </a:lstStyle>
          <a:p>
            <a:pPr lvl="0"/>
            <a:r>
              <a:rPr lang="en-US" dirty="0"/>
              <a:t>Click to add text</a:t>
            </a:r>
          </a:p>
        </p:txBody>
      </p:sp>
      <p:pic>
        <p:nvPicPr>
          <p:cNvPr id="13" name="Picture 12"/>
          <p:cNvPicPr>
            <a:picLocks noChangeAspect="1"/>
          </p:cNvPicPr>
          <p:nvPr userDrawn="1"/>
        </p:nvPicPr>
        <p:blipFill>
          <a:blip r:embed="rId3" cstate="print"/>
          <a:stretch>
            <a:fillRect/>
          </a:stretch>
        </p:blipFill>
        <p:spPr>
          <a:xfrm>
            <a:off x="7836747" y="6273358"/>
            <a:ext cx="4030133" cy="584200"/>
          </a:xfrm>
          <a:prstGeom prst="rect">
            <a:avLst/>
          </a:prstGeom>
        </p:spPr>
      </p:pic>
      <p:sp>
        <p:nvSpPr>
          <p:cNvPr id="20" name="Footer Placeholder 4 Copyright"/>
          <p:cNvSpPr>
            <a:spLocks noGrp="1"/>
          </p:cNvSpPr>
          <p:nvPr>
            <p:ph type="ftr" sz="quarter" idx="3"/>
          </p:nvPr>
        </p:nvSpPr>
        <p:spPr>
          <a:xfrm>
            <a:off x="609599" y="6515097"/>
            <a:ext cx="3292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a:t>© [yyyy] Willis Towers Watson. All rights reserved.</a:t>
            </a:r>
            <a:endParaRPr lang="en-US" dirty="0"/>
          </a:p>
        </p:txBody>
      </p:sp>
    </p:spTree>
    <p:extLst>
      <p:ext uri="{BB962C8B-B14F-4D97-AF65-F5344CB8AC3E}">
        <p14:creationId xmlns:p14="http://schemas.microsoft.com/office/powerpoint/2010/main" val="1161387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lor">
    <p:bg>
      <p:bgPr>
        <a:solidFill>
          <a:srgbClr val="C8D7DF"/>
        </a:solidFill>
        <a:effectLst/>
      </p:bgPr>
    </p:bg>
    <p:spTree>
      <p:nvGrpSpPr>
        <p:cNvPr id="1" name=""/>
        <p:cNvGrpSpPr/>
        <p:nvPr/>
      </p:nvGrpSpPr>
      <p:grpSpPr>
        <a:xfrm>
          <a:off x="0" y="0"/>
          <a:ext cx="0" cy="0"/>
          <a:chOff x="0" y="0"/>
          <a:chExt cx="0" cy="0"/>
        </a:xfrm>
      </p:grpSpPr>
      <p:sp>
        <p:nvSpPr>
          <p:cNvPr id="9" name="Rectangle 8"/>
          <p:cNvSpPr/>
          <p:nvPr userDrawn="1"/>
        </p:nvSpPr>
        <p:spPr>
          <a:xfrm>
            <a:off x="304800" y="228600"/>
            <a:ext cx="7693152"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609600" y="457200"/>
            <a:ext cx="7010400" cy="612648"/>
          </a:xfrm>
        </p:spPr>
        <p:txBody>
          <a:bodyPr>
            <a:noAutofit/>
          </a:bodyPr>
          <a:lstStyle>
            <a:lvl1pPr>
              <a:lnSpc>
                <a:spcPts val="2300"/>
              </a:lnSpc>
              <a:defRPr baseline="0"/>
            </a:lvl1pPr>
          </a:lstStyle>
          <a:p>
            <a:r>
              <a:rPr lang="en-US" dirty="0"/>
              <a:t>Title color slide — click to edit</a:t>
            </a:r>
            <a:br>
              <a:rPr lang="en-US" dirty="0"/>
            </a:br>
            <a:r>
              <a:rPr lang="en-US" dirty="0"/>
              <a:t>second line if needed </a:t>
            </a:r>
          </a:p>
        </p:txBody>
      </p:sp>
      <p:sp>
        <p:nvSpPr>
          <p:cNvPr id="22" name="Text Placeholder 21"/>
          <p:cNvSpPr>
            <a:spLocks noGrp="1"/>
          </p:cNvSpPr>
          <p:nvPr>
            <p:ph type="body" sz="quarter" idx="15" hasCustomPrompt="1"/>
          </p:nvPr>
        </p:nvSpPr>
        <p:spPr>
          <a:xfrm>
            <a:off x="609600" y="1097280"/>
            <a:ext cx="7010400" cy="502920"/>
          </a:xfrm>
        </p:spPr>
        <p:txBody>
          <a:bodyPr/>
          <a:lstStyle>
            <a:lvl1pPr>
              <a:lnSpc>
                <a:spcPts val="2000"/>
              </a:lnSpc>
              <a:spcAft>
                <a:spcPts val="0"/>
              </a:spcAft>
              <a:defRPr sz="1800" b="0" baseline="0"/>
            </a:lvl1pPr>
          </a:lstStyle>
          <a:p>
            <a:pPr lvl="0"/>
            <a:r>
              <a:rPr lang="en-US" dirty="0"/>
              <a:t>Click to add subhead</a:t>
            </a:r>
          </a:p>
        </p:txBody>
      </p:sp>
      <p:sp>
        <p:nvSpPr>
          <p:cNvPr id="24" name="Text Placeholder 23"/>
          <p:cNvSpPr>
            <a:spLocks noGrp="1"/>
          </p:cNvSpPr>
          <p:nvPr>
            <p:ph type="body" sz="quarter" idx="16" hasCustomPrompt="1"/>
          </p:nvPr>
        </p:nvSpPr>
        <p:spPr>
          <a:xfrm>
            <a:off x="609600" y="2209670"/>
            <a:ext cx="2682240" cy="271081"/>
          </a:xfrm>
        </p:spPr>
        <p:txBody>
          <a:bodyPr/>
          <a:lstStyle>
            <a:lvl1pPr>
              <a:defRPr sz="1200" b="0" baseline="0"/>
            </a:lvl1pPr>
          </a:lstStyle>
          <a:p>
            <a:pPr lvl="0"/>
            <a:r>
              <a:rPr lang="en-US" dirty="0"/>
              <a:t>Insert date</a:t>
            </a:r>
          </a:p>
        </p:txBody>
      </p:sp>
      <p:sp>
        <p:nvSpPr>
          <p:cNvPr id="26" name="Text Placeholder 25"/>
          <p:cNvSpPr>
            <a:spLocks noGrp="1"/>
          </p:cNvSpPr>
          <p:nvPr>
            <p:ph type="body" sz="quarter" idx="17" hasCustomPrompt="1"/>
          </p:nvPr>
        </p:nvSpPr>
        <p:spPr>
          <a:xfrm>
            <a:off x="609600" y="1654457"/>
            <a:ext cx="7010400" cy="527386"/>
          </a:xfrm>
        </p:spPr>
        <p:txBody>
          <a:bodyPr/>
          <a:lstStyle>
            <a:lvl1pPr>
              <a:lnSpc>
                <a:spcPts val="1800"/>
              </a:lnSpc>
              <a:spcAft>
                <a:spcPts val="0"/>
              </a:spcAft>
              <a:defRPr sz="1600" b="0"/>
            </a:lvl1pPr>
          </a:lstStyle>
          <a:p>
            <a:pPr lvl="0"/>
            <a:r>
              <a:rPr lang="en-US" dirty="0"/>
              <a:t>Click to add text</a:t>
            </a:r>
          </a:p>
        </p:txBody>
      </p:sp>
      <p:sp>
        <p:nvSpPr>
          <p:cNvPr id="10" name="Rectangle 9"/>
          <p:cNvSpPr/>
          <p:nvPr userDrawn="1"/>
        </p:nvSpPr>
        <p:spPr>
          <a:xfrm>
            <a:off x="0" y="6280484"/>
            <a:ext cx="12192000" cy="577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grpSp>
        <p:nvGrpSpPr>
          <p:cNvPr id="11" name="Group 10"/>
          <p:cNvGrpSpPr/>
          <p:nvPr userDrawn="1"/>
        </p:nvGrpSpPr>
        <p:grpSpPr>
          <a:xfrm>
            <a:off x="609600" y="3583409"/>
            <a:ext cx="2730611" cy="2157709"/>
            <a:chOff x="457200" y="3682374"/>
            <a:chExt cx="1481138" cy="1560513"/>
          </a:xfrm>
        </p:grpSpPr>
        <p:sp>
          <p:nvSpPr>
            <p:cNvPr id="13" name="Rectangle 255"/>
            <p:cNvSpPr>
              <a:spLocks noChangeArrowheads="1"/>
            </p:cNvSpPr>
            <p:nvPr userDrawn="1"/>
          </p:nvSpPr>
          <p:spPr bwMode="auto">
            <a:xfrm>
              <a:off x="457200" y="3682374"/>
              <a:ext cx="269875" cy="78105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5" name="Rectangle 256"/>
            <p:cNvSpPr>
              <a:spLocks noChangeArrowheads="1"/>
            </p:cNvSpPr>
            <p:nvPr userDrawn="1"/>
          </p:nvSpPr>
          <p:spPr bwMode="auto">
            <a:xfrm>
              <a:off x="993775" y="4266574"/>
              <a:ext cx="406400" cy="58737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6" name="Rectangle 257"/>
            <p:cNvSpPr>
              <a:spLocks noChangeArrowheads="1"/>
            </p:cNvSpPr>
            <p:nvPr userDrawn="1"/>
          </p:nvSpPr>
          <p:spPr bwMode="auto">
            <a:xfrm>
              <a:off x="1536700" y="3877636"/>
              <a:ext cx="401638" cy="38893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7" name="Rectangle 258"/>
            <p:cNvSpPr>
              <a:spLocks noChangeArrowheads="1"/>
            </p:cNvSpPr>
            <p:nvPr userDrawn="1"/>
          </p:nvSpPr>
          <p:spPr bwMode="auto">
            <a:xfrm>
              <a:off x="592137" y="4658686"/>
              <a:ext cx="131763" cy="19208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8" name="Rectangle 259"/>
            <p:cNvSpPr>
              <a:spLocks noChangeArrowheads="1"/>
            </p:cNvSpPr>
            <p:nvPr userDrawn="1"/>
          </p:nvSpPr>
          <p:spPr bwMode="auto">
            <a:xfrm>
              <a:off x="1265237" y="5047624"/>
              <a:ext cx="541338" cy="195263"/>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grpSp>
      <p:pic>
        <p:nvPicPr>
          <p:cNvPr id="19" name="Picture 18"/>
          <p:cNvPicPr>
            <a:picLocks noChangeAspect="1"/>
          </p:cNvPicPr>
          <p:nvPr userDrawn="1"/>
        </p:nvPicPr>
        <p:blipFill>
          <a:blip r:embed="rId2" cstate="print"/>
          <a:stretch>
            <a:fillRect/>
          </a:stretch>
        </p:blipFill>
        <p:spPr>
          <a:xfrm>
            <a:off x="7836747" y="6273358"/>
            <a:ext cx="4030133" cy="584200"/>
          </a:xfrm>
          <a:prstGeom prst="rect">
            <a:avLst/>
          </a:prstGeom>
        </p:spPr>
      </p:pic>
      <p:sp>
        <p:nvSpPr>
          <p:cNvPr id="27" name="Footer Placeholder 4 Copyright"/>
          <p:cNvSpPr>
            <a:spLocks noGrp="1"/>
          </p:cNvSpPr>
          <p:nvPr>
            <p:ph type="ftr" sz="quarter" idx="3"/>
          </p:nvPr>
        </p:nvSpPr>
        <p:spPr>
          <a:xfrm>
            <a:off x="609599" y="6515097"/>
            <a:ext cx="3292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a:t>
            </a:r>
            <a:endParaRPr lang="en-US" dirty="0"/>
          </a:p>
        </p:txBody>
      </p:sp>
      <p:sp>
        <p:nvSpPr>
          <p:cNvPr id="28" name="Rectangle 27"/>
          <p:cNvSpPr/>
          <p:nvPr userDrawn="1"/>
        </p:nvSpPr>
        <p:spPr>
          <a:xfrm>
            <a:off x="609599" y="6400801"/>
            <a:ext cx="878446" cy="92333"/>
          </a:xfrm>
          <a:prstGeom prst="rect">
            <a:avLst/>
          </a:prstGeom>
        </p:spPr>
        <p:txBody>
          <a:bodyPr wrap="none" lIns="0" tIns="0" rIns="0" bIns="0">
            <a:spAutoFit/>
          </a:bodyPr>
          <a:lstStyle/>
          <a:p>
            <a:pPr>
              <a:spcAft>
                <a:spcPts val="200"/>
              </a:spcAft>
            </a:pPr>
            <a:r>
              <a:rPr lang="en-GB" sz="600" b="1" dirty="0">
                <a:solidFill>
                  <a:schemeClr val="accent1"/>
                </a:solidFill>
              </a:rPr>
              <a:t>willistowerswatson.com</a:t>
            </a:r>
          </a:p>
        </p:txBody>
      </p:sp>
    </p:spTree>
    <p:extLst>
      <p:ext uri="{BB962C8B-B14F-4D97-AF65-F5344CB8AC3E}">
        <p14:creationId xmlns:p14="http://schemas.microsoft.com/office/powerpoint/2010/main" val="2082299848"/>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angle 11"/>
          <p:cNvSpPr/>
          <p:nvPr userDrawn="1"/>
        </p:nvSpPr>
        <p:spPr>
          <a:xfrm>
            <a:off x="304800" y="1310178"/>
            <a:ext cx="6787376" cy="14194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800" dirty="0"/>
          </a:p>
        </p:txBody>
      </p:sp>
      <p:sp>
        <p:nvSpPr>
          <p:cNvPr id="16" name="Text Placeholder 12"/>
          <p:cNvSpPr>
            <a:spLocks noGrp="1"/>
          </p:cNvSpPr>
          <p:nvPr>
            <p:ph type="body" sz="quarter" idx="13" hasCustomPrompt="1"/>
          </p:nvPr>
        </p:nvSpPr>
        <p:spPr>
          <a:xfrm>
            <a:off x="609600" y="1938529"/>
            <a:ext cx="6181344" cy="337433"/>
          </a:xfrm>
        </p:spPr>
        <p:txBody>
          <a:bodyPr>
            <a:noAutofit/>
          </a:bodyPr>
          <a:lstStyle>
            <a:lvl1pPr>
              <a:defRPr sz="1800" b="0">
                <a:solidFill>
                  <a:schemeClr val="tx1"/>
                </a:solidFill>
              </a:defRPr>
            </a:lvl1pPr>
          </a:lstStyle>
          <a:p>
            <a:pPr lvl="0"/>
            <a:r>
              <a:rPr lang="en-US" dirty="0"/>
              <a:t>Click to add subheading</a:t>
            </a:r>
          </a:p>
        </p:txBody>
      </p:sp>
      <p:sp>
        <p:nvSpPr>
          <p:cNvPr id="17" name="Title 1"/>
          <p:cNvSpPr>
            <a:spLocks noGrp="1"/>
          </p:cNvSpPr>
          <p:nvPr>
            <p:ph type="title" hasCustomPrompt="1"/>
          </p:nvPr>
        </p:nvSpPr>
        <p:spPr>
          <a:xfrm>
            <a:off x="609600" y="1524001"/>
            <a:ext cx="6181344" cy="381000"/>
          </a:xfrm>
        </p:spPr>
        <p:txBody>
          <a:bodyPr>
            <a:noAutofit/>
          </a:bodyPr>
          <a:lstStyle>
            <a:lvl1pPr>
              <a:defRPr baseline="0"/>
            </a:lvl1pPr>
          </a:lstStyle>
          <a:p>
            <a:r>
              <a:rPr lang="en-US" dirty="0"/>
              <a:t>Divider image slide — click to edit text</a:t>
            </a:r>
          </a:p>
        </p:txBody>
      </p:sp>
      <p:pic>
        <p:nvPicPr>
          <p:cNvPr id="25" name="Picture 24"/>
          <p:cNvPicPr>
            <a:picLocks noChangeAspect="1"/>
          </p:cNvPicPr>
          <p:nvPr userDrawn="1"/>
        </p:nvPicPr>
        <p:blipFill>
          <a:blip r:embed="rId3" cstate="print"/>
          <a:stretch>
            <a:fillRect/>
          </a:stretch>
        </p:blipFill>
        <p:spPr>
          <a:xfrm>
            <a:off x="8900458" y="6300217"/>
            <a:ext cx="2377143" cy="347429"/>
          </a:xfrm>
          <a:prstGeom prst="rect">
            <a:avLst/>
          </a:prstGeom>
        </p:spPr>
      </p:pic>
      <p:sp>
        <p:nvSpPr>
          <p:cNvPr id="26"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4"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a:t>© [yyyy] Willis Towers Watson. All rights reserved. Proprietary and Confidential. For Willis Towers Watson and Willis Towers Watson client use only.</a:t>
            </a:r>
            <a:endParaRPr lang="en-US" dirty="0"/>
          </a:p>
        </p:txBody>
      </p:sp>
    </p:spTree>
    <p:extLst>
      <p:ext uri="{BB962C8B-B14F-4D97-AF65-F5344CB8AC3E}">
        <p14:creationId xmlns:p14="http://schemas.microsoft.com/office/powerpoint/2010/main" val="3301743665"/>
      </p:ext>
    </p:extLst>
  </p:cSld>
  <p:clrMapOvr>
    <a:masterClrMapping/>
  </p:clrMapOvr>
  <p:hf hdr="0" dt="0"/>
  <p:extLst>
    <p:ext uri="{DCECCB84-F9BA-43D5-87BE-67443E8EF086}">
      <p15:sldGuideLst xmlns:p15="http://schemas.microsoft.com/office/powerpoint/2012/main">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color">
    <p:bg>
      <p:bgPr>
        <a:solidFill>
          <a:srgbClr val="DDD0CF"/>
        </a:solidFill>
        <a:effectLst/>
      </p:bgPr>
    </p:bg>
    <p:spTree>
      <p:nvGrpSpPr>
        <p:cNvPr id="1" name=""/>
        <p:cNvGrpSpPr/>
        <p:nvPr/>
      </p:nvGrpSpPr>
      <p:grpSpPr>
        <a:xfrm>
          <a:off x="0" y="0"/>
          <a:ext cx="0" cy="0"/>
          <a:chOff x="0" y="0"/>
          <a:chExt cx="0" cy="0"/>
        </a:xfrm>
      </p:grpSpPr>
      <p:sp>
        <p:nvSpPr>
          <p:cNvPr id="22" name="Rectangle 21"/>
          <p:cNvSpPr/>
          <p:nvPr userDrawn="1"/>
        </p:nvSpPr>
        <p:spPr>
          <a:xfrm>
            <a:off x="304800" y="1310178"/>
            <a:ext cx="6787376" cy="14194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800" dirty="0"/>
          </a:p>
        </p:txBody>
      </p:sp>
      <p:sp>
        <p:nvSpPr>
          <p:cNvPr id="11" name="Rectangle 10"/>
          <p:cNvSpPr/>
          <p:nvPr userDrawn="1"/>
        </p:nvSpPr>
        <p:spPr>
          <a:xfrm>
            <a:off x="0" y="6280484"/>
            <a:ext cx="12192000" cy="577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
        <p:nvSpPr>
          <p:cNvPr id="17" name="Text Placeholder 12"/>
          <p:cNvSpPr>
            <a:spLocks noGrp="1"/>
          </p:cNvSpPr>
          <p:nvPr>
            <p:ph type="body" sz="quarter" idx="13" hasCustomPrompt="1"/>
          </p:nvPr>
        </p:nvSpPr>
        <p:spPr>
          <a:xfrm>
            <a:off x="609600" y="1938529"/>
            <a:ext cx="6181344" cy="337433"/>
          </a:xfrm>
        </p:spPr>
        <p:txBody>
          <a:bodyPr>
            <a:noAutofit/>
          </a:bodyPr>
          <a:lstStyle>
            <a:lvl1pPr>
              <a:defRPr sz="1800" b="0">
                <a:solidFill>
                  <a:schemeClr val="tx1"/>
                </a:solidFill>
              </a:defRPr>
            </a:lvl1pPr>
          </a:lstStyle>
          <a:p>
            <a:pPr lvl="0"/>
            <a:r>
              <a:rPr lang="en-US" dirty="0"/>
              <a:t>Click to add subheading</a:t>
            </a:r>
          </a:p>
        </p:txBody>
      </p:sp>
      <p:sp>
        <p:nvSpPr>
          <p:cNvPr id="13" name="Title 1"/>
          <p:cNvSpPr>
            <a:spLocks noGrp="1"/>
          </p:cNvSpPr>
          <p:nvPr>
            <p:ph type="title" hasCustomPrompt="1"/>
          </p:nvPr>
        </p:nvSpPr>
        <p:spPr>
          <a:xfrm>
            <a:off x="609600" y="1524001"/>
            <a:ext cx="6181344" cy="381000"/>
          </a:xfrm>
        </p:spPr>
        <p:txBody>
          <a:bodyPr>
            <a:noAutofit/>
          </a:bodyPr>
          <a:lstStyle>
            <a:lvl1pPr>
              <a:defRPr baseline="0"/>
            </a:lvl1pPr>
          </a:lstStyle>
          <a:p>
            <a:r>
              <a:rPr lang="en-US" dirty="0"/>
              <a:t>Divider color slide — click to edit text</a:t>
            </a:r>
          </a:p>
        </p:txBody>
      </p:sp>
      <p:grpSp>
        <p:nvGrpSpPr>
          <p:cNvPr id="14" name="Group 13"/>
          <p:cNvGrpSpPr/>
          <p:nvPr userDrawn="1"/>
        </p:nvGrpSpPr>
        <p:grpSpPr>
          <a:xfrm>
            <a:off x="609600" y="3829699"/>
            <a:ext cx="2474384" cy="2051050"/>
            <a:chOff x="457200" y="3522663"/>
            <a:chExt cx="1855788" cy="2051050"/>
          </a:xfrm>
        </p:grpSpPr>
        <p:sp>
          <p:nvSpPr>
            <p:cNvPr id="18" name="AutoShape 3"/>
            <p:cNvSpPr>
              <a:spLocks noChangeAspect="1" noChangeArrowheads="1" noTextEdit="1"/>
            </p:cNvSpPr>
            <p:nvPr userDrawn="1"/>
          </p:nvSpPr>
          <p:spPr bwMode="auto">
            <a:xfrm>
              <a:off x="457200" y="3522663"/>
              <a:ext cx="1855788"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 name="Rectangle 5"/>
            <p:cNvSpPr>
              <a:spLocks noChangeArrowheads="1"/>
            </p:cNvSpPr>
            <p:nvPr userDrawn="1"/>
          </p:nvSpPr>
          <p:spPr bwMode="auto">
            <a:xfrm>
              <a:off x="1879600" y="4954588"/>
              <a:ext cx="285750" cy="203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Rectangle 6"/>
            <p:cNvSpPr>
              <a:spLocks noChangeArrowheads="1"/>
            </p:cNvSpPr>
            <p:nvPr userDrawn="1"/>
          </p:nvSpPr>
          <p:spPr bwMode="auto">
            <a:xfrm>
              <a:off x="1597025" y="3522663"/>
              <a:ext cx="712788" cy="1028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 name="Rectangle 7"/>
            <p:cNvSpPr>
              <a:spLocks noChangeArrowheads="1"/>
            </p:cNvSpPr>
            <p:nvPr userDrawn="1"/>
          </p:nvSpPr>
          <p:spPr bwMode="auto">
            <a:xfrm>
              <a:off x="1177925" y="3730625"/>
              <a:ext cx="142875" cy="6175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 name="Rectangle 8"/>
            <p:cNvSpPr>
              <a:spLocks noChangeArrowheads="1"/>
            </p:cNvSpPr>
            <p:nvPr userDrawn="1"/>
          </p:nvSpPr>
          <p:spPr bwMode="auto">
            <a:xfrm>
              <a:off x="1309688" y="4543425"/>
              <a:ext cx="147638" cy="4159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 name="Rectangle 26"/>
            <p:cNvSpPr>
              <a:spLocks noChangeArrowheads="1"/>
            </p:cNvSpPr>
            <p:nvPr userDrawn="1"/>
          </p:nvSpPr>
          <p:spPr bwMode="auto">
            <a:xfrm>
              <a:off x="460375" y="4751388"/>
              <a:ext cx="569913" cy="822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pic>
        <p:nvPicPr>
          <p:cNvPr id="28" name="Picture 27"/>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29"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6"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
        <p:nvSpPr>
          <p:cNvPr id="20" name="Rectangle 19"/>
          <p:cNvSpPr/>
          <p:nvPr userDrawn="1"/>
        </p:nvSpPr>
        <p:spPr>
          <a:xfrm>
            <a:off x="609599" y="6400801"/>
            <a:ext cx="878446" cy="92333"/>
          </a:xfrm>
          <a:prstGeom prst="rect">
            <a:avLst/>
          </a:prstGeom>
        </p:spPr>
        <p:txBody>
          <a:bodyPr wrap="none" lIns="0" tIns="0" rIns="0" bIns="0">
            <a:spAutoFit/>
          </a:bodyPr>
          <a:lstStyle/>
          <a:p>
            <a:pPr>
              <a:spcAft>
                <a:spcPts val="200"/>
              </a:spcAft>
            </a:pPr>
            <a:r>
              <a:rPr lang="en-GB" sz="600" b="1" dirty="0">
                <a:solidFill>
                  <a:schemeClr val="accent1"/>
                </a:solidFill>
              </a:rPr>
              <a:t>willistowerswatson.com</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US" dirty="0"/>
          </a:p>
        </p:txBody>
      </p:sp>
      <p:sp>
        <p:nvSpPr>
          <p:cNvPr id="8" name="Text Placeholder 12"/>
          <p:cNvSpPr>
            <a:spLocks noGrp="1"/>
          </p:cNvSpPr>
          <p:nvPr>
            <p:ph type="body" sz="quarter" idx="13" hasCustomPrompt="1"/>
          </p:nvPr>
        </p:nvSpPr>
        <p:spPr>
          <a:xfrm>
            <a:off x="609600" y="800240"/>
            <a:ext cx="10972800" cy="276999"/>
          </a:xfrm>
        </p:spPr>
        <p:txBody>
          <a:bodyPr/>
          <a:lstStyle>
            <a:lvl1pPr>
              <a:defRPr sz="1800" b="0" baseline="0">
                <a:solidFill>
                  <a:schemeClr val="tx1"/>
                </a:solidFill>
              </a:defRPr>
            </a:lvl1pPr>
          </a:lstStyle>
          <a:p>
            <a:pPr lvl="0"/>
            <a:r>
              <a:rPr lang="en-US" dirty="0"/>
              <a:t>Subheading here</a:t>
            </a:r>
          </a:p>
        </p:txBody>
      </p:sp>
      <p:cxnSp>
        <p:nvCxnSpPr>
          <p:cNvPr id="12" name="Straight Connector 11"/>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2"/>
          <p:cNvSpPr>
            <a:spLocks noGrp="1"/>
          </p:cNvSpPr>
          <p:nvPr>
            <p:ph idx="1"/>
          </p:nvPr>
        </p:nvSpPr>
        <p:spPr>
          <a:xfrm>
            <a:off x="609600" y="1524000"/>
            <a:ext cx="10972800" cy="4389120"/>
          </a:xfrm>
        </p:spPr>
        <p:txBody>
          <a:bodyPr/>
          <a:lstStyle>
            <a:lvl1pPr>
              <a:defRPr sz="1800"/>
            </a:lvl1pPr>
            <a:lvl2pPr>
              <a:defRPr sz="1600"/>
            </a:lvl2pPr>
            <a:lvl3pPr>
              <a:buSzPct val="125000"/>
              <a:defRPr/>
            </a:lvl3pPr>
            <a:lvl4pPr>
              <a:buSzPct val="125000"/>
              <a:defRPr/>
            </a:lvl4pPr>
            <a:lvl5pPr>
              <a:buSzPct val="125000"/>
              <a:defRPr baseline="0"/>
            </a:lvl5pPr>
            <a:lvl6pPr>
              <a:defRPr baseline="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20"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9"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extLst>
    <p:ext uri="{DCECCB84-F9BA-43D5-87BE-67443E8EF086}">
      <p15:sldGuideLst xmlns:p15="http://schemas.microsoft.com/office/powerpoint/2012/main">
        <p15:guide id="1" orient="horz" pos="4104"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Number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Text Placeholder 12"/>
          <p:cNvSpPr>
            <a:spLocks noGrp="1"/>
          </p:cNvSpPr>
          <p:nvPr>
            <p:ph type="body" sz="quarter" idx="13" hasCustomPrompt="1"/>
          </p:nvPr>
        </p:nvSpPr>
        <p:spPr>
          <a:xfrm>
            <a:off x="609600" y="800240"/>
            <a:ext cx="10972800" cy="276999"/>
          </a:xfrm>
        </p:spPr>
        <p:txBody>
          <a:bodyPr/>
          <a:lstStyle>
            <a:lvl1pPr>
              <a:defRPr sz="1800" b="0" baseline="0">
                <a:solidFill>
                  <a:schemeClr val="tx1"/>
                </a:solidFill>
              </a:defRPr>
            </a:lvl1pPr>
          </a:lstStyle>
          <a:p>
            <a:pPr lvl="0"/>
            <a:r>
              <a:rPr lang="en-US" dirty="0"/>
              <a:t>Subheading here</a:t>
            </a:r>
          </a:p>
        </p:txBody>
      </p:sp>
      <p:sp>
        <p:nvSpPr>
          <p:cNvPr id="8" name="Content Placeholder 2"/>
          <p:cNvSpPr>
            <a:spLocks noGrp="1"/>
          </p:cNvSpPr>
          <p:nvPr>
            <p:ph idx="1"/>
          </p:nvPr>
        </p:nvSpPr>
        <p:spPr>
          <a:xfrm>
            <a:off x="609600" y="1524000"/>
            <a:ext cx="10972800" cy="4389120"/>
          </a:xfrm>
        </p:spPr>
        <p:txBody>
          <a:bodyPr/>
          <a:lstStyle>
            <a:lvl1pPr>
              <a:defRPr sz="1800"/>
            </a:lvl1pPr>
            <a:lvl2pPr>
              <a:defRPr sz="1600"/>
            </a:lvl2pPr>
            <a:lvl3pPr marL="233363" indent="-233363">
              <a:buSzPct val="100000"/>
              <a:buFont typeface="+mj-lt"/>
              <a:buAutoNum type="arabicPeriod"/>
              <a:defRPr/>
            </a:lvl3pPr>
            <a:lvl4pPr>
              <a:buSzPct val="125000"/>
              <a:defRPr/>
            </a:lvl4pPr>
            <a:lvl5pPr>
              <a:buSzPct val="125000"/>
              <a:defRPr baseline="0"/>
            </a:lvl5pPr>
            <a:lvl6pPr>
              <a:defRPr baseline="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14"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2"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dcrum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US" dirty="0"/>
          </a:p>
        </p:txBody>
      </p:sp>
      <p:sp>
        <p:nvSpPr>
          <p:cNvPr id="8" name="Text Placeholder 12"/>
          <p:cNvSpPr>
            <a:spLocks noGrp="1"/>
          </p:cNvSpPr>
          <p:nvPr>
            <p:ph type="body" sz="quarter" idx="13" hasCustomPrompt="1"/>
          </p:nvPr>
        </p:nvSpPr>
        <p:spPr>
          <a:xfrm>
            <a:off x="609600" y="800240"/>
            <a:ext cx="10972800" cy="276999"/>
          </a:xfrm>
        </p:spPr>
        <p:txBody>
          <a:bodyPr/>
          <a:lstStyle>
            <a:lvl1pPr>
              <a:defRPr sz="1800" b="0" baseline="0">
                <a:solidFill>
                  <a:schemeClr val="tx1"/>
                </a:solidFill>
              </a:defRPr>
            </a:lvl1pPr>
          </a:lstStyle>
          <a:p>
            <a:pPr lvl="0"/>
            <a:r>
              <a:rPr lang="en-US" dirty="0"/>
              <a:t>Subheading here</a:t>
            </a:r>
          </a:p>
        </p:txBody>
      </p:sp>
      <p:sp>
        <p:nvSpPr>
          <p:cNvPr id="10" name="Content Placeholder 2"/>
          <p:cNvSpPr>
            <a:spLocks noGrp="1"/>
          </p:cNvSpPr>
          <p:nvPr>
            <p:ph idx="1"/>
          </p:nvPr>
        </p:nvSpPr>
        <p:spPr>
          <a:xfrm>
            <a:off x="609600" y="1524000"/>
            <a:ext cx="10972800" cy="4389120"/>
          </a:xfrm>
        </p:spPr>
        <p:txBody>
          <a:bodyPr/>
          <a:lstStyle>
            <a:lvl1pPr>
              <a:defRPr sz="1800"/>
            </a:lvl1pPr>
            <a:lvl2pPr>
              <a:defRPr sz="1600"/>
            </a:lvl2pPr>
            <a:lvl3pPr>
              <a:buSzPct val="125000"/>
              <a:defRPr/>
            </a:lvl3pPr>
            <a:lvl4pPr>
              <a:buSzPct val="125000"/>
              <a:defRPr/>
            </a:lvl4pPr>
            <a:lvl5pPr>
              <a:buSzPct val="125000"/>
              <a:defRPr baseline="0"/>
            </a:lvl5pPr>
            <a:lvl6pPr>
              <a:defRPr baseline="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4" hasCustomPrompt="1"/>
          </p:nvPr>
        </p:nvSpPr>
        <p:spPr>
          <a:xfrm>
            <a:off x="8763820" y="-977"/>
            <a:ext cx="2808248" cy="230400"/>
          </a:xfrm>
          <a:solidFill>
            <a:schemeClr val="accent1"/>
          </a:solidFill>
        </p:spPr>
        <p:txBody>
          <a:bodyPr anchor="ctr" anchorCtr="0"/>
          <a:lstStyle>
            <a:lvl1pPr algn="ctr">
              <a:defRPr sz="1000" cap="all" baseline="0">
                <a:solidFill>
                  <a:schemeClr val="bg1"/>
                </a:solidFill>
              </a:defRPr>
            </a:lvl1pPr>
          </a:lstStyle>
          <a:p>
            <a:pPr lvl="0"/>
            <a:r>
              <a:rPr lang="en-US" dirty="0"/>
              <a:t>Click to edit text</a:t>
            </a:r>
          </a:p>
        </p:txBody>
      </p:sp>
      <p:cxnSp>
        <p:nvCxnSpPr>
          <p:cNvPr id="14" name="Straight Connector 13"/>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18"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1"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extLst>
      <p:ext uri="{BB962C8B-B14F-4D97-AF65-F5344CB8AC3E}">
        <p14:creationId xmlns:p14="http://schemas.microsoft.com/office/powerpoint/2010/main" val="2388903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ograp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3" name="Text Placeholder 12"/>
          <p:cNvSpPr>
            <a:spLocks noGrp="1"/>
          </p:cNvSpPr>
          <p:nvPr>
            <p:ph type="body" sz="quarter" idx="13" hasCustomPrompt="1"/>
          </p:nvPr>
        </p:nvSpPr>
        <p:spPr>
          <a:xfrm>
            <a:off x="609600" y="800240"/>
            <a:ext cx="10972800" cy="276999"/>
          </a:xfrm>
        </p:spPr>
        <p:txBody>
          <a:bodyPr/>
          <a:lstStyle>
            <a:lvl1pPr>
              <a:defRPr sz="1800" b="0" baseline="0">
                <a:solidFill>
                  <a:schemeClr val="tx1"/>
                </a:solidFill>
              </a:defRPr>
            </a:lvl1pPr>
          </a:lstStyle>
          <a:p>
            <a:pPr lvl="0"/>
            <a:r>
              <a:rPr lang="en-US" dirty="0"/>
              <a:t>Subheading here</a:t>
            </a:r>
          </a:p>
        </p:txBody>
      </p:sp>
      <p:sp>
        <p:nvSpPr>
          <p:cNvPr id="9" name="Content Placeholder 8"/>
          <p:cNvSpPr>
            <a:spLocks noGrp="1"/>
          </p:cNvSpPr>
          <p:nvPr>
            <p:ph sz="quarter" idx="14"/>
          </p:nvPr>
        </p:nvSpPr>
        <p:spPr>
          <a:xfrm>
            <a:off x="609600" y="1524000"/>
            <a:ext cx="2032000" cy="1905000"/>
          </a:xfrm>
          <a:solidFill>
            <a:srgbClr val="D8D7DF"/>
          </a:solidFill>
        </p:spPr>
        <p:txBody>
          <a:bodyPr/>
          <a:lstStyle>
            <a:lvl3pPr>
              <a:buSzPct val="125000"/>
              <a:defRPr/>
            </a:lvl3pPr>
            <a:lvl4pPr>
              <a:buSzPct val="125000"/>
              <a:defRPr/>
            </a:lvl4pPr>
            <a:lvl5pPr>
              <a:buSzPct val="125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5"/>
          </p:nvPr>
        </p:nvSpPr>
        <p:spPr>
          <a:xfrm>
            <a:off x="2844800" y="1524000"/>
            <a:ext cx="8737600" cy="4388603"/>
          </a:xfrm>
        </p:spPr>
        <p:txBody>
          <a:bodyPr/>
          <a:lstStyle>
            <a:lvl1pPr marL="0" marR="0" indent="0" algn="l" defTabSz="914400" rtl="0" eaLnBrk="1" fontAlgn="auto" latinLnBrk="0" hangingPunct="1">
              <a:lnSpc>
                <a:spcPct val="100000"/>
              </a:lnSpc>
              <a:spcBef>
                <a:spcPts val="0"/>
              </a:spcBef>
              <a:spcAft>
                <a:spcPts val="350"/>
              </a:spcAft>
              <a:buClrTx/>
              <a:buSzTx/>
              <a:buFontTx/>
              <a:buNone/>
              <a:tabLst/>
              <a:defRPr lang="en-US" sz="1800" dirty="0" smtClean="0"/>
            </a:lvl1pPr>
            <a:lvl2pPr>
              <a:spcBef>
                <a:spcPts val="0"/>
              </a:spcBef>
              <a:spcAft>
                <a:spcPts val="350"/>
              </a:spcAft>
              <a:defRPr lang="en-US" sz="1600" dirty="0" smtClean="0"/>
            </a:lvl2pPr>
            <a:lvl3pPr>
              <a:spcBef>
                <a:spcPts val="0"/>
              </a:spcBef>
              <a:spcAft>
                <a:spcPts val="400"/>
              </a:spcAft>
              <a:buSzPct val="125000"/>
              <a:buFont typeface="Wingdings" pitchFamily="2" charset="2"/>
              <a:buChar char="§"/>
              <a:defRPr lang="en-US" dirty="0" smtClean="0"/>
            </a:lvl3pPr>
            <a:lvl4pPr marL="457200" indent="-228600">
              <a:buClr>
                <a:schemeClr val="tx2"/>
              </a:buClr>
              <a:buSzPct val="125000"/>
              <a:buFont typeface="Wingdings" panose="05000000000000000000" pitchFamily="2" charset="2"/>
              <a:buChar char=""/>
              <a:defRPr/>
            </a:lvl4pPr>
            <a:lvl5pPr>
              <a:buSzPct val="125000"/>
              <a:buFont typeface="Arial" panose="020B0604020202020204" pitchFamily="34" charset="0"/>
              <a:buChar char="˗"/>
              <a:defRPr/>
            </a:lvl5pPr>
            <a:lvl6pPr>
              <a:buSzPct val="125000"/>
              <a:defRPr/>
            </a:lvl6pPr>
            <a:lvl7pPr>
              <a:buSzPct val="125000"/>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19"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4"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Content Placeholder 6"/>
          <p:cNvSpPr>
            <a:spLocks noGrp="1"/>
          </p:cNvSpPr>
          <p:nvPr>
            <p:ph sz="quarter" idx="13"/>
          </p:nvPr>
        </p:nvSpPr>
        <p:spPr>
          <a:xfrm>
            <a:off x="609600" y="1524000"/>
            <a:ext cx="6502400" cy="4389120"/>
          </a:xfrm>
        </p:spPr>
        <p:txBody>
          <a:bodyPr/>
          <a:lstStyle>
            <a:lvl1pPr>
              <a:defRPr sz="1800"/>
            </a:lvl1pPr>
            <a:lvl2pPr>
              <a:defRPr sz="1600"/>
            </a:lvl2pPr>
            <a:lvl3pPr>
              <a:buSzPct val="125000"/>
              <a:defRPr/>
            </a:lvl3pPr>
            <a:lvl4pPr>
              <a:buSzPct val="125000"/>
              <a:defRPr/>
            </a:lvl4pPr>
            <a:lvl5pPr>
              <a:buSzPct val="125000"/>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p:cNvSpPr>
            <a:spLocks noGrp="1"/>
          </p:cNvSpPr>
          <p:nvPr>
            <p:ph sz="quarter" idx="16"/>
          </p:nvPr>
        </p:nvSpPr>
        <p:spPr>
          <a:xfrm>
            <a:off x="7315200" y="1527048"/>
            <a:ext cx="4267200" cy="4038600"/>
          </a:xfrm>
          <a:solidFill>
            <a:srgbClr val="D8D7DF"/>
          </a:solidFill>
        </p:spPr>
        <p:txBody>
          <a:bodyPr/>
          <a:lstStyle/>
          <a:p>
            <a:pPr lvl="0"/>
            <a:r>
              <a:rPr lang="en-US"/>
              <a:t>Click to edit Master text styles</a:t>
            </a:r>
          </a:p>
        </p:txBody>
      </p:sp>
      <p:sp>
        <p:nvSpPr>
          <p:cNvPr id="14" name="Text Placeholder 13"/>
          <p:cNvSpPr>
            <a:spLocks noGrp="1"/>
          </p:cNvSpPr>
          <p:nvPr>
            <p:ph type="body" sz="quarter" idx="17"/>
          </p:nvPr>
        </p:nvSpPr>
        <p:spPr>
          <a:xfrm>
            <a:off x="7721600" y="2221992"/>
            <a:ext cx="3454400" cy="2731008"/>
          </a:xfrm>
        </p:spPr>
        <p:txBody>
          <a:bodyPr/>
          <a:lstStyle>
            <a:lvl1pPr>
              <a:spcBef>
                <a:spcPts val="0"/>
              </a:spcBef>
              <a:spcAft>
                <a:spcPts val="1000"/>
              </a:spcAft>
              <a:defRPr baseline="0">
                <a:solidFill>
                  <a:schemeClr val="accent1"/>
                </a:solidFill>
                <a:latin typeface="Arial" pitchFamily="34" charset="0"/>
              </a:defRPr>
            </a:lvl1pPr>
            <a:lvl2pPr>
              <a:spcAft>
                <a:spcPts val="400"/>
              </a:spcAft>
              <a:defRPr sz="1600"/>
            </a:lvl2pPr>
          </a:lstStyle>
          <a:p>
            <a:pPr lvl="0"/>
            <a:r>
              <a:rPr lang="en-US"/>
              <a:t>Click to edit Master text styles</a:t>
            </a:r>
          </a:p>
          <a:p>
            <a:pPr lvl="1"/>
            <a:r>
              <a:rPr lang="en-US"/>
              <a:t>Second level</a:t>
            </a:r>
          </a:p>
        </p:txBody>
      </p:sp>
      <p:sp>
        <p:nvSpPr>
          <p:cNvPr id="11" name="Text Placeholder 12"/>
          <p:cNvSpPr>
            <a:spLocks noGrp="1"/>
          </p:cNvSpPr>
          <p:nvPr>
            <p:ph type="body" sz="quarter" idx="18" hasCustomPrompt="1"/>
          </p:nvPr>
        </p:nvSpPr>
        <p:spPr>
          <a:xfrm>
            <a:off x="609600" y="800240"/>
            <a:ext cx="10972800" cy="276999"/>
          </a:xfrm>
        </p:spPr>
        <p:txBody>
          <a:bodyPr/>
          <a:lstStyle>
            <a:lvl1pPr>
              <a:defRPr sz="1800" b="0" baseline="0">
                <a:solidFill>
                  <a:schemeClr val="tx1"/>
                </a:solidFill>
              </a:defRPr>
            </a:lvl1pPr>
          </a:lstStyle>
          <a:p>
            <a:pPr lvl="0"/>
            <a:r>
              <a:rPr lang="en-US" dirty="0"/>
              <a:t>Subheading here</a:t>
            </a:r>
          </a:p>
        </p:txBody>
      </p:sp>
      <p:cxnSp>
        <p:nvCxnSpPr>
          <p:cNvPr id="13" name="Straight Connector 12"/>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21"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5"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Content Placeholder 6"/>
          <p:cNvSpPr>
            <a:spLocks noGrp="1"/>
          </p:cNvSpPr>
          <p:nvPr>
            <p:ph sz="quarter" idx="13"/>
          </p:nvPr>
        </p:nvSpPr>
        <p:spPr>
          <a:xfrm>
            <a:off x="609600" y="1524000"/>
            <a:ext cx="5283200" cy="4389120"/>
          </a:xfrm>
        </p:spPr>
        <p:txBody>
          <a:bodyPr/>
          <a:lstStyle>
            <a:lvl1pPr>
              <a:defRPr sz="1800"/>
            </a:lvl1pPr>
            <a:lvl2pPr>
              <a:defRPr sz="1600"/>
            </a:lvl2pPr>
            <a:lvl5pPr>
              <a:defRPr/>
            </a:lvl5pPr>
            <a:lvl6pPr>
              <a:defRPr baseline="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4"/>
          </p:nvPr>
        </p:nvSpPr>
        <p:spPr>
          <a:xfrm>
            <a:off x="6197600" y="1524000"/>
            <a:ext cx="5384800" cy="4389120"/>
          </a:xfrm>
        </p:spPr>
        <p:txBody>
          <a:bodyPr/>
          <a:lstStyle>
            <a:lvl1pPr>
              <a:defRPr sz="1800"/>
            </a:lvl1pPr>
            <a:lvl2pPr>
              <a:defRPr sz="16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2"/>
          <p:cNvSpPr>
            <a:spLocks noGrp="1"/>
          </p:cNvSpPr>
          <p:nvPr>
            <p:ph type="body" sz="quarter" idx="15" hasCustomPrompt="1"/>
          </p:nvPr>
        </p:nvSpPr>
        <p:spPr>
          <a:xfrm>
            <a:off x="609600" y="800240"/>
            <a:ext cx="10972800" cy="276999"/>
          </a:xfrm>
        </p:spPr>
        <p:txBody>
          <a:bodyPr/>
          <a:lstStyle>
            <a:lvl1pPr>
              <a:defRPr sz="1800" b="0" baseline="0">
                <a:solidFill>
                  <a:schemeClr val="tx1"/>
                </a:solidFill>
              </a:defRPr>
            </a:lvl1pPr>
          </a:lstStyle>
          <a:p>
            <a:pPr lvl="0"/>
            <a:r>
              <a:rPr lang="en-US" dirty="0"/>
              <a:t>Subheading here</a:t>
            </a:r>
          </a:p>
        </p:txBody>
      </p:sp>
      <p:cxnSp>
        <p:nvCxnSpPr>
          <p:cNvPr id="10" name="Straight Connector 9"/>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18"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3"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Text Placeholder 12"/>
          <p:cNvSpPr>
            <a:spLocks noGrp="1"/>
          </p:cNvSpPr>
          <p:nvPr>
            <p:ph type="body" sz="quarter" idx="13" hasCustomPrompt="1"/>
          </p:nvPr>
        </p:nvSpPr>
        <p:spPr>
          <a:xfrm>
            <a:off x="609600" y="800240"/>
            <a:ext cx="10972800" cy="276999"/>
          </a:xfrm>
        </p:spPr>
        <p:txBody>
          <a:bodyPr/>
          <a:lstStyle>
            <a:lvl1pPr>
              <a:defRPr sz="1800" b="0" baseline="0">
                <a:solidFill>
                  <a:schemeClr val="tx1"/>
                </a:solidFill>
              </a:defRPr>
            </a:lvl1pPr>
          </a:lstStyle>
          <a:p>
            <a:pPr lvl="0"/>
            <a:r>
              <a:rPr lang="en-US" dirty="0"/>
              <a:t>Subheading here</a:t>
            </a:r>
          </a:p>
        </p:txBody>
      </p:sp>
      <p:cxnSp>
        <p:nvCxnSpPr>
          <p:cNvPr id="8" name="Straight Connector 7"/>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15"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0"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6" name="Straight Connector 5"/>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14"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9" name="Footer Placeholder 4 Copyright"/>
          <p:cNvSpPr>
            <a:spLocks noGrp="1"/>
          </p:cNvSpPr>
          <p:nvPr>
            <p:ph type="ftr" sz="quarter" idx="3"/>
          </p:nvPr>
        </p:nvSpPr>
        <p:spPr>
          <a:xfrm>
            <a:off x="609599" y="6515097"/>
            <a:ext cx="70368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5613"/>
            <a:ext cx="5994400" cy="304800"/>
          </a:xfrm>
        </p:spPr>
        <p:txBody>
          <a:bodyPr/>
          <a:lstStyle>
            <a:lvl1pPr>
              <a:defRPr baseline="0"/>
            </a:lvl1pPr>
          </a:lstStyle>
          <a:p>
            <a:r>
              <a:rPr lang="en-US" dirty="0"/>
              <a:t>Thank you — Click to edit text</a:t>
            </a:r>
          </a:p>
        </p:txBody>
      </p:sp>
      <p:cxnSp>
        <p:nvCxnSpPr>
          <p:cNvPr id="12" name="Straight Connector 11"/>
          <p:cNvCxnSpPr/>
          <p:nvPr userDrawn="1"/>
        </p:nvCxnSpPr>
        <p:spPr>
          <a:xfrm>
            <a:off x="609600" y="6279396"/>
            <a:ext cx="10972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p:cNvGrpSpPr/>
          <p:nvPr userDrawn="1"/>
        </p:nvGrpSpPr>
        <p:grpSpPr>
          <a:xfrm>
            <a:off x="8847725" y="3462206"/>
            <a:ext cx="2730611" cy="2157709"/>
            <a:chOff x="457200" y="3682374"/>
            <a:chExt cx="1481138" cy="1560513"/>
          </a:xfrm>
        </p:grpSpPr>
        <p:sp>
          <p:nvSpPr>
            <p:cNvPr id="14" name="Rectangle 255"/>
            <p:cNvSpPr>
              <a:spLocks noChangeArrowheads="1"/>
            </p:cNvSpPr>
            <p:nvPr userDrawn="1"/>
          </p:nvSpPr>
          <p:spPr bwMode="auto">
            <a:xfrm>
              <a:off x="457200" y="3682374"/>
              <a:ext cx="269875" cy="78105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5" name="Rectangle 256"/>
            <p:cNvSpPr>
              <a:spLocks noChangeArrowheads="1"/>
            </p:cNvSpPr>
            <p:nvPr userDrawn="1"/>
          </p:nvSpPr>
          <p:spPr bwMode="auto">
            <a:xfrm>
              <a:off x="993775" y="4266574"/>
              <a:ext cx="406400" cy="58737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7" name="Rectangle 257"/>
            <p:cNvSpPr>
              <a:spLocks noChangeArrowheads="1"/>
            </p:cNvSpPr>
            <p:nvPr userDrawn="1"/>
          </p:nvSpPr>
          <p:spPr bwMode="auto">
            <a:xfrm>
              <a:off x="1536700" y="3877636"/>
              <a:ext cx="401638" cy="38893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8" name="Rectangle 258"/>
            <p:cNvSpPr>
              <a:spLocks noChangeArrowheads="1"/>
            </p:cNvSpPr>
            <p:nvPr userDrawn="1"/>
          </p:nvSpPr>
          <p:spPr bwMode="auto">
            <a:xfrm>
              <a:off x="592137" y="4658686"/>
              <a:ext cx="131763" cy="19208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19" name="Rectangle 259"/>
            <p:cNvSpPr>
              <a:spLocks noChangeArrowheads="1"/>
            </p:cNvSpPr>
            <p:nvPr userDrawn="1"/>
          </p:nvSpPr>
          <p:spPr bwMode="auto">
            <a:xfrm>
              <a:off x="1265237" y="5047624"/>
              <a:ext cx="541338" cy="195263"/>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grpSp>
      <p:pic>
        <p:nvPicPr>
          <p:cNvPr id="24" name="Picture 23"/>
          <p:cNvPicPr>
            <a:picLocks noChangeAspect="1"/>
          </p:cNvPicPr>
          <p:nvPr userDrawn="1"/>
        </p:nvPicPr>
        <p:blipFill>
          <a:blip r:embed="rId2" cstate="print"/>
          <a:stretch>
            <a:fillRect/>
          </a:stretch>
        </p:blipFill>
        <p:spPr>
          <a:xfrm>
            <a:off x="8900458" y="6300217"/>
            <a:ext cx="2377143" cy="347429"/>
          </a:xfrm>
          <a:prstGeom prst="rect">
            <a:avLst/>
          </a:prstGeom>
        </p:spPr>
      </p:pic>
      <p:sp>
        <p:nvSpPr>
          <p:cNvPr id="25"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20" name="Footer Placeholder 3 Copyright"/>
          <p:cNvSpPr>
            <a:spLocks noGrp="1"/>
          </p:cNvSpPr>
          <p:nvPr>
            <p:ph type="ftr" sz="quarter" idx="11"/>
          </p:nvPr>
        </p:nvSpPr>
        <p:spPr>
          <a:xfrm>
            <a:off x="609600" y="6515097"/>
            <a:ext cx="7037137" cy="92333"/>
          </a:xfrm>
        </p:spPr>
        <p:txBody>
          <a:bodyPr/>
          <a:lstStyle>
            <a:lvl1pPr>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p:cNvSpPr txBox="1"/>
          <p:nvPr userDrawn="1">
            <p:custDataLst>
              <p:tags r:id="rId16"/>
            </p:custDataLst>
          </p:nvPr>
        </p:nvSpPr>
        <p:spPr>
          <a:xfrm rot="19906914">
            <a:off x="324769" y="3029257"/>
            <a:ext cx="11352091" cy="1107996"/>
          </a:xfrm>
          <a:prstGeom prst="rect">
            <a:avLst/>
          </a:prstGeom>
          <a:noFill/>
        </p:spPr>
        <p:txBody>
          <a:bodyPr wrap="square" rtlCol="0" anchor="ctr" anchorCtr="0">
            <a:spAutoFit/>
          </a:bodyPr>
          <a:lstStyle/>
          <a:p>
            <a:pPr algn="ctr"/>
            <a:r>
              <a:rPr lang="en-GB" sz="6600" b="1" baseline="0" dirty="0">
                <a:solidFill>
                  <a:srgbClr val="C0C0C0"/>
                </a:solidFill>
              </a:rPr>
              <a:t> </a:t>
            </a:r>
            <a:endParaRPr lang="en-GB" sz="1800" b="1" dirty="0">
              <a:solidFill>
                <a:srgbClr val="C0C0C0"/>
              </a:solidFill>
            </a:endParaRPr>
          </a:p>
        </p:txBody>
      </p:sp>
      <p:sp>
        <p:nvSpPr>
          <p:cNvPr id="2" name="Title Placeholder 1"/>
          <p:cNvSpPr>
            <a:spLocks noGrp="1"/>
          </p:cNvSpPr>
          <p:nvPr>
            <p:ph type="title"/>
          </p:nvPr>
        </p:nvSpPr>
        <p:spPr>
          <a:xfrm>
            <a:off x="609600" y="457201"/>
            <a:ext cx="10972800" cy="30777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524000"/>
            <a:ext cx="10972800" cy="4572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1074400" y="6400800"/>
            <a:ext cx="508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7" name="Footer Placeholder 4 Copyright"/>
          <p:cNvSpPr>
            <a:spLocks noGrp="1"/>
          </p:cNvSpPr>
          <p:nvPr>
            <p:ph type="ftr" sz="quarter" idx="3"/>
          </p:nvPr>
        </p:nvSpPr>
        <p:spPr>
          <a:xfrm>
            <a:off x="609600" y="6515097"/>
            <a:ext cx="7037137"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
        <p:nvSpPr>
          <p:cNvPr id="9" name="Rectangle 8"/>
          <p:cNvSpPr/>
          <p:nvPr userDrawn="1"/>
        </p:nvSpPr>
        <p:spPr>
          <a:xfrm>
            <a:off x="609599" y="6400801"/>
            <a:ext cx="878446" cy="92333"/>
          </a:xfrm>
          <a:prstGeom prst="rect">
            <a:avLst/>
          </a:prstGeom>
        </p:spPr>
        <p:txBody>
          <a:bodyPr wrap="none" lIns="0" tIns="0" rIns="0" bIns="0">
            <a:spAutoFit/>
          </a:bodyPr>
          <a:lstStyle/>
          <a:p>
            <a:pPr>
              <a:spcAft>
                <a:spcPts val="200"/>
              </a:spcAft>
            </a:pPr>
            <a:r>
              <a:rPr lang="en-GB" sz="600" b="1" dirty="0">
                <a:solidFill>
                  <a:schemeClr val="accent1"/>
                </a:solidFill>
              </a:rPr>
              <a:t>willistowerswatson.com</a:t>
            </a:r>
          </a:p>
        </p:txBody>
      </p:sp>
    </p:spTree>
  </p:cSld>
  <p:clrMap bg1="lt1" tx1="dk1" bg2="lt2" tx2="dk2" accent1="accent1" accent2="accent2" accent3="accent3" accent4="accent4" accent5="accent5" accent6="accent6" hlink="hlink" folHlink="folHlink"/>
  <p:sldLayoutIdLst>
    <p:sldLayoutId id="2147483701" r:id="rId1"/>
    <p:sldLayoutId id="2147483723" r:id="rId2"/>
    <p:sldLayoutId id="2147483729" r:id="rId3"/>
    <p:sldLayoutId id="2147483726" r:id="rId4"/>
    <p:sldLayoutId id="2147483686" r:id="rId5"/>
    <p:sldLayoutId id="2147483696" r:id="rId6"/>
    <p:sldLayoutId id="2147483695" r:id="rId7"/>
    <p:sldLayoutId id="2147483721" r:id="rId8"/>
    <p:sldLayoutId id="2147483688" r:id="rId9"/>
    <p:sldLayoutId id="2147483672" r:id="rId10"/>
    <p:sldLayoutId id="2147483689" r:id="rId11"/>
    <p:sldLayoutId id="2147483690" r:id="rId12"/>
    <p:sldLayoutId id="2147483667" r:id="rId13"/>
    <p:sldLayoutId id="2147483697" r:id="rId14"/>
  </p:sldLayoutIdLst>
  <p:hf hdr="0" dt="0"/>
  <p:txStyles>
    <p:titleStyle>
      <a:lvl1pPr algn="l" defTabSz="914400" rtl="0" eaLnBrk="1" latinLnBrk="0" hangingPunct="1">
        <a:spcBef>
          <a:spcPct val="0"/>
        </a:spcBef>
        <a:buNone/>
        <a:defRPr sz="2000" b="1" kern="1200" baseline="0">
          <a:solidFill>
            <a:srgbClr val="70208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400" rtl="0" eaLnBrk="1" latinLnBrk="0" hangingPunct="1">
        <a:spcBef>
          <a:spcPts val="0"/>
        </a:spcBef>
        <a:spcAft>
          <a:spcPts val="350"/>
        </a:spcAft>
        <a:buFontTx/>
        <a:buNone/>
        <a:defRPr sz="1800" b="1" kern="1200">
          <a:solidFill>
            <a:schemeClr val="tx1"/>
          </a:solidFill>
          <a:latin typeface="+mn-lt"/>
          <a:ea typeface="+mn-ea"/>
          <a:cs typeface="+mn-cs"/>
        </a:defRPr>
      </a:lvl1pPr>
      <a:lvl2pPr marL="0" indent="0" algn="l" defTabSz="914400" rtl="0" eaLnBrk="1" latinLnBrk="0" hangingPunct="1">
        <a:spcBef>
          <a:spcPts val="0"/>
        </a:spcBef>
        <a:spcAft>
          <a:spcPts val="350"/>
        </a:spcAft>
        <a:buFontTx/>
        <a:buNone/>
        <a:defRPr sz="1600" kern="1200">
          <a:solidFill>
            <a:schemeClr val="tx1"/>
          </a:solidFill>
          <a:latin typeface="+mn-lt"/>
          <a:ea typeface="+mn-ea"/>
          <a:cs typeface="+mn-cs"/>
        </a:defRPr>
      </a:lvl2pPr>
      <a:lvl3pPr marL="228600" indent="-228600" algn="l" defTabSz="914400" rtl="0" eaLnBrk="1" latinLnBrk="0" hangingPunct="1">
        <a:spcBef>
          <a:spcPts val="0"/>
        </a:spcBef>
        <a:spcAft>
          <a:spcPts val="350"/>
        </a:spcAft>
        <a:buClr>
          <a:srgbClr val="702082"/>
        </a:buClr>
        <a:buSzPct val="125000"/>
        <a:buFont typeface="Wingdings" pitchFamily="2" charset="2"/>
        <a:buChar char="§"/>
        <a:defRPr sz="1600" kern="1200" baseline="0">
          <a:solidFill>
            <a:schemeClr val="tx1"/>
          </a:solidFill>
          <a:latin typeface="+mn-lt"/>
          <a:ea typeface="+mn-ea"/>
          <a:cs typeface="+mn-cs"/>
        </a:defRPr>
      </a:lvl3pPr>
      <a:lvl4pPr marL="457200" indent="-228600" algn="l" defTabSz="914400" rtl="0" eaLnBrk="1" latinLnBrk="0" hangingPunct="1">
        <a:spcBef>
          <a:spcPts val="0"/>
        </a:spcBef>
        <a:spcAft>
          <a:spcPts val="280"/>
        </a:spcAft>
        <a:buClr>
          <a:schemeClr val="accent6"/>
        </a:buClr>
        <a:buSzPct val="125000"/>
        <a:buFont typeface="Wingdings" pitchFamily="2" charset="2"/>
        <a:buChar char="§"/>
        <a:defRPr sz="1400" kern="1200">
          <a:solidFill>
            <a:schemeClr val="tx1"/>
          </a:solidFill>
          <a:latin typeface="+mn-lt"/>
          <a:ea typeface="+mn-ea"/>
          <a:cs typeface="+mn-cs"/>
        </a:defRPr>
      </a:lvl4pPr>
      <a:lvl5pPr marL="731520" indent="-228600" algn="l" defTabSz="914400" rtl="0" eaLnBrk="1" latinLnBrk="0" hangingPunct="1">
        <a:spcBef>
          <a:spcPts val="0"/>
        </a:spcBef>
        <a:spcAft>
          <a:spcPts val="280"/>
        </a:spcAft>
        <a:buClr>
          <a:srgbClr val="000000"/>
        </a:buClr>
        <a:buSzPct val="125000"/>
        <a:buFont typeface="Arial" pitchFamily="34" charset="0"/>
        <a:buChar char="̵"/>
        <a:defRPr sz="1200" kern="1200" baseline="0">
          <a:solidFill>
            <a:schemeClr val="tx1"/>
          </a:solidFill>
          <a:latin typeface="+mn-lt"/>
          <a:ea typeface="+mn-ea"/>
          <a:cs typeface="+mn-cs"/>
        </a:defRPr>
      </a:lvl5pPr>
      <a:lvl6pPr marL="1005840" indent="-228600" algn="l" defTabSz="914400" rtl="0" eaLnBrk="1" latinLnBrk="0" hangingPunct="1">
        <a:spcBef>
          <a:spcPts val="0"/>
        </a:spcBef>
        <a:spcAft>
          <a:spcPts val="240"/>
        </a:spcAft>
        <a:buClr>
          <a:srgbClr val="000000"/>
        </a:buClr>
        <a:buFont typeface="Arial" pitchFamily="34" charset="0"/>
        <a:buChar char="̵"/>
        <a:defRPr sz="1100" kern="1200" baseline="0">
          <a:solidFill>
            <a:schemeClr val="tx1"/>
          </a:solidFill>
          <a:latin typeface="+mn-lt"/>
          <a:ea typeface="+mn-ea"/>
          <a:cs typeface="+mn-cs"/>
        </a:defRPr>
      </a:lvl6pPr>
      <a:lvl7pPr marL="1280160" indent="-228600" algn="l" defTabSz="914400" rtl="0" eaLnBrk="1" latinLnBrk="0" hangingPunct="1">
        <a:spcBef>
          <a:spcPts val="0"/>
        </a:spcBef>
        <a:spcAft>
          <a:spcPts val="240"/>
        </a:spcAft>
        <a:buClr>
          <a:srgbClr val="000000"/>
        </a:buClr>
        <a:buFont typeface="Arial" pitchFamily="34" charset="0"/>
        <a:buChar char="̵"/>
        <a:defRPr sz="11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04"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jpg"/><Relationship Id="rId5" Type="http://schemas.openxmlformats.org/officeDocument/2006/relationships/slideLayout" Target="../slideLayouts/slideLayout1.xml"/><Relationship Id="rId4" Type="http://schemas.openxmlformats.org/officeDocument/2006/relationships/tags" Target="../tags/tag6.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chart" Target="../charts/chart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package" Target="../embeddings/Microsoft_Excel_Worksheet14.xlsx"/><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chart" Target="../charts/chart17.xml"/></Relationships>
</file>

<file path=ppt/slides/_rels/slide16.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chart" Target="../charts/chart19.xml"/></Relationships>
</file>

<file path=ppt/slides/_rels/slide17.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11.xml"/><Relationship Id="rId7" Type="http://schemas.openxmlformats.org/officeDocument/2006/relationships/image" Target="../media/image15.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hyperlink" Target="mailto:WTW.HB.MNL.Financial.Team.Leaders@willistowerswatson.com" TargetMode="External"/><Relationship Id="rId5" Type="http://schemas.openxmlformats.org/officeDocument/2006/relationships/notesSlide" Target="../notesSlides/notesSlide23.xml"/><Relationship Id="rId4"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14.xml"/><Relationship Id="rId7" Type="http://schemas.openxmlformats.org/officeDocument/2006/relationships/slideLayout" Target="../slideLayouts/slideLayout6.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l="-4000" r="-4000"/>
          </a:stretch>
        </a:blipFill>
        <a:effectLst/>
      </p:bgPr>
    </p:bg>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a:lstStyle/>
          <a:p>
            <a:r>
              <a:rPr lang="en-GB" b="0" dirty="0"/>
              <a:t>H&amp;B NA Global Data Management: Metrics Report</a:t>
            </a:r>
          </a:p>
        </p:txBody>
      </p:sp>
      <p:sp>
        <p:nvSpPr>
          <p:cNvPr id="4" name="Text Placeholder 3"/>
          <p:cNvSpPr>
            <a:spLocks noGrp="1"/>
          </p:cNvSpPr>
          <p:nvPr>
            <p:ph type="body" sz="quarter" idx="15"/>
            <p:custDataLst>
              <p:tags r:id="rId3"/>
            </p:custDataLst>
          </p:nvPr>
        </p:nvSpPr>
        <p:spPr/>
        <p:txBody>
          <a:bodyPr/>
          <a:lstStyle/>
          <a:p>
            <a:r>
              <a:rPr lang="en-GB" sz="2000" b="1" dirty="0"/>
              <a:t>May 2021</a:t>
            </a:r>
          </a:p>
        </p:txBody>
      </p:sp>
      <p:sp>
        <p:nvSpPr>
          <p:cNvPr id="11" name="Text Placeholder 10"/>
          <p:cNvSpPr>
            <a:spLocks noGrp="1"/>
          </p:cNvSpPr>
          <p:nvPr>
            <p:ph type="body" sz="quarter" idx="17"/>
            <p:custDataLst>
              <p:tags r:id="rId4"/>
            </p:custDataLst>
          </p:nvPr>
        </p:nvSpPr>
        <p:spPr>
          <a:xfrm>
            <a:off x="609599" y="1415625"/>
            <a:ext cx="7010400" cy="527386"/>
          </a:xfrm>
        </p:spPr>
        <p:txBody>
          <a:bodyPr/>
          <a:lstStyle/>
          <a:p>
            <a:r>
              <a:rPr lang="en-GB" dirty="0"/>
              <a:t>Published June 2021</a:t>
            </a:r>
          </a:p>
        </p:txBody>
      </p:sp>
      <p:sp>
        <p:nvSpPr>
          <p:cNvPr id="6" name="Footer Placeholder 5"/>
          <p:cNvSpPr>
            <a:spLocks noGrp="1"/>
          </p:cNvSpPr>
          <p:nvPr>
            <p:ph type="ftr" sz="quarter" idx="3"/>
          </p:nvPr>
        </p:nvSpPr>
        <p:spPr/>
        <p:txBody>
          <a:bodyPr/>
          <a:lstStyle/>
          <a:p>
            <a:r>
              <a:rPr lang="en-US"/>
              <a:t>© 2020 Willis Towers Watson. All rights reserved.</a:t>
            </a:r>
            <a:endParaRPr lang="en-GB" dirty="0"/>
          </a:p>
        </p:txBody>
      </p:sp>
    </p:spTree>
    <p:custDataLst>
      <p:tags r:id="rId1"/>
    </p:custDataLst>
    <p:extLst>
      <p:ext uri="{BB962C8B-B14F-4D97-AF65-F5344CB8AC3E}">
        <p14:creationId xmlns:p14="http://schemas.microsoft.com/office/powerpoint/2010/main" val="3884411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Exec_Summ">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FF093CFB-C434-498C-B621-5B0E1DFA01B4}"/>
              </a:ext>
            </a:extLst>
          </p:cNvPr>
          <p:cNvSpPr/>
          <p:nvPr/>
        </p:nvSpPr>
        <p:spPr>
          <a:xfrm>
            <a:off x="8089496" y="1040694"/>
            <a:ext cx="3634545" cy="5091008"/>
          </a:xfrm>
          <a:prstGeom prst="rect">
            <a:avLst/>
          </a:prstGeom>
          <a:solidFill>
            <a:schemeClr val="accent3">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51" name="Rectangle 50">
            <a:extLst>
              <a:ext uri="{FF2B5EF4-FFF2-40B4-BE49-F238E27FC236}">
                <a16:creationId xmlns:a16="http://schemas.microsoft.com/office/drawing/2014/main" id="{0850B0E1-6142-4ECA-96F0-2720C7BEEAD3}"/>
              </a:ext>
            </a:extLst>
          </p:cNvPr>
          <p:cNvSpPr/>
          <p:nvPr/>
        </p:nvSpPr>
        <p:spPr>
          <a:xfrm>
            <a:off x="412696" y="1021451"/>
            <a:ext cx="3540076" cy="5064641"/>
          </a:xfrm>
          <a:prstGeom prst="rect">
            <a:avLst/>
          </a:prstGeom>
          <a:solidFill>
            <a:schemeClr val="bg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60" name="Rectangle 59">
            <a:extLst>
              <a:ext uri="{FF2B5EF4-FFF2-40B4-BE49-F238E27FC236}">
                <a16:creationId xmlns:a16="http://schemas.microsoft.com/office/drawing/2014/main" id="{8FD1B3CB-A0FB-4174-8800-081DB4DFEF95}"/>
              </a:ext>
            </a:extLst>
          </p:cNvPr>
          <p:cNvSpPr/>
          <p:nvPr/>
        </p:nvSpPr>
        <p:spPr>
          <a:xfrm>
            <a:off x="4200413" y="1021450"/>
            <a:ext cx="3674725" cy="5065159"/>
          </a:xfrm>
          <a:prstGeom prst="rect">
            <a:avLst/>
          </a:prstGeom>
          <a:solidFill>
            <a:schemeClr val="accent1">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 name="Title 1"/>
          <p:cNvSpPr>
            <a:spLocks noGrp="1"/>
          </p:cNvSpPr>
          <p:nvPr>
            <p:ph type="title"/>
            <p:custDataLst>
              <p:tags r:id="rId2"/>
            </p:custDataLst>
          </p:nvPr>
        </p:nvSpPr>
        <p:spPr>
          <a:xfrm>
            <a:off x="609600" y="467249"/>
            <a:ext cx="10972800" cy="307777"/>
          </a:xfrm>
        </p:spPr>
        <p:txBody>
          <a:bodyPr/>
          <a:lstStyle/>
          <a:p>
            <a:r>
              <a:rPr lang="en-US" dirty="0"/>
              <a:t>Executive Summary</a:t>
            </a:r>
          </a:p>
        </p:txBody>
      </p:sp>
      <p:sp>
        <p:nvSpPr>
          <p:cNvPr id="4" name="Slide Number Placehold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prstClr val="black"/>
              </a:solidFill>
              <a:effectLst/>
              <a:uLnTx/>
              <a:uFillTx/>
              <a:latin typeface="Arial"/>
              <a:ea typeface="+mn-ea"/>
              <a:cs typeface="+mn-cs"/>
            </a:endParaRPr>
          </a:p>
        </p:txBody>
      </p:sp>
      <p:sp>
        <p:nvSpPr>
          <p:cNvPr id="3" name="Footer Placeholder 2"/>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p>
        </p:txBody>
      </p:sp>
      <p:sp>
        <p:nvSpPr>
          <p:cNvPr id="8" name="Path"/>
          <p:cNvSpPr/>
          <p:nvPr/>
        </p:nvSpPr>
        <p:spPr>
          <a:xfrm>
            <a:off x="1973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1"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24" name="ES_Chart1">
            <a:extLst>
              <a:ext uri="{FF2B5EF4-FFF2-40B4-BE49-F238E27FC236}">
                <a16:creationId xmlns:a16="http://schemas.microsoft.com/office/drawing/2014/main" id="{C48DC862-DE98-4514-AA1A-8EB607148493}"/>
              </a:ext>
            </a:extLst>
          </p:cNvPr>
          <p:cNvGraphicFramePr>
            <a:graphicFrameLocks noGrp="1"/>
          </p:cNvGraphicFramePr>
          <p:nvPr>
            <p:ph idx="1"/>
            <p:extLst>
              <p:ext uri="{D42A27DB-BD31-4B8C-83A1-F6EECF244321}">
                <p14:modId xmlns:p14="http://schemas.microsoft.com/office/powerpoint/2010/main" val="1989788397"/>
              </p:ext>
            </p:extLst>
          </p:nvPr>
        </p:nvGraphicFramePr>
        <p:xfrm>
          <a:off x="-8477" y="2420477"/>
          <a:ext cx="4232435" cy="278153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7" name="ES_Chart2">
            <a:extLst>
              <a:ext uri="{FF2B5EF4-FFF2-40B4-BE49-F238E27FC236}">
                <a16:creationId xmlns:a16="http://schemas.microsoft.com/office/drawing/2014/main" id="{8957029F-55C9-4DDA-B091-FD972B28CF76}"/>
              </a:ext>
            </a:extLst>
          </p:cNvPr>
          <p:cNvGraphicFramePr/>
          <p:nvPr>
            <p:extLst>
              <p:ext uri="{D42A27DB-BD31-4B8C-83A1-F6EECF244321}">
                <p14:modId xmlns:p14="http://schemas.microsoft.com/office/powerpoint/2010/main" val="3177119056"/>
              </p:ext>
            </p:extLst>
          </p:nvPr>
        </p:nvGraphicFramePr>
        <p:xfrm>
          <a:off x="4333152" y="2061621"/>
          <a:ext cx="3651180" cy="2635480"/>
        </p:xfrm>
        <a:graphic>
          <a:graphicData uri="http://schemas.openxmlformats.org/drawingml/2006/chart">
            <c:chart xmlns:c="http://schemas.openxmlformats.org/drawingml/2006/chart" xmlns:r="http://schemas.openxmlformats.org/officeDocument/2006/relationships" r:id="rId6"/>
          </a:graphicData>
        </a:graphic>
      </p:graphicFrame>
      <p:sp>
        <p:nvSpPr>
          <p:cNvPr id="35" name="TextBox 34">
            <a:extLst>
              <a:ext uri="{FF2B5EF4-FFF2-40B4-BE49-F238E27FC236}">
                <a16:creationId xmlns:a16="http://schemas.microsoft.com/office/drawing/2014/main" id="{FDCA14E7-8FB9-4DBE-8029-AC2629DB3B49}"/>
              </a:ext>
            </a:extLst>
          </p:cNvPr>
          <p:cNvSpPr txBox="1"/>
          <p:nvPr/>
        </p:nvSpPr>
        <p:spPr>
          <a:xfrm>
            <a:off x="509057" y="1041759"/>
            <a:ext cx="112082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PEOPLE</a:t>
            </a:r>
          </a:p>
        </p:txBody>
      </p:sp>
      <p:sp>
        <p:nvSpPr>
          <p:cNvPr id="36" name="TextBox 35">
            <a:extLst>
              <a:ext uri="{FF2B5EF4-FFF2-40B4-BE49-F238E27FC236}">
                <a16:creationId xmlns:a16="http://schemas.microsoft.com/office/drawing/2014/main" id="{087E66D7-DEC9-4A83-A9EE-45C8F2AC51EC}"/>
              </a:ext>
            </a:extLst>
          </p:cNvPr>
          <p:cNvSpPr txBox="1"/>
          <p:nvPr/>
        </p:nvSpPr>
        <p:spPr>
          <a:xfrm>
            <a:off x="4298588" y="1040694"/>
            <a:ext cx="19030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PRODUCTIVITY</a:t>
            </a:r>
          </a:p>
        </p:txBody>
      </p:sp>
      <p:sp>
        <p:nvSpPr>
          <p:cNvPr id="37" name="TextBox 36">
            <a:extLst>
              <a:ext uri="{FF2B5EF4-FFF2-40B4-BE49-F238E27FC236}">
                <a16:creationId xmlns:a16="http://schemas.microsoft.com/office/drawing/2014/main" id="{C28FA6D7-CB4F-4AE1-9139-894DA01A4071}"/>
              </a:ext>
            </a:extLst>
          </p:cNvPr>
          <p:cNvSpPr txBox="1"/>
          <p:nvPr/>
        </p:nvSpPr>
        <p:spPr>
          <a:xfrm>
            <a:off x="8088138" y="1025775"/>
            <a:ext cx="17491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RESOURCING</a:t>
            </a:r>
          </a:p>
        </p:txBody>
      </p:sp>
      <p:sp>
        <p:nvSpPr>
          <p:cNvPr id="38" name="TextBox 37">
            <a:extLst>
              <a:ext uri="{FF2B5EF4-FFF2-40B4-BE49-F238E27FC236}">
                <a16:creationId xmlns:a16="http://schemas.microsoft.com/office/drawing/2014/main" id="{202C44D4-5719-4869-883C-15075908D551}"/>
              </a:ext>
            </a:extLst>
          </p:cNvPr>
          <p:cNvSpPr txBox="1"/>
          <p:nvPr/>
        </p:nvSpPr>
        <p:spPr>
          <a:xfrm>
            <a:off x="4309607" y="1593407"/>
            <a:ext cx="280416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110A0"/>
                </a:solidFill>
                <a:effectLst/>
                <a:uLnTx/>
                <a:uFillTx/>
                <a:latin typeface="Arial"/>
                <a:ea typeface="+mn-ea"/>
                <a:cs typeface="+mn-cs"/>
              </a:rPr>
              <a:t>{{Prd1}}%</a:t>
            </a:r>
            <a:r>
              <a:rPr kumimoji="0" lang="en-US" sz="1400" b="0" i="0" u="none" strike="noStrike" kern="1200" cap="none" spc="0" normalizeH="0" baseline="0" noProof="0" dirty="0">
                <a:ln>
                  <a:noFill/>
                </a:ln>
                <a:solidFill>
                  <a:prstClr val="black"/>
                </a:solidFill>
                <a:effectLst/>
                <a:uLnTx/>
                <a:uFillTx/>
                <a:latin typeface="Arial"/>
                <a:ea typeface="+mn-ea"/>
                <a:cs typeface="+mn-cs"/>
              </a:rPr>
              <a:t> YTD  Productivity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(CY20 Goal: </a:t>
            </a:r>
            <a:r>
              <a:rPr kumimoji="0" lang="en-US" sz="1400" b="1" i="0" u="none" strike="noStrike" kern="1200" cap="none" spc="0" normalizeH="0" baseline="0" noProof="0" dirty="0">
                <a:ln>
                  <a:noFill/>
                </a:ln>
                <a:solidFill>
                  <a:prstClr val="black"/>
                </a:solidFill>
                <a:effectLst/>
                <a:uLnTx/>
                <a:uFillTx/>
                <a:latin typeface="Arial"/>
                <a:ea typeface="+mn-ea"/>
                <a:cs typeface="+mn-cs"/>
              </a:rPr>
              <a:t>{{Prd2}}%</a:t>
            </a:r>
            <a:r>
              <a:rPr kumimoji="0" lang="en-US" sz="1400" b="0" i="0" u="none" strike="noStrike" kern="1200" cap="none" spc="0" normalizeH="0" baseline="0" noProof="0" dirty="0">
                <a:ln>
                  <a:noFill/>
                </a:ln>
                <a:solidFill>
                  <a:prstClr val="black"/>
                </a:solidFill>
                <a:effectLst/>
                <a:uLnTx/>
                <a:uFillTx/>
                <a:latin typeface="Arial"/>
                <a:ea typeface="+mn-ea"/>
                <a:cs typeface="+mn-cs"/>
              </a:rPr>
              <a:t>)  </a:t>
            </a:r>
          </a:p>
        </p:txBody>
      </p:sp>
      <p:sp>
        <p:nvSpPr>
          <p:cNvPr id="39" name="TextBox 38">
            <a:extLst>
              <a:ext uri="{FF2B5EF4-FFF2-40B4-BE49-F238E27FC236}">
                <a16:creationId xmlns:a16="http://schemas.microsoft.com/office/drawing/2014/main" id="{E81C9F2A-8E10-4A03-9B29-6CB6AEAE7430}"/>
              </a:ext>
            </a:extLst>
          </p:cNvPr>
          <p:cNvSpPr txBox="1"/>
          <p:nvPr/>
        </p:nvSpPr>
        <p:spPr>
          <a:xfrm>
            <a:off x="977027" y="5202013"/>
            <a:ext cx="28097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110A0"/>
                </a:solidFill>
                <a:latin typeface="Arial"/>
              </a:rPr>
              <a:t>{{Ppl4}}</a:t>
            </a:r>
            <a:r>
              <a:rPr kumimoji="0" lang="en-US" sz="1800" b="1" i="0" u="none" strike="noStrike" kern="1200" cap="none" spc="0" normalizeH="0" baseline="0" noProof="0" dirty="0">
                <a:ln>
                  <a:noFill/>
                </a:ln>
                <a:solidFill>
                  <a:srgbClr val="C110A0"/>
                </a:solidFill>
                <a:effectLst/>
                <a:uLnTx/>
                <a:uFillTx/>
                <a:latin typeface="Arial"/>
                <a:ea typeface="+mn-ea"/>
                <a:cs typeface="+mn-cs"/>
              </a:rPr>
              <a:t>%</a:t>
            </a:r>
            <a:r>
              <a:rPr kumimoji="0" lang="en-US" sz="1400" b="1" i="0" u="none" strike="noStrike" kern="1200" cap="none" spc="0" normalizeH="0" baseline="0" noProof="0" dirty="0">
                <a:ln>
                  <a:noFill/>
                </a:ln>
                <a:solidFill>
                  <a:srgbClr val="C110A0"/>
                </a:solidFill>
                <a:effectLst/>
                <a:uLnTx/>
                <a:uFillTx/>
                <a:latin typeface="Arial"/>
                <a:ea typeface="+mn-ea"/>
                <a:cs typeface="+mn-cs"/>
              </a:rPr>
              <a:t> </a:t>
            </a:r>
            <a:r>
              <a:rPr kumimoji="0" lang="en-US" sz="1400" b="0" i="0" u="none" strike="noStrike" kern="1200" cap="none" spc="0" normalizeH="0" baseline="0" noProof="0" dirty="0">
                <a:ln>
                  <a:noFill/>
                </a:ln>
                <a:solidFill>
                  <a:prstClr val="black"/>
                </a:solidFill>
                <a:effectLst/>
                <a:uLnTx/>
                <a:uFillTx/>
                <a:latin typeface="Arial"/>
                <a:ea typeface="+mn-ea"/>
                <a:cs typeface="+mn-cs"/>
              </a:rPr>
              <a:t>Attrition YTD Rate </a:t>
            </a:r>
          </a:p>
        </p:txBody>
      </p:sp>
      <p:sp>
        <p:nvSpPr>
          <p:cNvPr id="40" name="TextBox 39">
            <a:extLst>
              <a:ext uri="{FF2B5EF4-FFF2-40B4-BE49-F238E27FC236}">
                <a16:creationId xmlns:a16="http://schemas.microsoft.com/office/drawing/2014/main" id="{57E9727F-6B6F-4747-8093-905C5FB2D1DC}"/>
              </a:ext>
            </a:extLst>
          </p:cNvPr>
          <p:cNvSpPr txBox="1"/>
          <p:nvPr/>
        </p:nvSpPr>
        <p:spPr>
          <a:xfrm>
            <a:off x="429480" y="1607663"/>
            <a:ext cx="355600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H&amp;B NA Global Team has </a:t>
            </a:r>
            <a:r>
              <a:rPr lang="en-US" b="1" dirty="0">
                <a:solidFill>
                  <a:srgbClr val="C110A0"/>
                </a:solidFill>
                <a:latin typeface="Arial"/>
              </a:rPr>
              <a:t>{{Ppl1}}</a:t>
            </a:r>
            <a:r>
              <a:rPr kumimoji="0" lang="en-US" sz="1400" b="0" i="0" u="none" strike="noStrike" kern="1200" cap="none" spc="0" normalizeH="0" baseline="0" noProof="0" dirty="0">
                <a:ln>
                  <a:noFill/>
                </a:ln>
                <a:solidFill>
                  <a:prstClr val="black"/>
                </a:solidFill>
                <a:effectLst/>
                <a:uLnTx/>
                <a:uFillTx/>
                <a:latin typeface="Arial"/>
                <a:ea typeface="+mn-ea"/>
                <a:cs typeface="+mn-cs"/>
              </a:rPr>
              <a:t> colleagues as of </a:t>
            </a:r>
            <a:r>
              <a:rPr lang="en-US" sz="1400" dirty="0">
                <a:solidFill>
                  <a:prstClr val="black"/>
                </a:solidFill>
                <a:latin typeface="Arial"/>
              </a:rPr>
              <a:t>{{Ppl2}}</a:t>
            </a:r>
            <a:r>
              <a:rPr kumimoji="0" lang="en-US" sz="1400" b="0" i="0" u="none" strike="noStrike" kern="1200" cap="none" spc="0" normalizeH="0" baseline="0" noProof="0" dirty="0">
                <a:ln>
                  <a:noFill/>
                </a:ln>
                <a:solidFill>
                  <a:prstClr val="black"/>
                </a:solidFill>
                <a:effectLst/>
                <a:uLnTx/>
                <a:uFillTx/>
                <a:latin typeface="Arial"/>
                <a:ea typeface="+mn-ea"/>
                <a:cs typeface="+mn-cs"/>
              </a:rPr>
              <a:t> {{Ppl3}}. </a:t>
            </a:r>
          </a:p>
        </p:txBody>
      </p:sp>
      <p:sp>
        <p:nvSpPr>
          <p:cNvPr id="41" name="TextBox 40">
            <a:extLst>
              <a:ext uri="{FF2B5EF4-FFF2-40B4-BE49-F238E27FC236}">
                <a16:creationId xmlns:a16="http://schemas.microsoft.com/office/drawing/2014/main" id="{9DD7445D-7069-4E8D-AE04-0DC4A49C544B}"/>
              </a:ext>
            </a:extLst>
          </p:cNvPr>
          <p:cNvSpPr txBox="1"/>
          <p:nvPr/>
        </p:nvSpPr>
        <p:spPr>
          <a:xfrm>
            <a:off x="4204187" y="4911603"/>
            <a:ext cx="3584711"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The  H&amp;B NA Global Team MTD productivity in </a:t>
            </a:r>
            <a:r>
              <a:rPr lang="en-US" sz="1400" dirty="0">
                <a:solidFill>
                  <a:prstClr val="black"/>
                </a:solidFill>
                <a:latin typeface="Arial"/>
              </a:rPr>
              <a:t>Dec</a:t>
            </a:r>
            <a:r>
              <a:rPr kumimoji="0" lang="en-US" sz="1400" b="0" i="0" u="none" strike="noStrike" kern="1200" cap="none" spc="0" normalizeH="0" baseline="0" noProof="0" dirty="0">
                <a:ln>
                  <a:noFill/>
                </a:ln>
                <a:solidFill>
                  <a:prstClr val="black"/>
                </a:solidFill>
                <a:effectLst/>
                <a:uLnTx/>
                <a:uFillTx/>
                <a:latin typeface="Arial"/>
                <a:ea typeface="+mn-ea"/>
                <a:cs typeface="+mn-cs"/>
              </a:rPr>
              <a:t>ember is at </a:t>
            </a:r>
            <a:r>
              <a:rPr kumimoji="0" lang="en-US" sz="1400" b="1" i="0" u="none" strike="noStrike" kern="1200" cap="none" spc="0" normalizeH="0" baseline="0" noProof="0" dirty="0">
                <a:ln>
                  <a:noFill/>
                </a:ln>
                <a:solidFill>
                  <a:srgbClr val="C110A0"/>
                </a:solidFill>
                <a:effectLst/>
                <a:uLnTx/>
                <a:uFillTx/>
                <a:latin typeface="Arial"/>
                <a:ea typeface="+mn-ea"/>
                <a:cs typeface="+mn-cs"/>
              </a:rPr>
              <a:t>{{Prd3}}%.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110A0"/>
                </a:solidFill>
                <a:effectLst/>
                <a:uLnTx/>
                <a:uFillTx/>
                <a:latin typeface="Arial"/>
                <a:ea typeface="+mn-ea"/>
                <a:cs typeface="+mn-cs"/>
              </a:rPr>
              <a:t>{{Prd4}} </a:t>
            </a:r>
            <a:r>
              <a:rPr kumimoji="0" lang="en-US" sz="1400" b="0" i="0" u="none" strike="noStrike" kern="1200" cap="none" spc="0" normalizeH="0" baseline="0" noProof="0" dirty="0">
                <a:ln>
                  <a:noFill/>
                </a:ln>
                <a:solidFill>
                  <a:prstClr val="black"/>
                </a:solidFill>
                <a:effectLst/>
                <a:uLnTx/>
                <a:uFillTx/>
                <a:latin typeface="Arial"/>
                <a:ea typeface="+mn-ea"/>
                <a:cs typeface="+mn-cs"/>
              </a:rPr>
              <a:t>clients are currently supported and </a:t>
            </a:r>
            <a:r>
              <a:rPr kumimoji="0" lang="en-US" sz="1400" b="1" i="0" u="none" strike="noStrike" kern="1200" cap="none" spc="0" normalizeH="0" baseline="0" noProof="0" dirty="0">
                <a:ln>
                  <a:noFill/>
                </a:ln>
                <a:solidFill>
                  <a:srgbClr val="C110A0"/>
                </a:solidFill>
                <a:effectLst/>
                <a:uLnTx/>
                <a:uFillTx/>
                <a:latin typeface="Arial"/>
                <a:ea typeface="+mn-ea"/>
                <a:cs typeface="+mn-cs"/>
              </a:rPr>
              <a:t>{{Prd5}} </a:t>
            </a:r>
            <a:r>
              <a:rPr kumimoji="0" lang="en-US" sz="1400" b="0" i="0" u="none" strike="noStrike" kern="1200" cap="none" spc="0" normalizeH="0" baseline="0" noProof="0" dirty="0">
                <a:ln>
                  <a:noFill/>
                </a:ln>
                <a:solidFill>
                  <a:prstClr val="black"/>
                </a:solidFill>
                <a:effectLst/>
                <a:uLnTx/>
                <a:uFillTx/>
                <a:latin typeface="Arial"/>
                <a:ea typeface="+mn-ea"/>
                <a:cs typeface="+mn-cs"/>
              </a:rPr>
              <a:t>more are to be transitioned. </a:t>
            </a:r>
          </a:p>
        </p:txBody>
      </p:sp>
      <p:sp>
        <p:nvSpPr>
          <p:cNvPr id="50" name="TextBox 49">
            <a:extLst>
              <a:ext uri="{FF2B5EF4-FFF2-40B4-BE49-F238E27FC236}">
                <a16:creationId xmlns:a16="http://schemas.microsoft.com/office/drawing/2014/main" id="{A157956C-F04A-4F7B-9FBC-833418CD0DAE}"/>
              </a:ext>
            </a:extLst>
          </p:cNvPr>
          <p:cNvSpPr txBox="1"/>
          <p:nvPr/>
        </p:nvSpPr>
        <p:spPr>
          <a:xfrm>
            <a:off x="8115891" y="1607663"/>
            <a:ext cx="3387048" cy="1123384"/>
          </a:xfrm>
          <a:prstGeom prst="rect">
            <a:avLst/>
          </a:prstGeom>
          <a:noFill/>
        </p:spPr>
        <p:txBody>
          <a:bodyPr wrap="square" rtlCol="0">
            <a:spAutoFit/>
          </a:bodyPr>
          <a:lstStyle/>
          <a:p>
            <a:pPr lvl="0" algn="just">
              <a:defRPr/>
            </a:pPr>
            <a:r>
              <a:rPr kumimoji="0" lang="en-US" sz="1400" b="1" i="0" u="none" strike="noStrike" kern="1200" cap="none" spc="0" normalizeH="0" baseline="0" noProof="0" dirty="0">
                <a:ln>
                  <a:noFill/>
                </a:ln>
                <a:solidFill>
                  <a:srgbClr val="C110A0"/>
                </a:solidFill>
                <a:effectLst/>
                <a:uLnTx/>
                <a:uFillTx/>
                <a:latin typeface="Arial"/>
                <a:ea typeface="+mn-ea"/>
                <a:cs typeface="+mn-cs"/>
              </a:rPr>
              <a:t>{{Res1}} </a:t>
            </a:r>
            <a:r>
              <a:rPr kumimoji="0" lang="en-US" sz="1400" b="0" i="0" u="none" strike="noStrike" kern="1200" cap="none" spc="0" normalizeH="0" baseline="0" noProof="0" dirty="0">
                <a:ln>
                  <a:noFill/>
                </a:ln>
                <a:solidFill>
                  <a:prstClr val="black"/>
                </a:solidFill>
                <a:effectLst/>
                <a:uLnTx/>
                <a:uFillTx/>
                <a:latin typeface="Arial"/>
                <a:ea typeface="+mn-ea"/>
                <a:cs typeface="+mn-cs"/>
              </a:rPr>
              <a:t>colleagues from Data Management</a:t>
            </a:r>
            <a:r>
              <a:rPr kumimoji="0" lang="en-US" sz="1400" b="1" i="0" u="none" strike="noStrike" kern="1200" cap="none" spc="0" normalizeH="0" baseline="0" noProof="0" dirty="0">
                <a:ln>
                  <a:noFill/>
                </a:ln>
                <a:solidFill>
                  <a:srgbClr val="C110A0"/>
                </a:solidFill>
                <a:effectLst/>
                <a:uLnTx/>
                <a:uFillTx/>
                <a:latin typeface="Arial"/>
                <a:ea typeface="+mn-ea"/>
                <a:cs typeface="+mn-cs"/>
              </a:rPr>
              <a:t> </a:t>
            </a:r>
            <a:r>
              <a:rPr kumimoji="0" lang="en-US" sz="1400" b="0" i="0" u="none" strike="noStrike" kern="1200" cap="none" spc="0" normalizeH="0" baseline="0" noProof="0" dirty="0">
                <a:ln>
                  <a:noFill/>
                </a:ln>
                <a:solidFill>
                  <a:prstClr val="black"/>
                </a:solidFill>
                <a:effectLst/>
                <a:uLnTx/>
                <a:uFillTx/>
                <a:latin typeface="Arial"/>
                <a:ea typeface="+mn-ea"/>
                <a:cs typeface="+mn-cs"/>
              </a:rPr>
              <a:t> supporting {{Res2}} processes. </a:t>
            </a:r>
            <a:r>
              <a:rPr kumimoji="0" lang="en-US" sz="1400" b="1" i="0" u="none" strike="noStrike" kern="1200" cap="none" spc="0" normalizeH="0" baseline="0" noProof="0" dirty="0">
                <a:ln>
                  <a:noFill/>
                </a:ln>
                <a:solidFill>
                  <a:srgbClr val="C110A0"/>
                </a:solidFill>
                <a:effectLst/>
                <a:uLnTx/>
                <a:uFillTx/>
                <a:latin typeface="Arial"/>
                <a:ea typeface="+mn-ea"/>
                <a:cs typeface="+mn-cs"/>
              </a:rPr>
              <a:t>{{Res3}}</a:t>
            </a:r>
            <a:r>
              <a:rPr kumimoji="0" lang="en-US" sz="1400" b="0" i="0" u="none" strike="noStrike" kern="1200" cap="none" spc="0" normalizeH="0" baseline="0" noProof="0" dirty="0">
                <a:ln>
                  <a:noFill/>
                </a:ln>
                <a:solidFill>
                  <a:prstClr val="black"/>
                </a:solidFill>
                <a:effectLst/>
                <a:uLnTx/>
                <a:uFillTx/>
                <a:latin typeface="Arial"/>
                <a:ea typeface="+mn-ea"/>
                <a:cs typeface="+mn-cs"/>
              </a:rPr>
              <a:t> more processes are expected for transition. </a:t>
            </a:r>
            <a:r>
              <a:rPr kumimoji="0" lang="en-US" sz="1100" b="0" i="1" u="none" strike="noStrike" kern="1200" cap="none" spc="0" normalizeH="0" baseline="0" noProof="0" dirty="0">
                <a:ln>
                  <a:noFill/>
                </a:ln>
                <a:solidFill>
                  <a:prstClr val="black"/>
                </a:solidFill>
                <a:effectLst/>
                <a:uLnTx/>
                <a:uFillTx/>
                <a:latin typeface="Arial"/>
                <a:ea typeface="+mn-ea"/>
                <a:cs typeface="+mn-cs"/>
              </a:rPr>
              <a:t>See Slide 18 for the list.  </a:t>
            </a:r>
            <a:endParaRPr lang="en-US" sz="1100" i="1" dirty="0">
              <a:solidFill>
                <a:prstClr val="black"/>
              </a:solidFill>
              <a:latin typeface="Arial"/>
            </a:endParaRPr>
          </a:p>
        </p:txBody>
      </p:sp>
      <p:cxnSp>
        <p:nvCxnSpPr>
          <p:cNvPr id="53" name="Straight Connector 52">
            <a:extLst>
              <a:ext uri="{FF2B5EF4-FFF2-40B4-BE49-F238E27FC236}">
                <a16:creationId xmlns:a16="http://schemas.microsoft.com/office/drawing/2014/main" id="{EF882779-4A47-4B7F-8204-26926FF1B82F}"/>
              </a:ext>
            </a:extLst>
          </p:cNvPr>
          <p:cNvCxnSpPr>
            <a:cxnSpLocks/>
          </p:cNvCxnSpPr>
          <p:nvPr/>
        </p:nvCxnSpPr>
        <p:spPr>
          <a:xfrm>
            <a:off x="609599" y="1484137"/>
            <a:ext cx="3205073" cy="2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EB2D58-0E10-4219-822A-060B4621F684}"/>
              </a:ext>
            </a:extLst>
          </p:cNvPr>
          <p:cNvCxnSpPr>
            <a:cxnSpLocks/>
          </p:cNvCxnSpPr>
          <p:nvPr/>
        </p:nvCxnSpPr>
        <p:spPr>
          <a:xfrm>
            <a:off x="4376281" y="1484137"/>
            <a:ext cx="3387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890C39B-0493-4704-BF16-B7F5BAD3E483}"/>
              </a:ext>
            </a:extLst>
          </p:cNvPr>
          <p:cNvCxnSpPr>
            <a:cxnSpLocks/>
          </p:cNvCxnSpPr>
          <p:nvPr/>
        </p:nvCxnSpPr>
        <p:spPr>
          <a:xfrm>
            <a:off x="8195352" y="1484137"/>
            <a:ext cx="3387048"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11875BA5-9FE8-41C2-BE10-E91916196384}"/>
              </a:ext>
            </a:extLst>
          </p:cNvPr>
          <p:cNvSpPr txBox="1"/>
          <p:nvPr/>
        </p:nvSpPr>
        <p:spPr>
          <a:xfrm>
            <a:off x="345213" y="5777051"/>
            <a:ext cx="280978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latin typeface="Arial"/>
              </a:rPr>
              <a:t>*e</a:t>
            </a:r>
            <a:r>
              <a:rPr kumimoji="0" lang="en-US" sz="1000" i="1" u="none" strike="noStrike" kern="1200" cap="none" spc="0" normalizeH="0" baseline="0" noProof="0" dirty="0" err="1">
                <a:ln>
                  <a:noFill/>
                </a:ln>
                <a:effectLst/>
                <a:uLnTx/>
                <a:uFillTx/>
                <a:latin typeface="Arial"/>
                <a:ea typeface="+mn-ea"/>
                <a:cs typeface="+mn-cs"/>
              </a:rPr>
              <a:t>xcludes</a:t>
            </a:r>
            <a:r>
              <a:rPr kumimoji="0" lang="en-US" sz="1000" i="1" u="none" strike="noStrike" kern="1200" cap="none" spc="0" normalizeH="0" baseline="0" noProof="0" dirty="0">
                <a:ln>
                  <a:noFill/>
                </a:ln>
                <a:effectLst/>
                <a:uLnTx/>
                <a:uFillTx/>
                <a:latin typeface="Arial"/>
                <a:ea typeface="+mn-ea"/>
                <a:cs typeface="+mn-cs"/>
              </a:rPr>
              <a:t>  contractual </a:t>
            </a:r>
            <a:r>
              <a:rPr lang="en-US" sz="1000" i="1" dirty="0">
                <a:latin typeface="Arial"/>
              </a:rPr>
              <a:t>wo</a:t>
            </a:r>
            <a:r>
              <a:rPr kumimoji="0" lang="en-US" sz="1000" i="1" u="none" strike="noStrike" kern="1200" cap="none" spc="0" normalizeH="0" baseline="0" noProof="0" dirty="0" err="1">
                <a:ln>
                  <a:noFill/>
                </a:ln>
                <a:effectLst/>
                <a:uLnTx/>
                <a:uFillTx/>
                <a:latin typeface="Arial"/>
                <a:ea typeface="+mn-ea"/>
                <a:cs typeface="+mn-cs"/>
              </a:rPr>
              <a:t>rker</a:t>
            </a:r>
            <a:r>
              <a:rPr kumimoji="0" lang="en-US" sz="1000" i="1" u="none" strike="noStrike" kern="1200" cap="none" spc="0" normalizeH="0" baseline="0" noProof="0" dirty="0">
                <a:ln>
                  <a:noFill/>
                </a:ln>
                <a:effectLst/>
                <a:uLnTx/>
                <a:uFillTx/>
                <a:latin typeface="Arial"/>
                <a:ea typeface="+mn-ea"/>
                <a:cs typeface="+mn-cs"/>
              </a:rPr>
              <a:t> (CWK)</a:t>
            </a:r>
          </a:p>
        </p:txBody>
      </p:sp>
      <p:sp>
        <p:nvSpPr>
          <p:cNvPr id="43" name="TextBox 42">
            <a:extLst>
              <a:ext uri="{FF2B5EF4-FFF2-40B4-BE49-F238E27FC236}">
                <a16:creationId xmlns:a16="http://schemas.microsoft.com/office/drawing/2014/main" id="{7B1880F9-6C72-481D-A563-D592F8A3821C}"/>
              </a:ext>
            </a:extLst>
          </p:cNvPr>
          <p:cNvSpPr txBox="1"/>
          <p:nvPr/>
        </p:nvSpPr>
        <p:spPr>
          <a:xfrm>
            <a:off x="9015495" y="3082539"/>
            <a:ext cx="241444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Colleagues </a:t>
            </a:r>
            <a:r>
              <a:rPr lang="en-US" sz="1200" dirty="0">
                <a:solidFill>
                  <a:prstClr val="black"/>
                </a:solidFill>
                <a:latin typeface="Arial"/>
              </a:rPr>
              <a:t>supporting </a:t>
            </a:r>
            <a:r>
              <a:rPr kumimoji="0" lang="en-US" sz="1200" b="0" i="0" u="none" strike="noStrike" kern="1200" cap="none" spc="0" normalizeH="0" baseline="0" noProof="0" dirty="0">
                <a:ln>
                  <a:noFill/>
                </a:ln>
                <a:solidFill>
                  <a:prstClr val="black"/>
                </a:solidFill>
                <a:effectLst/>
                <a:uLnTx/>
                <a:uFillTx/>
                <a:latin typeface="Arial"/>
                <a:ea typeface="+mn-ea"/>
                <a:cs typeface="+mn-cs"/>
              </a:rPr>
              <a:t>RFP / Carrier Ops</a:t>
            </a:r>
          </a:p>
        </p:txBody>
      </p:sp>
      <p:grpSp>
        <p:nvGrpSpPr>
          <p:cNvPr id="6" name="Group 5">
            <a:extLst>
              <a:ext uri="{FF2B5EF4-FFF2-40B4-BE49-F238E27FC236}">
                <a16:creationId xmlns:a16="http://schemas.microsoft.com/office/drawing/2014/main" id="{7CA1AB85-DA9C-4B8A-95A6-02633CF7BDB9}"/>
              </a:ext>
            </a:extLst>
          </p:cNvPr>
          <p:cNvGrpSpPr/>
          <p:nvPr/>
        </p:nvGrpSpPr>
        <p:grpSpPr>
          <a:xfrm>
            <a:off x="9074897" y="2540682"/>
            <a:ext cx="2414444" cy="3441622"/>
            <a:chOff x="9317325" y="1649783"/>
            <a:chExt cx="2414444" cy="3236477"/>
          </a:xfrm>
        </p:grpSpPr>
        <p:sp>
          <p:nvSpPr>
            <p:cNvPr id="45" name="TextBox 44">
              <a:extLst>
                <a:ext uri="{FF2B5EF4-FFF2-40B4-BE49-F238E27FC236}">
                  <a16:creationId xmlns:a16="http://schemas.microsoft.com/office/drawing/2014/main" id="{41871A3E-21F2-4037-8864-988F100DB378}"/>
                </a:ext>
              </a:extLst>
            </p:cNvPr>
            <p:cNvSpPr txBox="1"/>
            <p:nvPr/>
          </p:nvSpPr>
          <p:spPr>
            <a:xfrm>
              <a:off x="9317325" y="2761411"/>
              <a:ext cx="219341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Colleagues </a:t>
              </a:r>
              <a:r>
                <a:rPr lang="en-US" sz="1200" dirty="0">
                  <a:solidFill>
                    <a:prstClr val="black"/>
                  </a:solidFill>
                  <a:latin typeface="Arial"/>
                </a:rPr>
                <a:t>supporting</a:t>
              </a:r>
              <a:r>
                <a:rPr kumimoji="0" lang="en-US" sz="1200" b="0" i="0" u="none" strike="noStrike" kern="1200" cap="none" spc="0" normalizeH="0" baseline="0" noProof="0" dirty="0">
                  <a:ln>
                    <a:noFill/>
                  </a:ln>
                  <a:solidFill>
                    <a:prstClr val="black"/>
                  </a:solidFill>
                  <a:effectLst/>
                  <a:uLnTx/>
                  <a:uFillTx/>
                  <a:latin typeface="Arial"/>
                  <a:ea typeface="+mn-ea"/>
                  <a:cs typeface="+mn-cs"/>
                </a:rPr>
                <a:t> CCMU</a:t>
              </a:r>
            </a:p>
          </p:txBody>
        </p:sp>
        <p:sp>
          <p:nvSpPr>
            <p:cNvPr id="46" name="TextBox 45">
              <a:extLst>
                <a:ext uri="{FF2B5EF4-FFF2-40B4-BE49-F238E27FC236}">
                  <a16:creationId xmlns:a16="http://schemas.microsoft.com/office/drawing/2014/main" id="{A74B6DF2-8A7F-4AE9-94E8-8EB1DF761AC8}"/>
                </a:ext>
              </a:extLst>
            </p:cNvPr>
            <p:cNvSpPr txBox="1"/>
            <p:nvPr/>
          </p:nvSpPr>
          <p:spPr>
            <a:xfrm>
              <a:off x="9317325" y="3265051"/>
              <a:ext cx="219341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Colleagues </a:t>
              </a:r>
              <a:r>
                <a:rPr lang="en-US" sz="1200" dirty="0">
                  <a:solidFill>
                    <a:prstClr val="black"/>
                  </a:solidFill>
                  <a:latin typeface="Arial"/>
                </a:rPr>
                <a:t>supporting</a:t>
              </a:r>
              <a:r>
                <a:rPr kumimoji="0" lang="en-US" sz="1200" b="0" i="0" u="none" strike="noStrike" kern="1200" cap="none" spc="0" normalizeH="0" baseline="0" noProof="0" dirty="0">
                  <a:ln>
                    <a:noFill/>
                  </a:ln>
                  <a:solidFill>
                    <a:prstClr val="black"/>
                  </a:solidFill>
                  <a:effectLst/>
                  <a:uLnTx/>
                  <a:uFillTx/>
                  <a:latin typeface="Arial"/>
                  <a:ea typeface="+mn-ea"/>
                  <a:cs typeface="+mn-cs"/>
                </a:rPr>
                <a:t> RX Collaborative</a:t>
              </a:r>
            </a:p>
          </p:txBody>
        </p:sp>
        <p:sp>
          <p:nvSpPr>
            <p:cNvPr id="31" name="TextBox 30">
              <a:extLst>
                <a:ext uri="{FF2B5EF4-FFF2-40B4-BE49-F238E27FC236}">
                  <a16:creationId xmlns:a16="http://schemas.microsoft.com/office/drawing/2014/main" id="{572E0B02-0E87-421B-B22D-9B1D0DC97679}"/>
                </a:ext>
              </a:extLst>
            </p:cNvPr>
            <p:cNvSpPr txBox="1"/>
            <p:nvPr/>
          </p:nvSpPr>
          <p:spPr>
            <a:xfrm>
              <a:off x="9317325" y="4278455"/>
              <a:ext cx="2193418" cy="6078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Colleagues who are loaned to other HCB LOBS (HC Equivalent)</a:t>
              </a:r>
            </a:p>
          </p:txBody>
        </p:sp>
        <p:sp>
          <p:nvSpPr>
            <p:cNvPr id="32" name="TextBox 31">
              <a:extLst>
                <a:ext uri="{FF2B5EF4-FFF2-40B4-BE49-F238E27FC236}">
                  <a16:creationId xmlns:a16="http://schemas.microsoft.com/office/drawing/2014/main" id="{049F762B-7DB6-4976-AC76-D99AEE95687C}"/>
                </a:ext>
              </a:extLst>
            </p:cNvPr>
            <p:cNvSpPr txBox="1"/>
            <p:nvPr/>
          </p:nvSpPr>
          <p:spPr>
            <a:xfrm>
              <a:off x="9317325" y="3746917"/>
              <a:ext cx="219341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Colleagues to support </a:t>
              </a:r>
              <a:r>
                <a:rPr kumimoji="0" lang="en-US" sz="1200" b="0" i="0" u="none" strike="noStrike" kern="1200" cap="none" spc="0" normalizeH="0" baseline="0" noProof="0" dirty="0" err="1">
                  <a:ln>
                    <a:noFill/>
                  </a:ln>
                  <a:solidFill>
                    <a:prstClr val="black"/>
                  </a:solidFill>
                  <a:effectLst/>
                  <a:uLnTx/>
                  <a:uFillTx/>
                  <a:latin typeface="Arial"/>
                  <a:ea typeface="+mn-ea"/>
                  <a:cs typeface="+mn-cs"/>
                </a:rPr>
                <a:t>WillisMed</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34" name="TextBox 33">
              <a:extLst>
                <a:ext uri="{FF2B5EF4-FFF2-40B4-BE49-F238E27FC236}">
                  <a16:creationId xmlns:a16="http://schemas.microsoft.com/office/drawing/2014/main" id="{347A0511-2E1F-40C0-9AB9-B831AB16E7A0}"/>
                </a:ext>
              </a:extLst>
            </p:cNvPr>
            <p:cNvSpPr txBox="1"/>
            <p:nvPr/>
          </p:nvSpPr>
          <p:spPr>
            <a:xfrm>
              <a:off x="9317325" y="1649783"/>
              <a:ext cx="241444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Colleagues supporting Central Data Team </a:t>
              </a:r>
            </a:p>
          </p:txBody>
        </p:sp>
      </p:grpSp>
      <p:sp>
        <p:nvSpPr>
          <p:cNvPr id="52" name="TextBox 51">
            <a:extLst>
              <a:ext uri="{FF2B5EF4-FFF2-40B4-BE49-F238E27FC236}">
                <a16:creationId xmlns:a16="http://schemas.microsoft.com/office/drawing/2014/main" id="{78D4362D-3953-4D1B-894F-83D6D0734C24}"/>
              </a:ext>
            </a:extLst>
          </p:cNvPr>
          <p:cNvSpPr txBox="1"/>
          <p:nvPr/>
        </p:nvSpPr>
        <p:spPr>
          <a:xfrm>
            <a:off x="8389497" y="3727593"/>
            <a:ext cx="1095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110A0"/>
                </a:solidFill>
                <a:latin typeface="Arial"/>
              </a:rPr>
              <a:t>{{Res6}}</a:t>
            </a:r>
            <a:endParaRPr kumimoji="0" lang="en-US" sz="1800" b="1" i="0" u="none" strike="noStrike" kern="1200" cap="none" spc="0" normalizeH="0" baseline="0" noProof="0" dirty="0">
              <a:ln>
                <a:noFill/>
              </a:ln>
              <a:solidFill>
                <a:srgbClr val="C110A0"/>
              </a:solidFill>
              <a:effectLst/>
              <a:uLnTx/>
              <a:uFillTx/>
              <a:latin typeface="Arial"/>
              <a:ea typeface="+mn-ea"/>
              <a:cs typeface="+mn-cs"/>
            </a:endParaRPr>
          </a:p>
        </p:txBody>
      </p:sp>
      <p:sp>
        <p:nvSpPr>
          <p:cNvPr id="49" name="TextBox 48">
            <a:extLst>
              <a:ext uri="{FF2B5EF4-FFF2-40B4-BE49-F238E27FC236}">
                <a16:creationId xmlns:a16="http://schemas.microsoft.com/office/drawing/2014/main" id="{CB85B276-E62E-4D45-B961-E817AE2D46A6}"/>
              </a:ext>
            </a:extLst>
          </p:cNvPr>
          <p:cNvSpPr txBox="1"/>
          <p:nvPr/>
        </p:nvSpPr>
        <p:spPr>
          <a:xfrm>
            <a:off x="8400492" y="2550811"/>
            <a:ext cx="1095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110A0"/>
                </a:solidFill>
                <a:latin typeface="Arial"/>
              </a:rPr>
              <a:t>{{Res4}}</a:t>
            </a:r>
            <a:endParaRPr kumimoji="0" lang="en-US" sz="1800" b="1" i="0" u="none" strike="noStrike" kern="1200" cap="none" spc="0" normalizeH="0" baseline="0" noProof="0" dirty="0">
              <a:ln>
                <a:noFill/>
              </a:ln>
              <a:solidFill>
                <a:srgbClr val="C110A0"/>
              </a:solidFill>
              <a:effectLst/>
              <a:uLnTx/>
              <a:uFillTx/>
              <a:latin typeface="Arial"/>
              <a:ea typeface="+mn-ea"/>
              <a:cs typeface="+mn-cs"/>
            </a:endParaRPr>
          </a:p>
        </p:txBody>
      </p:sp>
      <p:sp>
        <p:nvSpPr>
          <p:cNvPr id="54" name="TextBox 53">
            <a:extLst>
              <a:ext uri="{FF2B5EF4-FFF2-40B4-BE49-F238E27FC236}">
                <a16:creationId xmlns:a16="http://schemas.microsoft.com/office/drawing/2014/main" id="{7A7E07BB-E086-44C6-85E7-6AAD379EF92A}"/>
              </a:ext>
            </a:extLst>
          </p:cNvPr>
          <p:cNvSpPr txBox="1"/>
          <p:nvPr/>
        </p:nvSpPr>
        <p:spPr>
          <a:xfrm>
            <a:off x="8392636" y="3089710"/>
            <a:ext cx="1095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110A0"/>
                </a:solidFill>
                <a:latin typeface="Arial"/>
              </a:rPr>
              <a:t>{{Res5}}</a:t>
            </a:r>
            <a:endParaRPr kumimoji="0" lang="en-US" sz="1800" b="1" i="0" u="none" strike="noStrike" kern="1200" cap="none" spc="0" normalizeH="0" baseline="0" noProof="0" dirty="0">
              <a:ln>
                <a:noFill/>
              </a:ln>
              <a:solidFill>
                <a:srgbClr val="C110A0"/>
              </a:solidFill>
              <a:effectLst/>
              <a:uLnTx/>
              <a:uFillTx/>
              <a:latin typeface="Arial"/>
              <a:ea typeface="+mn-ea"/>
              <a:cs typeface="+mn-cs"/>
            </a:endParaRPr>
          </a:p>
        </p:txBody>
      </p:sp>
      <p:sp>
        <p:nvSpPr>
          <p:cNvPr id="55" name="TextBox 54">
            <a:extLst>
              <a:ext uri="{FF2B5EF4-FFF2-40B4-BE49-F238E27FC236}">
                <a16:creationId xmlns:a16="http://schemas.microsoft.com/office/drawing/2014/main" id="{8B4731C1-B1F3-428E-851C-48A6D510DCD1}"/>
              </a:ext>
            </a:extLst>
          </p:cNvPr>
          <p:cNvSpPr txBox="1"/>
          <p:nvPr/>
        </p:nvSpPr>
        <p:spPr>
          <a:xfrm>
            <a:off x="8403631" y="4307339"/>
            <a:ext cx="1095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110A0"/>
                </a:solidFill>
                <a:latin typeface="Arial"/>
              </a:rPr>
              <a:t>{{Res7}}</a:t>
            </a:r>
            <a:endParaRPr kumimoji="0" lang="en-US" sz="1800" b="1" i="0" u="none" strike="noStrike" kern="1200" cap="none" spc="0" normalizeH="0" baseline="0" noProof="0" dirty="0">
              <a:ln>
                <a:noFill/>
              </a:ln>
              <a:solidFill>
                <a:srgbClr val="C110A0"/>
              </a:solidFill>
              <a:effectLst/>
              <a:uLnTx/>
              <a:uFillTx/>
              <a:latin typeface="Arial"/>
              <a:ea typeface="+mn-ea"/>
              <a:cs typeface="+mn-cs"/>
            </a:endParaRPr>
          </a:p>
        </p:txBody>
      </p:sp>
      <p:sp>
        <p:nvSpPr>
          <p:cNvPr id="56" name="TextBox 55">
            <a:extLst>
              <a:ext uri="{FF2B5EF4-FFF2-40B4-BE49-F238E27FC236}">
                <a16:creationId xmlns:a16="http://schemas.microsoft.com/office/drawing/2014/main" id="{352698EE-0C81-41BC-A85A-D5885D021237}"/>
              </a:ext>
            </a:extLst>
          </p:cNvPr>
          <p:cNvSpPr txBox="1"/>
          <p:nvPr/>
        </p:nvSpPr>
        <p:spPr>
          <a:xfrm>
            <a:off x="8386347" y="4808529"/>
            <a:ext cx="1095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110A0"/>
                </a:solidFill>
                <a:latin typeface="Arial"/>
              </a:rPr>
              <a:t>{{Res8}}</a:t>
            </a:r>
            <a:endParaRPr kumimoji="0" lang="en-US" sz="1800" b="1" i="0" u="none" strike="noStrike" kern="1200" cap="none" spc="0" normalizeH="0" baseline="0" noProof="0" dirty="0">
              <a:ln>
                <a:noFill/>
              </a:ln>
              <a:solidFill>
                <a:srgbClr val="C110A0"/>
              </a:solidFill>
              <a:effectLst/>
              <a:uLnTx/>
              <a:uFillTx/>
              <a:latin typeface="Arial"/>
              <a:ea typeface="+mn-ea"/>
              <a:cs typeface="+mn-cs"/>
            </a:endParaRPr>
          </a:p>
        </p:txBody>
      </p:sp>
      <p:sp>
        <p:nvSpPr>
          <p:cNvPr id="57" name="TextBox 56">
            <a:extLst>
              <a:ext uri="{FF2B5EF4-FFF2-40B4-BE49-F238E27FC236}">
                <a16:creationId xmlns:a16="http://schemas.microsoft.com/office/drawing/2014/main" id="{25ADBE81-F1DB-4C92-96B4-7EB2B2248E4A}"/>
              </a:ext>
            </a:extLst>
          </p:cNvPr>
          <p:cNvSpPr txBox="1"/>
          <p:nvPr/>
        </p:nvSpPr>
        <p:spPr>
          <a:xfrm>
            <a:off x="8378490" y="5394562"/>
            <a:ext cx="1095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110A0"/>
                </a:solidFill>
                <a:latin typeface="Arial"/>
              </a:rPr>
              <a:t>{{Res9}}</a:t>
            </a:r>
            <a:endParaRPr kumimoji="0" lang="en-US" sz="1800" b="1" i="0" u="none" strike="noStrike" kern="1200" cap="none" spc="0" normalizeH="0" baseline="0" noProof="0" dirty="0">
              <a:ln>
                <a:noFill/>
              </a:ln>
              <a:solidFill>
                <a:srgbClr val="C110A0"/>
              </a:solidFill>
              <a:effectLst/>
              <a:uLnTx/>
              <a:uFillTx/>
              <a:latin typeface="Arial"/>
              <a:ea typeface="+mn-ea"/>
              <a:cs typeface="+mn-cs"/>
            </a:endParaRPr>
          </a:p>
        </p:txBody>
      </p:sp>
    </p:spTree>
    <p:custDataLst>
      <p:tags r:id="rId1"/>
    </p:custDataLst>
    <p:extLst>
      <p:ext uri="{BB962C8B-B14F-4D97-AF65-F5344CB8AC3E}">
        <p14:creationId xmlns:p14="http://schemas.microsoft.com/office/powerpoint/2010/main" val="3543237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HB_NAMTR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DC031-8E0C-4C12-AD21-4FE57266AF6D}"/>
              </a:ext>
            </a:extLst>
          </p:cNvPr>
          <p:cNvSpPr>
            <a:spLocks noGrp="1"/>
          </p:cNvSpPr>
          <p:nvPr>
            <p:ph type="title"/>
          </p:nvPr>
        </p:nvSpPr>
        <p:spPr/>
        <p:txBody>
          <a:bodyPr/>
          <a:lstStyle/>
          <a:p>
            <a:r>
              <a:rPr lang="en-US" dirty="0"/>
              <a:t>H&amp;B NA Manila Team Risk Management</a:t>
            </a:r>
          </a:p>
        </p:txBody>
      </p:sp>
      <p:sp>
        <p:nvSpPr>
          <p:cNvPr id="4" name="Content Placeholder 3">
            <a:extLst>
              <a:ext uri="{FF2B5EF4-FFF2-40B4-BE49-F238E27FC236}">
                <a16:creationId xmlns:a16="http://schemas.microsoft.com/office/drawing/2014/main" id="{9B51CCD0-719F-4E64-A0AE-2D64A7EA6090}"/>
              </a:ext>
            </a:extLst>
          </p:cNvPr>
          <p:cNvSpPr>
            <a:spLocks noGrp="1"/>
          </p:cNvSpPr>
          <p:nvPr>
            <p:ph idx="1"/>
          </p:nvPr>
        </p:nvSpPr>
        <p:spPr>
          <a:xfrm>
            <a:off x="609599" y="1163457"/>
            <a:ext cx="10779761" cy="573903"/>
          </a:xfrm>
          <a:solidFill>
            <a:schemeClr val="bg2"/>
          </a:solidFill>
          <a:ln>
            <a:noFill/>
          </a:ln>
        </p:spPr>
        <p:txBody>
          <a:bodyPr/>
          <a:lstStyle/>
          <a:p>
            <a:r>
              <a:rPr lang="en-US" sz="1600" dirty="0"/>
              <a:t>Overall risk rating of H&amp;B NA Manila Team as </a:t>
            </a:r>
            <a:r>
              <a:rPr lang="en-US" sz="1600"/>
              <a:t>of December </a:t>
            </a:r>
            <a:r>
              <a:rPr lang="en-US" sz="1600" dirty="0"/>
              <a:t>2020 is ON TRACK. Identified measures for each risk area do not reflect any critical risk to the business that may potentially impact the team’s deliverables. </a:t>
            </a:r>
          </a:p>
        </p:txBody>
      </p:sp>
      <p:sp>
        <p:nvSpPr>
          <p:cNvPr id="5" name="Slide Number Placeholder 4">
            <a:extLst>
              <a:ext uri="{FF2B5EF4-FFF2-40B4-BE49-F238E27FC236}">
                <a16:creationId xmlns:a16="http://schemas.microsoft.com/office/drawing/2014/main" id="{F886E145-748D-4C09-9F7B-4E7B4092BAF7}"/>
              </a:ext>
            </a:extLst>
          </p:cNvPr>
          <p:cNvSpPr>
            <a:spLocks noGrp="1"/>
          </p:cNvSpPr>
          <p:nvPr>
            <p:ph type="sldNum" sz="quarter" idx="4"/>
          </p:nvPr>
        </p:nvSpPr>
        <p:spPr/>
        <p:txBody>
          <a:bodyPr/>
          <a:lstStyle/>
          <a:p>
            <a:fld id="{2083E393-C0BF-4ED8-8545-7E4C90AFF831}" type="slidenum">
              <a:rPr lang="en-US" smtClean="0"/>
              <a:pPr/>
              <a:t>3</a:t>
            </a:fld>
            <a:endParaRPr lang="en-US" dirty="0"/>
          </a:p>
        </p:txBody>
      </p:sp>
      <p:sp>
        <p:nvSpPr>
          <p:cNvPr id="6" name="Footer Placeholder 5">
            <a:extLst>
              <a:ext uri="{FF2B5EF4-FFF2-40B4-BE49-F238E27FC236}">
                <a16:creationId xmlns:a16="http://schemas.microsoft.com/office/drawing/2014/main" id="{2468D18E-149C-4783-A8C0-FA214AC38C15}"/>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3" name="Table 13">
            <a:extLst>
              <a:ext uri="{FF2B5EF4-FFF2-40B4-BE49-F238E27FC236}">
                <a16:creationId xmlns:a16="http://schemas.microsoft.com/office/drawing/2014/main" id="{251BFCE5-98AB-4258-8F03-E412FBF565CA}"/>
              </a:ext>
            </a:extLst>
          </p:cNvPr>
          <p:cNvGraphicFramePr>
            <a:graphicFrameLocks noGrp="1"/>
          </p:cNvGraphicFramePr>
          <p:nvPr>
            <p:extLst>
              <p:ext uri="{D42A27DB-BD31-4B8C-83A1-F6EECF244321}">
                <p14:modId xmlns:p14="http://schemas.microsoft.com/office/powerpoint/2010/main" val="3830472961"/>
              </p:ext>
            </p:extLst>
          </p:nvPr>
        </p:nvGraphicFramePr>
        <p:xfrm>
          <a:off x="609599" y="1909098"/>
          <a:ext cx="10779761" cy="4283507"/>
        </p:xfrm>
        <a:graphic>
          <a:graphicData uri="http://schemas.openxmlformats.org/drawingml/2006/table">
            <a:tbl>
              <a:tblPr firstRow="1" bandRow="1">
                <a:tableStyleId>{69012ECD-51FC-41F1-AA8D-1B2483CD663E}</a:tableStyleId>
              </a:tblPr>
              <a:tblGrid>
                <a:gridCol w="1209041">
                  <a:extLst>
                    <a:ext uri="{9D8B030D-6E8A-4147-A177-3AD203B41FA5}">
                      <a16:colId xmlns:a16="http://schemas.microsoft.com/office/drawing/2014/main" val="2077622652"/>
                    </a:ext>
                  </a:extLst>
                </a:gridCol>
                <a:gridCol w="1798320">
                  <a:extLst>
                    <a:ext uri="{9D8B030D-6E8A-4147-A177-3AD203B41FA5}">
                      <a16:colId xmlns:a16="http://schemas.microsoft.com/office/drawing/2014/main" val="1140667783"/>
                    </a:ext>
                  </a:extLst>
                </a:gridCol>
                <a:gridCol w="7772400">
                  <a:extLst>
                    <a:ext uri="{9D8B030D-6E8A-4147-A177-3AD203B41FA5}">
                      <a16:colId xmlns:a16="http://schemas.microsoft.com/office/drawing/2014/main" val="2095733700"/>
                    </a:ext>
                  </a:extLst>
                </a:gridCol>
              </a:tblGrid>
              <a:tr h="686867">
                <a:tc>
                  <a:txBody>
                    <a:bodyPr/>
                    <a:lstStyle/>
                    <a:p>
                      <a:pPr algn="ctr"/>
                      <a:r>
                        <a:rPr lang="en-US" sz="1400" dirty="0"/>
                        <a:t>Risk Area</a:t>
                      </a:r>
                    </a:p>
                  </a:txBody>
                  <a:tcPr/>
                </a:tc>
                <a:tc>
                  <a:txBody>
                    <a:bodyPr/>
                    <a:lstStyle/>
                    <a:p>
                      <a:pPr algn="ctr"/>
                      <a:r>
                        <a:rPr lang="en-US" sz="1400" dirty="0"/>
                        <a:t>Rating</a:t>
                      </a:r>
                    </a:p>
                  </a:txBody>
                  <a:tcPr/>
                </a:tc>
                <a:tc>
                  <a:txBody>
                    <a:bodyPr/>
                    <a:lstStyle/>
                    <a:p>
                      <a:pPr algn="ctr"/>
                      <a:r>
                        <a:rPr lang="en-US" sz="1400" dirty="0"/>
                        <a:t>Metrics</a:t>
                      </a:r>
                    </a:p>
                  </a:txBody>
                  <a:tcPr/>
                </a:tc>
                <a:extLst>
                  <a:ext uri="{0D108BD9-81ED-4DB2-BD59-A6C34878D82A}">
                    <a16:rowId xmlns:a16="http://schemas.microsoft.com/office/drawing/2014/main" val="3706358999"/>
                  </a:ext>
                </a:extLst>
              </a:tr>
              <a:tr h="406982">
                <a:tc>
                  <a:txBody>
                    <a:bodyPr/>
                    <a:lstStyle/>
                    <a:p>
                      <a:pPr algn="l"/>
                      <a:r>
                        <a:rPr lang="en-US" sz="1400" dirty="0"/>
                        <a:t>Clients</a:t>
                      </a:r>
                    </a:p>
                  </a:txBody>
                  <a:tcPr/>
                </a:tc>
                <a:tc>
                  <a:txBody>
                    <a:bodyPr/>
                    <a:lstStyle/>
                    <a:p>
                      <a:pPr algn="ctr"/>
                      <a:r>
                        <a:rPr lang="en-US" sz="1400" dirty="0"/>
                        <a:t>Ongoing Actions</a:t>
                      </a:r>
                    </a:p>
                  </a:txBody>
                  <a:tcPr/>
                </a:tc>
                <a:tc>
                  <a:txBody>
                    <a:bodyPr/>
                    <a:lstStyle/>
                    <a:p>
                      <a:pPr marL="285750" indent="-285750">
                        <a:buFont typeface="Arial" panose="020B0604020202020204" pitchFamily="34" charset="0"/>
                        <a:buChar char="•"/>
                      </a:pPr>
                      <a:r>
                        <a:rPr lang="en-US" sz="1400" dirty="0"/>
                        <a:t>Status quo on the following –</a:t>
                      </a:r>
                    </a:p>
                    <a:p>
                      <a:pPr marL="0" indent="0" algn="l">
                        <a:buFont typeface="Wingdings" panose="05000000000000000000" pitchFamily="2" charset="2"/>
                        <a:buNone/>
                      </a:pPr>
                      <a:r>
                        <a:rPr lang="en-US" sz="1400" dirty="0"/>
                        <a:t>        </a:t>
                      </a:r>
                      <a:r>
                        <a:rPr lang="en-US" sz="1200" dirty="0"/>
                        <a:t>(1) Continuous follow up made for clients with pending kick off calls including Wave 4  accounts</a:t>
                      </a:r>
                    </a:p>
                    <a:p>
                      <a:pPr marL="0" indent="0" algn="l">
                        <a:buFont typeface="Arial" panose="020B0604020202020204" pitchFamily="34" charset="0"/>
                        <a:buNone/>
                      </a:pPr>
                      <a:r>
                        <a:rPr lang="en-US" sz="1200" dirty="0"/>
                        <a:t>         (2) Initiated discussion and identified resources from existing team to support pilot accounts for B&amp;A work</a:t>
                      </a:r>
                    </a:p>
                    <a:p>
                      <a:pPr marL="0" indent="0" algn="l">
                        <a:buFont typeface="Arial" panose="020B0604020202020204" pitchFamily="34" charset="0"/>
                        <a:buNone/>
                      </a:pPr>
                      <a:r>
                        <a:rPr lang="en-US" sz="1200" dirty="0"/>
                        <a:t>         </a:t>
                      </a:r>
                      <a:endParaRPr lang="en-US" sz="1400" dirty="0"/>
                    </a:p>
                  </a:txBody>
                  <a:tcPr/>
                </a:tc>
                <a:extLst>
                  <a:ext uri="{0D108BD9-81ED-4DB2-BD59-A6C34878D82A}">
                    <a16:rowId xmlns:a16="http://schemas.microsoft.com/office/drawing/2014/main" val="4244305802"/>
                  </a:ext>
                </a:extLst>
              </a:tr>
              <a:tr h="414670">
                <a:tc>
                  <a:txBody>
                    <a:bodyPr/>
                    <a:lstStyle/>
                    <a:p>
                      <a:pPr algn="l"/>
                      <a:r>
                        <a:rPr lang="en-US" sz="1400" dirty="0"/>
                        <a:t>Financials</a:t>
                      </a:r>
                    </a:p>
                  </a:txBody>
                  <a:tcPr/>
                </a:tc>
                <a:tc>
                  <a:txBody>
                    <a:bodyPr/>
                    <a:lstStyle/>
                    <a:p>
                      <a:pPr algn="ctr"/>
                      <a:r>
                        <a:rPr lang="en-US" sz="1400" dirty="0"/>
                        <a:t>Ongoing Actions</a:t>
                      </a:r>
                    </a:p>
                  </a:txBody>
                  <a:tcPr/>
                </a:tc>
                <a:tc>
                  <a:txBody>
                    <a:bodyPr/>
                    <a:lstStyle/>
                    <a:p>
                      <a:pPr marL="285750" indent="-285750">
                        <a:buFont typeface="Arial" panose="020B0604020202020204" pitchFamily="34" charset="0"/>
                        <a:buChar char="•"/>
                      </a:pPr>
                      <a:r>
                        <a:rPr lang="en-US" sz="1400" b="0" dirty="0"/>
                        <a:t>Status quo on the following</a:t>
                      </a:r>
                    </a:p>
                    <a:p>
                      <a:pPr marL="0" indent="0" algn="l">
                        <a:buFont typeface="Arial" panose="020B0604020202020204" pitchFamily="34" charset="0"/>
                        <a:buNone/>
                      </a:pPr>
                      <a:r>
                        <a:rPr lang="en-US" sz="1400" b="0" dirty="0"/>
                        <a:t>        </a:t>
                      </a:r>
                      <a:r>
                        <a:rPr lang="en-US" sz="1200" b="0" dirty="0"/>
                        <a:t>(1) Utilizing existing colleagues to support new work within H&amp;B NA (i.e. CDT, CCMU, Carrier Ops, </a:t>
                      </a:r>
                      <a:r>
                        <a:rPr lang="en-US" sz="1200" b="0" dirty="0" err="1"/>
                        <a:t>RxC</a:t>
                      </a:r>
                      <a:r>
                        <a:rPr lang="en-US" sz="1200" b="0"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         (2) Supported the following HCB segments to increase team utilization -- T&amp;R Survey Loading, H&amp;B NNA, (RIC) BDS, GBM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         (3) Capacity Modeler for B&amp;A work</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a:txBody>
                  <a:tcPr/>
                </a:tc>
                <a:extLst>
                  <a:ext uri="{0D108BD9-81ED-4DB2-BD59-A6C34878D82A}">
                    <a16:rowId xmlns:a16="http://schemas.microsoft.com/office/drawing/2014/main" val="407349922"/>
                  </a:ext>
                </a:extLst>
              </a:tr>
              <a:tr h="540138">
                <a:tc>
                  <a:txBody>
                    <a:bodyPr/>
                    <a:lstStyle/>
                    <a:p>
                      <a:pPr algn="l"/>
                      <a:endParaRPr lang="en-US" sz="1400" dirty="0"/>
                    </a:p>
                    <a:p>
                      <a:pPr algn="l"/>
                      <a:r>
                        <a:rPr lang="en-US" sz="1400" dirty="0"/>
                        <a:t>People</a:t>
                      </a:r>
                    </a:p>
                    <a:p>
                      <a:pPr algn="l"/>
                      <a:endParaRPr lang="en-US" sz="1400" dirty="0"/>
                    </a:p>
                  </a:txBody>
                  <a:tcPr/>
                </a:tc>
                <a:tc>
                  <a:txBody>
                    <a:bodyPr/>
                    <a:lstStyle/>
                    <a:p>
                      <a:pPr algn="ctr"/>
                      <a:endParaRPr lang="en-US" sz="1400" dirty="0"/>
                    </a:p>
                    <a:p>
                      <a:pPr algn="ctr"/>
                      <a:r>
                        <a:rPr lang="en-US" sz="1400" dirty="0"/>
                        <a:t>On Track</a:t>
                      </a:r>
                    </a:p>
                  </a:txBody>
                  <a:tcPr/>
                </a:tc>
                <a:tc>
                  <a:txBody>
                    <a:bodyPr/>
                    <a:lstStyle/>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Ongoing recruitment for 2021 expansion</a:t>
                      </a:r>
                    </a:p>
                  </a:txBody>
                  <a:tcPr/>
                </a:tc>
                <a:extLst>
                  <a:ext uri="{0D108BD9-81ED-4DB2-BD59-A6C34878D82A}">
                    <a16:rowId xmlns:a16="http://schemas.microsoft.com/office/drawing/2014/main" val="2447954518"/>
                  </a:ext>
                </a:extLst>
              </a:tr>
              <a:tr h="686867">
                <a:tc>
                  <a:txBody>
                    <a:bodyPr/>
                    <a:lstStyle/>
                    <a:p>
                      <a:pPr algn="l"/>
                      <a:endParaRPr lang="en-US" sz="1400" dirty="0"/>
                    </a:p>
                    <a:p>
                      <a:pPr algn="l"/>
                      <a:r>
                        <a:rPr lang="en-US" sz="1400" dirty="0"/>
                        <a:t>Excellence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On Track</a:t>
                      </a:r>
                    </a:p>
                    <a:p>
                      <a:pPr algn="ctr"/>
                      <a:endParaRPr lang="en-US" sz="14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Ongoing review of training curriculum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dirty="0"/>
                    </a:p>
                  </a:txBody>
                  <a:tcPr/>
                </a:tc>
                <a:extLst>
                  <a:ext uri="{0D108BD9-81ED-4DB2-BD59-A6C34878D82A}">
                    <a16:rowId xmlns:a16="http://schemas.microsoft.com/office/drawing/2014/main" val="707510478"/>
                  </a:ext>
                </a:extLst>
              </a:tr>
            </a:tbl>
          </a:graphicData>
        </a:graphic>
      </p:graphicFrame>
    </p:spTree>
    <p:extLst>
      <p:ext uri="{BB962C8B-B14F-4D97-AF65-F5344CB8AC3E}">
        <p14:creationId xmlns:p14="http://schemas.microsoft.com/office/powerpoint/2010/main" val="1789163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Financia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D9BB-E121-47E0-84AA-250D1B8A4A64}"/>
              </a:ext>
            </a:extLst>
          </p:cNvPr>
          <p:cNvSpPr>
            <a:spLocks noGrp="1"/>
          </p:cNvSpPr>
          <p:nvPr>
            <p:ph type="title"/>
          </p:nvPr>
        </p:nvSpPr>
        <p:spPr>
          <a:xfrm>
            <a:off x="609600" y="457201"/>
            <a:ext cx="10972800" cy="307777"/>
          </a:xfrm>
        </p:spPr>
        <p:txBody>
          <a:bodyPr/>
          <a:lstStyle/>
          <a:p>
            <a:r>
              <a:rPr lang="en-US" dirty="0"/>
              <a:t>Financials</a:t>
            </a:r>
          </a:p>
        </p:txBody>
      </p:sp>
      <p:sp>
        <p:nvSpPr>
          <p:cNvPr id="3" name="Text Placeholder 2">
            <a:extLst>
              <a:ext uri="{FF2B5EF4-FFF2-40B4-BE49-F238E27FC236}">
                <a16:creationId xmlns:a16="http://schemas.microsoft.com/office/drawing/2014/main" id="{1412CF9B-39B1-4BB6-AF1E-567C3B99B156}"/>
              </a:ext>
            </a:extLst>
          </p:cNvPr>
          <p:cNvSpPr>
            <a:spLocks noGrp="1"/>
          </p:cNvSpPr>
          <p:nvPr>
            <p:ph type="body" sz="quarter" idx="13"/>
          </p:nvPr>
        </p:nvSpPr>
        <p:spPr/>
        <p:txBody>
          <a:bodyPr/>
          <a:lstStyle/>
          <a:p>
            <a:r>
              <a:rPr lang="en-US" dirty="0"/>
              <a:t>H&amp;B NA Global Data Management Productivity {{Y1}}</a:t>
            </a:r>
          </a:p>
        </p:txBody>
      </p:sp>
      <p:sp>
        <p:nvSpPr>
          <p:cNvPr id="5" name="Slide Number Placeholder 4">
            <a:extLst>
              <a:ext uri="{FF2B5EF4-FFF2-40B4-BE49-F238E27FC236}">
                <a16:creationId xmlns:a16="http://schemas.microsoft.com/office/drawing/2014/main" id="{8473DCB9-E90B-406B-A9C5-1D77D082E8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AA029A2C-36E2-4366-A30E-F510E6F2A7B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p>
        </p:txBody>
      </p:sp>
      <p:graphicFrame>
        <p:nvGraphicFramePr>
          <p:cNvPr id="17" name="FS_Chart2">
            <a:extLst>
              <a:ext uri="{FF2B5EF4-FFF2-40B4-BE49-F238E27FC236}">
                <a16:creationId xmlns:a16="http://schemas.microsoft.com/office/drawing/2014/main" id="{19EC4654-1711-490C-AA7E-FB43F53F7AAF}"/>
              </a:ext>
            </a:extLst>
          </p:cNvPr>
          <p:cNvGraphicFramePr>
            <a:graphicFrameLocks noGrp="1"/>
          </p:cNvGraphicFramePr>
          <p:nvPr>
            <p:ph idx="1"/>
            <p:extLst>
              <p:ext uri="{D42A27DB-BD31-4B8C-83A1-F6EECF244321}">
                <p14:modId xmlns:p14="http://schemas.microsoft.com/office/powerpoint/2010/main" val="3363868604"/>
              </p:ext>
            </p:extLst>
          </p:nvPr>
        </p:nvGraphicFramePr>
        <p:xfrm>
          <a:off x="154546" y="2795155"/>
          <a:ext cx="11900079" cy="3377178"/>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a:extLst>
              <a:ext uri="{FF2B5EF4-FFF2-40B4-BE49-F238E27FC236}">
                <a16:creationId xmlns:a16="http://schemas.microsoft.com/office/drawing/2014/main" id="{B206EF2B-AAF5-479F-B402-232ABEE9EF26}"/>
              </a:ext>
            </a:extLst>
          </p:cNvPr>
          <p:cNvSpPr txBox="1"/>
          <p:nvPr/>
        </p:nvSpPr>
        <p:spPr>
          <a:xfrm>
            <a:off x="2011678" y="1293634"/>
            <a:ext cx="4925237" cy="109260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Arial"/>
                <a:ea typeface="+mn-ea"/>
                <a:cs typeface="+mn-cs"/>
              </a:rPr>
              <a:t>The overall YTD productivity of H&amp;B NA Manila as of {{M1}} </a:t>
            </a:r>
            <a:r>
              <a:rPr lang="en-US" sz="1300" dirty="0">
                <a:solidFill>
                  <a:prstClr val="black"/>
                </a:solidFill>
                <a:latin typeface="Arial"/>
              </a:rPr>
              <a:t>{{Y1}}</a:t>
            </a:r>
            <a:r>
              <a:rPr kumimoji="0" lang="en-US" sz="1300" b="0" i="0" u="none" strike="noStrike" kern="1200" cap="none" spc="0" normalizeH="0" baseline="0" noProof="0" dirty="0">
                <a:ln>
                  <a:noFill/>
                </a:ln>
                <a:solidFill>
                  <a:prstClr val="black"/>
                </a:solidFill>
                <a:effectLst/>
                <a:uLnTx/>
                <a:uFillTx/>
                <a:latin typeface="Arial"/>
                <a:ea typeface="+mn-ea"/>
                <a:cs typeface="+mn-cs"/>
              </a:rPr>
              <a:t> is at </a:t>
            </a:r>
            <a:r>
              <a:rPr kumimoji="0" lang="en-US" sz="1300" b="1" i="0" u="none" strike="noStrike" kern="1200" cap="none" spc="0" normalizeH="0" baseline="0" noProof="0" dirty="0">
                <a:ln>
                  <a:noFill/>
                </a:ln>
                <a:solidFill>
                  <a:prstClr val="black"/>
                </a:solidFill>
                <a:effectLst/>
                <a:uLnTx/>
                <a:uFillTx/>
                <a:latin typeface="Arial"/>
                <a:ea typeface="+mn-ea"/>
                <a:cs typeface="+mn-cs"/>
              </a:rPr>
              <a:t>{{P1}}%. </a:t>
            </a:r>
            <a:r>
              <a:rPr kumimoji="0" lang="en-US" sz="1300" b="0" i="0" u="none" strike="noStrike" kern="1200" cap="none" spc="0" normalizeH="0" baseline="0" noProof="0" dirty="0">
                <a:ln>
                  <a:noFill/>
                </a:ln>
                <a:solidFill>
                  <a:prstClr val="black"/>
                </a:solidFill>
                <a:effectLst/>
                <a:uLnTx/>
                <a:uFillTx/>
                <a:latin typeface="Arial"/>
                <a:ea typeface="+mn-ea"/>
                <a:cs typeface="+mn-cs"/>
              </a:rPr>
              <a:t>There is a sustained increase in volume for HBNA activities for DM and Non-DM Processes in Q1 2021 compared to Q1 2020. </a:t>
            </a:r>
            <a:r>
              <a:rPr kumimoji="0" lang="en-US" sz="1300" b="1" i="0" u="none" strike="noStrike" kern="1200" cap="none" spc="0" normalizeH="0" baseline="0" noProof="0" dirty="0">
                <a:ln>
                  <a:noFill/>
                </a:ln>
                <a:solidFill>
                  <a:prstClr val="black"/>
                </a:solidFill>
                <a:effectLst/>
                <a:uLnTx/>
                <a:uFillTx/>
                <a:latin typeface="Arial"/>
                <a:ea typeface="+mn-ea"/>
                <a:cs typeface="+mn-cs"/>
              </a:rPr>
              <a:t>Productivity without New Hires HBNA US W4, Canada W1</a:t>
            </a:r>
          </a:p>
        </p:txBody>
      </p:sp>
      <p:sp>
        <p:nvSpPr>
          <p:cNvPr id="19" name="TextBox 18">
            <a:extLst>
              <a:ext uri="{FF2B5EF4-FFF2-40B4-BE49-F238E27FC236}">
                <a16:creationId xmlns:a16="http://schemas.microsoft.com/office/drawing/2014/main" id="{999408FD-589D-4DB4-83D7-D2D9A15AAF9A}"/>
              </a:ext>
            </a:extLst>
          </p:cNvPr>
          <p:cNvSpPr txBox="1"/>
          <p:nvPr/>
        </p:nvSpPr>
        <p:spPr>
          <a:xfrm>
            <a:off x="609599" y="2477682"/>
            <a:ext cx="537518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a:ea typeface="+mn-ea"/>
                <a:cs typeface="+mn-cs"/>
              </a:rPr>
              <a:t>Further breakdown per group are shown in the succeeding slides</a:t>
            </a:r>
            <a:r>
              <a:rPr kumimoji="0" lang="en-US" sz="1400" b="0" i="0" u="none" strike="noStrike" kern="1200" cap="none" spc="0" normalizeH="0" baseline="0" noProof="0" dirty="0">
                <a:ln>
                  <a:noFill/>
                </a:ln>
                <a:solidFill>
                  <a:prstClr val="black"/>
                </a:solidFill>
                <a:effectLst/>
                <a:uLnTx/>
                <a:uFillTx/>
                <a:latin typeface="Arial"/>
                <a:ea typeface="+mn-ea"/>
                <a:cs typeface="+mn-cs"/>
              </a:rPr>
              <a:t>.</a:t>
            </a:r>
          </a:p>
        </p:txBody>
      </p:sp>
      <p:sp>
        <p:nvSpPr>
          <p:cNvPr id="20" name="TextBox 19">
            <a:extLst>
              <a:ext uri="{FF2B5EF4-FFF2-40B4-BE49-F238E27FC236}">
                <a16:creationId xmlns:a16="http://schemas.microsoft.com/office/drawing/2014/main" id="{0273D742-F9FA-4818-B0DA-5E222EFCB417}"/>
              </a:ext>
            </a:extLst>
          </p:cNvPr>
          <p:cNvSpPr txBox="1"/>
          <p:nvPr/>
        </p:nvSpPr>
        <p:spPr>
          <a:xfrm>
            <a:off x="726557" y="1258793"/>
            <a:ext cx="1285121"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{{M1}} MTD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110A0"/>
                </a:solidFill>
                <a:effectLst/>
                <a:uLnTx/>
                <a:uFillTx/>
                <a:latin typeface="Arial"/>
                <a:ea typeface="+mn-ea"/>
                <a:cs typeface="+mn-cs"/>
              </a:rPr>
              <a:t>{{P2}}%</a:t>
            </a:r>
            <a:r>
              <a:rPr kumimoji="0" lang="en-US" sz="3600" b="0" i="0" u="none" strike="noStrike" kern="1200" cap="none" spc="0" normalizeH="0" baseline="0" noProof="0" dirty="0">
                <a:ln>
                  <a:noFill/>
                </a:ln>
                <a:solidFill>
                  <a:prstClr val="black"/>
                </a:solidFill>
                <a:effectLst/>
                <a:uLnTx/>
                <a:uFillTx/>
                <a:latin typeface="Arial"/>
                <a:ea typeface="+mn-ea"/>
                <a:cs typeface="+mn-cs"/>
              </a:rPr>
              <a:t> </a:t>
            </a:r>
          </a:p>
        </p:txBody>
      </p:sp>
      <p:grpSp>
        <p:nvGrpSpPr>
          <p:cNvPr id="11" name="Group 10">
            <a:extLst>
              <a:ext uri="{FF2B5EF4-FFF2-40B4-BE49-F238E27FC236}">
                <a16:creationId xmlns:a16="http://schemas.microsoft.com/office/drawing/2014/main" id="{471B7206-FD46-470E-9549-C6F829F9E71E}"/>
              </a:ext>
            </a:extLst>
          </p:cNvPr>
          <p:cNvGrpSpPr/>
          <p:nvPr/>
        </p:nvGrpSpPr>
        <p:grpSpPr>
          <a:xfrm>
            <a:off x="902491" y="3656541"/>
            <a:ext cx="11442874" cy="260286"/>
            <a:chOff x="933605" y="3943578"/>
            <a:chExt cx="8750144" cy="163821"/>
          </a:xfrm>
        </p:grpSpPr>
        <p:cxnSp>
          <p:nvCxnSpPr>
            <p:cNvPr id="12" name="Straight Connector 11">
              <a:extLst>
                <a:ext uri="{FF2B5EF4-FFF2-40B4-BE49-F238E27FC236}">
                  <a16:creationId xmlns:a16="http://schemas.microsoft.com/office/drawing/2014/main" id="{ADB449E9-DE68-4BE0-8E2C-E2EBEF0B73E1}"/>
                </a:ext>
              </a:extLst>
            </p:cNvPr>
            <p:cNvCxnSpPr/>
            <p:nvPr/>
          </p:nvCxnSpPr>
          <p:spPr>
            <a:xfrm>
              <a:off x="933605" y="4013891"/>
              <a:ext cx="8261351" cy="0"/>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CD5C7C6-14E9-42D5-A642-F1394E921E79}"/>
                </a:ext>
              </a:extLst>
            </p:cNvPr>
            <p:cNvSpPr txBox="1"/>
            <p:nvPr/>
          </p:nvSpPr>
          <p:spPr>
            <a:xfrm>
              <a:off x="9220200" y="3943578"/>
              <a:ext cx="463549" cy="1638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H" sz="900" b="1" i="0" u="none" strike="noStrike" kern="1200" cap="none" spc="0" normalizeH="0" baseline="0" noProof="0" dirty="0">
                  <a:ln>
                    <a:noFill/>
                  </a:ln>
                  <a:solidFill>
                    <a:srgbClr val="C00000"/>
                  </a:solidFill>
                  <a:effectLst/>
                  <a:uLnTx/>
                  <a:uFillTx/>
                  <a:latin typeface="Arial"/>
                  <a:ea typeface="+mn-ea"/>
                  <a:cs typeface="+mn-cs"/>
                </a:rPr>
                <a:t>75%</a:t>
              </a:r>
              <a:endParaRPr kumimoji="0" lang="en-US" sz="900" b="1" i="0" u="none" strike="noStrike" kern="1200" cap="none" spc="0" normalizeH="0" baseline="0" noProof="0" dirty="0">
                <a:ln>
                  <a:noFill/>
                </a:ln>
                <a:solidFill>
                  <a:srgbClr val="C00000"/>
                </a:solidFill>
                <a:effectLst/>
                <a:uLnTx/>
                <a:uFillTx/>
                <a:latin typeface="Arial"/>
                <a:ea typeface="+mn-ea"/>
                <a:cs typeface="+mn-cs"/>
              </a:endParaRPr>
            </a:p>
          </p:txBody>
        </p:sp>
      </p:grpSp>
      <p:graphicFrame>
        <p:nvGraphicFramePr>
          <p:cNvPr id="21" name="FS_Chart1">
            <a:extLst>
              <a:ext uri="{FF2B5EF4-FFF2-40B4-BE49-F238E27FC236}">
                <a16:creationId xmlns:a16="http://schemas.microsoft.com/office/drawing/2014/main" id="{50A3003A-6EE5-4557-8B54-62AE0F1E9607}"/>
              </a:ext>
            </a:extLst>
          </p:cNvPr>
          <p:cNvGraphicFramePr/>
          <p:nvPr>
            <p:extLst>
              <p:ext uri="{D42A27DB-BD31-4B8C-83A1-F6EECF244321}">
                <p14:modId xmlns:p14="http://schemas.microsoft.com/office/powerpoint/2010/main" val="3521233937"/>
              </p:ext>
            </p:extLst>
          </p:nvPr>
        </p:nvGraphicFramePr>
        <p:xfrm>
          <a:off x="6983478" y="255617"/>
          <a:ext cx="4925237" cy="24404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02848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inancials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D9BB-E121-47E0-84AA-250D1B8A4A64}"/>
              </a:ext>
            </a:extLst>
          </p:cNvPr>
          <p:cNvSpPr>
            <a:spLocks noGrp="1"/>
          </p:cNvSpPr>
          <p:nvPr>
            <p:ph type="title"/>
          </p:nvPr>
        </p:nvSpPr>
        <p:spPr>
          <a:xfrm>
            <a:off x="609600" y="457201"/>
            <a:ext cx="10972800" cy="307777"/>
          </a:xfrm>
        </p:spPr>
        <p:txBody>
          <a:bodyPr/>
          <a:lstStyle/>
          <a:p>
            <a:r>
              <a:rPr lang="en-US" dirty="0"/>
              <a:t>Financials</a:t>
            </a:r>
          </a:p>
        </p:txBody>
      </p:sp>
      <p:sp>
        <p:nvSpPr>
          <p:cNvPr id="3" name="Text Placeholder 2">
            <a:extLst>
              <a:ext uri="{FF2B5EF4-FFF2-40B4-BE49-F238E27FC236}">
                <a16:creationId xmlns:a16="http://schemas.microsoft.com/office/drawing/2014/main" id="{1412CF9B-39B1-4BB6-AF1E-567C3B99B156}"/>
              </a:ext>
            </a:extLst>
          </p:cNvPr>
          <p:cNvSpPr>
            <a:spLocks noGrp="1"/>
          </p:cNvSpPr>
          <p:nvPr>
            <p:ph type="body" sz="quarter" idx="13"/>
          </p:nvPr>
        </p:nvSpPr>
        <p:spPr>
          <a:xfrm>
            <a:off x="609600" y="800240"/>
            <a:ext cx="5486400" cy="276999"/>
          </a:xfrm>
        </p:spPr>
        <p:txBody>
          <a:bodyPr/>
          <a:lstStyle/>
          <a:p>
            <a:r>
              <a:rPr lang="en-US" dirty="0"/>
              <a:t>H&amp;B NA Global Data Management Productivity {{Y1}}</a:t>
            </a:r>
          </a:p>
        </p:txBody>
      </p:sp>
      <p:sp>
        <p:nvSpPr>
          <p:cNvPr id="5" name="Slide Number Placeholder 4">
            <a:extLst>
              <a:ext uri="{FF2B5EF4-FFF2-40B4-BE49-F238E27FC236}">
                <a16:creationId xmlns:a16="http://schemas.microsoft.com/office/drawing/2014/main" id="{8473DCB9-E90B-406B-A9C5-1D77D082E8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AA029A2C-36E2-4366-A30E-F510E6F2A7B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17" name="FS2_Chart1">
            <a:extLst>
              <a:ext uri="{FF2B5EF4-FFF2-40B4-BE49-F238E27FC236}">
                <a16:creationId xmlns:a16="http://schemas.microsoft.com/office/drawing/2014/main" id="{19EC4654-1711-490C-AA7E-FB43F53F7AAF}"/>
              </a:ext>
            </a:extLst>
          </p:cNvPr>
          <p:cNvGraphicFramePr>
            <a:graphicFrameLocks noGrp="1"/>
          </p:cNvGraphicFramePr>
          <p:nvPr>
            <p:ph idx="1"/>
            <p:extLst>
              <p:ext uri="{D42A27DB-BD31-4B8C-83A1-F6EECF244321}">
                <p14:modId xmlns:p14="http://schemas.microsoft.com/office/powerpoint/2010/main" val="1318677149"/>
              </p:ext>
            </p:extLst>
          </p:nvPr>
        </p:nvGraphicFramePr>
        <p:xfrm>
          <a:off x="301336" y="1770337"/>
          <a:ext cx="11565082" cy="4287424"/>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a:extLst>
              <a:ext uri="{FF2B5EF4-FFF2-40B4-BE49-F238E27FC236}">
                <a16:creationId xmlns:a16="http://schemas.microsoft.com/office/drawing/2014/main" id="{B206EF2B-AAF5-479F-B402-232ABEE9EF26}"/>
              </a:ext>
            </a:extLst>
          </p:cNvPr>
          <p:cNvSpPr txBox="1"/>
          <p:nvPr/>
        </p:nvSpPr>
        <p:spPr>
          <a:xfrm>
            <a:off x="6657163" y="457201"/>
            <a:ext cx="4925237" cy="1431161"/>
          </a:xfrm>
          <a:prstGeom prst="rect">
            <a:avLst/>
          </a:prstGeom>
          <a:noFill/>
        </p:spPr>
        <p:txBody>
          <a:bodyPr wrap="square" rtlCol="0">
            <a:spAutoFit/>
          </a:bodyPr>
          <a:lstStyle/>
          <a:p>
            <a:pPr lvl="0" algn="just">
              <a:defRPr/>
            </a:pPr>
            <a:r>
              <a:rPr kumimoji="0" lang="en-US" sz="1300" b="0" i="0" u="none" strike="noStrike" kern="1200" cap="none" spc="0" normalizeH="0" baseline="0" noProof="0" dirty="0">
                <a:ln>
                  <a:noFill/>
                </a:ln>
                <a:solidFill>
                  <a:prstClr val="black"/>
                </a:solidFill>
                <a:effectLst/>
                <a:uLnTx/>
                <a:uFillTx/>
                <a:latin typeface="Arial"/>
                <a:ea typeface="+mn-ea"/>
                <a:cs typeface="+mn-cs"/>
              </a:rPr>
              <a:t>The overall YTD productivity of H&amp;B NA Manila as of {{M1}} {{Y1}} is at </a:t>
            </a:r>
            <a:r>
              <a:rPr kumimoji="0" lang="en-US" sz="1300" b="1" i="0" u="none" strike="noStrike" kern="1200" cap="none" spc="0" normalizeH="0" baseline="0" noProof="0" dirty="0">
                <a:ln>
                  <a:noFill/>
                </a:ln>
                <a:solidFill>
                  <a:prstClr val="black"/>
                </a:solidFill>
                <a:effectLst/>
                <a:uLnTx/>
                <a:uFillTx/>
                <a:latin typeface="Arial"/>
                <a:ea typeface="+mn-ea"/>
                <a:cs typeface="+mn-cs"/>
              </a:rPr>
              <a:t>{{P2}}%. </a:t>
            </a:r>
            <a:r>
              <a:rPr kumimoji="0" lang="en-US" sz="1300" b="0" i="0" u="none" strike="noStrike" kern="1200" cap="none" spc="0" normalizeH="0" baseline="0" noProof="0" dirty="0">
                <a:ln>
                  <a:noFill/>
                </a:ln>
                <a:solidFill>
                  <a:prstClr val="black"/>
                </a:solidFill>
                <a:effectLst/>
                <a:uLnTx/>
                <a:uFillTx/>
                <a:latin typeface="Arial"/>
                <a:ea typeface="+mn-ea"/>
                <a:cs typeface="+mn-cs"/>
              </a:rPr>
              <a:t>There is an increase in volume for HBNA activities for DM and Non-DM Processes in Q2 2021 compared to Q2 2020. </a:t>
            </a:r>
            <a:r>
              <a:rPr lang="en-US" sz="1300" b="1" dirty="0">
                <a:solidFill>
                  <a:prstClr val="black"/>
                </a:solidFill>
              </a:rPr>
              <a:t>Productivity without New Hires HBNA US W4, Canada W1;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dirty="0">
                <a:ln>
                  <a:noFill/>
                </a:ln>
                <a:solidFill>
                  <a:prstClr val="black"/>
                </a:solidFill>
                <a:effectLst/>
                <a:uLnTx/>
                <a:uFillTx/>
                <a:latin typeface="Arial"/>
                <a:ea typeface="+mn-ea"/>
                <a:cs typeface="+mn-cs"/>
              </a:rPr>
              <a:t>*</a:t>
            </a:r>
            <a:r>
              <a:rPr kumimoji="0" lang="en-US" sz="1100" i="1" u="none" strike="noStrike" kern="1200" cap="none" spc="0" normalizeH="0" baseline="0" noProof="0" dirty="0">
                <a:ln>
                  <a:noFill/>
                </a:ln>
                <a:solidFill>
                  <a:prstClr val="black"/>
                </a:solidFill>
                <a:effectLst/>
                <a:uLnTx/>
                <a:uFillTx/>
                <a:latin typeface="Arial"/>
                <a:ea typeface="+mn-ea"/>
                <a:cs typeface="+mn-cs"/>
              </a:rPr>
              <a:t>Forecast updated using new calculation model based on Team Capacity and Required Man Hours </a:t>
            </a:r>
            <a:endParaRPr kumimoji="0" lang="en-US" sz="1100" b="1" i="1" u="none" strike="noStrike" kern="1200" cap="none" spc="0" normalizeH="0" baseline="0" noProof="0" dirty="0">
              <a:ln>
                <a:noFill/>
              </a:ln>
              <a:solidFill>
                <a:prstClr val="black"/>
              </a:solidFill>
              <a:effectLst/>
              <a:uLnTx/>
              <a:uFillTx/>
              <a:latin typeface="Arial"/>
              <a:ea typeface="+mn-ea"/>
              <a:cs typeface="+mn-cs"/>
            </a:endParaRPr>
          </a:p>
        </p:txBody>
      </p:sp>
      <p:sp>
        <p:nvSpPr>
          <p:cNvPr id="20" name="TextBox 19">
            <a:extLst>
              <a:ext uri="{FF2B5EF4-FFF2-40B4-BE49-F238E27FC236}">
                <a16:creationId xmlns:a16="http://schemas.microsoft.com/office/drawing/2014/main" id="{0273D742-F9FA-4818-B0DA-5E222EFCB417}"/>
              </a:ext>
            </a:extLst>
          </p:cNvPr>
          <p:cNvSpPr txBox="1"/>
          <p:nvPr/>
        </p:nvSpPr>
        <p:spPr>
          <a:xfrm>
            <a:off x="609599" y="983158"/>
            <a:ext cx="1285121"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{{M1}} MTD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110A0"/>
                </a:solidFill>
                <a:effectLst/>
                <a:uLnTx/>
                <a:uFillTx/>
                <a:latin typeface="Arial"/>
                <a:ea typeface="+mn-ea"/>
                <a:cs typeface="+mn-cs"/>
              </a:rPr>
              <a:t>{{P1}}%</a:t>
            </a:r>
            <a:r>
              <a:rPr kumimoji="0" lang="en-US" sz="3600" b="0" i="0" u="none" strike="noStrike" kern="1200" cap="none" spc="0" normalizeH="0" baseline="0" noProof="0" dirty="0">
                <a:ln>
                  <a:noFill/>
                </a:ln>
                <a:solidFill>
                  <a:prstClr val="black"/>
                </a:solidFill>
                <a:effectLst/>
                <a:uLnTx/>
                <a:uFillTx/>
                <a:latin typeface="Arial"/>
                <a:ea typeface="+mn-ea"/>
                <a:cs typeface="+mn-cs"/>
              </a:rPr>
              <a:t> </a:t>
            </a:r>
          </a:p>
        </p:txBody>
      </p:sp>
      <p:grpSp>
        <p:nvGrpSpPr>
          <p:cNvPr id="11" name="Group 10">
            <a:extLst>
              <a:ext uri="{FF2B5EF4-FFF2-40B4-BE49-F238E27FC236}">
                <a16:creationId xmlns:a16="http://schemas.microsoft.com/office/drawing/2014/main" id="{471B7206-FD46-470E-9549-C6F829F9E71E}"/>
              </a:ext>
            </a:extLst>
          </p:cNvPr>
          <p:cNvGrpSpPr/>
          <p:nvPr/>
        </p:nvGrpSpPr>
        <p:grpSpPr>
          <a:xfrm>
            <a:off x="1426890" y="2939139"/>
            <a:ext cx="10155510" cy="260286"/>
            <a:chOff x="933605" y="3943578"/>
            <a:chExt cx="8750144" cy="163821"/>
          </a:xfrm>
        </p:grpSpPr>
        <p:cxnSp>
          <p:nvCxnSpPr>
            <p:cNvPr id="12" name="Straight Connector 11">
              <a:extLst>
                <a:ext uri="{FF2B5EF4-FFF2-40B4-BE49-F238E27FC236}">
                  <a16:creationId xmlns:a16="http://schemas.microsoft.com/office/drawing/2014/main" id="{ADB449E9-DE68-4BE0-8E2C-E2EBEF0B73E1}"/>
                </a:ext>
              </a:extLst>
            </p:cNvPr>
            <p:cNvCxnSpPr/>
            <p:nvPr/>
          </p:nvCxnSpPr>
          <p:spPr>
            <a:xfrm>
              <a:off x="933605" y="4013891"/>
              <a:ext cx="8261351" cy="0"/>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CD5C7C6-14E9-42D5-A642-F1394E921E79}"/>
                </a:ext>
              </a:extLst>
            </p:cNvPr>
            <p:cNvSpPr txBox="1"/>
            <p:nvPr/>
          </p:nvSpPr>
          <p:spPr>
            <a:xfrm>
              <a:off x="9220200" y="3943578"/>
              <a:ext cx="463549" cy="1638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H" sz="900" b="1" i="0" u="none" strike="noStrike" kern="1200" cap="none" spc="0" normalizeH="0" baseline="0" noProof="0" dirty="0">
                  <a:ln>
                    <a:noFill/>
                  </a:ln>
                  <a:solidFill>
                    <a:srgbClr val="C00000"/>
                  </a:solidFill>
                  <a:effectLst/>
                  <a:uLnTx/>
                  <a:uFillTx/>
                  <a:latin typeface="Arial"/>
                  <a:ea typeface="+mn-ea"/>
                  <a:cs typeface="+mn-cs"/>
                </a:rPr>
                <a:t>75%</a:t>
              </a:r>
              <a:endParaRPr kumimoji="0" lang="en-US" sz="900" b="1" i="0" u="none" strike="noStrike" kern="1200" cap="none" spc="0" normalizeH="0" baseline="0" noProof="0" dirty="0">
                <a:ln>
                  <a:noFill/>
                </a:ln>
                <a:solidFill>
                  <a:srgbClr val="C00000"/>
                </a:solidFill>
                <a:effectLst/>
                <a:uLnTx/>
                <a:uFillTx/>
                <a:latin typeface="Arial"/>
                <a:ea typeface="+mn-ea"/>
                <a:cs typeface="+mn-cs"/>
              </a:endParaRPr>
            </a:p>
          </p:txBody>
        </p:sp>
      </p:grpSp>
    </p:spTree>
    <p:extLst>
      <p:ext uri="{BB962C8B-B14F-4D97-AF65-F5344CB8AC3E}">
        <p14:creationId xmlns:p14="http://schemas.microsoft.com/office/powerpoint/2010/main" val="3610177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Financials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D9BB-E121-47E0-84AA-250D1B8A4A64}"/>
              </a:ext>
            </a:extLst>
          </p:cNvPr>
          <p:cNvSpPr>
            <a:spLocks noGrp="1"/>
          </p:cNvSpPr>
          <p:nvPr>
            <p:ph type="title"/>
          </p:nvPr>
        </p:nvSpPr>
        <p:spPr>
          <a:xfrm>
            <a:off x="609600" y="457201"/>
            <a:ext cx="10972800" cy="307777"/>
          </a:xfrm>
        </p:spPr>
        <p:txBody>
          <a:bodyPr/>
          <a:lstStyle/>
          <a:p>
            <a:r>
              <a:rPr lang="en-US" dirty="0"/>
              <a:t>Financials</a:t>
            </a:r>
          </a:p>
        </p:txBody>
      </p:sp>
      <p:sp>
        <p:nvSpPr>
          <p:cNvPr id="3" name="Text Placeholder 2">
            <a:extLst>
              <a:ext uri="{FF2B5EF4-FFF2-40B4-BE49-F238E27FC236}">
                <a16:creationId xmlns:a16="http://schemas.microsoft.com/office/drawing/2014/main" id="{1412CF9B-39B1-4BB6-AF1E-567C3B99B156}"/>
              </a:ext>
            </a:extLst>
          </p:cNvPr>
          <p:cNvSpPr>
            <a:spLocks noGrp="1"/>
          </p:cNvSpPr>
          <p:nvPr>
            <p:ph type="body" sz="quarter" idx="13"/>
          </p:nvPr>
        </p:nvSpPr>
        <p:spPr>
          <a:xfrm>
            <a:off x="609600" y="800240"/>
            <a:ext cx="5486400" cy="276999"/>
          </a:xfrm>
        </p:spPr>
        <p:txBody>
          <a:bodyPr/>
          <a:lstStyle/>
          <a:p>
            <a:r>
              <a:rPr lang="en-US" dirty="0"/>
              <a:t>H&amp;B NA Global Data Management Productivity {{Y1}}</a:t>
            </a:r>
          </a:p>
        </p:txBody>
      </p:sp>
      <p:sp>
        <p:nvSpPr>
          <p:cNvPr id="5" name="Slide Number Placeholder 4">
            <a:extLst>
              <a:ext uri="{FF2B5EF4-FFF2-40B4-BE49-F238E27FC236}">
                <a16:creationId xmlns:a16="http://schemas.microsoft.com/office/drawing/2014/main" id="{8473DCB9-E90B-406B-A9C5-1D77D082E8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AA029A2C-36E2-4366-A30E-F510E6F2A7B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17" name="FS3_Chart1">
            <a:extLst>
              <a:ext uri="{FF2B5EF4-FFF2-40B4-BE49-F238E27FC236}">
                <a16:creationId xmlns:a16="http://schemas.microsoft.com/office/drawing/2014/main" id="{19EC4654-1711-490C-AA7E-FB43F53F7AAF}"/>
              </a:ext>
            </a:extLst>
          </p:cNvPr>
          <p:cNvGraphicFramePr>
            <a:graphicFrameLocks noGrp="1"/>
          </p:cNvGraphicFramePr>
          <p:nvPr>
            <p:ph idx="1"/>
            <p:extLst>
              <p:ext uri="{D42A27DB-BD31-4B8C-83A1-F6EECF244321}">
                <p14:modId xmlns:p14="http://schemas.microsoft.com/office/powerpoint/2010/main" val="4057971193"/>
              </p:ext>
            </p:extLst>
          </p:nvPr>
        </p:nvGraphicFramePr>
        <p:xfrm>
          <a:off x="652232" y="1932113"/>
          <a:ext cx="10930168" cy="4125647"/>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a:extLst>
              <a:ext uri="{FF2B5EF4-FFF2-40B4-BE49-F238E27FC236}">
                <a16:creationId xmlns:a16="http://schemas.microsoft.com/office/drawing/2014/main" id="{B206EF2B-AAF5-479F-B402-232ABEE9EF26}"/>
              </a:ext>
            </a:extLst>
          </p:cNvPr>
          <p:cNvSpPr txBox="1"/>
          <p:nvPr/>
        </p:nvSpPr>
        <p:spPr>
          <a:xfrm>
            <a:off x="6657163" y="457201"/>
            <a:ext cx="4925237" cy="1308050"/>
          </a:xfrm>
          <a:prstGeom prst="rect">
            <a:avLst/>
          </a:prstGeom>
          <a:noFill/>
        </p:spPr>
        <p:txBody>
          <a:bodyPr wrap="square" rtlCol="0">
            <a:spAutoFit/>
          </a:bodyPr>
          <a:lstStyle/>
          <a:p>
            <a:pPr lvl="0" algn="just">
              <a:defRPr/>
            </a:pPr>
            <a:r>
              <a:rPr kumimoji="0" lang="en-US" sz="1300" b="0" i="0" u="none" strike="noStrike" kern="1200" cap="none" spc="0" normalizeH="0" baseline="0" noProof="0" dirty="0">
                <a:ln>
                  <a:noFill/>
                </a:ln>
                <a:solidFill>
                  <a:prstClr val="black"/>
                </a:solidFill>
                <a:effectLst/>
                <a:uLnTx/>
                <a:uFillTx/>
                <a:latin typeface="Arial"/>
                <a:ea typeface="+mn-ea"/>
                <a:cs typeface="+mn-cs"/>
              </a:rPr>
              <a:t>The overall YTD productivity of H&amp;B NA Manila as of {{M1}} {{Y1}} is at </a:t>
            </a:r>
            <a:r>
              <a:rPr kumimoji="0" lang="en-US" sz="1300" b="1" i="0" u="none" strike="noStrike" kern="1200" cap="none" spc="0" normalizeH="0" baseline="0" noProof="0" dirty="0">
                <a:ln>
                  <a:noFill/>
                </a:ln>
                <a:solidFill>
                  <a:prstClr val="black"/>
                </a:solidFill>
                <a:effectLst/>
                <a:uLnTx/>
                <a:uFillTx/>
                <a:latin typeface="Arial"/>
                <a:ea typeface="+mn-ea"/>
                <a:cs typeface="+mn-cs"/>
              </a:rPr>
              <a:t>{{P2}}%. </a:t>
            </a:r>
            <a:r>
              <a:rPr kumimoji="0" lang="en-US" sz="1300" b="0" i="0" u="none" strike="noStrike" kern="1200" cap="none" spc="0" normalizeH="0" baseline="0" noProof="0" dirty="0">
                <a:ln>
                  <a:noFill/>
                </a:ln>
                <a:solidFill>
                  <a:prstClr val="black"/>
                </a:solidFill>
                <a:effectLst/>
                <a:uLnTx/>
                <a:uFillTx/>
                <a:latin typeface="Arial"/>
                <a:ea typeface="+mn-ea"/>
                <a:cs typeface="+mn-cs"/>
              </a:rPr>
              <a:t>Increasing trend for HBNA activities for DM and Non-DM Processes in 2021. </a:t>
            </a:r>
            <a:r>
              <a:rPr lang="en-US" sz="1300" b="1" dirty="0">
                <a:solidFill>
                  <a:prstClr val="black"/>
                </a:solidFill>
              </a:rPr>
              <a:t>Productivity without New Hires HBNA US W4, Canada W1</a:t>
            </a:r>
            <a:r>
              <a:rPr lang="en-US" b="1" dirty="0">
                <a:solidFill>
                  <a:prstClr val="black"/>
                </a:solidFill>
              </a:rPr>
              <a:t>; </a:t>
            </a:r>
          </a:p>
          <a:p>
            <a:pPr lvl="0" algn="just">
              <a:defRPr/>
            </a:pPr>
            <a:r>
              <a:rPr lang="en-US" sz="1100" b="1" i="1" dirty="0">
                <a:solidFill>
                  <a:prstClr val="black"/>
                </a:solidFill>
              </a:rPr>
              <a:t>*</a:t>
            </a:r>
            <a:r>
              <a:rPr lang="en-US" sz="1100" i="1" dirty="0">
                <a:solidFill>
                  <a:prstClr val="black"/>
                </a:solidFill>
              </a:rPr>
              <a:t>Forecast updated using new calculation model based on Team Capacity and Required Man Hours </a:t>
            </a:r>
            <a:endParaRPr lang="en-US" sz="1100" b="1" i="1" dirty="0">
              <a:solidFill>
                <a:prstClr val="black"/>
              </a:solidFill>
            </a:endParaRPr>
          </a:p>
        </p:txBody>
      </p:sp>
      <p:sp>
        <p:nvSpPr>
          <p:cNvPr id="20" name="TextBox 19">
            <a:extLst>
              <a:ext uri="{FF2B5EF4-FFF2-40B4-BE49-F238E27FC236}">
                <a16:creationId xmlns:a16="http://schemas.microsoft.com/office/drawing/2014/main" id="{0273D742-F9FA-4818-B0DA-5E222EFCB417}"/>
              </a:ext>
            </a:extLst>
          </p:cNvPr>
          <p:cNvSpPr txBox="1"/>
          <p:nvPr/>
        </p:nvSpPr>
        <p:spPr>
          <a:xfrm>
            <a:off x="609599" y="983158"/>
            <a:ext cx="1285121"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{{M1}} MTD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110A0"/>
                </a:solidFill>
                <a:effectLst/>
                <a:uLnTx/>
                <a:uFillTx/>
                <a:latin typeface="Arial"/>
                <a:ea typeface="+mn-ea"/>
                <a:cs typeface="+mn-cs"/>
              </a:rPr>
              <a:t>{{P1}}%</a:t>
            </a:r>
            <a:r>
              <a:rPr kumimoji="0" lang="en-US" sz="3600" b="0" i="0" u="none" strike="noStrike" kern="1200" cap="none" spc="0" normalizeH="0" baseline="0" noProof="0" dirty="0">
                <a:ln>
                  <a:noFill/>
                </a:ln>
                <a:solidFill>
                  <a:prstClr val="black"/>
                </a:solidFill>
                <a:effectLst/>
                <a:uLnTx/>
                <a:uFillTx/>
                <a:latin typeface="Arial"/>
                <a:ea typeface="+mn-ea"/>
                <a:cs typeface="+mn-cs"/>
              </a:rPr>
              <a:t> </a:t>
            </a:r>
          </a:p>
        </p:txBody>
      </p:sp>
      <p:grpSp>
        <p:nvGrpSpPr>
          <p:cNvPr id="11" name="Group 10">
            <a:extLst>
              <a:ext uri="{FF2B5EF4-FFF2-40B4-BE49-F238E27FC236}">
                <a16:creationId xmlns:a16="http://schemas.microsoft.com/office/drawing/2014/main" id="{471B7206-FD46-470E-9549-C6F829F9E71E}"/>
              </a:ext>
            </a:extLst>
          </p:cNvPr>
          <p:cNvGrpSpPr/>
          <p:nvPr/>
        </p:nvGrpSpPr>
        <p:grpSpPr>
          <a:xfrm>
            <a:off x="1252159" y="3073623"/>
            <a:ext cx="10155510" cy="260286"/>
            <a:chOff x="933605" y="3943578"/>
            <a:chExt cx="8750144" cy="163821"/>
          </a:xfrm>
        </p:grpSpPr>
        <p:cxnSp>
          <p:nvCxnSpPr>
            <p:cNvPr id="12" name="Straight Connector 11">
              <a:extLst>
                <a:ext uri="{FF2B5EF4-FFF2-40B4-BE49-F238E27FC236}">
                  <a16:creationId xmlns:a16="http://schemas.microsoft.com/office/drawing/2014/main" id="{ADB449E9-DE68-4BE0-8E2C-E2EBEF0B73E1}"/>
                </a:ext>
              </a:extLst>
            </p:cNvPr>
            <p:cNvCxnSpPr/>
            <p:nvPr/>
          </p:nvCxnSpPr>
          <p:spPr>
            <a:xfrm>
              <a:off x="933605" y="4013891"/>
              <a:ext cx="8261351" cy="0"/>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CD5C7C6-14E9-42D5-A642-F1394E921E79}"/>
                </a:ext>
              </a:extLst>
            </p:cNvPr>
            <p:cNvSpPr txBox="1"/>
            <p:nvPr/>
          </p:nvSpPr>
          <p:spPr>
            <a:xfrm>
              <a:off x="9220200" y="3943578"/>
              <a:ext cx="463549" cy="1638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H" sz="900" b="1" i="0" u="none" strike="noStrike" kern="1200" cap="none" spc="0" normalizeH="0" baseline="0" noProof="0" dirty="0">
                  <a:ln>
                    <a:noFill/>
                  </a:ln>
                  <a:solidFill>
                    <a:srgbClr val="C00000"/>
                  </a:solidFill>
                  <a:effectLst/>
                  <a:uLnTx/>
                  <a:uFillTx/>
                  <a:latin typeface="Arial"/>
                  <a:ea typeface="+mn-ea"/>
                  <a:cs typeface="+mn-cs"/>
                </a:rPr>
                <a:t>75%</a:t>
              </a:r>
              <a:endParaRPr kumimoji="0" lang="en-US" sz="900" b="1" i="0" u="none" strike="noStrike" kern="1200" cap="none" spc="0" normalizeH="0" baseline="0" noProof="0" dirty="0">
                <a:ln>
                  <a:noFill/>
                </a:ln>
                <a:solidFill>
                  <a:srgbClr val="C00000"/>
                </a:solidFill>
                <a:effectLst/>
                <a:uLnTx/>
                <a:uFillTx/>
                <a:latin typeface="Arial"/>
                <a:ea typeface="+mn-ea"/>
                <a:cs typeface="+mn-cs"/>
              </a:endParaRPr>
            </a:p>
          </p:txBody>
        </p:sp>
      </p:grpSp>
    </p:spTree>
    <p:extLst>
      <p:ext uri="{BB962C8B-B14F-4D97-AF65-F5344CB8AC3E}">
        <p14:creationId xmlns:p14="http://schemas.microsoft.com/office/powerpoint/2010/main" val="4140032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Fin_Ppw">
    <p:spTree>
      <p:nvGrpSpPr>
        <p:cNvPr id="1" name=""/>
        <p:cNvGrpSpPr/>
        <p:nvPr/>
      </p:nvGrpSpPr>
      <p:grpSpPr>
        <a:xfrm>
          <a:off x="0" y="0"/>
          <a:ext cx="0" cy="0"/>
          <a:chOff x="0" y="0"/>
          <a:chExt cx="0" cy="0"/>
        </a:xfrm>
      </p:grpSpPr>
      <p:graphicFrame>
        <p:nvGraphicFramePr>
          <p:cNvPr id="10" name="FPpw_Chart1">
            <a:extLst>
              <a:ext uri="{FF2B5EF4-FFF2-40B4-BE49-F238E27FC236}">
                <a16:creationId xmlns:a16="http://schemas.microsoft.com/office/drawing/2014/main" id="{5A470059-F4C0-475D-AF52-F3CDC47193BF}"/>
              </a:ext>
            </a:extLst>
          </p:cNvPr>
          <p:cNvGraphicFramePr>
            <a:graphicFrameLocks noGrp="1"/>
          </p:cNvGraphicFramePr>
          <p:nvPr>
            <p:ph idx="1"/>
            <p:extLst>
              <p:ext uri="{D42A27DB-BD31-4B8C-83A1-F6EECF244321}">
                <p14:modId xmlns:p14="http://schemas.microsoft.com/office/powerpoint/2010/main" val="519934156"/>
              </p:ext>
            </p:extLst>
          </p:nvPr>
        </p:nvGraphicFramePr>
        <p:xfrm>
          <a:off x="609598" y="1797892"/>
          <a:ext cx="10972800" cy="4389438"/>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DC9BD9BB-E121-47E0-84AA-250D1B8A4A64}"/>
              </a:ext>
            </a:extLst>
          </p:cNvPr>
          <p:cNvSpPr>
            <a:spLocks noGrp="1"/>
          </p:cNvSpPr>
          <p:nvPr>
            <p:ph type="title"/>
          </p:nvPr>
        </p:nvSpPr>
        <p:spPr>
          <a:xfrm>
            <a:off x="609600" y="457201"/>
            <a:ext cx="10972800" cy="307777"/>
          </a:xfrm>
        </p:spPr>
        <p:txBody>
          <a:bodyPr/>
          <a:lstStyle/>
          <a:p>
            <a:r>
              <a:rPr lang="en-US" dirty="0"/>
              <a:t>Financials</a:t>
            </a:r>
          </a:p>
        </p:txBody>
      </p:sp>
      <p:sp>
        <p:nvSpPr>
          <p:cNvPr id="3" name="Text Placeholder 2">
            <a:extLst>
              <a:ext uri="{FF2B5EF4-FFF2-40B4-BE49-F238E27FC236}">
                <a16:creationId xmlns:a16="http://schemas.microsoft.com/office/drawing/2014/main" id="{1412CF9B-39B1-4BB6-AF1E-567C3B99B156}"/>
              </a:ext>
            </a:extLst>
          </p:cNvPr>
          <p:cNvSpPr>
            <a:spLocks noGrp="1"/>
          </p:cNvSpPr>
          <p:nvPr>
            <p:ph type="body" sz="quarter" idx="13"/>
          </p:nvPr>
        </p:nvSpPr>
        <p:spPr>
          <a:xfrm>
            <a:off x="609600" y="800240"/>
            <a:ext cx="5486400" cy="276999"/>
          </a:xfrm>
        </p:spPr>
        <p:txBody>
          <a:bodyPr/>
          <a:lstStyle/>
          <a:p>
            <a:r>
              <a:rPr lang="en-US" dirty="0"/>
              <a:t>H&amp;B NA Global Data Management Productivity 2021</a:t>
            </a:r>
          </a:p>
        </p:txBody>
      </p:sp>
      <p:sp>
        <p:nvSpPr>
          <p:cNvPr id="5" name="Slide Number Placeholder 4">
            <a:extLst>
              <a:ext uri="{FF2B5EF4-FFF2-40B4-BE49-F238E27FC236}">
                <a16:creationId xmlns:a16="http://schemas.microsoft.com/office/drawing/2014/main" id="{8473DCB9-E90B-406B-A9C5-1D77D082E8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AA029A2C-36E2-4366-A30E-F510E6F2A7B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TextBox 17">
            <a:extLst>
              <a:ext uri="{FF2B5EF4-FFF2-40B4-BE49-F238E27FC236}">
                <a16:creationId xmlns:a16="http://schemas.microsoft.com/office/drawing/2014/main" id="{B206EF2B-AAF5-479F-B402-232ABEE9EF26}"/>
              </a:ext>
            </a:extLst>
          </p:cNvPr>
          <p:cNvSpPr txBox="1"/>
          <p:nvPr/>
        </p:nvSpPr>
        <p:spPr>
          <a:xfrm>
            <a:off x="6657163" y="457201"/>
            <a:ext cx="4925237" cy="1231106"/>
          </a:xfrm>
          <a:prstGeom prst="rect">
            <a:avLst/>
          </a:prstGeom>
          <a:noFill/>
        </p:spPr>
        <p:txBody>
          <a:bodyPr wrap="square" rtlCol="0">
            <a:spAutoFit/>
          </a:bodyPr>
          <a:lstStyle/>
          <a:p>
            <a:pPr lvl="0" algn="just">
              <a:defRPr/>
            </a:pPr>
            <a:r>
              <a:rPr kumimoji="0" lang="en-US" sz="1300" b="0" i="0" u="none" strike="noStrike" kern="1200" cap="none" spc="0" normalizeH="0" baseline="0" noProof="0" dirty="0">
                <a:ln>
                  <a:noFill/>
                </a:ln>
                <a:solidFill>
                  <a:prstClr val="black"/>
                </a:solidFill>
                <a:effectLst/>
                <a:uLnTx/>
                <a:uFillTx/>
                <a:latin typeface="Arial"/>
                <a:ea typeface="+mn-ea"/>
                <a:cs typeface="+mn-cs"/>
              </a:rPr>
              <a:t>Chart below shows Productivity Comparison per Wave;</a:t>
            </a:r>
          </a:p>
          <a:p>
            <a:pPr lvl="0" algn="just">
              <a:defRPr/>
            </a:pPr>
            <a:r>
              <a:rPr lang="en-US" sz="1300" dirty="0">
                <a:solidFill>
                  <a:prstClr val="black"/>
                </a:solidFill>
                <a:latin typeface="Arial"/>
              </a:rPr>
              <a:t>Wave 4 showing 99%+ Productivity due to training and parallel processing</a:t>
            </a:r>
            <a:endParaRPr kumimoji="0" lang="en-US" sz="1300" b="1" i="0" u="none" strike="noStrike" kern="1200" cap="none" spc="0" normalizeH="0" baseline="0" noProof="0" dirty="0">
              <a:ln>
                <a:noFill/>
              </a:ln>
              <a:solidFill>
                <a:prstClr val="black"/>
              </a:solidFill>
              <a:effectLst/>
              <a:uLnTx/>
              <a:uFillTx/>
              <a:latin typeface="Arial"/>
              <a:ea typeface="+mn-ea"/>
              <a:cs typeface="+mn-cs"/>
            </a:endParaRPr>
          </a:p>
          <a:p>
            <a:pPr lvl="0" algn="just">
              <a:defRPr/>
            </a:pPr>
            <a:endParaRPr lang="en-US" sz="1300" b="1" dirty="0">
              <a:solidFill>
                <a:prstClr val="black"/>
              </a:solidFill>
              <a:latin typeface="Arial"/>
            </a:endParaRPr>
          </a:p>
          <a:p>
            <a:pPr lvl="0" algn="just">
              <a:defRPr/>
            </a:pPr>
            <a:r>
              <a:rPr lang="en-US" sz="1100" b="1" i="1" dirty="0">
                <a:solidFill>
                  <a:prstClr val="black"/>
                </a:solidFill>
              </a:rPr>
              <a:t>*</a:t>
            </a:r>
            <a:r>
              <a:rPr lang="en-US" sz="1100" i="1" dirty="0">
                <a:solidFill>
                  <a:prstClr val="black"/>
                </a:solidFill>
              </a:rPr>
              <a:t>Forecast updated using new calculation model based on Team Capacity and Required Man Hours </a:t>
            </a:r>
            <a:endParaRPr lang="en-US" sz="1100" b="1" i="1" dirty="0">
              <a:solidFill>
                <a:prstClr val="black"/>
              </a:solidFill>
            </a:endParaRPr>
          </a:p>
        </p:txBody>
      </p:sp>
      <p:sp>
        <p:nvSpPr>
          <p:cNvPr id="20" name="TextBox 19">
            <a:extLst>
              <a:ext uri="{FF2B5EF4-FFF2-40B4-BE49-F238E27FC236}">
                <a16:creationId xmlns:a16="http://schemas.microsoft.com/office/drawing/2014/main" id="{0273D742-F9FA-4818-B0DA-5E222EFCB417}"/>
              </a:ext>
            </a:extLst>
          </p:cNvPr>
          <p:cNvSpPr txBox="1"/>
          <p:nvPr/>
        </p:nvSpPr>
        <p:spPr>
          <a:xfrm>
            <a:off x="609599" y="983158"/>
            <a:ext cx="128512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June MTD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110A0"/>
                </a:solidFill>
                <a:effectLst/>
                <a:uLnTx/>
                <a:uFillTx/>
                <a:latin typeface="Arial"/>
                <a:ea typeface="+mn-ea"/>
                <a:cs typeface="+mn-cs"/>
              </a:rPr>
              <a:t>87%</a:t>
            </a:r>
            <a:r>
              <a:rPr kumimoji="0" lang="en-US" sz="3600" b="0" i="0" u="none" strike="noStrike" kern="1200" cap="none" spc="0" normalizeH="0" baseline="0" noProof="0" dirty="0">
                <a:ln>
                  <a:noFill/>
                </a:ln>
                <a:solidFill>
                  <a:prstClr val="black"/>
                </a:solidFill>
                <a:effectLst/>
                <a:uLnTx/>
                <a:uFillTx/>
                <a:latin typeface="Arial"/>
                <a:ea typeface="+mn-ea"/>
                <a:cs typeface="+mn-cs"/>
              </a:rPr>
              <a:t> </a:t>
            </a:r>
          </a:p>
        </p:txBody>
      </p:sp>
      <p:grpSp>
        <p:nvGrpSpPr>
          <p:cNvPr id="11" name="Group 10">
            <a:extLst>
              <a:ext uri="{FF2B5EF4-FFF2-40B4-BE49-F238E27FC236}">
                <a16:creationId xmlns:a16="http://schemas.microsoft.com/office/drawing/2014/main" id="{471B7206-FD46-470E-9549-C6F829F9E71E}"/>
              </a:ext>
            </a:extLst>
          </p:cNvPr>
          <p:cNvGrpSpPr/>
          <p:nvPr/>
        </p:nvGrpSpPr>
        <p:grpSpPr>
          <a:xfrm>
            <a:off x="1252159" y="2926503"/>
            <a:ext cx="10795297" cy="307777"/>
            <a:chOff x="933605" y="3943578"/>
            <a:chExt cx="8750144" cy="163821"/>
          </a:xfrm>
        </p:grpSpPr>
        <p:cxnSp>
          <p:nvCxnSpPr>
            <p:cNvPr id="12" name="Straight Connector 11">
              <a:extLst>
                <a:ext uri="{FF2B5EF4-FFF2-40B4-BE49-F238E27FC236}">
                  <a16:creationId xmlns:a16="http://schemas.microsoft.com/office/drawing/2014/main" id="{ADB449E9-DE68-4BE0-8E2C-E2EBEF0B73E1}"/>
                </a:ext>
              </a:extLst>
            </p:cNvPr>
            <p:cNvCxnSpPr/>
            <p:nvPr/>
          </p:nvCxnSpPr>
          <p:spPr>
            <a:xfrm>
              <a:off x="933605" y="4013891"/>
              <a:ext cx="8261351" cy="0"/>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CD5C7C6-14E9-42D5-A642-F1394E921E79}"/>
                </a:ext>
              </a:extLst>
            </p:cNvPr>
            <p:cNvSpPr txBox="1"/>
            <p:nvPr/>
          </p:nvSpPr>
          <p:spPr>
            <a:xfrm>
              <a:off x="9220200" y="3943578"/>
              <a:ext cx="463549" cy="1638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H" sz="900" b="1" i="0" u="none" strike="noStrike" kern="1200" cap="none" spc="0" normalizeH="0" baseline="0" noProof="0" dirty="0">
                  <a:ln>
                    <a:noFill/>
                  </a:ln>
                  <a:solidFill>
                    <a:srgbClr val="C00000"/>
                  </a:solidFill>
                  <a:effectLst/>
                  <a:uLnTx/>
                  <a:uFillTx/>
                  <a:latin typeface="Arial"/>
                  <a:ea typeface="+mn-ea"/>
                  <a:cs typeface="+mn-cs"/>
                </a:rPr>
                <a:t>75%</a:t>
              </a:r>
              <a:endParaRPr kumimoji="0" lang="en-US" sz="900" b="1" i="0" u="none" strike="noStrike" kern="1200" cap="none" spc="0" normalizeH="0" baseline="0" noProof="0" dirty="0">
                <a:ln>
                  <a:noFill/>
                </a:ln>
                <a:solidFill>
                  <a:srgbClr val="C00000"/>
                </a:solidFill>
                <a:effectLst/>
                <a:uLnTx/>
                <a:uFillTx/>
                <a:latin typeface="Arial"/>
                <a:ea typeface="+mn-ea"/>
                <a:cs typeface="+mn-cs"/>
              </a:endParaRPr>
            </a:p>
          </p:txBody>
        </p:sp>
      </p:grpSp>
    </p:spTree>
    <p:extLst>
      <p:ext uri="{BB962C8B-B14F-4D97-AF65-F5344CB8AC3E}">
        <p14:creationId xmlns:p14="http://schemas.microsoft.com/office/powerpoint/2010/main" val="252980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Financials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D9BB-E121-47E0-84AA-250D1B8A4A64}"/>
              </a:ext>
            </a:extLst>
          </p:cNvPr>
          <p:cNvSpPr>
            <a:spLocks noGrp="1"/>
          </p:cNvSpPr>
          <p:nvPr>
            <p:ph type="title"/>
          </p:nvPr>
        </p:nvSpPr>
        <p:spPr>
          <a:xfrm>
            <a:off x="609600" y="457201"/>
            <a:ext cx="10972800" cy="307777"/>
          </a:xfrm>
        </p:spPr>
        <p:txBody>
          <a:bodyPr/>
          <a:lstStyle/>
          <a:p>
            <a:r>
              <a:rPr lang="en-US" dirty="0"/>
              <a:t>Financials</a:t>
            </a:r>
          </a:p>
        </p:txBody>
      </p:sp>
      <p:sp>
        <p:nvSpPr>
          <p:cNvPr id="3" name="Text Placeholder 2">
            <a:extLst>
              <a:ext uri="{FF2B5EF4-FFF2-40B4-BE49-F238E27FC236}">
                <a16:creationId xmlns:a16="http://schemas.microsoft.com/office/drawing/2014/main" id="{1412CF9B-39B1-4BB6-AF1E-567C3B99B156}"/>
              </a:ext>
            </a:extLst>
          </p:cNvPr>
          <p:cNvSpPr>
            <a:spLocks noGrp="1"/>
          </p:cNvSpPr>
          <p:nvPr>
            <p:ph type="body" sz="quarter" idx="13"/>
          </p:nvPr>
        </p:nvSpPr>
        <p:spPr>
          <a:xfrm>
            <a:off x="609600" y="800240"/>
            <a:ext cx="5486400" cy="276999"/>
          </a:xfrm>
        </p:spPr>
        <p:txBody>
          <a:bodyPr/>
          <a:lstStyle/>
          <a:p>
            <a:r>
              <a:rPr lang="en-US" dirty="0"/>
              <a:t>H&amp;B NA Global Data Management Productivity {{Y1}}</a:t>
            </a:r>
          </a:p>
        </p:txBody>
      </p:sp>
      <p:sp>
        <p:nvSpPr>
          <p:cNvPr id="5" name="Slide Number Placeholder 4">
            <a:extLst>
              <a:ext uri="{FF2B5EF4-FFF2-40B4-BE49-F238E27FC236}">
                <a16:creationId xmlns:a16="http://schemas.microsoft.com/office/drawing/2014/main" id="{8473DCB9-E90B-406B-A9C5-1D77D082E8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AA029A2C-36E2-4366-A30E-F510E6F2A7B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17" name="FS4_Chart1">
            <a:extLst>
              <a:ext uri="{FF2B5EF4-FFF2-40B4-BE49-F238E27FC236}">
                <a16:creationId xmlns:a16="http://schemas.microsoft.com/office/drawing/2014/main" id="{19EC4654-1711-490C-AA7E-FB43F53F7AAF}"/>
              </a:ext>
            </a:extLst>
          </p:cNvPr>
          <p:cNvGraphicFramePr>
            <a:graphicFrameLocks noGrp="1"/>
          </p:cNvGraphicFramePr>
          <p:nvPr>
            <p:ph idx="1"/>
            <p:extLst>
              <p:ext uri="{D42A27DB-BD31-4B8C-83A1-F6EECF244321}">
                <p14:modId xmlns:p14="http://schemas.microsoft.com/office/powerpoint/2010/main" val="4008880613"/>
              </p:ext>
            </p:extLst>
          </p:nvPr>
        </p:nvGraphicFramePr>
        <p:xfrm>
          <a:off x="652232" y="1932113"/>
          <a:ext cx="10930168" cy="4125647"/>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a:extLst>
              <a:ext uri="{FF2B5EF4-FFF2-40B4-BE49-F238E27FC236}">
                <a16:creationId xmlns:a16="http://schemas.microsoft.com/office/drawing/2014/main" id="{B206EF2B-AAF5-479F-B402-232ABEE9EF26}"/>
              </a:ext>
            </a:extLst>
          </p:cNvPr>
          <p:cNvSpPr txBox="1"/>
          <p:nvPr/>
        </p:nvSpPr>
        <p:spPr>
          <a:xfrm>
            <a:off x="6657163" y="455994"/>
            <a:ext cx="4925237" cy="1231106"/>
          </a:xfrm>
          <a:prstGeom prst="rect">
            <a:avLst/>
          </a:prstGeom>
          <a:noFill/>
        </p:spPr>
        <p:txBody>
          <a:bodyPr wrap="square" rtlCol="0">
            <a:spAutoFit/>
          </a:bodyPr>
          <a:lstStyle/>
          <a:p>
            <a:pPr lvl="0" algn="just">
              <a:defRPr/>
            </a:pPr>
            <a:r>
              <a:rPr kumimoji="0" lang="en-US" sz="1300" b="0" i="0" u="none" strike="noStrike" kern="1200" cap="none" spc="0" normalizeH="0" baseline="0" noProof="0" dirty="0">
                <a:ln>
                  <a:noFill/>
                </a:ln>
                <a:solidFill>
                  <a:prstClr val="black"/>
                </a:solidFill>
                <a:effectLst/>
                <a:uLnTx/>
                <a:uFillTx/>
                <a:latin typeface="Arial"/>
                <a:ea typeface="+mn-ea"/>
                <a:cs typeface="+mn-cs"/>
              </a:rPr>
              <a:t>The overall YTD productivity of H&amp;B NA Manila as of {{M1}} {{Y1}} is at </a:t>
            </a:r>
            <a:r>
              <a:rPr kumimoji="0" lang="en-US" sz="1300" b="1" i="0" u="none" strike="noStrike" kern="1200" cap="none" spc="0" normalizeH="0" baseline="0" noProof="0" dirty="0">
                <a:ln>
                  <a:noFill/>
                </a:ln>
                <a:solidFill>
                  <a:prstClr val="black"/>
                </a:solidFill>
                <a:effectLst/>
                <a:uLnTx/>
                <a:uFillTx/>
                <a:latin typeface="Arial"/>
                <a:ea typeface="+mn-ea"/>
                <a:cs typeface="+mn-cs"/>
              </a:rPr>
              <a:t>{{P2}}%. </a:t>
            </a:r>
            <a:r>
              <a:rPr kumimoji="0" lang="en-US" sz="1300" b="0" i="0" u="none" strike="noStrike" kern="1200" cap="none" spc="0" normalizeH="0" baseline="0" noProof="0" dirty="0">
                <a:ln>
                  <a:noFill/>
                </a:ln>
                <a:solidFill>
                  <a:prstClr val="black"/>
                </a:solidFill>
                <a:effectLst/>
                <a:uLnTx/>
                <a:uFillTx/>
                <a:latin typeface="Arial"/>
                <a:ea typeface="+mn-ea"/>
                <a:cs typeface="+mn-cs"/>
              </a:rPr>
              <a:t>There is an increase for HBNA activities: DM and Non-DM Processes in Q2 2021 vs Q2 2020. </a:t>
            </a:r>
            <a:r>
              <a:rPr lang="en-US" sz="1300" b="1" dirty="0">
                <a:solidFill>
                  <a:prstClr val="black"/>
                </a:solidFill>
              </a:rPr>
              <a:t>Productivity without New Hires HBNA US W4, Canada W1</a:t>
            </a:r>
            <a:endParaRPr kumimoji="0" lang="en-US" sz="1300" b="1" i="0" u="none" strike="noStrike" kern="1200" cap="none" spc="0" normalizeH="0" baseline="0" noProof="0" dirty="0">
              <a:ln>
                <a:noFill/>
              </a:ln>
              <a:solidFill>
                <a:prstClr val="black"/>
              </a:solidFill>
              <a:effectLst/>
              <a:uLnTx/>
              <a:uFillTx/>
              <a:latin typeface="Arial"/>
              <a:ea typeface="+mn-ea"/>
              <a:cs typeface="+mn-cs"/>
            </a:endParaRPr>
          </a:p>
          <a:p>
            <a:pPr algn="just">
              <a:defRPr/>
            </a:pPr>
            <a:r>
              <a:rPr lang="en-US" sz="1100" b="1" i="1" dirty="0">
                <a:solidFill>
                  <a:prstClr val="black"/>
                </a:solidFill>
              </a:rPr>
              <a:t>*</a:t>
            </a:r>
            <a:r>
              <a:rPr lang="en-US" sz="1100" i="1" dirty="0">
                <a:solidFill>
                  <a:prstClr val="black"/>
                </a:solidFill>
              </a:rPr>
              <a:t>Forecast updated using new calculation model based on Team Capacity and Required Man Hours </a:t>
            </a:r>
            <a:endParaRPr lang="en-US" sz="1100" b="1" i="1" dirty="0">
              <a:solidFill>
                <a:prstClr val="black"/>
              </a:solidFill>
            </a:endParaRPr>
          </a:p>
        </p:txBody>
      </p:sp>
      <p:sp>
        <p:nvSpPr>
          <p:cNvPr id="20" name="TextBox 19">
            <a:extLst>
              <a:ext uri="{FF2B5EF4-FFF2-40B4-BE49-F238E27FC236}">
                <a16:creationId xmlns:a16="http://schemas.microsoft.com/office/drawing/2014/main" id="{0273D742-F9FA-4818-B0DA-5E222EFCB417}"/>
              </a:ext>
            </a:extLst>
          </p:cNvPr>
          <p:cNvSpPr txBox="1"/>
          <p:nvPr/>
        </p:nvSpPr>
        <p:spPr>
          <a:xfrm>
            <a:off x="609599" y="983158"/>
            <a:ext cx="1285121"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{{M1}} MTD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110A0"/>
                </a:solidFill>
                <a:effectLst/>
                <a:uLnTx/>
                <a:uFillTx/>
                <a:latin typeface="Arial"/>
                <a:ea typeface="+mn-ea"/>
                <a:cs typeface="+mn-cs"/>
              </a:rPr>
              <a:t>{{P1}}%</a:t>
            </a:r>
            <a:r>
              <a:rPr kumimoji="0" lang="en-US" sz="3600" b="0" i="0" u="none" strike="noStrike" kern="1200" cap="none" spc="0" normalizeH="0" baseline="0" noProof="0" dirty="0">
                <a:ln>
                  <a:noFill/>
                </a:ln>
                <a:solidFill>
                  <a:prstClr val="black"/>
                </a:solidFill>
                <a:effectLst/>
                <a:uLnTx/>
                <a:uFillTx/>
                <a:latin typeface="Arial"/>
                <a:ea typeface="+mn-ea"/>
                <a:cs typeface="+mn-cs"/>
              </a:rPr>
              <a:t> </a:t>
            </a:r>
          </a:p>
        </p:txBody>
      </p:sp>
      <p:grpSp>
        <p:nvGrpSpPr>
          <p:cNvPr id="11" name="Group 10">
            <a:extLst>
              <a:ext uri="{FF2B5EF4-FFF2-40B4-BE49-F238E27FC236}">
                <a16:creationId xmlns:a16="http://schemas.microsoft.com/office/drawing/2014/main" id="{471B7206-FD46-470E-9549-C6F829F9E71E}"/>
              </a:ext>
            </a:extLst>
          </p:cNvPr>
          <p:cNvGrpSpPr/>
          <p:nvPr/>
        </p:nvGrpSpPr>
        <p:grpSpPr>
          <a:xfrm>
            <a:off x="1252159" y="3073623"/>
            <a:ext cx="10155510" cy="260286"/>
            <a:chOff x="933605" y="3943578"/>
            <a:chExt cx="8750144" cy="163821"/>
          </a:xfrm>
        </p:grpSpPr>
        <p:cxnSp>
          <p:nvCxnSpPr>
            <p:cNvPr id="12" name="Straight Connector 11">
              <a:extLst>
                <a:ext uri="{FF2B5EF4-FFF2-40B4-BE49-F238E27FC236}">
                  <a16:creationId xmlns:a16="http://schemas.microsoft.com/office/drawing/2014/main" id="{ADB449E9-DE68-4BE0-8E2C-E2EBEF0B73E1}"/>
                </a:ext>
              </a:extLst>
            </p:cNvPr>
            <p:cNvCxnSpPr/>
            <p:nvPr/>
          </p:nvCxnSpPr>
          <p:spPr>
            <a:xfrm>
              <a:off x="933605" y="4013891"/>
              <a:ext cx="8261351" cy="0"/>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CD5C7C6-14E9-42D5-A642-F1394E921E79}"/>
                </a:ext>
              </a:extLst>
            </p:cNvPr>
            <p:cNvSpPr txBox="1"/>
            <p:nvPr/>
          </p:nvSpPr>
          <p:spPr>
            <a:xfrm>
              <a:off x="9220200" y="3943578"/>
              <a:ext cx="463549" cy="1638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H" sz="900" b="1" i="0" u="none" strike="noStrike" kern="1200" cap="none" spc="0" normalizeH="0" baseline="0" noProof="0" dirty="0">
                  <a:ln>
                    <a:noFill/>
                  </a:ln>
                  <a:solidFill>
                    <a:srgbClr val="C00000"/>
                  </a:solidFill>
                  <a:effectLst/>
                  <a:uLnTx/>
                  <a:uFillTx/>
                  <a:latin typeface="Arial"/>
                  <a:ea typeface="+mn-ea"/>
                  <a:cs typeface="+mn-cs"/>
                </a:rPr>
                <a:t>75%</a:t>
              </a:r>
              <a:endParaRPr kumimoji="0" lang="en-US" sz="900" b="1" i="0" u="none" strike="noStrike" kern="1200" cap="none" spc="0" normalizeH="0" baseline="0" noProof="0" dirty="0">
                <a:ln>
                  <a:noFill/>
                </a:ln>
                <a:solidFill>
                  <a:srgbClr val="C00000"/>
                </a:solidFill>
                <a:effectLst/>
                <a:uLnTx/>
                <a:uFillTx/>
                <a:latin typeface="Arial"/>
                <a:ea typeface="+mn-ea"/>
                <a:cs typeface="+mn-cs"/>
              </a:endParaRPr>
            </a:p>
          </p:txBody>
        </p:sp>
      </p:grpSp>
    </p:spTree>
    <p:extLst>
      <p:ext uri="{BB962C8B-B14F-4D97-AF65-F5344CB8AC3E}">
        <p14:creationId xmlns:p14="http://schemas.microsoft.com/office/powerpoint/2010/main" val="2137444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Financials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D9BB-E121-47E0-84AA-250D1B8A4A64}"/>
              </a:ext>
            </a:extLst>
          </p:cNvPr>
          <p:cNvSpPr>
            <a:spLocks noGrp="1"/>
          </p:cNvSpPr>
          <p:nvPr>
            <p:ph type="title"/>
          </p:nvPr>
        </p:nvSpPr>
        <p:spPr>
          <a:xfrm>
            <a:off x="609600" y="457201"/>
            <a:ext cx="10972800" cy="307777"/>
          </a:xfrm>
        </p:spPr>
        <p:txBody>
          <a:bodyPr/>
          <a:lstStyle/>
          <a:p>
            <a:r>
              <a:rPr lang="en-US" dirty="0"/>
              <a:t>Financials</a:t>
            </a:r>
          </a:p>
        </p:txBody>
      </p:sp>
      <p:sp>
        <p:nvSpPr>
          <p:cNvPr id="3" name="Text Placeholder 2">
            <a:extLst>
              <a:ext uri="{FF2B5EF4-FFF2-40B4-BE49-F238E27FC236}">
                <a16:creationId xmlns:a16="http://schemas.microsoft.com/office/drawing/2014/main" id="{1412CF9B-39B1-4BB6-AF1E-567C3B99B156}"/>
              </a:ext>
            </a:extLst>
          </p:cNvPr>
          <p:cNvSpPr>
            <a:spLocks noGrp="1"/>
          </p:cNvSpPr>
          <p:nvPr>
            <p:ph type="body" sz="quarter" idx="13"/>
          </p:nvPr>
        </p:nvSpPr>
        <p:spPr/>
        <p:txBody>
          <a:bodyPr/>
          <a:lstStyle/>
          <a:p>
            <a:r>
              <a:rPr lang="en-US" dirty="0"/>
              <a:t>Data Management</a:t>
            </a:r>
          </a:p>
        </p:txBody>
      </p:sp>
      <p:sp>
        <p:nvSpPr>
          <p:cNvPr id="5" name="Slide Number Placeholder 4">
            <a:extLst>
              <a:ext uri="{FF2B5EF4-FFF2-40B4-BE49-F238E27FC236}">
                <a16:creationId xmlns:a16="http://schemas.microsoft.com/office/drawing/2014/main" id="{8473DCB9-E90B-406B-A9C5-1D77D082E8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AA029A2C-36E2-4366-A30E-F510E6F2A7B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17" name="FS5_Chart2">
            <a:extLst>
              <a:ext uri="{FF2B5EF4-FFF2-40B4-BE49-F238E27FC236}">
                <a16:creationId xmlns:a16="http://schemas.microsoft.com/office/drawing/2014/main" id="{19EC4654-1711-490C-AA7E-FB43F53F7AAF}"/>
              </a:ext>
            </a:extLst>
          </p:cNvPr>
          <p:cNvGraphicFramePr>
            <a:graphicFrameLocks noGrp="1"/>
          </p:cNvGraphicFramePr>
          <p:nvPr>
            <p:ph idx="1"/>
            <p:extLst>
              <p:ext uri="{D42A27DB-BD31-4B8C-83A1-F6EECF244321}">
                <p14:modId xmlns:p14="http://schemas.microsoft.com/office/powerpoint/2010/main" val="4291976714"/>
              </p:ext>
            </p:extLst>
          </p:nvPr>
        </p:nvGraphicFramePr>
        <p:xfrm>
          <a:off x="231006" y="2702975"/>
          <a:ext cx="11742821" cy="3014271"/>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id="{0273D742-F9FA-4818-B0DA-5E222EFCB417}"/>
              </a:ext>
            </a:extLst>
          </p:cNvPr>
          <p:cNvSpPr txBox="1"/>
          <p:nvPr/>
        </p:nvSpPr>
        <p:spPr>
          <a:xfrm>
            <a:off x="726558" y="1258793"/>
            <a:ext cx="1285122"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{{M1}} MTD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110A0"/>
                </a:solidFill>
                <a:effectLst/>
                <a:uLnTx/>
                <a:uFillTx/>
                <a:latin typeface="Arial"/>
                <a:ea typeface="+mn-ea"/>
                <a:cs typeface="+mn-cs"/>
              </a:rPr>
              <a:t>{{P2</a:t>
            </a:r>
            <a:r>
              <a:rPr lang="en-US" sz="3600" b="1" dirty="0">
                <a:solidFill>
                  <a:srgbClr val="C110A0"/>
                </a:solidFill>
                <a:latin typeface="Arial"/>
              </a:rPr>
              <a:t>}}</a:t>
            </a:r>
            <a:r>
              <a:rPr kumimoji="0" lang="en-US" sz="3600" b="1" i="0" u="none" strike="noStrike" kern="1200" cap="none" spc="0" normalizeH="0" baseline="0" noProof="0" dirty="0">
                <a:ln>
                  <a:noFill/>
                </a:ln>
                <a:solidFill>
                  <a:srgbClr val="C110A0"/>
                </a:solidFill>
                <a:effectLst/>
                <a:uLnTx/>
                <a:uFillTx/>
                <a:latin typeface="Arial"/>
                <a:ea typeface="+mn-ea"/>
                <a:cs typeface="+mn-cs"/>
              </a:rPr>
              <a:t>%</a:t>
            </a:r>
            <a:r>
              <a:rPr kumimoji="0" lang="en-US" sz="3600" b="0" i="0" u="none" strike="noStrike" kern="1200" cap="none" spc="0" normalizeH="0" baseline="0" noProof="0" dirty="0">
                <a:ln>
                  <a:noFill/>
                </a:ln>
                <a:solidFill>
                  <a:prstClr val="black"/>
                </a:solidFill>
                <a:effectLst/>
                <a:uLnTx/>
                <a:uFillTx/>
                <a:latin typeface="Arial"/>
                <a:ea typeface="+mn-ea"/>
                <a:cs typeface="+mn-cs"/>
              </a:rPr>
              <a:t> </a:t>
            </a:r>
          </a:p>
        </p:txBody>
      </p:sp>
      <p:sp>
        <p:nvSpPr>
          <p:cNvPr id="4" name="Rectangle 3">
            <a:extLst>
              <a:ext uri="{FF2B5EF4-FFF2-40B4-BE49-F238E27FC236}">
                <a16:creationId xmlns:a16="http://schemas.microsoft.com/office/drawing/2014/main" id="{3E0235B7-9D37-46FF-A76C-FC868A53820F}"/>
              </a:ext>
            </a:extLst>
          </p:cNvPr>
          <p:cNvSpPr/>
          <p:nvPr/>
        </p:nvSpPr>
        <p:spPr>
          <a:xfrm>
            <a:off x="647336" y="5717246"/>
            <a:ext cx="11139380" cy="276999"/>
          </a:xfrm>
          <a:prstGeom prst="rect">
            <a:avLst/>
          </a:prstGeom>
        </p:spPr>
        <p:txBody>
          <a:bodyPr wrap="square">
            <a:spAutoFit/>
          </a:bodyPr>
          <a:lstStyle/>
          <a:p>
            <a:pPr lvl="0">
              <a:defRPr/>
            </a:pPr>
            <a:r>
              <a:rPr lang="en-US" sz="1200" dirty="0">
                <a:solidFill>
                  <a:prstClr val="black"/>
                </a:solidFill>
              </a:rPr>
              <a:t>There is an increase in volume for HBNA activities for DM and Non-DM Processes in 2021 compared to 2020. </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Box 10">
            <a:extLst>
              <a:ext uri="{FF2B5EF4-FFF2-40B4-BE49-F238E27FC236}">
                <a16:creationId xmlns:a16="http://schemas.microsoft.com/office/drawing/2014/main" id="{52800BBF-807D-4EC3-A852-49C20638EDC5}"/>
              </a:ext>
            </a:extLst>
          </p:cNvPr>
          <p:cNvSpPr txBox="1"/>
          <p:nvPr/>
        </p:nvSpPr>
        <p:spPr>
          <a:xfrm>
            <a:off x="2011679" y="1293634"/>
            <a:ext cx="4761244" cy="95410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{{Y1}} YTD utilization is at </a:t>
            </a:r>
            <a:r>
              <a:rPr kumimoji="0" lang="en-US" sz="1400" b="1" i="0" u="none" strike="noStrike" kern="1200" cap="none" spc="0" normalizeH="0" baseline="0" noProof="0" dirty="0">
                <a:ln>
                  <a:noFill/>
                </a:ln>
                <a:solidFill>
                  <a:prstClr val="black"/>
                </a:solidFill>
                <a:effectLst/>
                <a:uLnTx/>
                <a:uFillTx/>
                <a:latin typeface="Arial"/>
                <a:ea typeface="+mn-ea"/>
                <a:cs typeface="+mn-cs"/>
              </a:rPr>
              <a:t>{{P1}}%. </a:t>
            </a:r>
            <a:r>
              <a:rPr kumimoji="0" lang="en-US" sz="1400" b="0" i="0" u="none" strike="noStrike" kern="1200" cap="none" spc="0" normalizeH="0" baseline="0" noProof="0" dirty="0">
                <a:ln>
                  <a:noFill/>
                </a:ln>
                <a:solidFill>
                  <a:prstClr val="black"/>
                </a:solidFill>
                <a:effectLst/>
                <a:uLnTx/>
                <a:uFillTx/>
                <a:latin typeface="Arial"/>
                <a:ea typeface="+mn-ea"/>
                <a:cs typeface="+mn-cs"/>
              </a:rPr>
              <a:t>MTD results include utilization from other HCB teams and H&amp;B NA client work. Resources are also cross-utilized to CDT, CCMU, Carrier Operations. </a:t>
            </a:r>
          </a:p>
        </p:txBody>
      </p:sp>
      <p:grpSp>
        <p:nvGrpSpPr>
          <p:cNvPr id="12" name="Group 11">
            <a:extLst>
              <a:ext uri="{FF2B5EF4-FFF2-40B4-BE49-F238E27FC236}">
                <a16:creationId xmlns:a16="http://schemas.microsoft.com/office/drawing/2014/main" id="{E35BB01E-63A1-4952-8244-17B11A7EABA6}"/>
              </a:ext>
            </a:extLst>
          </p:cNvPr>
          <p:cNvGrpSpPr/>
          <p:nvPr/>
        </p:nvGrpSpPr>
        <p:grpSpPr>
          <a:xfrm>
            <a:off x="811069" y="3577027"/>
            <a:ext cx="11470768" cy="296450"/>
            <a:chOff x="933605" y="3943578"/>
            <a:chExt cx="8750144" cy="91639"/>
          </a:xfrm>
        </p:grpSpPr>
        <p:cxnSp>
          <p:nvCxnSpPr>
            <p:cNvPr id="13" name="Straight Connector 12">
              <a:extLst>
                <a:ext uri="{FF2B5EF4-FFF2-40B4-BE49-F238E27FC236}">
                  <a16:creationId xmlns:a16="http://schemas.microsoft.com/office/drawing/2014/main" id="{B77F2BD5-3B40-4A39-964A-A827ECD51A3F}"/>
                </a:ext>
              </a:extLst>
            </p:cNvPr>
            <p:cNvCxnSpPr/>
            <p:nvPr/>
          </p:nvCxnSpPr>
          <p:spPr>
            <a:xfrm>
              <a:off x="933605" y="4013891"/>
              <a:ext cx="8261351" cy="0"/>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CAA9597-3F54-427C-8E4D-DAB6D3C1D291}"/>
                </a:ext>
              </a:extLst>
            </p:cNvPr>
            <p:cNvSpPr txBox="1"/>
            <p:nvPr/>
          </p:nvSpPr>
          <p:spPr>
            <a:xfrm>
              <a:off x="9220200" y="3943578"/>
              <a:ext cx="463549" cy="916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H" sz="900" b="1" i="0" u="none" strike="noStrike" kern="1200" cap="none" spc="0" normalizeH="0" baseline="0" noProof="0" dirty="0">
                  <a:ln>
                    <a:noFill/>
                  </a:ln>
                  <a:solidFill>
                    <a:srgbClr val="C00000"/>
                  </a:solidFill>
                  <a:effectLst/>
                  <a:uLnTx/>
                  <a:uFillTx/>
                  <a:latin typeface="Arial"/>
                  <a:ea typeface="+mn-ea"/>
                  <a:cs typeface="+mn-cs"/>
                </a:rPr>
                <a:t>75%</a:t>
              </a:r>
              <a:endParaRPr kumimoji="0" lang="en-US" sz="900" b="1" i="0" u="none" strike="noStrike" kern="1200" cap="none" spc="0" normalizeH="0" baseline="0" noProof="0" dirty="0">
                <a:ln>
                  <a:noFill/>
                </a:ln>
                <a:solidFill>
                  <a:srgbClr val="C00000"/>
                </a:solidFill>
                <a:effectLst/>
                <a:uLnTx/>
                <a:uFillTx/>
                <a:latin typeface="Arial"/>
                <a:ea typeface="+mn-ea"/>
                <a:cs typeface="+mn-cs"/>
              </a:endParaRPr>
            </a:p>
          </p:txBody>
        </p:sp>
      </p:grpSp>
      <p:graphicFrame>
        <p:nvGraphicFramePr>
          <p:cNvPr id="18" name="FS5_Chart1">
            <a:extLst>
              <a:ext uri="{FF2B5EF4-FFF2-40B4-BE49-F238E27FC236}">
                <a16:creationId xmlns:a16="http://schemas.microsoft.com/office/drawing/2014/main" id="{E7B6299C-F3F4-4D07-8887-9E2FAE45442D}"/>
              </a:ext>
            </a:extLst>
          </p:cNvPr>
          <p:cNvGraphicFramePr>
            <a:graphicFrameLocks/>
          </p:cNvGraphicFramePr>
          <p:nvPr>
            <p:extLst>
              <p:ext uri="{D42A27DB-BD31-4B8C-83A1-F6EECF244321}">
                <p14:modId xmlns:p14="http://schemas.microsoft.com/office/powerpoint/2010/main" val="3165745435"/>
              </p:ext>
            </p:extLst>
          </p:nvPr>
        </p:nvGraphicFramePr>
        <p:xfrm>
          <a:off x="7025472" y="223525"/>
          <a:ext cx="4761244" cy="2532146"/>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E4647984-E7C7-4E69-B158-ED88949DDA13}"/>
              </a:ext>
            </a:extLst>
          </p:cNvPr>
          <p:cNvSpPr txBox="1"/>
          <p:nvPr/>
        </p:nvSpPr>
        <p:spPr>
          <a:xfrm>
            <a:off x="811069" y="4853306"/>
            <a:ext cx="2836906" cy="215444"/>
          </a:xfrm>
          <a:prstGeom prst="rect">
            <a:avLst/>
          </a:prstGeom>
          <a:noFill/>
        </p:spPr>
        <p:txBody>
          <a:bodyPr wrap="square" rtlCol="0">
            <a:spAutoFit/>
          </a:bodyPr>
          <a:lstStyle/>
          <a:p>
            <a:pPr lvl="0">
              <a:defRPr/>
            </a:pPr>
            <a:r>
              <a:rPr kumimoji="0" lang="en-US" sz="800" b="0" i="0" u="none" strike="noStrike" kern="1200" cap="none" spc="0" normalizeH="0" baseline="0" noProof="0" dirty="0">
                <a:ln>
                  <a:noFill/>
                </a:ln>
                <a:solidFill>
                  <a:prstClr val="black"/>
                </a:solidFill>
                <a:effectLst/>
                <a:uLnTx/>
                <a:uFillTx/>
                <a:latin typeface="Arial"/>
                <a:ea typeface="+mn-ea"/>
                <a:cs typeface="+mn-cs"/>
              </a:rPr>
              <a:t>     </a:t>
            </a:r>
            <a:r>
              <a:rPr lang="en-US" sz="600" dirty="0">
                <a:solidFill>
                  <a:prstClr val="black"/>
                </a:solidFill>
                <a:latin typeface="Arial"/>
              </a:rPr>
              <a:t>Y</a:t>
            </a:r>
            <a:r>
              <a:rPr kumimoji="0" lang="en-US" sz="600" b="0" i="0" u="none" strike="noStrike" kern="1200" cap="none" spc="0" normalizeH="0" baseline="0" noProof="0" dirty="0">
                <a:ln>
                  <a:noFill/>
                </a:ln>
                <a:solidFill>
                  <a:prstClr val="black"/>
                </a:solidFill>
                <a:effectLst/>
                <a:uLnTx/>
                <a:uFillTx/>
                <a:latin typeface="Arial"/>
                <a:ea typeface="+mn-ea"/>
                <a:cs typeface="+mn-cs"/>
              </a:rPr>
              <a:t>20     Y21    Q120   Q121   Jan      Feb     Mar      Apr     May    </a:t>
            </a:r>
            <a:r>
              <a:rPr lang="en-US" sz="600" dirty="0">
                <a:solidFill>
                  <a:prstClr val="black"/>
                </a:solidFill>
              </a:rPr>
              <a:t>YTD Goal</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711998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Financials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D9BB-E121-47E0-84AA-250D1B8A4A64}"/>
              </a:ext>
            </a:extLst>
          </p:cNvPr>
          <p:cNvSpPr>
            <a:spLocks noGrp="1"/>
          </p:cNvSpPr>
          <p:nvPr>
            <p:ph type="title"/>
          </p:nvPr>
        </p:nvSpPr>
        <p:spPr>
          <a:xfrm>
            <a:off x="609600" y="457201"/>
            <a:ext cx="10972800" cy="307777"/>
          </a:xfrm>
        </p:spPr>
        <p:txBody>
          <a:bodyPr/>
          <a:lstStyle/>
          <a:p>
            <a:r>
              <a:rPr lang="en-US" dirty="0"/>
              <a:t>Financials</a:t>
            </a:r>
          </a:p>
        </p:txBody>
      </p:sp>
      <p:sp>
        <p:nvSpPr>
          <p:cNvPr id="3" name="Text Placeholder 2">
            <a:extLst>
              <a:ext uri="{FF2B5EF4-FFF2-40B4-BE49-F238E27FC236}">
                <a16:creationId xmlns:a16="http://schemas.microsoft.com/office/drawing/2014/main" id="{1412CF9B-39B1-4BB6-AF1E-567C3B99B156}"/>
              </a:ext>
            </a:extLst>
          </p:cNvPr>
          <p:cNvSpPr>
            <a:spLocks noGrp="1"/>
          </p:cNvSpPr>
          <p:nvPr>
            <p:ph type="body" sz="quarter" idx="13"/>
          </p:nvPr>
        </p:nvSpPr>
        <p:spPr/>
        <p:txBody>
          <a:bodyPr/>
          <a:lstStyle/>
          <a:p>
            <a:r>
              <a:rPr lang="en-US" dirty="0"/>
              <a:t>Central Data Team</a:t>
            </a:r>
          </a:p>
        </p:txBody>
      </p:sp>
      <p:sp>
        <p:nvSpPr>
          <p:cNvPr id="5" name="Slide Number Placeholder 4">
            <a:extLst>
              <a:ext uri="{FF2B5EF4-FFF2-40B4-BE49-F238E27FC236}">
                <a16:creationId xmlns:a16="http://schemas.microsoft.com/office/drawing/2014/main" id="{8473DCB9-E90B-406B-A9C5-1D77D082E8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AA029A2C-36E2-4366-A30E-F510E6F2A7B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p>
        </p:txBody>
      </p:sp>
      <p:graphicFrame>
        <p:nvGraphicFramePr>
          <p:cNvPr id="17" name="FS6_Chart2">
            <a:extLst>
              <a:ext uri="{FF2B5EF4-FFF2-40B4-BE49-F238E27FC236}">
                <a16:creationId xmlns:a16="http://schemas.microsoft.com/office/drawing/2014/main" id="{19EC4654-1711-490C-AA7E-FB43F53F7AAF}"/>
              </a:ext>
            </a:extLst>
          </p:cNvPr>
          <p:cNvGraphicFramePr>
            <a:graphicFrameLocks noGrp="1"/>
          </p:cNvGraphicFramePr>
          <p:nvPr>
            <p:ph idx="1"/>
            <p:extLst>
              <p:ext uri="{D42A27DB-BD31-4B8C-83A1-F6EECF244321}">
                <p14:modId xmlns:p14="http://schemas.microsoft.com/office/powerpoint/2010/main" val="3700816843"/>
              </p:ext>
            </p:extLst>
          </p:nvPr>
        </p:nvGraphicFramePr>
        <p:xfrm>
          <a:off x="726557" y="2612332"/>
          <a:ext cx="10773368" cy="2863819"/>
        </p:xfrm>
        <a:graphic>
          <a:graphicData uri="http://schemas.openxmlformats.org/drawingml/2006/chart">
            <c:chart xmlns:c="http://schemas.openxmlformats.org/drawingml/2006/chart" xmlns:r="http://schemas.openxmlformats.org/officeDocument/2006/relationships" r:id="rId2"/>
          </a:graphicData>
        </a:graphic>
      </p:graphicFrame>
      <p:sp>
        <p:nvSpPr>
          <p:cNvPr id="18" name="TextBox 17">
            <a:extLst>
              <a:ext uri="{FF2B5EF4-FFF2-40B4-BE49-F238E27FC236}">
                <a16:creationId xmlns:a16="http://schemas.microsoft.com/office/drawing/2014/main" id="{B206EF2B-AAF5-479F-B402-232ABEE9EF26}"/>
              </a:ext>
            </a:extLst>
          </p:cNvPr>
          <p:cNvSpPr txBox="1"/>
          <p:nvPr/>
        </p:nvSpPr>
        <p:spPr>
          <a:xfrm>
            <a:off x="2033512" y="1258748"/>
            <a:ext cx="5140278" cy="13542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In {{M1}}, productivity was driven by RFP Related activities and the Global Network Team: GeoAccess,  Disruption Analysis and NetRPM activities as well as ADML RFPs/Benchmarking; CCMU Reporting and Vetting; Form 5500. </a:t>
            </a:r>
            <a:r>
              <a:rPr kumimoji="0" lang="en-US" sz="1400" b="1" i="0" u="none" strike="noStrike" kern="1200" cap="none" spc="0" normalizeH="0" baseline="0" noProof="0" dirty="0">
                <a:ln>
                  <a:noFill/>
                </a:ln>
                <a:solidFill>
                  <a:prstClr val="black"/>
                </a:solidFill>
                <a:effectLst/>
                <a:uLnTx/>
                <a:uFillTx/>
                <a:latin typeface="Arial"/>
                <a:ea typeface="+mn-ea"/>
                <a:cs typeface="+mn-cs"/>
              </a:rPr>
              <a:t>YTD</a:t>
            </a:r>
            <a:r>
              <a:rPr kumimoji="0" lang="en-US" sz="1400" b="0" i="0" u="none" strike="noStrike" kern="1200" cap="none" spc="0" normalizeH="0" baseline="0" noProof="0" dirty="0">
                <a:ln>
                  <a:noFill/>
                </a:ln>
                <a:solidFill>
                  <a:prstClr val="black"/>
                </a:solidFill>
                <a:effectLst/>
                <a:uLnTx/>
                <a:uFillTx/>
                <a:latin typeface="Arial"/>
                <a:ea typeface="+mn-ea"/>
                <a:cs typeface="+mn-cs"/>
              </a:rPr>
              <a:t> Utilization is </a:t>
            </a:r>
            <a:r>
              <a:rPr kumimoji="0" lang="en-US" sz="1400" b="1" i="0" u="none" strike="noStrike" kern="1200" cap="none" spc="0" normalizeH="0" baseline="0" noProof="0" dirty="0">
                <a:ln>
                  <a:noFill/>
                </a:ln>
                <a:solidFill>
                  <a:prstClr val="black"/>
                </a:solidFill>
                <a:effectLst/>
                <a:uLnTx/>
                <a:uFillTx/>
                <a:latin typeface="Arial"/>
                <a:ea typeface="+mn-ea"/>
                <a:cs typeface="+mn-cs"/>
              </a:rPr>
              <a:t>{{P1}}%</a:t>
            </a:r>
            <a:r>
              <a:rPr kumimoji="0" lang="en-US" sz="14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Box 19">
            <a:extLst>
              <a:ext uri="{FF2B5EF4-FFF2-40B4-BE49-F238E27FC236}">
                <a16:creationId xmlns:a16="http://schemas.microsoft.com/office/drawing/2014/main" id="{0273D742-F9FA-4818-B0DA-5E222EFCB417}"/>
              </a:ext>
            </a:extLst>
          </p:cNvPr>
          <p:cNvSpPr txBox="1"/>
          <p:nvPr/>
        </p:nvSpPr>
        <p:spPr>
          <a:xfrm>
            <a:off x="726557" y="1258793"/>
            <a:ext cx="1306955"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{{M1}} MTD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110A0"/>
                </a:solidFill>
                <a:effectLst/>
                <a:uLnTx/>
                <a:uFillTx/>
                <a:latin typeface="Arial"/>
                <a:ea typeface="+mn-ea"/>
                <a:cs typeface="+mn-cs"/>
              </a:rPr>
              <a:t>{{P2}}%</a:t>
            </a:r>
            <a:r>
              <a:rPr kumimoji="0" lang="en-US" sz="3600" b="0" i="0" u="none" strike="noStrike" kern="1200" cap="none" spc="0" normalizeH="0" baseline="0" noProof="0" dirty="0">
                <a:ln>
                  <a:noFill/>
                </a:ln>
                <a:solidFill>
                  <a:prstClr val="black"/>
                </a:solidFill>
                <a:effectLst/>
                <a:uLnTx/>
                <a:uFillTx/>
                <a:latin typeface="Arial"/>
                <a:ea typeface="+mn-ea"/>
                <a:cs typeface="+mn-cs"/>
              </a:rPr>
              <a:t> </a:t>
            </a:r>
          </a:p>
        </p:txBody>
      </p:sp>
      <p:graphicFrame>
        <p:nvGraphicFramePr>
          <p:cNvPr id="23" name="FS6_Chart1">
            <a:extLst>
              <a:ext uri="{FF2B5EF4-FFF2-40B4-BE49-F238E27FC236}">
                <a16:creationId xmlns:a16="http://schemas.microsoft.com/office/drawing/2014/main" id="{6E93C287-12BF-4FE2-A02D-425BD3DCF1DA}"/>
              </a:ext>
            </a:extLst>
          </p:cNvPr>
          <p:cNvGraphicFramePr/>
          <p:nvPr>
            <p:extLst>
              <p:ext uri="{D42A27DB-BD31-4B8C-83A1-F6EECF244321}">
                <p14:modId xmlns:p14="http://schemas.microsoft.com/office/powerpoint/2010/main" val="59284239"/>
              </p:ext>
            </p:extLst>
          </p:nvPr>
        </p:nvGraphicFramePr>
        <p:xfrm>
          <a:off x="7173790" y="569767"/>
          <a:ext cx="5018210" cy="2301382"/>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3E0235B7-9D37-46FF-A76C-FC868A53820F}"/>
              </a:ext>
            </a:extLst>
          </p:cNvPr>
          <p:cNvSpPr/>
          <p:nvPr/>
        </p:nvSpPr>
        <p:spPr>
          <a:xfrm>
            <a:off x="609599" y="5476151"/>
            <a:ext cx="10972800" cy="46166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To date, CDT actively works on ADML Benchmarking, ADML RFP, Network, NDT, CCMU and Form 5500s. Form 5500 is currently on peak season from April to July. GeoAccess and Disruption Analysis ongoing for several RFP clients. </a:t>
            </a:r>
          </a:p>
        </p:txBody>
      </p:sp>
      <p:grpSp>
        <p:nvGrpSpPr>
          <p:cNvPr id="11" name="Group 10">
            <a:extLst>
              <a:ext uri="{FF2B5EF4-FFF2-40B4-BE49-F238E27FC236}">
                <a16:creationId xmlns:a16="http://schemas.microsoft.com/office/drawing/2014/main" id="{BB23DCB1-31EB-447A-B6AA-859C30647317}"/>
              </a:ext>
            </a:extLst>
          </p:cNvPr>
          <p:cNvGrpSpPr/>
          <p:nvPr/>
        </p:nvGrpSpPr>
        <p:grpSpPr>
          <a:xfrm>
            <a:off x="1380034" y="3647310"/>
            <a:ext cx="10335045" cy="276999"/>
            <a:chOff x="933605" y="3943578"/>
            <a:chExt cx="8750144" cy="152163"/>
          </a:xfrm>
        </p:grpSpPr>
        <p:cxnSp>
          <p:nvCxnSpPr>
            <p:cNvPr id="12" name="Straight Connector 11">
              <a:extLst>
                <a:ext uri="{FF2B5EF4-FFF2-40B4-BE49-F238E27FC236}">
                  <a16:creationId xmlns:a16="http://schemas.microsoft.com/office/drawing/2014/main" id="{2C75EB43-8725-469F-827D-8FE39DE0C51D}"/>
                </a:ext>
              </a:extLst>
            </p:cNvPr>
            <p:cNvCxnSpPr/>
            <p:nvPr/>
          </p:nvCxnSpPr>
          <p:spPr>
            <a:xfrm>
              <a:off x="933605" y="4013891"/>
              <a:ext cx="8261351" cy="0"/>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2B63C91-72C5-47F5-91F1-65FFF10F1983}"/>
                </a:ext>
              </a:extLst>
            </p:cNvPr>
            <p:cNvSpPr txBox="1"/>
            <p:nvPr/>
          </p:nvSpPr>
          <p:spPr>
            <a:xfrm>
              <a:off x="9220200" y="3943578"/>
              <a:ext cx="463549" cy="152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H" sz="1200" b="1" i="0" u="none" strike="noStrike" kern="1200" cap="none" spc="0" normalizeH="0" baseline="0" noProof="0" dirty="0">
                  <a:ln>
                    <a:noFill/>
                  </a:ln>
                  <a:solidFill>
                    <a:srgbClr val="C00000"/>
                  </a:solidFill>
                  <a:effectLst/>
                  <a:uLnTx/>
                  <a:uFillTx/>
                  <a:latin typeface="Arial"/>
                  <a:ea typeface="+mn-ea"/>
                  <a:cs typeface="+mn-cs"/>
                </a:rPr>
                <a:t>70%</a:t>
              </a:r>
              <a:endParaRPr kumimoji="0" lang="en-US" sz="1200" b="1" i="0" u="none" strike="noStrike" kern="1200" cap="none" spc="0" normalizeH="0" baseline="0" noProof="0" dirty="0">
                <a:ln>
                  <a:noFill/>
                </a:ln>
                <a:solidFill>
                  <a:srgbClr val="C00000"/>
                </a:solidFill>
                <a:effectLst/>
                <a:uLnTx/>
                <a:uFillTx/>
                <a:latin typeface="Arial"/>
                <a:ea typeface="+mn-ea"/>
                <a:cs typeface="+mn-cs"/>
              </a:endParaRPr>
            </a:p>
          </p:txBody>
        </p:sp>
      </p:grpSp>
    </p:spTree>
    <p:extLst>
      <p:ext uri="{BB962C8B-B14F-4D97-AF65-F5344CB8AC3E}">
        <p14:creationId xmlns:p14="http://schemas.microsoft.com/office/powerpoint/2010/main" val="2455297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Financials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D9BB-E121-47E0-84AA-250D1B8A4A64}"/>
              </a:ext>
            </a:extLst>
          </p:cNvPr>
          <p:cNvSpPr>
            <a:spLocks noGrp="1"/>
          </p:cNvSpPr>
          <p:nvPr>
            <p:ph type="title"/>
          </p:nvPr>
        </p:nvSpPr>
        <p:spPr>
          <a:xfrm>
            <a:off x="609600" y="465218"/>
            <a:ext cx="10972800" cy="307777"/>
          </a:xfrm>
        </p:spPr>
        <p:txBody>
          <a:bodyPr/>
          <a:lstStyle/>
          <a:p>
            <a:r>
              <a:rPr lang="en-US" dirty="0"/>
              <a:t>Financials</a:t>
            </a:r>
          </a:p>
        </p:txBody>
      </p:sp>
      <p:sp>
        <p:nvSpPr>
          <p:cNvPr id="3" name="Text Placeholder 2">
            <a:extLst>
              <a:ext uri="{FF2B5EF4-FFF2-40B4-BE49-F238E27FC236}">
                <a16:creationId xmlns:a16="http://schemas.microsoft.com/office/drawing/2014/main" id="{1412CF9B-39B1-4BB6-AF1E-567C3B99B156}"/>
              </a:ext>
            </a:extLst>
          </p:cNvPr>
          <p:cNvSpPr>
            <a:spLocks noGrp="1"/>
          </p:cNvSpPr>
          <p:nvPr>
            <p:ph type="body" sz="quarter" idx="13"/>
          </p:nvPr>
        </p:nvSpPr>
        <p:spPr/>
        <p:txBody>
          <a:bodyPr/>
          <a:lstStyle/>
          <a:p>
            <a:r>
              <a:rPr lang="en-US" dirty="0"/>
              <a:t>RFP Team</a:t>
            </a:r>
          </a:p>
        </p:txBody>
      </p:sp>
      <p:sp>
        <p:nvSpPr>
          <p:cNvPr id="5" name="Slide Number Placeholder 4">
            <a:extLst>
              <a:ext uri="{FF2B5EF4-FFF2-40B4-BE49-F238E27FC236}">
                <a16:creationId xmlns:a16="http://schemas.microsoft.com/office/drawing/2014/main" id="{8473DCB9-E90B-406B-A9C5-1D77D082E8B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AA029A2C-36E2-4366-A30E-F510E6F2A7B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17" name="FS7_Chart2">
            <a:extLst>
              <a:ext uri="{FF2B5EF4-FFF2-40B4-BE49-F238E27FC236}">
                <a16:creationId xmlns:a16="http://schemas.microsoft.com/office/drawing/2014/main" id="{19EC4654-1711-490C-AA7E-FB43F53F7AAF}"/>
              </a:ext>
            </a:extLst>
          </p:cNvPr>
          <p:cNvGraphicFramePr>
            <a:graphicFrameLocks noGrp="1"/>
          </p:cNvGraphicFramePr>
          <p:nvPr>
            <p:ph idx="1"/>
            <p:extLst>
              <p:ext uri="{D42A27DB-BD31-4B8C-83A1-F6EECF244321}">
                <p14:modId xmlns:p14="http://schemas.microsoft.com/office/powerpoint/2010/main" val="1947555396"/>
              </p:ext>
            </p:extLst>
          </p:nvPr>
        </p:nvGraphicFramePr>
        <p:xfrm>
          <a:off x="278081" y="2379220"/>
          <a:ext cx="11635838" cy="3443887"/>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id="{0273D742-F9FA-4818-B0DA-5E222EFCB417}"/>
              </a:ext>
            </a:extLst>
          </p:cNvPr>
          <p:cNvSpPr txBox="1"/>
          <p:nvPr/>
        </p:nvSpPr>
        <p:spPr>
          <a:xfrm>
            <a:off x="726558" y="1258793"/>
            <a:ext cx="1418766"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{{M1}} MTD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110A0"/>
                </a:solidFill>
                <a:effectLst/>
                <a:uLnTx/>
                <a:uFillTx/>
                <a:latin typeface="Arial"/>
                <a:ea typeface="+mn-ea"/>
                <a:cs typeface="+mn-cs"/>
              </a:rPr>
              <a:t>{{P2}}%</a:t>
            </a:r>
            <a:endParaRPr kumimoji="0" lang="en-US" sz="36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Rectangle 3">
            <a:extLst>
              <a:ext uri="{FF2B5EF4-FFF2-40B4-BE49-F238E27FC236}">
                <a16:creationId xmlns:a16="http://schemas.microsoft.com/office/drawing/2014/main" id="{3E0235B7-9D37-46FF-A76C-FC868A53820F}"/>
              </a:ext>
            </a:extLst>
          </p:cNvPr>
          <p:cNvSpPr/>
          <p:nvPr/>
        </p:nvSpPr>
        <p:spPr>
          <a:xfrm>
            <a:off x="609599" y="5823108"/>
            <a:ext cx="11064951" cy="461665"/>
          </a:xfrm>
          <a:prstGeom prst="rect">
            <a:avLst/>
          </a:prstGeom>
        </p:spPr>
        <p:txBody>
          <a:bodyPr wrap="square">
            <a:spAutoFit/>
          </a:bodyPr>
          <a:lstStyle/>
          <a:p>
            <a:pPr lvl="0" algn="just">
              <a:defRPr/>
            </a:pPr>
            <a:r>
              <a:rPr lang="en-US" sz="1200" dirty="0">
                <a:solidFill>
                  <a:prstClr val="black"/>
                </a:solidFill>
              </a:rPr>
              <a:t>We continued to work on monitoring mailboxes and sending Priority emails for Carrier Operations. We received an additional 5 RFPs for month of May 2021. Stop Loss RFP Ongoing in May 2021. Tentative Placement RFP work from B&amp;A pending training and transition around July 2021. </a:t>
            </a:r>
          </a:p>
        </p:txBody>
      </p:sp>
      <p:sp>
        <p:nvSpPr>
          <p:cNvPr id="10" name="TextBox 9">
            <a:extLst>
              <a:ext uri="{FF2B5EF4-FFF2-40B4-BE49-F238E27FC236}">
                <a16:creationId xmlns:a16="http://schemas.microsoft.com/office/drawing/2014/main" id="{D56BEAB3-B80B-46F6-BD37-387F327F7D6F}"/>
              </a:ext>
            </a:extLst>
          </p:cNvPr>
          <p:cNvSpPr txBox="1"/>
          <p:nvPr/>
        </p:nvSpPr>
        <p:spPr>
          <a:xfrm>
            <a:off x="2011679" y="1293634"/>
            <a:ext cx="4442284" cy="1308050"/>
          </a:xfrm>
          <a:prstGeom prst="rect">
            <a:avLst/>
          </a:prstGeom>
          <a:noFill/>
        </p:spPr>
        <p:txBody>
          <a:bodyPr wrap="square" rtlCol="0">
            <a:spAutoFit/>
          </a:bodyPr>
          <a:lstStyle/>
          <a:p>
            <a:pPr algn="just">
              <a:defRPr/>
            </a:pPr>
            <a:r>
              <a:rPr lang="en-US" sz="1300" dirty="0">
                <a:solidFill>
                  <a:prstClr val="black"/>
                </a:solidFill>
              </a:rPr>
              <a:t>We received a total of </a:t>
            </a:r>
            <a:r>
              <a:rPr lang="en-US" sz="1300" b="1" dirty="0">
                <a:solidFill>
                  <a:prstClr val="black"/>
                </a:solidFill>
              </a:rPr>
              <a:t>{{N1}} RFPs</a:t>
            </a:r>
            <a:r>
              <a:rPr lang="en-US" sz="1300" dirty="0">
                <a:solidFill>
                  <a:prstClr val="black"/>
                </a:solidFill>
              </a:rPr>
              <a:t> accounts in {{M1}} and </a:t>
            </a:r>
            <a:r>
              <a:rPr lang="en-US" sz="1300" b="1" dirty="0">
                <a:solidFill>
                  <a:prstClr val="black"/>
                </a:solidFill>
              </a:rPr>
              <a:t>{{N2}} RFPs</a:t>
            </a:r>
            <a:r>
              <a:rPr lang="en-US" sz="1300" dirty="0">
                <a:solidFill>
                  <a:prstClr val="black"/>
                </a:solidFill>
              </a:rPr>
              <a:t> total YTD 2021. Low work volume with Carrier Operations expected for 1H {{Y1}}. Project coordinators spent most of their time with RFP work.</a:t>
            </a:r>
            <a:r>
              <a:rPr kumimoji="0" lang="en-US" sz="1300" b="0" i="0" u="none" strike="noStrike" kern="1200" cap="none" spc="0" normalizeH="0" baseline="0" noProof="0" dirty="0">
                <a:ln>
                  <a:noFill/>
                </a:ln>
                <a:solidFill>
                  <a:prstClr val="black"/>
                </a:solidFill>
                <a:effectLst/>
                <a:uLnTx/>
                <a:uFillTx/>
                <a:latin typeface="Arial"/>
                <a:ea typeface="+mn-ea"/>
                <a:cs typeface="+mn-cs"/>
              </a:rPr>
              <a:t> </a:t>
            </a:r>
            <a:r>
              <a:rPr kumimoji="0" lang="en-US" sz="1300" b="1" i="0" u="none" strike="noStrike" kern="1200" cap="none" spc="0" normalizeH="0" baseline="0" noProof="0" dirty="0">
                <a:ln>
                  <a:noFill/>
                </a:ln>
                <a:solidFill>
                  <a:prstClr val="black"/>
                </a:solidFill>
                <a:effectLst/>
                <a:uLnTx/>
                <a:uFillTx/>
                <a:latin typeface="Arial"/>
                <a:ea typeface="+mn-ea"/>
                <a:cs typeface="+mn-cs"/>
              </a:rPr>
              <a:t>YTD</a:t>
            </a:r>
            <a:r>
              <a:rPr kumimoji="0" lang="en-US" sz="1300" b="0" i="0" u="none" strike="noStrike" kern="1200" cap="none" spc="0" normalizeH="0" baseline="0" noProof="0" dirty="0">
                <a:ln>
                  <a:noFill/>
                </a:ln>
                <a:solidFill>
                  <a:prstClr val="black"/>
                </a:solidFill>
                <a:effectLst/>
                <a:uLnTx/>
                <a:uFillTx/>
                <a:latin typeface="Arial"/>
                <a:ea typeface="+mn-ea"/>
                <a:cs typeface="+mn-cs"/>
              </a:rPr>
              <a:t> Utilization is at </a:t>
            </a:r>
            <a:r>
              <a:rPr kumimoji="0" lang="en-US" sz="1300" b="1" i="0" u="none" strike="noStrike" kern="1200" cap="none" spc="0" normalizeH="0" baseline="0" noProof="0" dirty="0">
                <a:ln>
                  <a:noFill/>
                </a:ln>
                <a:solidFill>
                  <a:prstClr val="black"/>
                </a:solidFill>
                <a:effectLst/>
                <a:uLnTx/>
                <a:uFillTx/>
                <a:latin typeface="Arial"/>
                <a:ea typeface="+mn-ea"/>
                <a:cs typeface="+mn-cs"/>
              </a:rPr>
              <a:t>{{P1}}%</a:t>
            </a:r>
            <a:r>
              <a:rPr kumimoji="0" lang="en-US" sz="1300" b="0" i="0" u="none" strike="noStrike" kern="1200" cap="none" spc="0" normalizeH="0" baseline="0" noProof="0" dirty="0">
                <a:ln>
                  <a:noFill/>
                </a:ln>
                <a:solidFill>
                  <a:prstClr val="black"/>
                </a:solidFill>
                <a:effectLst/>
                <a:uLnTx/>
                <a:uFillTx/>
                <a:latin typeface="Arial"/>
                <a:ea typeface="+mn-ea"/>
                <a:cs typeface="+mn-cs"/>
              </a:rPr>
              <a:t>.</a:t>
            </a:r>
            <a:endParaRPr kumimoji="0" lang="en-US" sz="1300" b="1" i="1"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grpSp>
        <p:nvGrpSpPr>
          <p:cNvPr id="12" name="Group 11">
            <a:extLst>
              <a:ext uri="{FF2B5EF4-FFF2-40B4-BE49-F238E27FC236}">
                <a16:creationId xmlns:a16="http://schemas.microsoft.com/office/drawing/2014/main" id="{596BB486-900E-4953-B0DA-C3DDDAB8B6EA}"/>
              </a:ext>
            </a:extLst>
          </p:cNvPr>
          <p:cNvGrpSpPr/>
          <p:nvPr/>
        </p:nvGrpSpPr>
        <p:grpSpPr>
          <a:xfrm>
            <a:off x="995999" y="3250159"/>
            <a:ext cx="11196001" cy="230832"/>
            <a:chOff x="897422" y="3468130"/>
            <a:chExt cx="9349764" cy="558043"/>
          </a:xfrm>
        </p:grpSpPr>
        <p:cxnSp>
          <p:nvCxnSpPr>
            <p:cNvPr id="13" name="Straight Connector 12">
              <a:extLst>
                <a:ext uri="{FF2B5EF4-FFF2-40B4-BE49-F238E27FC236}">
                  <a16:creationId xmlns:a16="http://schemas.microsoft.com/office/drawing/2014/main" id="{A68D0DF5-1884-4DFD-B3BA-68EF322E6270}"/>
                </a:ext>
              </a:extLst>
            </p:cNvPr>
            <p:cNvCxnSpPr>
              <a:cxnSpLocks/>
            </p:cNvCxnSpPr>
            <p:nvPr/>
          </p:nvCxnSpPr>
          <p:spPr>
            <a:xfrm>
              <a:off x="897422" y="3747151"/>
              <a:ext cx="8786328" cy="0"/>
            </a:xfrm>
            <a:prstGeom prst="line">
              <a:avLst/>
            </a:prstGeom>
            <a:ln w="28575">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D261833-8FA3-4431-90E0-7DD7CFEFD85D}"/>
                </a:ext>
              </a:extLst>
            </p:cNvPr>
            <p:cNvSpPr txBox="1"/>
            <p:nvPr/>
          </p:nvSpPr>
          <p:spPr>
            <a:xfrm>
              <a:off x="9783637" y="3468130"/>
              <a:ext cx="463549" cy="5580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H" sz="900" b="1" i="0" u="none" strike="noStrike" kern="1200" cap="none" spc="0" normalizeH="0" baseline="0" noProof="0" dirty="0">
                  <a:ln>
                    <a:noFill/>
                  </a:ln>
                  <a:solidFill>
                    <a:srgbClr val="C00000"/>
                  </a:solidFill>
                  <a:effectLst/>
                  <a:uLnTx/>
                  <a:uFillTx/>
                  <a:latin typeface="Arial"/>
                  <a:ea typeface="+mn-ea"/>
                  <a:cs typeface="+mn-cs"/>
                </a:rPr>
                <a:t>75%</a:t>
              </a:r>
              <a:endParaRPr kumimoji="0" lang="en-US" sz="900" b="1" i="0" u="none" strike="noStrike" kern="1200" cap="none" spc="0" normalizeH="0" baseline="0" noProof="0" dirty="0">
                <a:ln>
                  <a:noFill/>
                </a:ln>
                <a:solidFill>
                  <a:srgbClr val="C00000"/>
                </a:solidFill>
                <a:effectLst/>
                <a:uLnTx/>
                <a:uFillTx/>
                <a:latin typeface="Arial"/>
                <a:ea typeface="+mn-ea"/>
                <a:cs typeface="+mn-cs"/>
              </a:endParaRPr>
            </a:p>
          </p:txBody>
        </p:sp>
      </p:grpSp>
      <p:graphicFrame>
        <p:nvGraphicFramePr>
          <p:cNvPr id="9" name="FS7_Chart1">
            <a:extLst>
              <a:ext uri="{FF2B5EF4-FFF2-40B4-BE49-F238E27FC236}">
                <a16:creationId xmlns:a16="http://schemas.microsoft.com/office/drawing/2014/main" id="{9E8F4B32-14B7-4D28-84CF-0C49CA249488}"/>
              </a:ext>
            </a:extLst>
          </p:cNvPr>
          <p:cNvGraphicFramePr/>
          <p:nvPr>
            <p:extLst>
              <p:ext uri="{D42A27DB-BD31-4B8C-83A1-F6EECF244321}">
                <p14:modId xmlns:p14="http://schemas.microsoft.com/office/powerpoint/2010/main" val="104205804"/>
              </p:ext>
            </p:extLst>
          </p:nvPr>
        </p:nvGraphicFramePr>
        <p:xfrm>
          <a:off x="6546273" y="248197"/>
          <a:ext cx="5444836" cy="21520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52689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inancials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6FCF-F793-431F-AE47-4C21B0768333}"/>
              </a:ext>
            </a:extLst>
          </p:cNvPr>
          <p:cNvSpPr>
            <a:spLocks noGrp="1"/>
          </p:cNvSpPr>
          <p:nvPr>
            <p:ph type="title"/>
          </p:nvPr>
        </p:nvSpPr>
        <p:spPr/>
        <p:txBody>
          <a:bodyPr/>
          <a:lstStyle/>
          <a:p>
            <a:r>
              <a:rPr lang="en-US" dirty="0"/>
              <a:t>Financials</a:t>
            </a:r>
          </a:p>
        </p:txBody>
      </p:sp>
      <p:sp>
        <p:nvSpPr>
          <p:cNvPr id="3" name="Text Placeholder 2">
            <a:extLst>
              <a:ext uri="{FF2B5EF4-FFF2-40B4-BE49-F238E27FC236}">
                <a16:creationId xmlns:a16="http://schemas.microsoft.com/office/drawing/2014/main" id="{D97309D0-777D-49C6-A943-F7E72BDDC2B9}"/>
              </a:ext>
            </a:extLst>
          </p:cNvPr>
          <p:cNvSpPr>
            <a:spLocks noGrp="1"/>
          </p:cNvSpPr>
          <p:nvPr>
            <p:ph type="body" sz="quarter" idx="13"/>
          </p:nvPr>
        </p:nvSpPr>
        <p:spPr/>
        <p:txBody>
          <a:bodyPr/>
          <a:lstStyle/>
          <a:p>
            <a:r>
              <a:rPr lang="en-US" dirty="0"/>
              <a:t>Client Transition Update</a:t>
            </a:r>
          </a:p>
        </p:txBody>
      </p:sp>
      <p:sp>
        <p:nvSpPr>
          <p:cNvPr id="5" name="Slide Number Placeholder 4">
            <a:extLst>
              <a:ext uri="{FF2B5EF4-FFF2-40B4-BE49-F238E27FC236}">
                <a16:creationId xmlns:a16="http://schemas.microsoft.com/office/drawing/2014/main" id="{F926A874-C700-477C-A927-2AFB52102272}"/>
              </a:ext>
            </a:extLst>
          </p:cNvPr>
          <p:cNvSpPr>
            <a:spLocks noGrp="1"/>
          </p:cNvSpPr>
          <p:nvPr>
            <p:ph type="sldNum" sz="quarter" idx="4"/>
          </p:nvPr>
        </p:nvSpPr>
        <p:spPr/>
        <p:txBody>
          <a:bodyPr/>
          <a:lstStyle/>
          <a:p>
            <a:fld id="{2083E393-C0BF-4ED8-8545-7E4C90AFF831}" type="slidenum">
              <a:rPr lang="en-US" smtClean="0"/>
              <a:pPr/>
              <a:t>12</a:t>
            </a:fld>
            <a:endParaRPr lang="en-US" dirty="0"/>
          </a:p>
        </p:txBody>
      </p:sp>
      <p:sp>
        <p:nvSpPr>
          <p:cNvPr id="6" name="Footer Placeholder 5">
            <a:extLst>
              <a:ext uri="{FF2B5EF4-FFF2-40B4-BE49-F238E27FC236}">
                <a16:creationId xmlns:a16="http://schemas.microsoft.com/office/drawing/2014/main" id="{BF33AECB-602C-4F1A-829E-1AE1A341EA59}"/>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sp>
        <p:nvSpPr>
          <p:cNvPr id="21" name="TextBox 20">
            <a:extLst>
              <a:ext uri="{FF2B5EF4-FFF2-40B4-BE49-F238E27FC236}">
                <a16:creationId xmlns:a16="http://schemas.microsoft.com/office/drawing/2014/main" id="{89A30110-82C2-4EAE-BB9B-03DBD7258FC6}"/>
              </a:ext>
            </a:extLst>
          </p:cNvPr>
          <p:cNvSpPr txBox="1"/>
          <p:nvPr/>
        </p:nvSpPr>
        <p:spPr>
          <a:xfrm>
            <a:off x="509376" y="5926955"/>
            <a:ext cx="2659702" cy="261610"/>
          </a:xfrm>
          <a:prstGeom prst="rect">
            <a:avLst/>
          </a:prstGeom>
          <a:noFill/>
        </p:spPr>
        <p:txBody>
          <a:bodyPr wrap="none" rtlCol="0">
            <a:spAutoFit/>
          </a:bodyPr>
          <a:lstStyle/>
          <a:p>
            <a:r>
              <a:rPr lang="en-PH" sz="1100" i="1" dirty="0"/>
              <a:t>**Please see attached file for full details</a:t>
            </a:r>
            <a:endParaRPr lang="en-US" sz="1100" i="1" dirty="0"/>
          </a:p>
        </p:txBody>
      </p:sp>
      <p:sp>
        <p:nvSpPr>
          <p:cNvPr id="9" name="TextBox 8">
            <a:extLst>
              <a:ext uri="{FF2B5EF4-FFF2-40B4-BE49-F238E27FC236}">
                <a16:creationId xmlns:a16="http://schemas.microsoft.com/office/drawing/2014/main" id="{5FA89409-D26F-4D1C-8731-F756F6C5057A}"/>
              </a:ext>
            </a:extLst>
          </p:cNvPr>
          <p:cNvSpPr txBox="1"/>
          <p:nvPr/>
        </p:nvSpPr>
        <p:spPr>
          <a:xfrm>
            <a:off x="509376" y="2166704"/>
            <a:ext cx="4592732" cy="646331"/>
          </a:xfrm>
          <a:prstGeom prst="rect">
            <a:avLst/>
          </a:prstGeom>
          <a:noFill/>
        </p:spPr>
        <p:txBody>
          <a:bodyPr wrap="none" rtlCol="0">
            <a:spAutoFit/>
          </a:bodyPr>
          <a:lstStyle/>
          <a:p>
            <a:pPr marL="171450" indent="-171450">
              <a:buFont typeface="Arial" panose="020B0604020202020204" pitchFamily="34" charset="0"/>
              <a:buChar char="•"/>
            </a:pPr>
            <a:r>
              <a:rPr lang="en-US" sz="1200" dirty="0"/>
              <a:t>Pending accounts down to 36 </a:t>
            </a:r>
            <a:r>
              <a:rPr lang="en-US" sz="1200"/>
              <a:t>by December </a:t>
            </a:r>
            <a:r>
              <a:rPr lang="en-US" sz="1200" dirty="0"/>
              <a:t>ME</a:t>
            </a:r>
          </a:p>
          <a:p>
            <a:pPr marL="628650" lvl="1" indent="-171450">
              <a:buFont typeface="Arial" panose="020B0604020202020204" pitchFamily="34" charset="0"/>
              <a:buChar char="•"/>
            </a:pPr>
            <a:r>
              <a:rPr lang="en-US" sz="1200" dirty="0"/>
              <a:t>17 accounts from Waves 1-3; 16 accounts from Wave 4</a:t>
            </a:r>
          </a:p>
          <a:p>
            <a:pPr marL="628650" lvl="1" indent="-171450">
              <a:buFont typeface="Arial" panose="020B0604020202020204" pitchFamily="34" charset="0"/>
              <a:buChar char="•"/>
            </a:pPr>
            <a:r>
              <a:rPr lang="en-US" sz="1200" dirty="0"/>
              <a:t>3 new transitioned accounts</a:t>
            </a:r>
          </a:p>
        </p:txBody>
      </p:sp>
      <p:sp>
        <p:nvSpPr>
          <p:cNvPr id="14" name="TextBox 13">
            <a:extLst>
              <a:ext uri="{FF2B5EF4-FFF2-40B4-BE49-F238E27FC236}">
                <a16:creationId xmlns:a16="http://schemas.microsoft.com/office/drawing/2014/main" id="{10BFF8B7-B643-485D-8425-0D441FDD6703}"/>
              </a:ext>
            </a:extLst>
          </p:cNvPr>
          <p:cNvSpPr txBox="1"/>
          <p:nvPr/>
        </p:nvSpPr>
        <p:spPr>
          <a:xfrm>
            <a:off x="126126" y="4806618"/>
            <a:ext cx="6379778" cy="830997"/>
          </a:xfrm>
          <a:prstGeom prst="rect">
            <a:avLst/>
          </a:prstGeom>
          <a:noFill/>
        </p:spPr>
        <p:txBody>
          <a:bodyPr wrap="square" rtlCol="0">
            <a:spAutoFit/>
          </a:bodyPr>
          <a:lstStyle/>
          <a:p>
            <a:pPr marL="628650" lvl="1" indent="-171450">
              <a:buFont typeface="Arial" panose="020B0604020202020204" pitchFamily="34" charset="0"/>
              <a:buChar char="•"/>
            </a:pPr>
            <a:r>
              <a:rPr lang="en-US" sz="1200" dirty="0"/>
              <a:t>Total of 46 accounts under Wave 4 as of this writing</a:t>
            </a:r>
          </a:p>
          <a:p>
            <a:pPr marL="1085850" lvl="2" indent="-171450">
              <a:buFont typeface="Arial" panose="020B0604020202020204" pitchFamily="34" charset="0"/>
              <a:buChar char="•"/>
            </a:pPr>
            <a:r>
              <a:rPr lang="en-US" sz="1200" dirty="0"/>
              <a:t>27 Initial Transition</a:t>
            </a:r>
          </a:p>
          <a:p>
            <a:pPr marL="1085850" lvl="2" indent="-171450">
              <a:buFont typeface="Arial" panose="020B0604020202020204" pitchFamily="34" charset="0"/>
              <a:buChar char="•"/>
            </a:pPr>
            <a:r>
              <a:rPr lang="en-US" sz="1200" dirty="0"/>
              <a:t>19 Additional accounts</a:t>
            </a:r>
          </a:p>
          <a:p>
            <a:pPr marL="1085850" lvl="2" indent="-171450">
              <a:buFont typeface="Arial" panose="020B0604020202020204" pitchFamily="34" charset="0"/>
              <a:buChar char="•"/>
            </a:pPr>
            <a:r>
              <a:rPr lang="en-US" sz="1200" dirty="0"/>
              <a:t>48% already active, 43% pending activity, 9% terminated/moved to US DMT</a:t>
            </a:r>
          </a:p>
        </p:txBody>
      </p:sp>
      <p:pic>
        <p:nvPicPr>
          <p:cNvPr id="15" name="Picture 14">
            <a:extLst>
              <a:ext uri="{FF2B5EF4-FFF2-40B4-BE49-F238E27FC236}">
                <a16:creationId xmlns:a16="http://schemas.microsoft.com/office/drawing/2014/main" id="{E14FEB19-6131-4131-9050-145A5E546736}"/>
              </a:ext>
            </a:extLst>
          </p:cNvPr>
          <p:cNvPicPr>
            <a:picLocks noChangeAspect="1"/>
          </p:cNvPicPr>
          <p:nvPr/>
        </p:nvPicPr>
        <p:blipFill>
          <a:blip r:embed="rId4"/>
          <a:stretch>
            <a:fillRect/>
          </a:stretch>
        </p:blipFill>
        <p:spPr>
          <a:xfrm>
            <a:off x="6604033" y="533925"/>
            <a:ext cx="5133975" cy="5505450"/>
          </a:xfrm>
          <a:prstGeom prst="rect">
            <a:avLst/>
          </a:prstGeom>
        </p:spPr>
      </p:pic>
      <p:graphicFrame>
        <p:nvGraphicFramePr>
          <p:cNvPr id="16" name="Table 15">
            <a:extLst>
              <a:ext uri="{FF2B5EF4-FFF2-40B4-BE49-F238E27FC236}">
                <a16:creationId xmlns:a16="http://schemas.microsoft.com/office/drawing/2014/main" id="{B026D047-04CC-471E-91D7-067903C8977A}"/>
              </a:ext>
            </a:extLst>
          </p:cNvPr>
          <p:cNvGraphicFramePr>
            <a:graphicFrameLocks noGrp="1"/>
          </p:cNvGraphicFramePr>
          <p:nvPr>
            <p:extLst>
              <p:ext uri="{D42A27DB-BD31-4B8C-83A1-F6EECF244321}">
                <p14:modId xmlns:p14="http://schemas.microsoft.com/office/powerpoint/2010/main" val="3404151808"/>
              </p:ext>
            </p:extLst>
          </p:nvPr>
        </p:nvGraphicFramePr>
        <p:xfrm>
          <a:off x="747079" y="1390639"/>
          <a:ext cx="4066659" cy="553179"/>
        </p:xfrm>
        <a:graphic>
          <a:graphicData uri="http://schemas.openxmlformats.org/drawingml/2006/table">
            <a:tbl>
              <a:tblPr/>
              <a:tblGrid>
                <a:gridCol w="1368974">
                  <a:extLst>
                    <a:ext uri="{9D8B030D-6E8A-4147-A177-3AD203B41FA5}">
                      <a16:colId xmlns:a16="http://schemas.microsoft.com/office/drawing/2014/main" val="2760134174"/>
                    </a:ext>
                  </a:extLst>
                </a:gridCol>
                <a:gridCol w="523431">
                  <a:extLst>
                    <a:ext uri="{9D8B030D-6E8A-4147-A177-3AD203B41FA5}">
                      <a16:colId xmlns:a16="http://schemas.microsoft.com/office/drawing/2014/main" val="1682762868"/>
                    </a:ext>
                  </a:extLst>
                </a:gridCol>
                <a:gridCol w="583827">
                  <a:extLst>
                    <a:ext uri="{9D8B030D-6E8A-4147-A177-3AD203B41FA5}">
                      <a16:colId xmlns:a16="http://schemas.microsoft.com/office/drawing/2014/main" val="936384666"/>
                    </a:ext>
                  </a:extLst>
                </a:gridCol>
                <a:gridCol w="946203">
                  <a:extLst>
                    <a:ext uri="{9D8B030D-6E8A-4147-A177-3AD203B41FA5}">
                      <a16:colId xmlns:a16="http://schemas.microsoft.com/office/drawing/2014/main" val="1822379656"/>
                    </a:ext>
                  </a:extLst>
                </a:gridCol>
                <a:gridCol w="644224">
                  <a:extLst>
                    <a:ext uri="{9D8B030D-6E8A-4147-A177-3AD203B41FA5}">
                      <a16:colId xmlns:a16="http://schemas.microsoft.com/office/drawing/2014/main" val="628745721"/>
                    </a:ext>
                  </a:extLst>
                </a:gridCol>
              </a:tblGrid>
              <a:tr h="181867">
                <a:tc>
                  <a:txBody>
                    <a:bodyPr/>
                    <a:lstStyle/>
                    <a:p>
                      <a:pPr algn="l" rtl="0" fontAlgn="ctr"/>
                      <a:r>
                        <a:rPr lang="en-US" sz="1000" b="1" i="0" u="none" strike="noStrike">
                          <a:solidFill>
                            <a:srgbClr val="FFFFFF"/>
                          </a:solidFill>
                          <a:effectLst/>
                          <a:latin typeface="Calibri" panose="020F0502020204030204" pitchFamily="34" charset="0"/>
                        </a:rPr>
                        <a:t>Account Status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02082"/>
                    </a:solidFill>
                  </a:tcPr>
                </a:tc>
                <a:tc>
                  <a:txBody>
                    <a:bodyPr/>
                    <a:lstStyle/>
                    <a:p>
                      <a:pPr algn="ctr" rtl="0" fontAlgn="ctr"/>
                      <a:r>
                        <a:rPr lang="en-US" sz="1000" b="1" i="0" u="none" strike="noStrike">
                          <a:solidFill>
                            <a:srgbClr val="FFFFFF"/>
                          </a:solidFill>
                          <a:effectLst/>
                          <a:latin typeface="Calibri" panose="020F0502020204030204" pitchFamily="34" charset="0"/>
                        </a:rPr>
                        <a:t>EAST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02082"/>
                    </a:solidFill>
                  </a:tcPr>
                </a:tc>
                <a:tc>
                  <a:txBody>
                    <a:bodyPr/>
                    <a:lstStyle/>
                    <a:p>
                      <a:pPr algn="ctr" rtl="0" fontAlgn="ctr"/>
                      <a:r>
                        <a:rPr lang="en-US" sz="1000" b="1" i="0" u="none" strike="noStrike">
                          <a:solidFill>
                            <a:srgbClr val="FFFFFF"/>
                          </a:solidFill>
                          <a:effectLst/>
                          <a:latin typeface="Calibri" panose="020F0502020204030204" pitchFamily="34" charset="0"/>
                        </a:rPr>
                        <a:t>WEST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02082"/>
                    </a:solidFill>
                  </a:tcPr>
                </a:tc>
                <a:tc>
                  <a:txBody>
                    <a:bodyPr/>
                    <a:lstStyle/>
                    <a:p>
                      <a:pPr algn="ctr" rtl="0" fontAlgn="ctr"/>
                      <a:r>
                        <a:rPr lang="en-US" sz="1000" b="1" i="0" u="none" strike="noStrike">
                          <a:solidFill>
                            <a:srgbClr val="FFFFFF"/>
                          </a:solidFill>
                          <a:effectLst/>
                          <a:latin typeface="Calibri" panose="020F0502020204030204" pitchFamily="34" charset="0"/>
                        </a:rPr>
                        <a:t>MIDWEST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02082"/>
                    </a:solidFill>
                  </a:tcPr>
                </a:tc>
                <a:tc>
                  <a:txBody>
                    <a:bodyPr/>
                    <a:lstStyle/>
                    <a:p>
                      <a:pPr algn="ctr" rtl="0" fontAlgn="ctr"/>
                      <a:r>
                        <a:rPr lang="en-US" sz="1000" b="1" i="0" u="none" strike="noStrike">
                          <a:solidFill>
                            <a:srgbClr val="FFFFFF"/>
                          </a:solidFill>
                          <a:effectLst/>
                          <a:latin typeface="Calibri" panose="020F0502020204030204" pitchFamily="34" charset="0"/>
                        </a:rPr>
                        <a:t>TOTAL</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2988756150"/>
                  </a:ext>
                </a:extLst>
              </a:tr>
              <a:tr h="189445">
                <a:tc>
                  <a:txBody>
                    <a:bodyPr/>
                    <a:lstStyle/>
                    <a:p>
                      <a:pPr algn="l" rtl="0" fontAlgn="ctr"/>
                      <a:r>
                        <a:rPr lang="en-US" sz="1000" b="0" i="0" u="none" strike="noStrike">
                          <a:solidFill>
                            <a:srgbClr val="000000"/>
                          </a:solidFill>
                          <a:effectLst/>
                          <a:latin typeface="Calibri" panose="020F0502020204030204" pitchFamily="34" charset="0"/>
                        </a:rPr>
                        <a:t>Existing</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ctr"/>
                      <a:r>
                        <a:rPr lang="en-US" sz="1000" b="0" i="0" u="none" strike="noStrike">
                          <a:solidFill>
                            <a:srgbClr val="000000"/>
                          </a:solidFill>
                          <a:effectLst/>
                          <a:latin typeface="Calibri" panose="020F0502020204030204" pitchFamily="34" charset="0"/>
                        </a:rPr>
                        <a:t>144</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ctr"/>
                      <a:r>
                        <a:rPr lang="en-US" sz="1000" b="0" i="0" u="none" strike="noStrike">
                          <a:solidFill>
                            <a:srgbClr val="000000"/>
                          </a:solidFill>
                          <a:effectLst/>
                          <a:latin typeface="Calibri" panose="020F0502020204030204" pitchFamily="34" charset="0"/>
                        </a:rPr>
                        <a:t>131</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ctr"/>
                      <a:r>
                        <a:rPr lang="en-US" sz="1000" b="0" i="0" u="none" strike="noStrike">
                          <a:solidFill>
                            <a:srgbClr val="000000"/>
                          </a:solidFill>
                          <a:effectLst/>
                          <a:latin typeface="Calibri" panose="020F0502020204030204" pitchFamily="34" charset="0"/>
                        </a:rPr>
                        <a:t>110</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ctr"/>
                      <a:r>
                        <a:rPr lang="en-US" sz="1000" b="1" i="0" u="none" strike="noStrike">
                          <a:solidFill>
                            <a:srgbClr val="000000"/>
                          </a:solidFill>
                          <a:effectLst/>
                          <a:latin typeface="Calibri" panose="020F0502020204030204" pitchFamily="34" charset="0"/>
                        </a:rPr>
                        <a:t>385</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extLst>
                  <a:ext uri="{0D108BD9-81ED-4DB2-BD59-A6C34878D82A}">
                    <a16:rowId xmlns:a16="http://schemas.microsoft.com/office/drawing/2014/main" val="61395081"/>
                  </a:ext>
                </a:extLst>
              </a:tr>
              <a:tr h="181867">
                <a:tc>
                  <a:txBody>
                    <a:bodyPr/>
                    <a:lstStyle/>
                    <a:p>
                      <a:pPr algn="l" rtl="0" fontAlgn="ctr"/>
                      <a:r>
                        <a:rPr lang="en-US" sz="1000" b="0" i="0" u="none" strike="noStrike">
                          <a:solidFill>
                            <a:srgbClr val="000000"/>
                          </a:solidFill>
                          <a:effectLst/>
                          <a:latin typeface="Calibri" panose="020F0502020204030204" pitchFamily="34" charset="0"/>
                        </a:rPr>
                        <a:t>Pending</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7ED"/>
                    </a:solidFill>
                  </a:tcPr>
                </a:tc>
                <a:tc>
                  <a:txBody>
                    <a:bodyPr/>
                    <a:lstStyle/>
                    <a:p>
                      <a:pPr algn="ctr" rtl="0" fontAlgn="ctr"/>
                      <a:r>
                        <a:rPr lang="en-US" sz="1000" b="0" i="0" u="none" strike="noStrike">
                          <a:solidFill>
                            <a:srgbClr val="000000"/>
                          </a:solidFill>
                          <a:effectLst/>
                          <a:latin typeface="Calibri" panose="020F0502020204030204" pitchFamily="34" charset="0"/>
                        </a:rPr>
                        <a:t>12</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7ED"/>
                    </a:solidFill>
                  </a:tcPr>
                </a:tc>
                <a:tc>
                  <a:txBody>
                    <a:bodyPr/>
                    <a:lstStyle/>
                    <a:p>
                      <a:pPr algn="ctr" rtl="0" fontAlgn="ctr"/>
                      <a:r>
                        <a:rPr lang="en-US" sz="1000" b="0" i="0" u="none" strike="noStrike">
                          <a:solidFill>
                            <a:srgbClr val="000000"/>
                          </a:solidFill>
                          <a:effectLst/>
                          <a:latin typeface="Calibri" panose="020F0502020204030204" pitchFamily="34" charset="0"/>
                        </a:rPr>
                        <a:t>9</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7ED"/>
                    </a:solidFill>
                  </a:tcPr>
                </a:tc>
                <a:tc>
                  <a:txBody>
                    <a:bodyPr/>
                    <a:lstStyle/>
                    <a:p>
                      <a:pPr algn="ctr" rtl="0" fontAlgn="ctr"/>
                      <a:r>
                        <a:rPr lang="en-US" sz="1000" b="0" i="0" u="none" strike="noStrike">
                          <a:solidFill>
                            <a:srgbClr val="000000"/>
                          </a:solidFill>
                          <a:effectLst/>
                          <a:latin typeface="Calibri" panose="020F0502020204030204" pitchFamily="34" charset="0"/>
                        </a:rPr>
                        <a:t>15</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7ED"/>
                    </a:solidFill>
                  </a:tcPr>
                </a:tc>
                <a:tc>
                  <a:txBody>
                    <a:bodyPr/>
                    <a:lstStyle/>
                    <a:p>
                      <a:pPr algn="ctr" rtl="0" fontAlgn="ctr"/>
                      <a:r>
                        <a:rPr lang="en-US" sz="1000" b="1" i="0" u="none" strike="noStrike" dirty="0">
                          <a:solidFill>
                            <a:srgbClr val="000000"/>
                          </a:solidFill>
                          <a:effectLst/>
                          <a:latin typeface="Calibri" panose="020F0502020204030204" pitchFamily="34" charset="0"/>
                        </a:rPr>
                        <a:t>36</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7ED"/>
                    </a:solidFill>
                  </a:tcPr>
                </a:tc>
                <a:extLst>
                  <a:ext uri="{0D108BD9-81ED-4DB2-BD59-A6C34878D82A}">
                    <a16:rowId xmlns:a16="http://schemas.microsoft.com/office/drawing/2014/main" val="2172414661"/>
                  </a:ext>
                </a:extLst>
              </a:tr>
            </a:tbl>
          </a:graphicData>
        </a:graphic>
      </p:graphicFrame>
      <p:graphicFrame>
        <p:nvGraphicFramePr>
          <p:cNvPr id="17" name="Table 16">
            <a:extLst>
              <a:ext uri="{FF2B5EF4-FFF2-40B4-BE49-F238E27FC236}">
                <a16:creationId xmlns:a16="http://schemas.microsoft.com/office/drawing/2014/main" id="{52A0AD44-3E72-4580-85BB-12B6EB31E72C}"/>
              </a:ext>
            </a:extLst>
          </p:cNvPr>
          <p:cNvGraphicFramePr>
            <a:graphicFrameLocks noGrp="1"/>
          </p:cNvGraphicFramePr>
          <p:nvPr>
            <p:extLst>
              <p:ext uri="{D42A27DB-BD31-4B8C-83A1-F6EECF244321}">
                <p14:modId xmlns:p14="http://schemas.microsoft.com/office/powerpoint/2010/main" val="686926805"/>
              </p:ext>
            </p:extLst>
          </p:nvPr>
        </p:nvGraphicFramePr>
        <p:xfrm>
          <a:off x="747079" y="2877958"/>
          <a:ext cx="4635500" cy="1836420"/>
        </p:xfrm>
        <a:graphic>
          <a:graphicData uri="http://schemas.openxmlformats.org/drawingml/2006/table">
            <a:tbl>
              <a:tblPr/>
              <a:tblGrid>
                <a:gridCol w="1816100">
                  <a:extLst>
                    <a:ext uri="{9D8B030D-6E8A-4147-A177-3AD203B41FA5}">
                      <a16:colId xmlns:a16="http://schemas.microsoft.com/office/drawing/2014/main" val="3147422873"/>
                    </a:ext>
                  </a:extLst>
                </a:gridCol>
                <a:gridCol w="609600">
                  <a:extLst>
                    <a:ext uri="{9D8B030D-6E8A-4147-A177-3AD203B41FA5}">
                      <a16:colId xmlns:a16="http://schemas.microsoft.com/office/drawing/2014/main" val="315025854"/>
                    </a:ext>
                  </a:extLst>
                </a:gridCol>
                <a:gridCol w="609600">
                  <a:extLst>
                    <a:ext uri="{9D8B030D-6E8A-4147-A177-3AD203B41FA5}">
                      <a16:colId xmlns:a16="http://schemas.microsoft.com/office/drawing/2014/main" val="2414113801"/>
                    </a:ext>
                  </a:extLst>
                </a:gridCol>
                <a:gridCol w="990600">
                  <a:extLst>
                    <a:ext uri="{9D8B030D-6E8A-4147-A177-3AD203B41FA5}">
                      <a16:colId xmlns:a16="http://schemas.microsoft.com/office/drawing/2014/main" val="2021195278"/>
                    </a:ext>
                  </a:extLst>
                </a:gridCol>
                <a:gridCol w="609600">
                  <a:extLst>
                    <a:ext uri="{9D8B030D-6E8A-4147-A177-3AD203B41FA5}">
                      <a16:colId xmlns:a16="http://schemas.microsoft.com/office/drawing/2014/main" val="4063545090"/>
                    </a:ext>
                  </a:extLst>
                </a:gridCol>
              </a:tblGrid>
              <a:tr h="190500">
                <a:tc>
                  <a:txBody>
                    <a:bodyPr/>
                    <a:lstStyle/>
                    <a:p>
                      <a:pPr algn="ctr" rtl="0" fontAlgn="ctr"/>
                      <a:r>
                        <a:rPr lang="en-US" sz="1100" b="1" i="0" u="none" strike="noStrike">
                          <a:solidFill>
                            <a:srgbClr val="FFFFFF"/>
                          </a:solidFill>
                          <a:effectLst/>
                          <a:latin typeface="Calibri" panose="020F0502020204030204" pitchFamily="34" charset="0"/>
                        </a:rPr>
                        <a:t>WAVE 4 STATUS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2082"/>
                    </a:solidFill>
                  </a:tcPr>
                </a:tc>
                <a:tc>
                  <a:txBody>
                    <a:bodyPr/>
                    <a:lstStyle/>
                    <a:p>
                      <a:pPr algn="ctr" rtl="0" fontAlgn="ctr"/>
                      <a:r>
                        <a:rPr lang="en-US" sz="1100" b="1" i="0" u="none" strike="noStrike">
                          <a:solidFill>
                            <a:srgbClr val="FFFFFF"/>
                          </a:solidFill>
                          <a:effectLst/>
                          <a:latin typeface="Calibri" panose="020F0502020204030204" pitchFamily="34" charset="0"/>
                        </a:rPr>
                        <a:t>EAST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2082"/>
                    </a:solidFill>
                  </a:tcPr>
                </a:tc>
                <a:tc>
                  <a:txBody>
                    <a:bodyPr/>
                    <a:lstStyle/>
                    <a:p>
                      <a:pPr algn="ctr" rtl="0" fontAlgn="ctr"/>
                      <a:r>
                        <a:rPr lang="en-US" sz="1100" b="1" i="0" u="none" strike="noStrike">
                          <a:solidFill>
                            <a:srgbClr val="FFFFFF"/>
                          </a:solidFill>
                          <a:effectLst/>
                          <a:latin typeface="Calibri" panose="020F0502020204030204" pitchFamily="34" charset="0"/>
                        </a:rPr>
                        <a:t>WEST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2082"/>
                    </a:solidFill>
                  </a:tcPr>
                </a:tc>
                <a:tc>
                  <a:txBody>
                    <a:bodyPr/>
                    <a:lstStyle/>
                    <a:p>
                      <a:pPr algn="ctr" rtl="0" fontAlgn="ctr"/>
                      <a:r>
                        <a:rPr lang="en-US" sz="1100" b="1" i="0" u="none" strike="noStrike">
                          <a:solidFill>
                            <a:srgbClr val="FFFFFF"/>
                          </a:solidFill>
                          <a:effectLst/>
                          <a:latin typeface="Calibri" panose="020F0502020204030204" pitchFamily="34" charset="0"/>
                        </a:rPr>
                        <a:t>MIDWEST</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2082"/>
                    </a:solidFill>
                  </a:tcPr>
                </a:tc>
                <a:tc>
                  <a:txBody>
                    <a:bodyPr/>
                    <a:lstStyle/>
                    <a:p>
                      <a:pPr algn="ctr" rtl="0" fontAlgn="ctr"/>
                      <a:r>
                        <a:rPr lang="en-US" sz="1100" b="1" i="0" u="none" strike="noStrike">
                          <a:solidFill>
                            <a:srgbClr val="FFFFFF"/>
                          </a:solidFill>
                          <a:effectLst/>
                          <a:latin typeface="Calibri" panose="020F0502020204030204" pitchFamily="34" charset="0"/>
                        </a:rPr>
                        <a:t>TOTAL</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4202293109"/>
                  </a:ext>
                </a:extLst>
              </a:tr>
              <a:tr h="198120">
                <a:tc>
                  <a:txBody>
                    <a:bodyPr/>
                    <a:lstStyle/>
                    <a:p>
                      <a:pPr algn="l" rtl="0" fontAlgn="ctr"/>
                      <a:r>
                        <a:rPr lang="en-US" sz="1100" b="0" i="0" u="none" strike="noStrike">
                          <a:solidFill>
                            <a:srgbClr val="000000"/>
                          </a:solidFill>
                          <a:effectLst/>
                          <a:latin typeface="Calibri" panose="020F0502020204030204" pitchFamily="34" charset="0"/>
                        </a:rPr>
                        <a:t>Active</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8</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9</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5</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1" i="0" u="none" strike="noStrike">
                          <a:solidFill>
                            <a:srgbClr val="000000"/>
                          </a:solidFill>
                          <a:effectLst/>
                          <a:latin typeface="Calibri" panose="020F0502020204030204" pitchFamily="34" charset="0"/>
                        </a:rPr>
                        <a:t>22</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extLst>
                  <a:ext uri="{0D108BD9-81ED-4DB2-BD59-A6C34878D82A}">
                    <a16:rowId xmlns:a16="http://schemas.microsoft.com/office/drawing/2014/main" val="1345492774"/>
                  </a:ext>
                </a:extLst>
              </a:tr>
              <a:tr h="190500">
                <a:tc>
                  <a:txBody>
                    <a:bodyPr/>
                    <a:lstStyle/>
                    <a:p>
                      <a:pPr algn="l" rtl="0" fontAlgn="ctr"/>
                      <a:r>
                        <a:rPr lang="en-US" sz="1100" b="0" i="0" u="none" strike="noStrike">
                          <a:solidFill>
                            <a:srgbClr val="000000"/>
                          </a:solidFill>
                          <a:effectLst/>
                          <a:latin typeface="Calibri" panose="020F0502020204030204" pitchFamily="34" charset="0"/>
                        </a:rPr>
                        <a:t>Kick-Off Scheduled</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ctr"/>
                      <a:r>
                        <a:rPr lang="en-US" sz="1100" b="0" i="0" u="none" strike="noStrike">
                          <a:solidFill>
                            <a:srgbClr val="000000"/>
                          </a:solidFill>
                          <a:effectLst/>
                          <a:latin typeface="Calibri" panose="020F0502020204030204" pitchFamily="34" charset="0"/>
                        </a:rPr>
                        <a:t>2</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0" i="0" u="none" strike="noStrike">
                          <a:solidFill>
                            <a:srgbClr val="000000"/>
                          </a:solidFill>
                          <a:effectLst/>
                          <a:latin typeface="Calibri" panose="020F0502020204030204" pitchFamily="34" charset="0"/>
                        </a:rPr>
                        <a:t> </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0" i="0" u="none" strike="noStrike">
                          <a:solidFill>
                            <a:srgbClr val="000000"/>
                          </a:solidFill>
                          <a:effectLst/>
                          <a:latin typeface="Calibri" panose="020F0502020204030204" pitchFamily="34" charset="0"/>
                        </a:rPr>
                        <a:t> </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0" i="0" u="none" strike="noStrike">
                          <a:solidFill>
                            <a:srgbClr val="000000"/>
                          </a:solidFill>
                          <a:effectLst/>
                          <a:latin typeface="Calibri" panose="020F0502020204030204" pitchFamily="34" charset="0"/>
                        </a:rPr>
                        <a:t>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extLst>
                  <a:ext uri="{0D108BD9-81ED-4DB2-BD59-A6C34878D82A}">
                    <a16:rowId xmlns:a16="http://schemas.microsoft.com/office/drawing/2014/main" val="1356376713"/>
                  </a:ext>
                </a:extLst>
              </a:tr>
              <a:tr h="373380">
                <a:tc>
                  <a:txBody>
                    <a:bodyPr/>
                    <a:lstStyle/>
                    <a:p>
                      <a:pPr algn="l" rtl="0" fontAlgn="ctr"/>
                      <a:r>
                        <a:rPr lang="en-US" sz="1100" b="0" i="0" u="none" strike="noStrike">
                          <a:solidFill>
                            <a:srgbClr val="000000"/>
                          </a:solidFill>
                          <a:effectLst/>
                          <a:latin typeface="Calibri" panose="020F0502020204030204" pitchFamily="34" charset="0"/>
                        </a:rPr>
                        <a:t>Kick-Off Completed; Pending Activity</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 </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1</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3</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1" i="0" u="none" strike="noStrike">
                          <a:solidFill>
                            <a:srgbClr val="000000"/>
                          </a:solidFill>
                          <a:effectLst/>
                          <a:latin typeface="Calibri" panose="020F0502020204030204" pitchFamily="34" charset="0"/>
                        </a:rPr>
                        <a:t>4</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extLst>
                  <a:ext uri="{0D108BD9-81ED-4DB2-BD59-A6C34878D82A}">
                    <a16:rowId xmlns:a16="http://schemas.microsoft.com/office/drawing/2014/main" val="129907867"/>
                  </a:ext>
                </a:extLst>
              </a:tr>
              <a:tr h="312420">
                <a:tc>
                  <a:txBody>
                    <a:bodyPr/>
                    <a:lstStyle/>
                    <a:p>
                      <a:pPr algn="l" rtl="0" fontAlgn="ctr"/>
                      <a:r>
                        <a:rPr lang="en-US" sz="1100" b="0" i="0" u="none" strike="noStrike">
                          <a:solidFill>
                            <a:srgbClr val="000000"/>
                          </a:solidFill>
                          <a:effectLst/>
                          <a:latin typeface="Calibri" panose="020F0502020204030204" pitchFamily="34" charset="0"/>
                        </a:rPr>
                        <a:t>Pending Kick-Off Call</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ctr"/>
                      <a:r>
                        <a:rPr lang="en-US" sz="1100" b="0" i="0" u="none" strike="noStrike">
                          <a:solidFill>
                            <a:srgbClr val="000000"/>
                          </a:solidFill>
                          <a:effectLst/>
                          <a:latin typeface="Calibri" panose="020F0502020204030204" pitchFamily="34" charset="0"/>
                        </a:rPr>
                        <a:t>5</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0" i="0" u="none" strike="noStrike">
                          <a:solidFill>
                            <a:srgbClr val="000000"/>
                          </a:solidFill>
                          <a:effectLst/>
                          <a:latin typeface="Calibri" panose="020F0502020204030204" pitchFamily="34" charset="0"/>
                        </a:rPr>
                        <a:t>5</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0" i="0" u="none" strike="noStrike">
                          <a:solidFill>
                            <a:srgbClr val="000000"/>
                          </a:solidFill>
                          <a:effectLst/>
                          <a:latin typeface="Calibri" panose="020F0502020204030204" pitchFamily="34" charset="0"/>
                        </a:rPr>
                        <a:t>4</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1" i="0" u="none" strike="noStrike">
                          <a:solidFill>
                            <a:srgbClr val="000000"/>
                          </a:solidFill>
                          <a:effectLst/>
                          <a:latin typeface="Calibri" panose="020F0502020204030204" pitchFamily="34" charset="0"/>
                        </a:rPr>
                        <a:t>14</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extLst>
                  <a:ext uri="{0D108BD9-81ED-4DB2-BD59-A6C34878D82A}">
                    <a16:rowId xmlns:a16="http://schemas.microsoft.com/office/drawing/2014/main" val="1015094745"/>
                  </a:ext>
                </a:extLst>
              </a:tr>
              <a:tr h="190500">
                <a:tc>
                  <a:txBody>
                    <a:bodyPr/>
                    <a:lstStyle/>
                    <a:p>
                      <a:pPr algn="l" rtl="0" fontAlgn="ctr"/>
                      <a:r>
                        <a:rPr lang="en-US" sz="1100" b="0" i="0" u="none" strike="noStrike">
                          <a:solidFill>
                            <a:srgbClr val="000000"/>
                          </a:solidFill>
                          <a:effectLst/>
                          <a:latin typeface="Calibri" panose="020F0502020204030204" pitchFamily="34" charset="0"/>
                        </a:rPr>
                        <a:t>Moved to US DMT/B&amp;A</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 </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1</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1</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1" i="0" u="none" strike="noStrike">
                          <a:solidFill>
                            <a:srgbClr val="000000"/>
                          </a:solidFill>
                          <a:effectLst/>
                          <a:latin typeface="Calibri" panose="020F0502020204030204" pitchFamily="34" charset="0"/>
                        </a:rPr>
                        <a:t>2</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extLst>
                  <a:ext uri="{0D108BD9-81ED-4DB2-BD59-A6C34878D82A}">
                    <a16:rowId xmlns:a16="http://schemas.microsoft.com/office/drawing/2014/main" val="3488354168"/>
                  </a:ext>
                </a:extLst>
              </a:tr>
              <a:tr h="190500">
                <a:tc>
                  <a:txBody>
                    <a:bodyPr/>
                    <a:lstStyle/>
                    <a:p>
                      <a:pPr algn="l" rtl="0" fontAlgn="ctr"/>
                      <a:r>
                        <a:rPr lang="en-US" sz="1100" b="0" i="0" u="none" strike="noStrike">
                          <a:solidFill>
                            <a:srgbClr val="000000"/>
                          </a:solidFill>
                          <a:effectLst/>
                          <a:latin typeface="Calibri" panose="020F0502020204030204" pitchFamily="34" charset="0"/>
                        </a:rPr>
                        <a:t>Terminated</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ctr"/>
                      <a:r>
                        <a:rPr lang="en-US" sz="1100" b="0" i="0" u="none" strike="noStrike">
                          <a:solidFill>
                            <a:srgbClr val="000000"/>
                          </a:solidFill>
                          <a:effectLst/>
                          <a:latin typeface="Calibri" panose="020F0502020204030204" pitchFamily="34" charset="0"/>
                        </a:rPr>
                        <a:t> </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0" i="0" u="none" strike="noStrike">
                          <a:solidFill>
                            <a:srgbClr val="000000"/>
                          </a:solidFill>
                          <a:effectLst/>
                          <a:latin typeface="Calibri" panose="020F0502020204030204" pitchFamily="34" charset="0"/>
                        </a:rPr>
                        <a:t>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0" i="0" u="none" strike="noStrike">
                          <a:solidFill>
                            <a:srgbClr val="000000"/>
                          </a:solidFill>
                          <a:effectLst/>
                          <a:latin typeface="Calibri" panose="020F0502020204030204" pitchFamily="34" charset="0"/>
                        </a:rPr>
                        <a:t> </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tc>
                  <a:txBody>
                    <a:bodyPr/>
                    <a:lstStyle/>
                    <a:p>
                      <a:pPr algn="ctr" rtl="0" fontAlgn="t"/>
                      <a:r>
                        <a:rPr lang="en-US" sz="1100" b="0" i="0" u="none" strike="noStrike">
                          <a:solidFill>
                            <a:srgbClr val="000000"/>
                          </a:solidFill>
                          <a:effectLst/>
                          <a:latin typeface="Calibri" panose="020F0502020204030204" pitchFamily="34" charset="0"/>
                        </a:rPr>
                        <a:t>2</a:t>
                      </a:r>
                    </a:p>
                  </a:txBody>
                  <a:tcPr marL="7620" marR="7620" marT="762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5CCD8"/>
                    </a:solidFill>
                  </a:tcPr>
                </a:tc>
                <a:extLst>
                  <a:ext uri="{0D108BD9-81ED-4DB2-BD59-A6C34878D82A}">
                    <a16:rowId xmlns:a16="http://schemas.microsoft.com/office/drawing/2014/main" val="1493935220"/>
                  </a:ext>
                </a:extLst>
              </a:tr>
              <a:tr h="190500">
                <a:tc>
                  <a:txBody>
                    <a:bodyPr/>
                    <a:lstStyle/>
                    <a:p>
                      <a:pPr algn="l" rtl="0" fontAlgn="ctr"/>
                      <a:r>
                        <a:rPr lang="en-US" sz="1100" b="1" i="0" u="none" strike="noStrike">
                          <a:solidFill>
                            <a:srgbClr val="000000"/>
                          </a:solidFill>
                          <a:effectLst/>
                          <a:latin typeface="Calibri" panose="020F0502020204030204" pitchFamily="34" charset="0"/>
                        </a:rPr>
                        <a:t>TOTAL</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15</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18</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0" i="0" u="none" strike="noStrike">
                          <a:solidFill>
                            <a:srgbClr val="000000"/>
                          </a:solidFill>
                          <a:effectLst/>
                          <a:latin typeface="Calibri" panose="020F0502020204030204" pitchFamily="34" charset="0"/>
                        </a:rPr>
                        <a:t>13</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tc>
                  <a:txBody>
                    <a:bodyPr/>
                    <a:lstStyle/>
                    <a:p>
                      <a:pPr algn="ctr" rtl="0" fontAlgn="ctr"/>
                      <a:r>
                        <a:rPr lang="en-US" sz="1100" b="1" i="0" u="none" strike="noStrike" dirty="0">
                          <a:solidFill>
                            <a:srgbClr val="000000"/>
                          </a:solidFill>
                          <a:effectLst/>
                          <a:latin typeface="Calibri" panose="020F0502020204030204" pitchFamily="34" charset="0"/>
                        </a:rPr>
                        <a:t>46</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E7ED"/>
                    </a:solidFill>
                  </a:tcPr>
                </a:tc>
                <a:extLst>
                  <a:ext uri="{0D108BD9-81ED-4DB2-BD59-A6C34878D82A}">
                    <a16:rowId xmlns:a16="http://schemas.microsoft.com/office/drawing/2014/main" val="2728555628"/>
                  </a:ext>
                </a:extLst>
              </a:tr>
            </a:tbl>
          </a:graphicData>
        </a:graphic>
      </p:graphicFrame>
      <p:graphicFrame>
        <p:nvGraphicFramePr>
          <p:cNvPr id="18" name="Object 17">
            <a:extLst>
              <a:ext uri="{FF2B5EF4-FFF2-40B4-BE49-F238E27FC236}">
                <a16:creationId xmlns:a16="http://schemas.microsoft.com/office/drawing/2014/main" id="{FC949B5D-446E-45DF-BE41-539473D46C34}"/>
              </a:ext>
            </a:extLst>
          </p:cNvPr>
          <p:cNvGraphicFramePr>
            <a:graphicFrameLocks noChangeAspect="1"/>
          </p:cNvGraphicFramePr>
          <p:nvPr>
            <p:extLst>
              <p:ext uri="{D42A27DB-BD31-4B8C-83A1-F6EECF244321}">
                <p14:modId xmlns:p14="http://schemas.microsoft.com/office/powerpoint/2010/main" val="1394081481"/>
              </p:ext>
            </p:extLst>
          </p:nvPr>
        </p:nvGraphicFramePr>
        <p:xfrm>
          <a:off x="3514955" y="5591860"/>
          <a:ext cx="914400" cy="792163"/>
        </p:xfrm>
        <a:graphic>
          <a:graphicData uri="http://schemas.openxmlformats.org/presentationml/2006/ole">
            <mc:AlternateContent xmlns:mc="http://schemas.openxmlformats.org/markup-compatibility/2006">
              <mc:Choice xmlns:v="urn:schemas-microsoft-com:vml" Requires="v">
                <p:oleObj spid="_x0000_s1204" name="Worksheet" showAsIcon="1" r:id="rId5" imgW="914400" imgH="792360" progId="Excel.Sheet.12">
                  <p:embed/>
                </p:oleObj>
              </mc:Choice>
              <mc:Fallback>
                <p:oleObj name="Worksheet" showAsIcon="1" r:id="rId5" imgW="914400" imgH="792360" progId="Excel.Sheet.12">
                  <p:embed/>
                  <p:pic>
                    <p:nvPicPr>
                      <p:cNvPr id="18" name="Object 17">
                        <a:extLst>
                          <a:ext uri="{FF2B5EF4-FFF2-40B4-BE49-F238E27FC236}">
                            <a16:creationId xmlns:a16="http://schemas.microsoft.com/office/drawing/2014/main" id="{FC949B5D-446E-45DF-BE41-539473D46C34}"/>
                          </a:ext>
                        </a:extLst>
                      </p:cNvPr>
                      <p:cNvPicPr/>
                      <p:nvPr/>
                    </p:nvPicPr>
                    <p:blipFill>
                      <a:blip r:embed="rId6"/>
                      <a:stretch>
                        <a:fillRect/>
                      </a:stretch>
                    </p:blipFill>
                    <p:spPr>
                      <a:xfrm>
                        <a:off x="3514955" y="5591860"/>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2108962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Financials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A86B-B65D-4D88-AF61-17EB9FD832FF}"/>
              </a:ext>
            </a:extLst>
          </p:cNvPr>
          <p:cNvSpPr>
            <a:spLocks noGrp="1"/>
          </p:cNvSpPr>
          <p:nvPr>
            <p:ph type="title"/>
          </p:nvPr>
        </p:nvSpPr>
        <p:spPr/>
        <p:txBody>
          <a:bodyPr/>
          <a:lstStyle/>
          <a:p>
            <a:r>
              <a:rPr lang="en-US" dirty="0"/>
              <a:t>Financials</a:t>
            </a:r>
          </a:p>
        </p:txBody>
      </p:sp>
      <p:sp>
        <p:nvSpPr>
          <p:cNvPr id="3" name="Text Placeholder 2">
            <a:extLst>
              <a:ext uri="{FF2B5EF4-FFF2-40B4-BE49-F238E27FC236}">
                <a16:creationId xmlns:a16="http://schemas.microsoft.com/office/drawing/2014/main" id="{8315A542-79C9-412B-99CD-FB9EB37D4278}"/>
              </a:ext>
            </a:extLst>
          </p:cNvPr>
          <p:cNvSpPr>
            <a:spLocks noGrp="1"/>
          </p:cNvSpPr>
          <p:nvPr>
            <p:ph type="body" sz="quarter" idx="13"/>
          </p:nvPr>
        </p:nvSpPr>
        <p:spPr/>
        <p:txBody>
          <a:bodyPr/>
          <a:lstStyle/>
          <a:p>
            <a:r>
              <a:rPr lang="en-US" dirty="0"/>
              <a:t>Volume Per Office: (FPA, FBS, HMAPS, PUT, IBNR, PCORI)  </a:t>
            </a:r>
          </a:p>
        </p:txBody>
      </p:sp>
      <p:sp>
        <p:nvSpPr>
          <p:cNvPr id="5" name="Slide Number Placeholder 4">
            <a:extLst>
              <a:ext uri="{FF2B5EF4-FFF2-40B4-BE49-F238E27FC236}">
                <a16:creationId xmlns:a16="http://schemas.microsoft.com/office/drawing/2014/main" id="{D9A55EF1-4434-49E2-A538-D889D25ADA1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BEE8C3EC-40B4-4DB9-AAEB-FC2168F1BC01}"/>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TextBox 23">
            <a:extLst>
              <a:ext uri="{FF2B5EF4-FFF2-40B4-BE49-F238E27FC236}">
                <a16:creationId xmlns:a16="http://schemas.microsoft.com/office/drawing/2014/main" id="{5557E862-6618-49CB-9154-F97AA1761E06}"/>
              </a:ext>
            </a:extLst>
          </p:cNvPr>
          <p:cNvSpPr txBox="1"/>
          <p:nvPr/>
        </p:nvSpPr>
        <p:spPr>
          <a:xfrm>
            <a:off x="8035721" y="3390639"/>
            <a:ext cx="378664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a:ea typeface="+mn-ea"/>
                <a:cs typeface="+mn-cs"/>
              </a:rPr>
              <a:t>{{Text2}}</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Box 26">
            <a:extLst>
              <a:ext uri="{FF2B5EF4-FFF2-40B4-BE49-F238E27FC236}">
                <a16:creationId xmlns:a16="http://schemas.microsoft.com/office/drawing/2014/main" id="{7B6C11E1-B381-41ED-9961-84818E19C1A8}"/>
              </a:ext>
            </a:extLst>
          </p:cNvPr>
          <p:cNvSpPr txBox="1"/>
          <p:nvPr/>
        </p:nvSpPr>
        <p:spPr>
          <a:xfrm>
            <a:off x="8961037" y="4849251"/>
            <a:ext cx="311722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a:ea typeface="+mn-ea"/>
                <a:cs typeface="+mn-cs"/>
              </a:rPr>
              <a:t>{{Text3}}</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Box 27">
            <a:extLst>
              <a:ext uri="{FF2B5EF4-FFF2-40B4-BE49-F238E27FC236}">
                <a16:creationId xmlns:a16="http://schemas.microsoft.com/office/drawing/2014/main" id="{ECAF64EA-C7EA-4D2C-9C41-E43E27C2DC79}"/>
              </a:ext>
            </a:extLst>
          </p:cNvPr>
          <p:cNvSpPr txBox="1"/>
          <p:nvPr/>
        </p:nvSpPr>
        <p:spPr>
          <a:xfrm>
            <a:off x="7322912" y="1485625"/>
            <a:ext cx="311722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a:ea typeface="+mn-ea"/>
                <a:cs typeface="+mn-cs"/>
              </a:rPr>
              <a:t>{{Text1}}</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8" name="FS9_Pic3">
            <a:extLst>
              <a:ext uri="{FF2B5EF4-FFF2-40B4-BE49-F238E27FC236}">
                <a16:creationId xmlns:a16="http://schemas.microsoft.com/office/drawing/2014/main" id="{CC17A84F-B64B-4BAB-B6A9-BA50E0561C69}"/>
              </a:ext>
            </a:extLst>
          </p:cNvPr>
          <p:cNvPicPr>
            <a:picLocks noChangeAspect="1"/>
          </p:cNvPicPr>
          <p:nvPr/>
        </p:nvPicPr>
        <p:blipFill>
          <a:blip r:embed="rId3"/>
          <a:stretch>
            <a:fillRect/>
          </a:stretch>
        </p:blipFill>
        <p:spPr>
          <a:xfrm>
            <a:off x="2606497" y="4414873"/>
            <a:ext cx="6230606" cy="1749924"/>
          </a:xfrm>
          <a:prstGeom prst="rect">
            <a:avLst/>
          </a:prstGeom>
        </p:spPr>
      </p:pic>
      <p:pic>
        <p:nvPicPr>
          <p:cNvPr id="9" name="FS9_Pic1">
            <a:extLst>
              <a:ext uri="{FF2B5EF4-FFF2-40B4-BE49-F238E27FC236}">
                <a16:creationId xmlns:a16="http://schemas.microsoft.com/office/drawing/2014/main" id="{BD847EE7-7119-43C8-B4C6-ECAD7DACA413}"/>
              </a:ext>
            </a:extLst>
          </p:cNvPr>
          <p:cNvPicPr>
            <a:picLocks noChangeAspect="1"/>
          </p:cNvPicPr>
          <p:nvPr/>
        </p:nvPicPr>
        <p:blipFill>
          <a:blip r:embed="rId4"/>
          <a:stretch>
            <a:fillRect/>
          </a:stretch>
        </p:blipFill>
        <p:spPr>
          <a:xfrm>
            <a:off x="609598" y="1091246"/>
            <a:ext cx="6192507" cy="1639139"/>
          </a:xfrm>
          <a:prstGeom prst="rect">
            <a:avLst/>
          </a:prstGeom>
        </p:spPr>
      </p:pic>
      <p:pic>
        <p:nvPicPr>
          <p:cNvPr id="10" name="FS9_Pic2">
            <a:extLst>
              <a:ext uri="{FF2B5EF4-FFF2-40B4-BE49-F238E27FC236}">
                <a16:creationId xmlns:a16="http://schemas.microsoft.com/office/drawing/2014/main" id="{9203DD38-3160-4803-8747-1A004C882AE3}"/>
              </a:ext>
            </a:extLst>
          </p:cNvPr>
          <p:cNvPicPr>
            <a:picLocks noChangeAspect="1"/>
          </p:cNvPicPr>
          <p:nvPr/>
        </p:nvPicPr>
        <p:blipFill>
          <a:blip r:embed="rId5"/>
          <a:stretch>
            <a:fillRect/>
          </a:stretch>
        </p:blipFill>
        <p:spPr>
          <a:xfrm>
            <a:off x="1453892" y="2756365"/>
            <a:ext cx="6192507" cy="1614267"/>
          </a:xfrm>
          <a:prstGeom prst="rect">
            <a:avLst/>
          </a:prstGeom>
        </p:spPr>
      </p:pic>
    </p:spTree>
    <p:extLst>
      <p:ext uri="{BB962C8B-B14F-4D97-AF65-F5344CB8AC3E}">
        <p14:creationId xmlns:p14="http://schemas.microsoft.com/office/powerpoint/2010/main" val="1961804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Excellence_V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36DF9-846E-4C9E-A5B4-E2ACDD73B58C}"/>
              </a:ext>
            </a:extLst>
          </p:cNvPr>
          <p:cNvSpPr>
            <a:spLocks noGrp="1"/>
          </p:cNvSpPr>
          <p:nvPr>
            <p:ph type="title"/>
          </p:nvPr>
        </p:nvSpPr>
        <p:spPr/>
        <p:txBody>
          <a:bodyPr/>
          <a:lstStyle/>
          <a:p>
            <a:r>
              <a:rPr lang="en-US" dirty="0"/>
              <a:t>Excellence</a:t>
            </a:r>
          </a:p>
        </p:txBody>
      </p:sp>
      <p:sp>
        <p:nvSpPr>
          <p:cNvPr id="3" name="Text Placeholder 2">
            <a:extLst>
              <a:ext uri="{FF2B5EF4-FFF2-40B4-BE49-F238E27FC236}">
                <a16:creationId xmlns:a16="http://schemas.microsoft.com/office/drawing/2014/main" id="{742D56BB-CFD1-4863-8373-B8DB4C167DB5}"/>
              </a:ext>
            </a:extLst>
          </p:cNvPr>
          <p:cNvSpPr>
            <a:spLocks noGrp="1"/>
          </p:cNvSpPr>
          <p:nvPr>
            <p:ph type="body" sz="quarter" idx="13"/>
          </p:nvPr>
        </p:nvSpPr>
        <p:spPr/>
        <p:txBody>
          <a:bodyPr/>
          <a:lstStyle/>
          <a:p>
            <a:r>
              <a:rPr lang="en-US" dirty="0"/>
              <a:t>Volume Analysis </a:t>
            </a:r>
          </a:p>
        </p:txBody>
      </p:sp>
      <p:graphicFrame>
        <p:nvGraphicFramePr>
          <p:cNvPr id="7" name="Table 7">
            <a:extLst>
              <a:ext uri="{FF2B5EF4-FFF2-40B4-BE49-F238E27FC236}">
                <a16:creationId xmlns:a16="http://schemas.microsoft.com/office/drawing/2014/main" id="{148D2A77-FCE7-4180-B74E-DDCBF77AC6A9}"/>
              </a:ext>
            </a:extLst>
          </p:cNvPr>
          <p:cNvGraphicFramePr>
            <a:graphicFrameLocks noGrp="1"/>
          </p:cNvGraphicFramePr>
          <p:nvPr>
            <p:ph idx="1"/>
            <p:extLst>
              <p:ext uri="{D42A27DB-BD31-4B8C-83A1-F6EECF244321}">
                <p14:modId xmlns:p14="http://schemas.microsoft.com/office/powerpoint/2010/main" val="124059239"/>
              </p:ext>
            </p:extLst>
          </p:nvPr>
        </p:nvGraphicFramePr>
        <p:xfrm>
          <a:off x="609599" y="1247554"/>
          <a:ext cx="5302103" cy="3642360"/>
        </p:xfrm>
        <a:graphic>
          <a:graphicData uri="http://schemas.openxmlformats.org/drawingml/2006/table">
            <a:tbl>
              <a:tblPr firstRow="1" bandRow="1">
                <a:tableStyleId>{5C22544A-7EE6-4342-B048-85BDC9FD1C3A}</a:tableStyleId>
              </a:tblPr>
              <a:tblGrid>
                <a:gridCol w="1637980">
                  <a:extLst>
                    <a:ext uri="{9D8B030D-6E8A-4147-A177-3AD203B41FA5}">
                      <a16:colId xmlns:a16="http://schemas.microsoft.com/office/drawing/2014/main" val="1444796182"/>
                    </a:ext>
                  </a:extLst>
                </a:gridCol>
                <a:gridCol w="725992">
                  <a:extLst>
                    <a:ext uri="{9D8B030D-6E8A-4147-A177-3AD203B41FA5}">
                      <a16:colId xmlns:a16="http://schemas.microsoft.com/office/drawing/2014/main" val="1734203942"/>
                    </a:ext>
                  </a:extLst>
                </a:gridCol>
                <a:gridCol w="712381">
                  <a:extLst>
                    <a:ext uri="{9D8B030D-6E8A-4147-A177-3AD203B41FA5}">
                      <a16:colId xmlns:a16="http://schemas.microsoft.com/office/drawing/2014/main" val="1110371553"/>
                    </a:ext>
                  </a:extLst>
                </a:gridCol>
                <a:gridCol w="786809">
                  <a:extLst>
                    <a:ext uri="{9D8B030D-6E8A-4147-A177-3AD203B41FA5}">
                      <a16:colId xmlns:a16="http://schemas.microsoft.com/office/drawing/2014/main" val="3060164715"/>
                    </a:ext>
                  </a:extLst>
                </a:gridCol>
                <a:gridCol w="577704">
                  <a:extLst>
                    <a:ext uri="{9D8B030D-6E8A-4147-A177-3AD203B41FA5}">
                      <a16:colId xmlns:a16="http://schemas.microsoft.com/office/drawing/2014/main" val="2612343644"/>
                    </a:ext>
                  </a:extLst>
                </a:gridCol>
                <a:gridCol w="861237">
                  <a:extLst>
                    <a:ext uri="{9D8B030D-6E8A-4147-A177-3AD203B41FA5}">
                      <a16:colId xmlns:a16="http://schemas.microsoft.com/office/drawing/2014/main" val="2338583405"/>
                    </a:ext>
                  </a:extLst>
                </a:gridCol>
              </a:tblGrid>
              <a:tr h="370840">
                <a:tc gridSpan="6">
                  <a:txBody>
                    <a:bodyPr/>
                    <a:lstStyle/>
                    <a:p>
                      <a:pPr algn="ctr"/>
                      <a:r>
                        <a:rPr lang="en-US" sz="1400" dirty="0"/>
                        <a:t>2020 TARGET vs ACTUAL TOOL SUBMISSION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sz="1600" dirty="0"/>
                    </a:p>
                  </a:txBody>
                  <a:tcPr/>
                </a:tc>
                <a:tc hMerge="1">
                  <a:txBody>
                    <a:bodyPr/>
                    <a:lstStyle/>
                    <a:p>
                      <a:endParaRPr lang="en-US" sz="1600" dirty="0"/>
                    </a:p>
                  </a:txBody>
                  <a:tcPr/>
                </a:tc>
                <a:tc hMerge="1">
                  <a:txBody>
                    <a:bodyPr/>
                    <a:lstStyle/>
                    <a:p>
                      <a:endParaRPr lang="en-US" sz="1600" dirty="0"/>
                    </a:p>
                  </a:txBody>
                  <a:tcPr/>
                </a:tc>
                <a:tc hMerge="1">
                  <a:txBody>
                    <a:bodyPr/>
                    <a:lstStyle/>
                    <a:p>
                      <a:endParaRPr lang="en-US" sz="1600" dirty="0"/>
                    </a:p>
                  </a:txBody>
                  <a:tcPr/>
                </a:tc>
                <a:tc hMerge="1">
                  <a:txBody>
                    <a:bodyPr/>
                    <a:lstStyle/>
                    <a:p>
                      <a:endParaRPr lang="en-US" sz="1600" dirty="0"/>
                    </a:p>
                  </a:txBody>
                  <a:tcPr/>
                </a:tc>
                <a:extLst>
                  <a:ext uri="{0D108BD9-81ED-4DB2-BD59-A6C34878D82A}">
                    <a16:rowId xmlns:a16="http://schemas.microsoft.com/office/drawing/2014/main" val="3733195387"/>
                  </a:ext>
                </a:extLst>
              </a:tr>
              <a:tr h="370840">
                <a:tc>
                  <a:txBody>
                    <a:bodyPr/>
                    <a:lstStyle/>
                    <a:p>
                      <a:pPr algn="ctr"/>
                      <a:endParaRPr lang="en-US" sz="1400" b="1" dirty="0"/>
                    </a:p>
                  </a:txBody>
                  <a:tcPr>
                    <a:lnL w="12700" cap="flat" cmpd="sng" algn="ctr">
                      <a:solidFill>
                        <a:schemeClr val="tx1"/>
                      </a:solidFill>
                      <a:prstDash val="solid"/>
                      <a:round/>
                      <a:headEnd type="none" w="med" len="med"/>
                      <a:tailEnd type="none" w="med" len="med"/>
                    </a:lnL>
                    <a:noFill/>
                  </a:tcPr>
                </a:tc>
                <a:tc>
                  <a:txBody>
                    <a:bodyPr/>
                    <a:lstStyle/>
                    <a:p>
                      <a:pPr algn="ctr"/>
                      <a:r>
                        <a:rPr lang="en-US" sz="1400" dirty="0"/>
                        <a:t>FBS</a:t>
                      </a:r>
                    </a:p>
                  </a:txBody>
                  <a:tcPr>
                    <a:noFill/>
                  </a:tcPr>
                </a:tc>
                <a:tc>
                  <a:txBody>
                    <a:bodyPr/>
                    <a:lstStyle/>
                    <a:p>
                      <a:pPr algn="ctr"/>
                      <a:r>
                        <a:rPr lang="en-US" sz="1400" dirty="0"/>
                        <a:t>FPA</a:t>
                      </a:r>
                    </a:p>
                  </a:txBody>
                  <a:tcPr>
                    <a:noFill/>
                  </a:tcPr>
                </a:tc>
                <a:tc>
                  <a:txBody>
                    <a:bodyPr/>
                    <a:lstStyle/>
                    <a:p>
                      <a:pPr algn="ctr"/>
                      <a:r>
                        <a:rPr lang="en-US" sz="1400" dirty="0"/>
                        <a:t>IBNR</a:t>
                      </a:r>
                    </a:p>
                  </a:txBody>
                  <a:tcPr>
                    <a:noFill/>
                  </a:tcPr>
                </a:tc>
                <a:tc>
                  <a:txBody>
                    <a:bodyPr/>
                    <a:lstStyle/>
                    <a:p>
                      <a:pPr algn="ctr"/>
                      <a:r>
                        <a:rPr lang="en-US" sz="1400" dirty="0"/>
                        <a:t>PUT</a:t>
                      </a:r>
                    </a:p>
                  </a:txBody>
                  <a:tcPr>
                    <a:noFill/>
                  </a:tcPr>
                </a:tc>
                <a:tc>
                  <a:txBody>
                    <a:bodyPr/>
                    <a:lstStyle/>
                    <a:p>
                      <a:pPr algn="ctr"/>
                      <a:r>
                        <a:rPr lang="en-US" sz="1400" dirty="0"/>
                        <a:t>TOTAL</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148600315"/>
                  </a:ext>
                </a:extLst>
              </a:tr>
              <a:tr h="370840">
                <a:tc>
                  <a:txBody>
                    <a:bodyPr/>
                    <a:lstStyle/>
                    <a:p>
                      <a:pPr algn="ctr"/>
                      <a:r>
                        <a:rPr lang="en-US" sz="1400" b="1" dirty="0"/>
                        <a:t>Rounds</a:t>
                      </a:r>
                    </a:p>
                  </a:txBody>
                  <a:tcPr>
                    <a:lnL w="12700" cap="flat" cmpd="sng" algn="ctr">
                      <a:solidFill>
                        <a:schemeClr val="tx1"/>
                      </a:solidFill>
                      <a:prstDash val="solid"/>
                      <a:round/>
                      <a:headEnd type="none" w="med" len="med"/>
                      <a:tailEnd type="none" w="med" len="med"/>
                    </a:lnL>
                    <a:noFill/>
                  </a:tcPr>
                </a:tc>
                <a:tc>
                  <a:txBody>
                    <a:bodyPr/>
                    <a:lstStyle/>
                    <a:p>
                      <a:pPr algn="ctr"/>
                      <a:r>
                        <a:rPr lang="en-US" sz="1400" dirty="0"/>
                        <a:t>261</a:t>
                      </a:r>
                    </a:p>
                  </a:txBody>
                  <a:tcPr>
                    <a:noFill/>
                  </a:tcPr>
                </a:tc>
                <a:tc>
                  <a:txBody>
                    <a:bodyPr/>
                    <a:lstStyle/>
                    <a:p>
                      <a:pPr algn="ctr"/>
                      <a:r>
                        <a:rPr lang="en-US" sz="1400" dirty="0"/>
                        <a:t>-</a:t>
                      </a:r>
                    </a:p>
                  </a:txBody>
                  <a:tcPr>
                    <a:noFill/>
                  </a:tcPr>
                </a:tc>
                <a:tc>
                  <a:txBody>
                    <a:bodyPr/>
                    <a:lstStyle/>
                    <a:p>
                      <a:pPr algn="ctr"/>
                      <a:r>
                        <a:rPr lang="en-US" sz="1400" dirty="0"/>
                        <a:t>-</a:t>
                      </a:r>
                    </a:p>
                  </a:txBody>
                  <a:tcPr>
                    <a:noFill/>
                  </a:tcPr>
                </a:tc>
                <a:tc>
                  <a:txBody>
                    <a:bodyPr/>
                    <a:lstStyle/>
                    <a:p>
                      <a:pPr algn="ctr"/>
                      <a:r>
                        <a:rPr lang="en-US" sz="1400" dirty="0"/>
                        <a:t>-</a:t>
                      </a:r>
                    </a:p>
                  </a:txBody>
                  <a:tcPr>
                    <a:noFill/>
                  </a:tcPr>
                </a:tc>
                <a:tc>
                  <a:txBody>
                    <a:bodyPr/>
                    <a:lstStyle/>
                    <a:p>
                      <a:pPr algn="ctr"/>
                      <a:r>
                        <a:rPr lang="en-US" sz="1400" dirty="0"/>
                        <a:t>261</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748974011"/>
                  </a:ext>
                </a:extLst>
              </a:tr>
              <a:tr h="370840">
                <a:tc>
                  <a:txBody>
                    <a:bodyPr/>
                    <a:lstStyle/>
                    <a:p>
                      <a:pPr algn="ctr"/>
                      <a:r>
                        <a:rPr lang="en-US" sz="1400" b="1" dirty="0"/>
                        <a:t>Annually</a:t>
                      </a:r>
                    </a:p>
                  </a:txBody>
                  <a:tcPr>
                    <a:lnL w="12700" cap="flat" cmpd="sng" algn="ctr">
                      <a:solidFill>
                        <a:schemeClr val="tx1"/>
                      </a:solidFill>
                      <a:prstDash val="solid"/>
                      <a:round/>
                      <a:headEnd type="none" w="med" len="med"/>
                      <a:tailEnd type="none" w="med" len="med"/>
                    </a:lnL>
                    <a:noFill/>
                  </a:tcPr>
                </a:tc>
                <a:tc>
                  <a:txBody>
                    <a:bodyPr/>
                    <a:lstStyle/>
                    <a:p>
                      <a:pPr algn="ctr"/>
                      <a:r>
                        <a:rPr lang="en-US" sz="1400" dirty="0"/>
                        <a:t>-</a:t>
                      </a:r>
                    </a:p>
                  </a:txBody>
                  <a:tcPr>
                    <a:noFill/>
                  </a:tcPr>
                </a:tc>
                <a:tc>
                  <a:txBody>
                    <a:bodyPr/>
                    <a:lstStyle/>
                    <a:p>
                      <a:pPr algn="ctr"/>
                      <a:r>
                        <a:rPr lang="en-US" sz="1400" dirty="0"/>
                        <a:t>14</a:t>
                      </a:r>
                    </a:p>
                  </a:txBody>
                  <a:tcPr>
                    <a:noFill/>
                  </a:tcPr>
                </a:tc>
                <a:tc>
                  <a:txBody>
                    <a:bodyPr/>
                    <a:lstStyle/>
                    <a:p>
                      <a:pPr algn="ctr"/>
                      <a:r>
                        <a:rPr lang="en-US" sz="1400" dirty="0"/>
                        <a:t>112</a:t>
                      </a:r>
                    </a:p>
                  </a:txBody>
                  <a:tcPr>
                    <a:noFill/>
                  </a:tcPr>
                </a:tc>
                <a:tc>
                  <a:txBody>
                    <a:bodyPr/>
                    <a:lstStyle/>
                    <a:p>
                      <a:pPr algn="ctr"/>
                      <a:r>
                        <a:rPr lang="en-US" sz="1400" dirty="0"/>
                        <a:t>215</a:t>
                      </a:r>
                    </a:p>
                  </a:txBody>
                  <a:tcPr>
                    <a:noFill/>
                  </a:tcPr>
                </a:tc>
                <a:tc>
                  <a:txBody>
                    <a:bodyPr/>
                    <a:lstStyle/>
                    <a:p>
                      <a:pPr algn="ctr"/>
                      <a:r>
                        <a:rPr lang="en-US" sz="1400" dirty="0"/>
                        <a:t>341</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07593606"/>
                  </a:ext>
                </a:extLst>
              </a:tr>
              <a:tr h="370840">
                <a:tc>
                  <a:txBody>
                    <a:bodyPr/>
                    <a:lstStyle/>
                    <a:p>
                      <a:pPr algn="ctr"/>
                      <a:r>
                        <a:rPr lang="en-US" sz="1400" b="1" dirty="0"/>
                        <a:t>Semi-Annually</a:t>
                      </a:r>
                    </a:p>
                  </a:txBody>
                  <a:tcPr>
                    <a:lnL w="12700" cap="flat" cmpd="sng" algn="ctr">
                      <a:solidFill>
                        <a:schemeClr val="tx1"/>
                      </a:solidFill>
                      <a:prstDash val="solid"/>
                      <a:round/>
                      <a:headEnd type="none" w="med" len="med"/>
                      <a:tailEnd type="none" w="med" len="med"/>
                    </a:lnL>
                    <a:noFill/>
                  </a:tcPr>
                </a:tc>
                <a:tc>
                  <a:txBody>
                    <a:bodyPr/>
                    <a:lstStyle/>
                    <a:p>
                      <a:pPr algn="ctr"/>
                      <a:r>
                        <a:rPr lang="en-US" sz="1400" dirty="0"/>
                        <a:t>-</a:t>
                      </a:r>
                    </a:p>
                  </a:txBody>
                  <a:tcPr>
                    <a:noFill/>
                  </a:tcPr>
                </a:tc>
                <a:tc>
                  <a:txBody>
                    <a:bodyPr/>
                    <a:lstStyle/>
                    <a:p>
                      <a:pPr algn="ctr"/>
                      <a:r>
                        <a:rPr lang="en-US" sz="1400" dirty="0"/>
                        <a:t>4</a:t>
                      </a:r>
                    </a:p>
                  </a:txBody>
                  <a:tcPr>
                    <a:noFill/>
                  </a:tcPr>
                </a:tc>
                <a:tc>
                  <a:txBody>
                    <a:bodyPr/>
                    <a:lstStyle/>
                    <a:p>
                      <a:pPr algn="ctr"/>
                      <a:r>
                        <a:rPr lang="en-US" sz="1400" dirty="0"/>
                        <a:t>63</a:t>
                      </a:r>
                    </a:p>
                  </a:txBody>
                  <a:tcPr>
                    <a:noFill/>
                  </a:tcPr>
                </a:tc>
                <a:tc>
                  <a:txBody>
                    <a:bodyPr/>
                    <a:lstStyle/>
                    <a:p>
                      <a:pPr algn="ctr"/>
                      <a:r>
                        <a:rPr lang="en-US" sz="1400" dirty="0"/>
                        <a:t>150</a:t>
                      </a:r>
                    </a:p>
                  </a:txBody>
                  <a:tcPr>
                    <a:noFill/>
                  </a:tcPr>
                </a:tc>
                <a:tc>
                  <a:txBody>
                    <a:bodyPr/>
                    <a:lstStyle/>
                    <a:p>
                      <a:pPr algn="ctr"/>
                      <a:r>
                        <a:rPr lang="en-US" sz="1400" dirty="0"/>
                        <a:t>217</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69139449"/>
                  </a:ext>
                </a:extLst>
              </a:tr>
              <a:tr h="370840">
                <a:tc>
                  <a:txBody>
                    <a:bodyPr/>
                    <a:lstStyle/>
                    <a:p>
                      <a:pPr algn="ctr"/>
                      <a:r>
                        <a:rPr lang="en-US" sz="1400" b="1" dirty="0"/>
                        <a:t>Quarterly</a:t>
                      </a:r>
                    </a:p>
                  </a:txBody>
                  <a:tcPr>
                    <a:lnL w="12700" cap="flat" cmpd="sng" algn="ctr">
                      <a:solidFill>
                        <a:schemeClr val="tx1"/>
                      </a:solidFill>
                      <a:prstDash val="solid"/>
                      <a:round/>
                      <a:headEnd type="none" w="med" len="med"/>
                      <a:tailEnd type="none" w="med" len="med"/>
                    </a:lnL>
                    <a:noFill/>
                  </a:tcPr>
                </a:tc>
                <a:tc>
                  <a:txBody>
                    <a:bodyPr/>
                    <a:lstStyle/>
                    <a:p>
                      <a:pPr algn="ctr"/>
                      <a:r>
                        <a:rPr lang="en-US" sz="1400" dirty="0"/>
                        <a:t>-</a:t>
                      </a:r>
                    </a:p>
                  </a:txBody>
                  <a:tcPr>
                    <a:noFill/>
                  </a:tcPr>
                </a:tc>
                <a:tc>
                  <a:txBody>
                    <a:bodyPr/>
                    <a:lstStyle/>
                    <a:p>
                      <a:pPr algn="ctr"/>
                      <a:r>
                        <a:rPr lang="en-US" sz="1400" dirty="0"/>
                        <a:t>166</a:t>
                      </a:r>
                    </a:p>
                  </a:txBody>
                  <a:tcPr>
                    <a:noFill/>
                  </a:tcPr>
                </a:tc>
                <a:tc>
                  <a:txBody>
                    <a:bodyPr/>
                    <a:lstStyle/>
                    <a:p>
                      <a:pPr algn="ctr"/>
                      <a:r>
                        <a:rPr lang="en-US" sz="1400" dirty="0"/>
                        <a:t>419</a:t>
                      </a:r>
                    </a:p>
                  </a:txBody>
                  <a:tcPr>
                    <a:noFill/>
                  </a:tcPr>
                </a:tc>
                <a:tc>
                  <a:txBody>
                    <a:bodyPr/>
                    <a:lstStyle/>
                    <a:p>
                      <a:pPr algn="ctr"/>
                      <a:r>
                        <a:rPr lang="en-US" sz="1400" dirty="0"/>
                        <a:t>112</a:t>
                      </a:r>
                    </a:p>
                  </a:txBody>
                  <a:tcPr>
                    <a:noFill/>
                  </a:tcPr>
                </a:tc>
                <a:tc>
                  <a:txBody>
                    <a:bodyPr/>
                    <a:lstStyle/>
                    <a:p>
                      <a:pPr algn="ctr"/>
                      <a:r>
                        <a:rPr lang="en-US" sz="1400" dirty="0"/>
                        <a:t>697</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32332859"/>
                  </a:ext>
                </a:extLst>
              </a:tr>
              <a:tr h="370840">
                <a:tc>
                  <a:txBody>
                    <a:bodyPr/>
                    <a:lstStyle/>
                    <a:p>
                      <a:pPr algn="ctr"/>
                      <a:r>
                        <a:rPr lang="en-US" sz="1400" b="1" dirty="0"/>
                        <a:t>Monthly</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a:r>
                        <a:rPr lang="en-US" sz="1400" dirty="0"/>
                        <a:t>-</a:t>
                      </a:r>
                    </a:p>
                  </a:txBody>
                  <a:tcPr>
                    <a:lnB w="12700" cap="flat" cmpd="sng" algn="ctr">
                      <a:solidFill>
                        <a:schemeClr val="tx1"/>
                      </a:solidFill>
                      <a:prstDash val="solid"/>
                      <a:round/>
                      <a:headEnd type="none" w="med" len="med"/>
                      <a:tailEnd type="none" w="med" len="med"/>
                    </a:lnB>
                    <a:noFill/>
                  </a:tcPr>
                </a:tc>
                <a:tc>
                  <a:txBody>
                    <a:bodyPr/>
                    <a:lstStyle/>
                    <a:p>
                      <a:pPr algn="ctr"/>
                      <a:r>
                        <a:rPr lang="en-US" sz="1400" dirty="0"/>
                        <a:t>3267</a:t>
                      </a:r>
                    </a:p>
                  </a:txBody>
                  <a:tcPr>
                    <a:lnB w="12700" cap="flat" cmpd="sng" algn="ctr">
                      <a:solidFill>
                        <a:schemeClr val="tx1"/>
                      </a:solidFill>
                      <a:prstDash val="solid"/>
                      <a:round/>
                      <a:headEnd type="none" w="med" len="med"/>
                      <a:tailEnd type="none" w="med" len="med"/>
                    </a:lnB>
                    <a:noFill/>
                  </a:tcPr>
                </a:tc>
                <a:tc>
                  <a:txBody>
                    <a:bodyPr/>
                    <a:lstStyle/>
                    <a:p>
                      <a:pPr algn="ctr"/>
                      <a:r>
                        <a:rPr lang="en-US" sz="1400" dirty="0"/>
                        <a:t>-</a:t>
                      </a:r>
                    </a:p>
                  </a:txBody>
                  <a:tcPr>
                    <a:lnB w="12700" cap="flat" cmpd="sng" algn="ctr">
                      <a:solidFill>
                        <a:schemeClr val="tx1"/>
                      </a:solidFill>
                      <a:prstDash val="solid"/>
                      <a:round/>
                      <a:headEnd type="none" w="med" len="med"/>
                      <a:tailEnd type="none" w="med" len="med"/>
                    </a:lnB>
                    <a:noFill/>
                  </a:tcPr>
                </a:tc>
                <a:tc>
                  <a:txBody>
                    <a:bodyPr/>
                    <a:lstStyle/>
                    <a:p>
                      <a:pPr algn="ctr"/>
                      <a:r>
                        <a:rPr lang="en-US" sz="1400" dirty="0"/>
                        <a:t>-</a:t>
                      </a:r>
                    </a:p>
                  </a:txBody>
                  <a:tcPr>
                    <a:lnB w="12700" cap="flat" cmpd="sng" algn="ctr">
                      <a:solidFill>
                        <a:schemeClr val="tx1"/>
                      </a:solidFill>
                      <a:prstDash val="solid"/>
                      <a:round/>
                      <a:headEnd type="none" w="med" len="med"/>
                      <a:tailEnd type="none" w="med" len="med"/>
                    </a:lnB>
                    <a:noFill/>
                  </a:tcPr>
                </a:tc>
                <a:tc>
                  <a:txBody>
                    <a:bodyPr/>
                    <a:lstStyle/>
                    <a:p>
                      <a:pPr algn="ctr"/>
                      <a:r>
                        <a:rPr lang="en-US" sz="1400"/>
                        <a:t>3267</a:t>
                      </a:r>
                      <a:endParaRPr lang="en-US" sz="14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9908467"/>
                  </a:ext>
                </a:extLst>
              </a:tr>
              <a:tr h="370840">
                <a:tc>
                  <a:txBody>
                    <a:bodyPr/>
                    <a:lstStyle/>
                    <a:p>
                      <a:pPr algn="ctr"/>
                      <a:r>
                        <a:rPr lang="en-US" sz="1400" b="1" dirty="0"/>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2"/>
                    </a:solidFill>
                  </a:tcPr>
                </a:tc>
                <a:tc>
                  <a:txBody>
                    <a:bodyPr/>
                    <a:lstStyle/>
                    <a:p>
                      <a:pPr algn="ctr"/>
                      <a:r>
                        <a:rPr lang="en-US" sz="1400" dirty="0"/>
                        <a:t>261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345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594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477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*4871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6450837"/>
                  </a:ext>
                </a:extLst>
              </a:tr>
              <a:tr h="370840">
                <a:tc>
                  <a:txBody>
                    <a:bodyPr/>
                    <a:lstStyle/>
                    <a:p>
                      <a:pPr algn="ctr"/>
                      <a:r>
                        <a:rPr lang="en-US" sz="1400" b="1" dirty="0"/>
                        <a:t>ACTUAL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00B050"/>
                    </a:solidFill>
                  </a:tcPr>
                </a:tc>
                <a:tc>
                  <a:txBody>
                    <a:bodyPr/>
                    <a:lstStyle/>
                    <a:p>
                      <a:pPr algn="ctr"/>
                      <a:r>
                        <a:rPr lang="en-US" sz="1400" dirty="0"/>
                        <a:t>261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2468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506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289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*3612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0559105"/>
                  </a:ext>
                </a:extLst>
              </a:tr>
              <a:tr h="284480">
                <a:tc>
                  <a:txBody>
                    <a:bodyPr/>
                    <a:lstStyle/>
                    <a:p>
                      <a:pPr algn="ctr"/>
                      <a:r>
                        <a:rPr lang="en-US" sz="1400" b="1" dirty="0"/>
                        <a:t>VARIANCE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4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solidFill>
                            <a:schemeClr val="tx1"/>
                          </a:solidFill>
                        </a:rPr>
                        <a:t>-983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solidFill>
                            <a:schemeClr val="tx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solidFill>
                            <a:schemeClr val="tx1"/>
                          </a:solidFill>
                        </a:rPr>
                        <a:t>-188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solidFill>
                            <a:schemeClr val="tx1"/>
                          </a:solidFill>
                        </a:rPr>
                        <a:t>-1259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3069748"/>
                  </a:ext>
                </a:extLst>
              </a:tr>
            </a:tbl>
          </a:graphicData>
        </a:graphic>
      </p:graphicFrame>
      <p:sp>
        <p:nvSpPr>
          <p:cNvPr id="5" name="Slide Number Placeholder 4">
            <a:extLst>
              <a:ext uri="{FF2B5EF4-FFF2-40B4-BE49-F238E27FC236}">
                <a16:creationId xmlns:a16="http://schemas.microsoft.com/office/drawing/2014/main" id="{EE21E420-2674-495C-AC45-3ACCD3EFA84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8EB50294-FFA4-4947-B6AF-AFEA28055976}"/>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p>
        </p:txBody>
      </p:sp>
      <p:sp>
        <p:nvSpPr>
          <p:cNvPr id="9" name="TextBox 8">
            <a:extLst>
              <a:ext uri="{FF2B5EF4-FFF2-40B4-BE49-F238E27FC236}">
                <a16:creationId xmlns:a16="http://schemas.microsoft.com/office/drawing/2014/main" id="{E6F6CECD-B30B-4370-B7EF-EF716EB1F8AF}"/>
              </a:ext>
            </a:extLst>
          </p:cNvPr>
          <p:cNvSpPr txBox="1"/>
          <p:nvPr/>
        </p:nvSpPr>
        <p:spPr>
          <a:xfrm>
            <a:off x="405626" y="4929262"/>
            <a:ext cx="3428001" cy="4462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Arial"/>
                <a:ea typeface="+mn-ea"/>
                <a:cs typeface="+mn-cs"/>
              </a:rPr>
              <a:t>*includes +33 PCORI and +55 HMAPS YTD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10" name="Table 7">
            <a:extLst>
              <a:ext uri="{FF2B5EF4-FFF2-40B4-BE49-F238E27FC236}">
                <a16:creationId xmlns:a16="http://schemas.microsoft.com/office/drawing/2014/main" id="{9816ED92-EBA7-4459-9437-50B714BC5A4C}"/>
              </a:ext>
            </a:extLst>
          </p:cNvPr>
          <p:cNvGraphicFramePr>
            <a:graphicFrameLocks/>
          </p:cNvGraphicFramePr>
          <p:nvPr/>
        </p:nvGraphicFramePr>
        <p:xfrm>
          <a:off x="6095999" y="1243030"/>
          <a:ext cx="5397795" cy="1854200"/>
        </p:xfrm>
        <a:graphic>
          <a:graphicData uri="http://schemas.openxmlformats.org/drawingml/2006/table">
            <a:tbl>
              <a:tblPr firstRow="1" bandRow="1">
                <a:tableStyleId>{5C22544A-7EE6-4342-B048-85BDC9FD1C3A}</a:tableStyleId>
              </a:tblPr>
              <a:tblGrid>
                <a:gridCol w="1587796">
                  <a:extLst>
                    <a:ext uri="{9D8B030D-6E8A-4147-A177-3AD203B41FA5}">
                      <a16:colId xmlns:a16="http://schemas.microsoft.com/office/drawing/2014/main" val="1444796182"/>
                    </a:ext>
                  </a:extLst>
                </a:gridCol>
                <a:gridCol w="776176">
                  <a:extLst>
                    <a:ext uri="{9D8B030D-6E8A-4147-A177-3AD203B41FA5}">
                      <a16:colId xmlns:a16="http://schemas.microsoft.com/office/drawing/2014/main" val="1734203942"/>
                    </a:ext>
                  </a:extLst>
                </a:gridCol>
                <a:gridCol w="712381">
                  <a:extLst>
                    <a:ext uri="{9D8B030D-6E8A-4147-A177-3AD203B41FA5}">
                      <a16:colId xmlns:a16="http://schemas.microsoft.com/office/drawing/2014/main" val="1110371553"/>
                    </a:ext>
                  </a:extLst>
                </a:gridCol>
                <a:gridCol w="786809">
                  <a:extLst>
                    <a:ext uri="{9D8B030D-6E8A-4147-A177-3AD203B41FA5}">
                      <a16:colId xmlns:a16="http://schemas.microsoft.com/office/drawing/2014/main" val="3060164715"/>
                    </a:ext>
                  </a:extLst>
                </a:gridCol>
                <a:gridCol w="726559">
                  <a:extLst>
                    <a:ext uri="{9D8B030D-6E8A-4147-A177-3AD203B41FA5}">
                      <a16:colId xmlns:a16="http://schemas.microsoft.com/office/drawing/2014/main" val="2612343644"/>
                    </a:ext>
                  </a:extLst>
                </a:gridCol>
                <a:gridCol w="808074">
                  <a:extLst>
                    <a:ext uri="{9D8B030D-6E8A-4147-A177-3AD203B41FA5}">
                      <a16:colId xmlns:a16="http://schemas.microsoft.com/office/drawing/2014/main" val="2338583405"/>
                    </a:ext>
                  </a:extLst>
                </a:gridCol>
              </a:tblGrid>
              <a:tr h="370840">
                <a:tc gridSpan="6">
                  <a:txBody>
                    <a:bodyPr/>
                    <a:lstStyle/>
                    <a:p>
                      <a:pPr algn="ctr"/>
                      <a:r>
                        <a:rPr lang="en-US" sz="1400" dirty="0"/>
                        <a:t>2020 TOOL SUBMISSION PENDING CONFIRMATION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sz="1600" dirty="0"/>
                    </a:p>
                  </a:txBody>
                  <a:tcPr/>
                </a:tc>
                <a:tc hMerge="1">
                  <a:txBody>
                    <a:bodyPr/>
                    <a:lstStyle/>
                    <a:p>
                      <a:endParaRPr lang="en-US" sz="1600" dirty="0"/>
                    </a:p>
                  </a:txBody>
                  <a:tcPr/>
                </a:tc>
                <a:tc hMerge="1">
                  <a:txBody>
                    <a:bodyPr/>
                    <a:lstStyle/>
                    <a:p>
                      <a:endParaRPr lang="en-US" sz="1600" dirty="0"/>
                    </a:p>
                  </a:txBody>
                  <a:tcPr/>
                </a:tc>
                <a:tc hMerge="1">
                  <a:txBody>
                    <a:bodyPr/>
                    <a:lstStyle/>
                    <a:p>
                      <a:endParaRPr lang="en-US" sz="1600" dirty="0"/>
                    </a:p>
                  </a:txBody>
                  <a:tcPr/>
                </a:tc>
                <a:tc hMerge="1">
                  <a:txBody>
                    <a:bodyPr/>
                    <a:lstStyle/>
                    <a:p>
                      <a:endParaRPr lang="en-US" sz="1600" dirty="0"/>
                    </a:p>
                  </a:txBody>
                  <a:tcPr/>
                </a:tc>
                <a:extLst>
                  <a:ext uri="{0D108BD9-81ED-4DB2-BD59-A6C34878D82A}">
                    <a16:rowId xmlns:a16="http://schemas.microsoft.com/office/drawing/2014/main" val="3733195387"/>
                  </a:ext>
                </a:extLst>
              </a:tr>
              <a:tr h="370840">
                <a:tc>
                  <a:txBody>
                    <a:bodyPr/>
                    <a:lstStyle/>
                    <a:p>
                      <a:pPr algn="ctr"/>
                      <a:endParaRPr lang="en-US" sz="1400" b="1" dirty="0"/>
                    </a:p>
                  </a:txBody>
                  <a:tcPr>
                    <a:lnL w="12700" cap="flat" cmpd="sng" algn="ctr">
                      <a:solidFill>
                        <a:schemeClr val="tx1"/>
                      </a:solidFill>
                      <a:prstDash val="solid"/>
                      <a:round/>
                      <a:headEnd type="none" w="med" len="med"/>
                      <a:tailEnd type="none" w="med" len="med"/>
                    </a:lnL>
                    <a:noFill/>
                  </a:tcPr>
                </a:tc>
                <a:tc>
                  <a:txBody>
                    <a:bodyPr/>
                    <a:lstStyle/>
                    <a:p>
                      <a:pPr algn="ctr"/>
                      <a:r>
                        <a:rPr lang="en-US" sz="1400" dirty="0"/>
                        <a:t>FBS</a:t>
                      </a:r>
                    </a:p>
                  </a:txBody>
                  <a:tcPr>
                    <a:noFill/>
                  </a:tcPr>
                </a:tc>
                <a:tc>
                  <a:txBody>
                    <a:bodyPr/>
                    <a:lstStyle/>
                    <a:p>
                      <a:pPr algn="ctr"/>
                      <a:r>
                        <a:rPr lang="en-US" sz="1400" dirty="0"/>
                        <a:t>FPA</a:t>
                      </a:r>
                    </a:p>
                  </a:txBody>
                  <a:tcPr>
                    <a:noFill/>
                  </a:tcPr>
                </a:tc>
                <a:tc>
                  <a:txBody>
                    <a:bodyPr/>
                    <a:lstStyle/>
                    <a:p>
                      <a:pPr algn="ctr"/>
                      <a:r>
                        <a:rPr lang="en-US" sz="1400" dirty="0"/>
                        <a:t>IBNR</a:t>
                      </a:r>
                    </a:p>
                  </a:txBody>
                  <a:tcPr>
                    <a:noFill/>
                  </a:tcPr>
                </a:tc>
                <a:tc>
                  <a:txBody>
                    <a:bodyPr/>
                    <a:lstStyle/>
                    <a:p>
                      <a:pPr algn="ctr"/>
                      <a:r>
                        <a:rPr lang="en-US" sz="1400" dirty="0"/>
                        <a:t>PUT</a:t>
                      </a:r>
                    </a:p>
                  </a:txBody>
                  <a:tcPr>
                    <a:noFill/>
                  </a:tcPr>
                </a:tc>
                <a:tc>
                  <a:txBody>
                    <a:bodyPr/>
                    <a:lstStyle/>
                    <a:p>
                      <a:pPr algn="ctr"/>
                      <a:r>
                        <a:rPr lang="en-US" sz="1400" dirty="0"/>
                        <a:t>TOTAL</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148600315"/>
                  </a:ext>
                </a:extLst>
              </a:tr>
              <a:tr h="370840">
                <a:tc>
                  <a:txBody>
                    <a:bodyPr/>
                    <a:lstStyle/>
                    <a:p>
                      <a:pPr algn="ctr"/>
                      <a:r>
                        <a:rPr lang="en-US" sz="1400" b="1" dirty="0"/>
                        <a:t>Pending Clients</a:t>
                      </a:r>
                    </a:p>
                  </a:txBody>
                  <a:tcPr>
                    <a:lnL w="12700" cap="flat" cmpd="sng" algn="ctr">
                      <a:solidFill>
                        <a:schemeClr val="tx1"/>
                      </a:solidFill>
                      <a:prstDash val="solid"/>
                      <a:round/>
                      <a:headEnd type="none" w="med" len="med"/>
                      <a:tailEnd type="none" w="med" len="med"/>
                    </a:lnL>
                    <a:noFill/>
                  </a:tcPr>
                </a:tc>
                <a:tc>
                  <a:txBody>
                    <a:bodyPr/>
                    <a:lstStyle/>
                    <a:p>
                      <a:pPr algn="ctr"/>
                      <a:r>
                        <a:rPr lang="en-US" sz="1400" dirty="0"/>
                        <a:t>40</a:t>
                      </a:r>
                    </a:p>
                  </a:txBody>
                  <a:tcPr>
                    <a:noFill/>
                  </a:tcPr>
                </a:tc>
                <a:tc>
                  <a:txBody>
                    <a:bodyPr/>
                    <a:lstStyle/>
                    <a:p>
                      <a:pPr algn="ctr"/>
                      <a:r>
                        <a:rPr lang="en-US" sz="1400" dirty="0"/>
                        <a:t>56</a:t>
                      </a:r>
                    </a:p>
                  </a:txBody>
                  <a:tcPr>
                    <a:noFill/>
                  </a:tcPr>
                </a:tc>
                <a:tc>
                  <a:txBody>
                    <a:bodyPr/>
                    <a:lstStyle/>
                    <a:p>
                      <a:pPr algn="ctr"/>
                      <a:r>
                        <a:rPr lang="en-US" sz="1400" dirty="0"/>
                        <a:t>82</a:t>
                      </a:r>
                    </a:p>
                  </a:txBody>
                  <a:tcPr>
                    <a:noFill/>
                  </a:tcPr>
                </a:tc>
                <a:tc>
                  <a:txBody>
                    <a:bodyPr/>
                    <a:lstStyle/>
                    <a:p>
                      <a:pPr algn="ctr"/>
                      <a:r>
                        <a:rPr lang="en-US" sz="1400" dirty="0"/>
                        <a:t>74</a:t>
                      </a:r>
                    </a:p>
                  </a:txBody>
                  <a:tcPr>
                    <a:noFill/>
                  </a:tcPr>
                </a:tc>
                <a:tc>
                  <a:txBody>
                    <a:bodyPr/>
                    <a:lstStyle/>
                    <a:p>
                      <a:pPr algn="ctr"/>
                      <a:r>
                        <a:rPr lang="en-US" sz="1400" dirty="0"/>
                        <a:t>252</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748974011"/>
                  </a:ext>
                </a:extLst>
              </a:tr>
              <a:tr h="370840">
                <a:tc>
                  <a:txBody>
                    <a:bodyPr/>
                    <a:lstStyle/>
                    <a:p>
                      <a:pPr algn="ctr"/>
                      <a:r>
                        <a:rPr lang="en-US" sz="1400" b="1" dirty="0"/>
                        <a:t>No Work</a:t>
                      </a:r>
                    </a:p>
                  </a:txBody>
                  <a:tcPr>
                    <a:lnL w="12700" cap="flat" cmpd="sng" algn="ctr">
                      <a:solidFill>
                        <a:schemeClr val="tx1"/>
                      </a:solidFill>
                      <a:prstDash val="solid"/>
                      <a:round/>
                      <a:headEnd type="none" w="med" len="med"/>
                      <a:tailEnd type="none" w="med" len="med"/>
                    </a:lnL>
                    <a:noFill/>
                  </a:tcPr>
                </a:tc>
                <a:tc>
                  <a:txBody>
                    <a:bodyPr/>
                    <a:lstStyle/>
                    <a:p>
                      <a:pPr algn="ctr"/>
                      <a:r>
                        <a:rPr lang="en-US" sz="1400" dirty="0"/>
                        <a:t>15</a:t>
                      </a:r>
                    </a:p>
                  </a:txBody>
                  <a:tcPr>
                    <a:noFill/>
                  </a:tcPr>
                </a:tc>
                <a:tc>
                  <a:txBody>
                    <a:bodyPr/>
                    <a:lstStyle/>
                    <a:p>
                      <a:pPr algn="ctr"/>
                      <a:r>
                        <a:rPr lang="en-US" sz="1400" dirty="0"/>
                        <a:t>24</a:t>
                      </a:r>
                    </a:p>
                  </a:txBody>
                  <a:tcPr>
                    <a:noFill/>
                  </a:tcPr>
                </a:tc>
                <a:tc>
                  <a:txBody>
                    <a:bodyPr/>
                    <a:lstStyle/>
                    <a:p>
                      <a:pPr algn="ctr"/>
                      <a:r>
                        <a:rPr lang="en-US" sz="1400" dirty="0"/>
                        <a:t>85</a:t>
                      </a:r>
                    </a:p>
                  </a:txBody>
                  <a:tcPr>
                    <a:noFill/>
                  </a:tcPr>
                </a:tc>
                <a:tc>
                  <a:txBody>
                    <a:bodyPr/>
                    <a:lstStyle/>
                    <a:p>
                      <a:pPr algn="ctr"/>
                      <a:r>
                        <a:rPr lang="en-US" sz="1400" dirty="0"/>
                        <a:t>35</a:t>
                      </a:r>
                    </a:p>
                  </a:txBody>
                  <a:tcPr>
                    <a:noFill/>
                  </a:tcPr>
                </a:tc>
                <a:tc>
                  <a:txBody>
                    <a:bodyPr/>
                    <a:lstStyle/>
                    <a:p>
                      <a:pPr algn="ctr"/>
                      <a:r>
                        <a:rPr lang="en-US" sz="1400" dirty="0"/>
                        <a:t>159</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69139449"/>
                  </a:ext>
                </a:extLst>
              </a:tr>
              <a:tr h="370840">
                <a:tc>
                  <a:txBody>
                    <a:bodyPr/>
                    <a:lstStyle/>
                    <a:p>
                      <a:pPr algn="ctr"/>
                      <a:r>
                        <a:rPr lang="en-US" sz="1400" b="1" dirty="0"/>
                        <a:t>US Team</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a:r>
                        <a:rPr lang="en-US" sz="1400" dirty="0"/>
                        <a:t>97</a:t>
                      </a:r>
                    </a:p>
                  </a:txBody>
                  <a:tcPr>
                    <a:lnB w="12700" cap="flat" cmpd="sng" algn="ctr">
                      <a:solidFill>
                        <a:schemeClr val="tx1"/>
                      </a:solidFill>
                      <a:prstDash val="solid"/>
                      <a:round/>
                      <a:headEnd type="none" w="med" len="med"/>
                      <a:tailEnd type="none" w="med" len="med"/>
                    </a:lnB>
                    <a:noFill/>
                  </a:tcPr>
                </a:tc>
                <a:tc>
                  <a:txBody>
                    <a:bodyPr/>
                    <a:lstStyle/>
                    <a:p>
                      <a:pPr algn="ctr"/>
                      <a:r>
                        <a:rPr lang="en-US" sz="1400" dirty="0"/>
                        <a:t>-</a:t>
                      </a:r>
                    </a:p>
                  </a:txBody>
                  <a:tcPr>
                    <a:lnB w="12700" cap="flat" cmpd="sng" algn="ctr">
                      <a:solidFill>
                        <a:schemeClr val="tx1"/>
                      </a:solidFill>
                      <a:prstDash val="solid"/>
                      <a:round/>
                      <a:headEnd type="none" w="med" len="med"/>
                      <a:tailEnd type="none" w="med" len="med"/>
                    </a:lnB>
                    <a:noFill/>
                  </a:tcPr>
                </a:tc>
                <a:tc>
                  <a:txBody>
                    <a:bodyPr/>
                    <a:lstStyle/>
                    <a:p>
                      <a:pPr algn="ctr"/>
                      <a:r>
                        <a:rPr lang="en-US" sz="1400" dirty="0"/>
                        <a:t>-</a:t>
                      </a:r>
                    </a:p>
                  </a:txBody>
                  <a:tcPr>
                    <a:lnB w="12700" cap="flat" cmpd="sng" algn="ctr">
                      <a:solidFill>
                        <a:schemeClr val="tx1"/>
                      </a:solidFill>
                      <a:prstDash val="solid"/>
                      <a:round/>
                      <a:headEnd type="none" w="med" len="med"/>
                      <a:tailEnd type="none" w="med" len="med"/>
                    </a:lnB>
                    <a:noFill/>
                  </a:tcPr>
                </a:tc>
                <a:tc>
                  <a:txBody>
                    <a:bodyPr/>
                    <a:lstStyle/>
                    <a:p>
                      <a:pPr algn="ctr"/>
                      <a:r>
                        <a:rPr lang="en-US" sz="1400" dirty="0"/>
                        <a:t>-</a:t>
                      </a:r>
                    </a:p>
                  </a:txBody>
                  <a:tcPr>
                    <a:lnB w="12700" cap="flat" cmpd="sng" algn="ctr">
                      <a:solidFill>
                        <a:schemeClr val="tx1"/>
                      </a:solidFill>
                      <a:prstDash val="solid"/>
                      <a:round/>
                      <a:headEnd type="none" w="med" len="med"/>
                      <a:tailEnd type="none" w="med" len="med"/>
                    </a:lnB>
                    <a:noFill/>
                  </a:tcPr>
                </a:tc>
                <a:tc>
                  <a:txBody>
                    <a:bodyPr/>
                    <a:lstStyle/>
                    <a:p>
                      <a:pPr algn="ctr"/>
                      <a:r>
                        <a:rPr lang="en-US" sz="1400" dirty="0"/>
                        <a:t>97</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332859"/>
                  </a:ext>
                </a:extLst>
              </a:tr>
            </a:tbl>
          </a:graphicData>
        </a:graphic>
      </p:graphicFrame>
      <p:sp>
        <p:nvSpPr>
          <p:cNvPr id="12" name="Rectangle 11">
            <a:extLst>
              <a:ext uri="{FF2B5EF4-FFF2-40B4-BE49-F238E27FC236}">
                <a16:creationId xmlns:a16="http://schemas.microsoft.com/office/drawing/2014/main" id="{6F3FA9C2-8B38-4138-AC33-A07783AB847B}"/>
              </a:ext>
            </a:extLst>
          </p:cNvPr>
          <p:cNvSpPr/>
          <p:nvPr/>
        </p:nvSpPr>
        <p:spPr>
          <a:xfrm>
            <a:off x="6095998" y="3217009"/>
            <a:ext cx="5397795" cy="138499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The Manila Data Management Team has completed a total of 3,612 reports for 389 client</a:t>
            </a:r>
            <a:r>
              <a:rPr kumimoji="0" lang="en-US" sz="1400" b="1" i="0" u="none" strike="noStrike" kern="1200" cap="none" spc="0" normalizeH="0" baseline="0" noProof="0" dirty="0">
                <a:ln>
                  <a:noFill/>
                </a:ln>
                <a:solidFill>
                  <a:srgbClr val="702082"/>
                </a:solidFill>
                <a:effectLst/>
                <a:uLnTx/>
                <a:uFillTx/>
                <a:latin typeface="Arial"/>
                <a:ea typeface="+mn-ea"/>
                <a:cs typeface="+mn-cs"/>
              </a:rPr>
              <a:t> </a:t>
            </a:r>
            <a:r>
              <a:rPr kumimoji="0" lang="en-US" sz="1400" b="0" i="0" u="none" strike="noStrike" kern="1200" cap="none" spc="0" normalizeH="0" baseline="0" noProof="0" dirty="0">
                <a:ln>
                  <a:noFill/>
                </a:ln>
                <a:solidFill>
                  <a:prstClr val="black"/>
                </a:solidFill>
                <a:effectLst/>
                <a:uLnTx/>
                <a:uFillTx/>
                <a:latin typeface="Arial"/>
                <a:ea typeface="+mn-ea"/>
                <a:cs typeface="+mn-cs"/>
              </a:rPr>
              <a:t>accounts for 2020 YTD</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Teams completed 1364 reports for the East region, 827 for Midwest region and 1421 for West region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11" name="Chart 10">
            <a:extLst>
              <a:ext uri="{FF2B5EF4-FFF2-40B4-BE49-F238E27FC236}">
                <a16:creationId xmlns:a16="http://schemas.microsoft.com/office/drawing/2014/main" id="{3BE921BA-5685-423A-8AB5-8D8E8AD34512}"/>
              </a:ext>
            </a:extLst>
          </p:cNvPr>
          <p:cNvGraphicFramePr/>
          <p:nvPr>
            <p:extLst>
              <p:ext uri="{D42A27DB-BD31-4B8C-83A1-F6EECF244321}">
                <p14:modId xmlns:p14="http://schemas.microsoft.com/office/powerpoint/2010/main" val="2867494659"/>
              </p:ext>
            </p:extLst>
          </p:nvPr>
        </p:nvGraphicFramePr>
        <p:xfrm>
          <a:off x="1244505" y="5399594"/>
          <a:ext cx="9523228" cy="7217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68056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Excellence_A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600" y="732267"/>
            <a:ext cx="10972800" cy="276999"/>
          </a:xfrm>
        </p:spPr>
        <p:txBody>
          <a:bodyPr/>
          <a:lstStyle/>
          <a:p>
            <a:r>
              <a:rPr lang="en-US" dirty="0"/>
              <a:t>Average Handling Time (AHT) Analysis</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9" name="EAHT_Chart2">
            <a:extLst>
              <a:ext uri="{FF2B5EF4-FFF2-40B4-BE49-F238E27FC236}">
                <a16:creationId xmlns:a16="http://schemas.microsoft.com/office/drawing/2014/main" id="{CB0240EC-F4C8-451E-840F-90EB827C7F99}"/>
              </a:ext>
            </a:extLst>
          </p:cNvPr>
          <p:cNvGraphicFramePr/>
          <p:nvPr>
            <p:extLst>
              <p:ext uri="{D42A27DB-BD31-4B8C-83A1-F6EECF244321}">
                <p14:modId xmlns:p14="http://schemas.microsoft.com/office/powerpoint/2010/main" val="2347214150"/>
              </p:ext>
            </p:extLst>
          </p:nvPr>
        </p:nvGraphicFramePr>
        <p:xfrm>
          <a:off x="7292793" y="1040044"/>
          <a:ext cx="4716498" cy="488065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B6C312AE-998E-4986-9592-2ABC33CD79CE}"/>
              </a:ext>
            </a:extLst>
          </p:cNvPr>
          <p:cNvSpPr txBox="1"/>
          <p:nvPr/>
        </p:nvSpPr>
        <p:spPr>
          <a:xfrm>
            <a:off x="647290" y="1296701"/>
            <a:ext cx="6276063" cy="52322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{{TEXT1}}</a:t>
            </a:r>
          </a:p>
          <a:p>
            <a:pPr marL="285750" indent="-285750">
              <a:buFont typeface="Wingdings" panose="05000000000000000000" pitchFamily="2" charset="2"/>
              <a:buChar char="§"/>
              <a:defRPr/>
            </a:pPr>
            <a:r>
              <a:rPr lang="en-US" sz="1400" dirty="0">
                <a:solidFill>
                  <a:prstClr val="black"/>
                </a:solidFill>
              </a:rPr>
              <a:t>{{TEXT2}}</a:t>
            </a:r>
          </a:p>
        </p:txBody>
      </p:sp>
      <p:graphicFrame>
        <p:nvGraphicFramePr>
          <p:cNvPr id="10" name="EAHT_Chart1">
            <a:extLst>
              <a:ext uri="{FF2B5EF4-FFF2-40B4-BE49-F238E27FC236}">
                <a16:creationId xmlns:a16="http://schemas.microsoft.com/office/drawing/2014/main" id="{85C0EA87-D0F5-40B0-BF8A-F642977B4786}"/>
              </a:ext>
            </a:extLst>
          </p:cNvPr>
          <p:cNvGraphicFramePr/>
          <p:nvPr>
            <p:extLst>
              <p:ext uri="{D42A27DB-BD31-4B8C-83A1-F6EECF244321}">
                <p14:modId xmlns:p14="http://schemas.microsoft.com/office/powerpoint/2010/main" val="891420405"/>
              </p:ext>
            </p:extLst>
          </p:nvPr>
        </p:nvGraphicFramePr>
        <p:xfrm>
          <a:off x="182709" y="2241196"/>
          <a:ext cx="7205227" cy="395457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53187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Excellence_AHT_C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600" y="732267"/>
            <a:ext cx="10972800" cy="276999"/>
          </a:xfrm>
        </p:spPr>
        <p:txBody>
          <a:bodyPr/>
          <a:lstStyle/>
          <a:p>
            <a:r>
              <a:rPr lang="en-US" dirty="0"/>
              <a:t>Average Handling Time (AHT) Analysis | Consulting vs B&amp;A</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10" name="EAC_Chart1">
            <a:extLst>
              <a:ext uri="{FF2B5EF4-FFF2-40B4-BE49-F238E27FC236}">
                <a16:creationId xmlns:a16="http://schemas.microsoft.com/office/drawing/2014/main" id="{85C0EA87-D0F5-40B0-BF8A-F642977B4786}"/>
              </a:ext>
            </a:extLst>
          </p:cNvPr>
          <p:cNvGraphicFramePr/>
          <p:nvPr>
            <p:extLst>
              <p:ext uri="{D42A27DB-BD31-4B8C-83A1-F6EECF244321}">
                <p14:modId xmlns:p14="http://schemas.microsoft.com/office/powerpoint/2010/main" val="3224331084"/>
              </p:ext>
            </p:extLst>
          </p:nvPr>
        </p:nvGraphicFramePr>
        <p:xfrm>
          <a:off x="153833" y="1284332"/>
          <a:ext cx="5672488" cy="484140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EAC_Chart2">
            <a:extLst>
              <a:ext uri="{FF2B5EF4-FFF2-40B4-BE49-F238E27FC236}">
                <a16:creationId xmlns:a16="http://schemas.microsoft.com/office/drawing/2014/main" id="{84F461B2-E23A-4B27-9EC1-52D8E541AE04}"/>
              </a:ext>
            </a:extLst>
          </p:cNvPr>
          <p:cNvGraphicFramePr/>
          <p:nvPr>
            <p:extLst>
              <p:ext uri="{D42A27DB-BD31-4B8C-83A1-F6EECF244321}">
                <p14:modId xmlns:p14="http://schemas.microsoft.com/office/powerpoint/2010/main" val="2966499200"/>
              </p:ext>
            </p:extLst>
          </p:nvPr>
        </p:nvGraphicFramePr>
        <p:xfrm>
          <a:off x="5826321" y="1284332"/>
          <a:ext cx="6211846" cy="476033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431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Excellence_Combin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a:xfrm>
            <a:off x="609598" y="250570"/>
            <a:ext cx="10972800" cy="307777"/>
          </a:xfrm>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598" y="557940"/>
            <a:ext cx="10972800" cy="276999"/>
          </a:xfrm>
        </p:spPr>
        <p:txBody>
          <a:bodyPr/>
          <a:lstStyle/>
          <a:p>
            <a:r>
              <a:rPr lang="en-US" dirty="0"/>
              <a:t>Average Handling Time per Tool per Market May 2021 (Combined B&amp;A and Consulting)</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44" name="EXC_Chart1">
            <a:extLst>
              <a:ext uri="{FF2B5EF4-FFF2-40B4-BE49-F238E27FC236}">
                <a16:creationId xmlns:a16="http://schemas.microsoft.com/office/drawing/2014/main" id="{0577CE51-A6BE-449F-A1CB-B496B51E018E}"/>
              </a:ext>
            </a:extLst>
          </p:cNvPr>
          <p:cNvGraphicFramePr/>
          <p:nvPr>
            <p:extLst>
              <p:ext uri="{D42A27DB-BD31-4B8C-83A1-F6EECF244321}">
                <p14:modId xmlns:p14="http://schemas.microsoft.com/office/powerpoint/2010/main" val="3530354722"/>
              </p:ext>
            </p:extLst>
          </p:nvPr>
        </p:nvGraphicFramePr>
        <p:xfrm>
          <a:off x="609598" y="977462"/>
          <a:ext cx="10972800" cy="51471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29740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Excellence_B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a:xfrm>
            <a:off x="609598" y="250570"/>
            <a:ext cx="10972800" cy="307777"/>
          </a:xfrm>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598" y="557940"/>
            <a:ext cx="10972800" cy="276999"/>
          </a:xfrm>
        </p:spPr>
        <p:txBody>
          <a:bodyPr/>
          <a:lstStyle/>
          <a:p>
            <a:r>
              <a:rPr lang="en-US" dirty="0"/>
              <a:t>Average Handling Time per Tool per Market May 2021 (B&amp;A)</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44" name="EXBA_Chart1">
            <a:extLst>
              <a:ext uri="{FF2B5EF4-FFF2-40B4-BE49-F238E27FC236}">
                <a16:creationId xmlns:a16="http://schemas.microsoft.com/office/drawing/2014/main" id="{0577CE51-A6BE-449F-A1CB-B496B51E018E}"/>
              </a:ext>
            </a:extLst>
          </p:cNvPr>
          <p:cNvGraphicFramePr/>
          <p:nvPr>
            <p:extLst>
              <p:ext uri="{D42A27DB-BD31-4B8C-83A1-F6EECF244321}">
                <p14:modId xmlns:p14="http://schemas.microsoft.com/office/powerpoint/2010/main" val="4182906834"/>
              </p:ext>
            </p:extLst>
          </p:nvPr>
        </p:nvGraphicFramePr>
        <p:xfrm>
          <a:off x="609598" y="977462"/>
          <a:ext cx="10972800" cy="51471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07025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Excellence_Cons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a:xfrm>
            <a:off x="609598" y="250570"/>
            <a:ext cx="10972800" cy="307777"/>
          </a:xfrm>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598" y="557940"/>
            <a:ext cx="10972800" cy="276999"/>
          </a:xfrm>
        </p:spPr>
        <p:txBody>
          <a:bodyPr/>
          <a:lstStyle/>
          <a:p>
            <a:r>
              <a:rPr lang="en-US" dirty="0"/>
              <a:t>Average Handling Time per Tool per Market May 2021 (Consulting)</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44" name="EXCONS_Chart1">
            <a:extLst>
              <a:ext uri="{FF2B5EF4-FFF2-40B4-BE49-F238E27FC236}">
                <a16:creationId xmlns:a16="http://schemas.microsoft.com/office/drawing/2014/main" id="{0577CE51-A6BE-449F-A1CB-B496B51E018E}"/>
              </a:ext>
            </a:extLst>
          </p:cNvPr>
          <p:cNvGraphicFramePr/>
          <p:nvPr>
            <p:extLst>
              <p:ext uri="{D42A27DB-BD31-4B8C-83A1-F6EECF244321}">
                <p14:modId xmlns:p14="http://schemas.microsoft.com/office/powerpoint/2010/main" val="3397585888"/>
              </p:ext>
            </p:extLst>
          </p:nvPr>
        </p:nvGraphicFramePr>
        <p:xfrm>
          <a:off x="609597" y="977462"/>
          <a:ext cx="10972800" cy="51471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70640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Excellence_CD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600" y="732267"/>
            <a:ext cx="10972800" cy="276999"/>
          </a:xfrm>
        </p:spPr>
        <p:txBody>
          <a:bodyPr/>
          <a:lstStyle/>
          <a:p>
            <a:r>
              <a:rPr lang="en-US" dirty="0"/>
              <a:t>Average Handling Time (AHT) Analysis – Central Data Team</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32" name="ECDT_Chart1">
            <a:extLst>
              <a:ext uri="{FF2B5EF4-FFF2-40B4-BE49-F238E27FC236}">
                <a16:creationId xmlns:a16="http://schemas.microsoft.com/office/drawing/2014/main" id="{3C02FF16-F06E-4365-A449-442968CE77FA}"/>
              </a:ext>
            </a:extLst>
          </p:cNvPr>
          <p:cNvGraphicFramePr/>
          <p:nvPr>
            <p:extLst>
              <p:ext uri="{D42A27DB-BD31-4B8C-83A1-F6EECF244321}">
                <p14:modId xmlns:p14="http://schemas.microsoft.com/office/powerpoint/2010/main" val="3009043799"/>
              </p:ext>
            </p:extLst>
          </p:nvPr>
        </p:nvGraphicFramePr>
        <p:xfrm>
          <a:off x="309931" y="1284332"/>
          <a:ext cx="8500582" cy="4771171"/>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E2566C0D-3393-43DA-8D70-812233462B2D}"/>
              </a:ext>
            </a:extLst>
          </p:cNvPr>
          <p:cNvSpPr txBox="1"/>
          <p:nvPr/>
        </p:nvSpPr>
        <p:spPr>
          <a:xfrm>
            <a:off x="8896574" y="1284332"/>
            <a:ext cx="2985495" cy="39703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Processes with the lowest handle time are CCMU Reporting and NetRPM (B&amp;A and Consulting) due to the high volume of reports compared to the other processes. In addition, </a:t>
            </a:r>
            <a:r>
              <a:rPr kumimoji="0" lang="en-US" sz="1200" b="0" i="0" u="none" strike="noStrike" kern="1200" cap="none" spc="0" normalizeH="0" baseline="0" noProof="0" dirty="0" err="1">
                <a:ln>
                  <a:noFill/>
                </a:ln>
                <a:solidFill>
                  <a:prstClr val="black"/>
                </a:solidFill>
                <a:effectLst/>
                <a:uLnTx/>
                <a:uFillTx/>
                <a:latin typeface="Arial"/>
                <a:ea typeface="+mn-ea"/>
                <a:cs typeface="+mn-cs"/>
              </a:rPr>
              <a:t>NetRPM</a:t>
            </a:r>
            <a:r>
              <a:rPr kumimoji="0" lang="en-US" sz="1200" b="0" i="0" u="none" strike="noStrike" kern="1200" cap="none" spc="0" normalizeH="0" baseline="0" noProof="0" dirty="0">
                <a:ln>
                  <a:noFill/>
                </a:ln>
                <a:solidFill>
                  <a:prstClr val="black"/>
                </a:solidFill>
                <a:effectLst/>
                <a:uLnTx/>
                <a:uFillTx/>
                <a:latin typeface="Arial"/>
                <a:ea typeface="+mn-ea"/>
                <a:cs typeface="+mn-cs"/>
              </a:rPr>
              <a:t> requests are transactional in nature – requires minimal project management work and with shorter timelines. Complexity is considered simple for both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Processes with higher handle time are ADML Benchmarking, ADML RFP, NDT (B&amp;A and Consulting), CCMU Vetting, </a:t>
            </a:r>
            <a:r>
              <a:rPr kumimoji="0" lang="en-US" sz="1200" b="0" i="0" u="none" strike="noStrike" kern="1200" cap="none" spc="0" normalizeH="0" baseline="0" noProof="0" dirty="0" err="1">
                <a:ln>
                  <a:noFill/>
                </a:ln>
                <a:solidFill>
                  <a:prstClr val="black"/>
                </a:solidFill>
                <a:effectLst/>
                <a:uLnTx/>
                <a:uFillTx/>
                <a:latin typeface="Arial"/>
                <a:ea typeface="+mn-ea"/>
                <a:cs typeface="+mn-cs"/>
              </a:rPr>
              <a:t>GeoAccess</a:t>
            </a:r>
            <a:r>
              <a:rPr kumimoji="0" lang="en-US" sz="1200" b="0" i="0" u="none" strike="noStrike" kern="1200" cap="none" spc="0" normalizeH="0" baseline="0" noProof="0" dirty="0">
                <a:ln>
                  <a:noFill/>
                </a:ln>
                <a:solidFill>
                  <a:prstClr val="black"/>
                </a:solidFill>
                <a:effectLst/>
                <a:uLnTx/>
                <a:uFillTx/>
                <a:latin typeface="Arial"/>
                <a:ea typeface="+mn-ea"/>
                <a:cs typeface="+mn-cs"/>
              </a:rPr>
              <a:t> and Disruption Analysis. Complexity is higher due to required data manipulation, analysis and deck preparation. These also involve longer timelines due to data dependencies from different 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mn-ea"/>
                <a:cs typeface="+mn-cs"/>
              </a:rPr>
              <a:t>No AHT for Form 5500 (no Jira Workflow)</a:t>
            </a:r>
          </a:p>
        </p:txBody>
      </p:sp>
    </p:spTree>
    <p:extLst>
      <p:ext uri="{BB962C8B-B14F-4D97-AF65-F5344CB8AC3E}">
        <p14:creationId xmlns:p14="http://schemas.microsoft.com/office/powerpoint/2010/main" val="2273522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EX_Dat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a:xfrm>
            <a:off x="609600" y="337829"/>
            <a:ext cx="10972800" cy="307777"/>
          </a:xfrm>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600" y="748309"/>
            <a:ext cx="10972800" cy="276999"/>
          </a:xfrm>
        </p:spPr>
        <p:txBody>
          <a:bodyPr/>
          <a:lstStyle/>
          <a:p>
            <a:r>
              <a:rPr lang="en-US" dirty="0"/>
              <a:t>AHT per Process (Data Management) 2021</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pic>
        <p:nvPicPr>
          <p:cNvPr id="7" name="EXDM_Pic1">
            <a:extLst>
              <a:ext uri="{FF2B5EF4-FFF2-40B4-BE49-F238E27FC236}">
                <a16:creationId xmlns:a16="http://schemas.microsoft.com/office/drawing/2014/main" id="{FDE3D357-8C60-44D1-BC5B-185BD6CD3E8D}"/>
              </a:ext>
            </a:extLst>
          </p:cNvPr>
          <p:cNvPicPr>
            <a:picLocks noChangeAspect="1"/>
          </p:cNvPicPr>
          <p:nvPr/>
        </p:nvPicPr>
        <p:blipFill>
          <a:blip r:embed="rId3"/>
          <a:stretch>
            <a:fillRect/>
          </a:stretch>
        </p:blipFill>
        <p:spPr>
          <a:xfrm>
            <a:off x="1331563" y="1121464"/>
            <a:ext cx="9528874" cy="4615072"/>
          </a:xfrm>
          <a:prstGeom prst="rect">
            <a:avLst/>
          </a:prstGeom>
        </p:spPr>
      </p:pic>
    </p:spTree>
    <p:extLst>
      <p:ext uri="{BB962C8B-B14F-4D97-AF65-F5344CB8AC3E}">
        <p14:creationId xmlns:p14="http://schemas.microsoft.com/office/powerpoint/2010/main" val="2328303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EX_DataM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a:xfrm>
            <a:off x="609600" y="337829"/>
            <a:ext cx="10972800" cy="307777"/>
          </a:xfrm>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600" y="748309"/>
            <a:ext cx="10972800" cy="276999"/>
          </a:xfrm>
        </p:spPr>
        <p:txBody>
          <a:bodyPr/>
          <a:lstStyle/>
          <a:p>
            <a:r>
              <a:rPr lang="en-US" dirty="0"/>
              <a:t>AHT per Process (Data Management) 2021 vs 2020</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Box 8">
            <a:extLst>
              <a:ext uri="{FF2B5EF4-FFF2-40B4-BE49-F238E27FC236}">
                <a16:creationId xmlns:a16="http://schemas.microsoft.com/office/drawing/2014/main" id="{FB9C7CE2-A0E0-41E1-8F14-C7FF9B97ECBA}"/>
              </a:ext>
            </a:extLst>
          </p:cNvPr>
          <p:cNvSpPr txBox="1"/>
          <p:nvPr/>
        </p:nvSpPr>
        <p:spPr>
          <a:xfrm>
            <a:off x="6719454" y="230107"/>
            <a:ext cx="4862946" cy="830997"/>
          </a:xfrm>
          <a:prstGeom prst="rect">
            <a:avLst/>
          </a:prstGeom>
          <a:noFill/>
        </p:spPr>
        <p:txBody>
          <a:bodyPr wrap="square" rtlCol="0">
            <a:spAutoFit/>
          </a:bodyPr>
          <a:lstStyle/>
          <a:p>
            <a:r>
              <a:rPr lang="en-US" sz="1200" dirty="0"/>
              <a:t>Increase in AHT for PUT, FBS, IBNR, </a:t>
            </a:r>
            <a:r>
              <a:rPr lang="en-US" sz="1200" dirty="0" err="1"/>
              <a:t>HealthMaps</a:t>
            </a:r>
            <a:r>
              <a:rPr lang="en-US" sz="1200" dirty="0"/>
              <a:t> and PCORI 2021 vs 2020</a:t>
            </a:r>
          </a:p>
          <a:p>
            <a:endParaRPr lang="en-US" sz="1200" dirty="0"/>
          </a:p>
          <a:p>
            <a:r>
              <a:rPr lang="en-US" sz="1200" dirty="0"/>
              <a:t>FPA AHT slightly improved in 2021 vs 2020</a:t>
            </a:r>
          </a:p>
        </p:txBody>
      </p:sp>
      <p:pic>
        <p:nvPicPr>
          <p:cNvPr id="7" name="EXDM2_Pic1">
            <a:extLst>
              <a:ext uri="{FF2B5EF4-FFF2-40B4-BE49-F238E27FC236}">
                <a16:creationId xmlns:a16="http://schemas.microsoft.com/office/drawing/2014/main" id="{E4556310-6B1C-4DE2-85FF-D8F8D6FE9EA1}"/>
              </a:ext>
            </a:extLst>
          </p:cNvPr>
          <p:cNvPicPr>
            <a:picLocks noChangeAspect="1"/>
          </p:cNvPicPr>
          <p:nvPr/>
        </p:nvPicPr>
        <p:blipFill>
          <a:blip r:embed="rId3"/>
          <a:stretch>
            <a:fillRect/>
          </a:stretch>
        </p:blipFill>
        <p:spPr>
          <a:xfrm>
            <a:off x="1288888" y="1027379"/>
            <a:ext cx="9125648" cy="5074948"/>
          </a:xfrm>
          <a:prstGeom prst="rect">
            <a:avLst/>
          </a:prstGeom>
        </p:spPr>
      </p:pic>
    </p:spTree>
    <p:extLst>
      <p:ext uri="{BB962C8B-B14F-4D97-AF65-F5344CB8AC3E}">
        <p14:creationId xmlns:p14="http://schemas.microsoft.com/office/powerpoint/2010/main" val="3580375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EX_CD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a:xfrm>
            <a:off x="609600" y="337829"/>
            <a:ext cx="10972800" cy="307777"/>
          </a:xfrm>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600" y="748309"/>
            <a:ext cx="10972800" cy="276999"/>
          </a:xfrm>
        </p:spPr>
        <p:txBody>
          <a:bodyPr/>
          <a:lstStyle/>
          <a:p>
            <a:r>
              <a:rPr lang="en-US" dirty="0"/>
              <a:t>AHT per Process (Central Data Team) 2021</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pic>
        <p:nvPicPr>
          <p:cNvPr id="7" name="EXCDT_Pic1">
            <a:extLst>
              <a:ext uri="{FF2B5EF4-FFF2-40B4-BE49-F238E27FC236}">
                <a16:creationId xmlns:a16="http://schemas.microsoft.com/office/drawing/2014/main" id="{F2543263-52C7-4207-8964-6DB58FDE8D79}"/>
              </a:ext>
            </a:extLst>
          </p:cNvPr>
          <p:cNvPicPr>
            <a:picLocks noChangeAspect="1"/>
          </p:cNvPicPr>
          <p:nvPr/>
        </p:nvPicPr>
        <p:blipFill>
          <a:blip r:embed="rId3"/>
          <a:stretch>
            <a:fillRect/>
          </a:stretch>
        </p:blipFill>
        <p:spPr>
          <a:xfrm>
            <a:off x="1331563" y="1121464"/>
            <a:ext cx="9528874" cy="4615072"/>
          </a:xfrm>
          <a:prstGeom prst="rect">
            <a:avLst/>
          </a:prstGeom>
        </p:spPr>
      </p:pic>
    </p:spTree>
    <p:extLst>
      <p:ext uri="{BB962C8B-B14F-4D97-AF65-F5344CB8AC3E}">
        <p14:creationId xmlns:p14="http://schemas.microsoft.com/office/powerpoint/2010/main" val="3790574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EX_CP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a:xfrm>
            <a:off x="609600" y="337829"/>
            <a:ext cx="10972800" cy="307777"/>
          </a:xfrm>
        </p:spPr>
        <p:txBody>
          <a:bodyPr/>
          <a:lstStyle/>
          <a:p>
            <a:r>
              <a:rPr lang="en-US" dirty="0"/>
              <a:t>Excellence</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9600" y="748309"/>
            <a:ext cx="10972800" cy="276999"/>
          </a:xfrm>
        </p:spPr>
        <p:txBody>
          <a:bodyPr/>
          <a:lstStyle/>
          <a:p>
            <a:r>
              <a:rPr lang="en-US" dirty="0"/>
              <a:t>AHT per Process (Central Data Team) 2021 vs 2020</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TextBox 9">
            <a:extLst>
              <a:ext uri="{FF2B5EF4-FFF2-40B4-BE49-F238E27FC236}">
                <a16:creationId xmlns:a16="http://schemas.microsoft.com/office/drawing/2014/main" id="{57279D71-3CE2-46F1-BE63-E04CAD35AFD3}"/>
              </a:ext>
            </a:extLst>
          </p:cNvPr>
          <p:cNvSpPr txBox="1"/>
          <p:nvPr/>
        </p:nvSpPr>
        <p:spPr>
          <a:xfrm>
            <a:off x="6719454" y="230107"/>
            <a:ext cx="4862946" cy="830997"/>
          </a:xfrm>
          <a:prstGeom prst="rect">
            <a:avLst/>
          </a:prstGeom>
          <a:noFill/>
        </p:spPr>
        <p:txBody>
          <a:bodyPr wrap="square" rtlCol="0">
            <a:spAutoFit/>
          </a:bodyPr>
          <a:lstStyle/>
          <a:p>
            <a:r>
              <a:rPr lang="en-US" sz="1200" dirty="0"/>
              <a:t>Increase in AHT for ADML Benchmarking and CCMU Vetting 2021 vs 2020</a:t>
            </a:r>
          </a:p>
          <a:p>
            <a:endParaRPr lang="en-US" sz="1200" dirty="0"/>
          </a:p>
          <a:p>
            <a:r>
              <a:rPr lang="en-US" sz="1200" dirty="0"/>
              <a:t>Rest of CDT Processes AHT improved in 2021 vs 2020</a:t>
            </a:r>
          </a:p>
        </p:txBody>
      </p:sp>
      <p:pic>
        <p:nvPicPr>
          <p:cNvPr id="8" name="EXPY_Pic1">
            <a:extLst>
              <a:ext uri="{FF2B5EF4-FFF2-40B4-BE49-F238E27FC236}">
                <a16:creationId xmlns:a16="http://schemas.microsoft.com/office/drawing/2014/main" id="{0D8F5D02-7C4E-4FD6-9546-5F1F00C3F12E}"/>
              </a:ext>
            </a:extLst>
          </p:cNvPr>
          <p:cNvPicPr>
            <a:picLocks noChangeAspect="1"/>
          </p:cNvPicPr>
          <p:nvPr/>
        </p:nvPicPr>
        <p:blipFill>
          <a:blip r:embed="rId3"/>
          <a:stretch>
            <a:fillRect/>
          </a:stretch>
        </p:blipFill>
        <p:spPr>
          <a:xfrm>
            <a:off x="261622" y="755672"/>
            <a:ext cx="11668755" cy="5346655"/>
          </a:xfrm>
          <a:prstGeom prst="rect">
            <a:avLst/>
          </a:prstGeom>
        </p:spPr>
      </p:pic>
    </p:spTree>
    <p:extLst>
      <p:ext uri="{BB962C8B-B14F-4D97-AF65-F5344CB8AC3E}">
        <p14:creationId xmlns:p14="http://schemas.microsoft.com/office/powerpoint/2010/main" val="2625837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Clients_Perf">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7308-374E-4A93-9EE2-E28414B85802}"/>
              </a:ext>
            </a:extLst>
          </p:cNvPr>
          <p:cNvSpPr>
            <a:spLocks noGrp="1"/>
          </p:cNvSpPr>
          <p:nvPr>
            <p:ph type="title"/>
          </p:nvPr>
        </p:nvSpPr>
        <p:spPr>
          <a:xfrm>
            <a:off x="606056" y="240679"/>
            <a:ext cx="10972800" cy="307777"/>
          </a:xfrm>
        </p:spPr>
        <p:txBody>
          <a:bodyPr/>
          <a:lstStyle/>
          <a:p>
            <a:r>
              <a:rPr lang="en-US" dirty="0"/>
              <a:t>Clients</a:t>
            </a:r>
          </a:p>
        </p:txBody>
      </p:sp>
      <p:sp>
        <p:nvSpPr>
          <p:cNvPr id="3" name="Text Placeholder 2">
            <a:extLst>
              <a:ext uri="{FF2B5EF4-FFF2-40B4-BE49-F238E27FC236}">
                <a16:creationId xmlns:a16="http://schemas.microsoft.com/office/drawing/2014/main" id="{54CC5F11-CBC7-4161-AD62-369D839BE472}"/>
              </a:ext>
            </a:extLst>
          </p:cNvPr>
          <p:cNvSpPr>
            <a:spLocks noGrp="1"/>
          </p:cNvSpPr>
          <p:nvPr>
            <p:ph type="body" sz="quarter" idx="13"/>
          </p:nvPr>
        </p:nvSpPr>
        <p:spPr>
          <a:xfrm>
            <a:off x="606056" y="580617"/>
            <a:ext cx="10972800" cy="276999"/>
          </a:xfrm>
        </p:spPr>
        <p:txBody>
          <a:bodyPr/>
          <a:lstStyle/>
          <a:p>
            <a:r>
              <a:rPr lang="en-US" dirty="0"/>
              <a:t>Performance</a:t>
            </a:r>
          </a:p>
        </p:txBody>
      </p:sp>
      <p:sp>
        <p:nvSpPr>
          <p:cNvPr id="5" name="Slide Number Placeholder 4">
            <a:extLst>
              <a:ext uri="{FF2B5EF4-FFF2-40B4-BE49-F238E27FC236}">
                <a16:creationId xmlns:a16="http://schemas.microsoft.com/office/drawing/2014/main" id="{5BDD7AB6-EC8E-4F4D-8625-D053FFBD8DC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64A208E-479F-4838-82AA-BD41FC99AEC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Rectangle 3">
            <a:extLst>
              <a:ext uri="{FF2B5EF4-FFF2-40B4-BE49-F238E27FC236}">
                <a16:creationId xmlns:a16="http://schemas.microsoft.com/office/drawing/2014/main" id="{CE005F5A-B9F0-45C4-940F-DE48C4DAA8FD}"/>
              </a:ext>
            </a:extLst>
          </p:cNvPr>
          <p:cNvSpPr/>
          <p:nvPr/>
        </p:nvSpPr>
        <p:spPr>
          <a:xfrm>
            <a:off x="549114" y="3481974"/>
            <a:ext cx="539800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prstClr val="black"/>
                </a:solidFill>
                <a:effectLst/>
                <a:uLnTx/>
                <a:uFillTx/>
                <a:latin typeface="Arial"/>
                <a:ea typeface="+mn-ea"/>
                <a:cs typeface="+mn-cs"/>
              </a:rPr>
              <a:t>*Feedback Rate = # of TR feedback received vs # of reports submitted to US client teams for TR </a:t>
            </a:r>
          </a:p>
        </p:txBody>
      </p:sp>
      <p:graphicFrame>
        <p:nvGraphicFramePr>
          <p:cNvPr id="12" name="Clients_Perf_Rng1">
            <a:extLst>
              <a:ext uri="{FF2B5EF4-FFF2-40B4-BE49-F238E27FC236}">
                <a16:creationId xmlns:a16="http://schemas.microsoft.com/office/drawing/2014/main" id="{6D539829-70DF-4CAE-B589-C48DEDF07F05}"/>
              </a:ext>
            </a:extLst>
          </p:cNvPr>
          <p:cNvGraphicFramePr>
            <a:graphicFrameLocks noGrp="1"/>
          </p:cNvGraphicFramePr>
          <p:nvPr>
            <p:extLst>
              <p:ext uri="{D42A27DB-BD31-4B8C-83A1-F6EECF244321}">
                <p14:modId xmlns:p14="http://schemas.microsoft.com/office/powerpoint/2010/main" val="130078930"/>
              </p:ext>
            </p:extLst>
          </p:nvPr>
        </p:nvGraphicFramePr>
        <p:xfrm>
          <a:off x="606055" y="966068"/>
          <a:ext cx="5284128" cy="2462930"/>
        </p:xfrm>
        <a:graphic>
          <a:graphicData uri="http://schemas.openxmlformats.org/drawingml/2006/table">
            <a:tbl>
              <a:tblPr/>
              <a:tblGrid>
                <a:gridCol w="804953">
                  <a:extLst>
                    <a:ext uri="{9D8B030D-6E8A-4147-A177-3AD203B41FA5}">
                      <a16:colId xmlns:a16="http://schemas.microsoft.com/office/drawing/2014/main" val="1145291641"/>
                    </a:ext>
                  </a:extLst>
                </a:gridCol>
                <a:gridCol w="1609906">
                  <a:extLst>
                    <a:ext uri="{9D8B030D-6E8A-4147-A177-3AD203B41FA5}">
                      <a16:colId xmlns:a16="http://schemas.microsoft.com/office/drawing/2014/main" val="1280663790"/>
                    </a:ext>
                  </a:extLst>
                </a:gridCol>
                <a:gridCol w="636173">
                  <a:extLst>
                    <a:ext uri="{9D8B030D-6E8A-4147-A177-3AD203B41FA5}">
                      <a16:colId xmlns:a16="http://schemas.microsoft.com/office/drawing/2014/main" val="459129543"/>
                    </a:ext>
                  </a:extLst>
                </a:gridCol>
                <a:gridCol w="636173">
                  <a:extLst>
                    <a:ext uri="{9D8B030D-6E8A-4147-A177-3AD203B41FA5}">
                      <a16:colId xmlns:a16="http://schemas.microsoft.com/office/drawing/2014/main" val="1544581203"/>
                    </a:ext>
                  </a:extLst>
                </a:gridCol>
                <a:gridCol w="636173">
                  <a:extLst>
                    <a:ext uri="{9D8B030D-6E8A-4147-A177-3AD203B41FA5}">
                      <a16:colId xmlns:a16="http://schemas.microsoft.com/office/drawing/2014/main" val="383135595"/>
                    </a:ext>
                  </a:extLst>
                </a:gridCol>
                <a:gridCol w="960750">
                  <a:extLst>
                    <a:ext uri="{9D8B030D-6E8A-4147-A177-3AD203B41FA5}">
                      <a16:colId xmlns:a16="http://schemas.microsoft.com/office/drawing/2014/main" val="2304426009"/>
                    </a:ext>
                  </a:extLst>
                </a:gridCol>
              </a:tblGrid>
              <a:tr h="252294">
                <a:tc gridSpan="6">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400" b="1" i="0" u="none" strike="noStrike" dirty="0">
                          <a:solidFill>
                            <a:srgbClr val="FFFFFF"/>
                          </a:solidFill>
                          <a:effectLst/>
                          <a:latin typeface="Arial Narrow" panose="020B0606020202030204" pitchFamily="34" charset="0"/>
                        </a:rPr>
                        <a:t>Quality</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C38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64386461"/>
                  </a:ext>
                </a:extLst>
              </a:tr>
              <a:tr h="19092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050" b="1" i="0" u="none" strike="noStrike">
                          <a:solidFill>
                            <a:srgbClr val="000000"/>
                          </a:solidFill>
                          <a:effectLst/>
                          <a:latin typeface="Arial Narrow" panose="020B0606020202030204" pitchFamily="34" charset="0"/>
                        </a:rPr>
                        <a:t>Process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lnTlToBr w="12700" cmpd="sng">
                      <a:noFill/>
                      <a:prstDash val="solid"/>
                    </a:lnTlToBr>
                    <a:lnBlToTr w="12700" cmpd="sng">
                      <a:noFill/>
                      <a:prstDash val="solid"/>
                    </a:lnBlToTr>
                    <a:solidFill>
                      <a:srgbClr val="C0FFE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050" b="1" i="0" u="none" strike="noStrike">
                          <a:solidFill>
                            <a:srgbClr val="000000"/>
                          </a:solidFill>
                          <a:effectLst/>
                          <a:latin typeface="Arial Narrow" panose="020B0606020202030204" pitchFamily="34" charset="0"/>
                        </a:rPr>
                        <a:t>Metric</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lnTlToBr w="12700" cmpd="sng">
                      <a:noFill/>
                      <a:prstDash val="solid"/>
                    </a:lnTlToBr>
                    <a:lnBlToTr w="12700" cmpd="sng">
                      <a:noFill/>
                      <a:prstDash val="solid"/>
                    </a:lnBlToTr>
                    <a:solidFill>
                      <a:srgbClr val="C0FFE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050" b="1" i="0" u="none" strike="noStrike">
                          <a:solidFill>
                            <a:srgbClr val="000000"/>
                          </a:solidFill>
                          <a:effectLst/>
                          <a:latin typeface="Arial Narrow" panose="020B0606020202030204" pitchFamily="34" charset="0"/>
                        </a:rPr>
                        <a:t>Dec </a:t>
                      </a:r>
                      <a:r>
                        <a:rPr lang="en-US" sz="1050" b="1" i="0" u="none" strike="noStrike" dirty="0">
                          <a:solidFill>
                            <a:srgbClr val="000000"/>
                          </a:solidFill>
                          <a:effectLst/>
                          <a:latin typeface="Arial Narrow" panose="020B0606020202030204" pitchFamily="34" charset="0"/>
                        </a:rPr>
                        <a:t>‘19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lnTlToBr w="12700" cmpd="sng">
                      <a:noFill/>
                      <a:prstDash val="solid"/>
                    </a:lnTlToBr>
                    <a:lnBlToTr w="12700" cmpd="sng">
                      <a:noFill/>
                      <a:prstDash val="solid"/>
                    </a:lnBlToTr>
                    <a:solidFill>
                      <a:srgbClr val="C0FFE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050" b="1" i="0" u="none" strike="noStrike">
                          <a:solidFill>
                            <a:srgbClr val="000000"/>
                          </a:solidFill>
                          <a:effectLst/>
                          <a:latin typeface="Arial Narrow" panose="020B0606020202030204" pitchFamily="34" charset="0"/>
                        </a:rPr>
                        <a:t>Dec’ </a:t>
                      </a:r>
                      <a:r>
                        <a:rPr lang="en-US" sz="1050" b="1" i="0" u="none" strike="noStrike" dirty="0">
                          <a:solidFill>
                            <a:srgbClr val="000000"/>
                          </a:solidFill>
                          <a:effectLst/>
                          <a:latin typeface="Arial Narrow" panose="020B0606020202030204" pitchFamily="34" charset="0"/>
                        </a:rPr>
                        <a:t>20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lnTlToBr w="12700" cmpd="sng">
                      <a:noFill/>
                      <a:prstDash val="solid"/>
                    </a:lnTlToBr>
                    <a:lnBlToTr w="12700" cmpd="sng">
                      <a:noFill/>
                      <a:prstDash val="solid"/>
                    </a:lnBlToTr>
                    <a:solidFill>
                      <a:srgbClr val="C0FFE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050" b="1" i="0" u="none" strike="noStrike">
                          <a:solidFill>
                            <a:srgbClr val="000000"/>
                          </a:solidFill>
                          <a:effectLst/>
                          <a:latin typeface="Arial Narrow" panose="020B0606020202030204" pitchFamily="34" charset="0"/>
                        </a:rPr>
                        <a:t>2020 YTD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lnTlToBr w="12700" cmpd="sng">
                      <a:noFill/>
                      <a:prstDash val="solid"/>
                    </a:lnTlToBr>
                    <a:lnBlToTr w="12700" cmpd="sng">
                      <a:noFill/>
                      <a:prstDash val="solid"/>
                    </a:lnBlToTr>
                    <a:solidFill>
                      <a:srgbClr val="C0FFEC"/>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050" b="1" i="0" u="none" strike="noStrike">
                          <a:solidFill>
                            <a:srgbClr val="000000"/>
                          </a:solidFill>
                          <a:effectLst/>
                          <a:latin typeface="Arial Narrow" panose="020B0606020202030204" pitchFamily="34" charset="0"/>
                        </a:rPr>
                        <a:t>Feedback Rate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lnTlToBr w="12700" cmpd="sng">
                      <a:noFill/>
                      <a:prstDash val="solid"/>
                    </a:lnTlToBr>
                    <a:lnBlToTr w="12700" cmpd="sng">
                      <a:noFill/>
                      <a:prstDash val="solid"/>
                    </a:lnBlToTr>
                    <a:solidFill>
                      <a:srgbClr val="C0FFEC"/>
                    </a:solidFill>
                  </a:tcPr>
                </a:tc>
                <a:extLst>
                  <a:ext uri="{0D108BD9-81ED-4DB2-BD59-A6C34878D82A}">
                    <a16:rowId xmlns:a16="http://schemas.microsoft.com/office/drawing/2014/main" val="2584712526"/>
                  </a:ext>
                </a:extLst>
              </a:tr>
              <a:tr h="28638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1" i="0" u="none" strike="noStrike" dirty="0">
                          <a:solidFill>
                            <a:srgbClr val="000000"/>
                          </a:solidFill>
                          <a:effectLst/>
                          <a:latin typeface="Arial Narrow" panose="020B0606020202030204" pitchFamily="34" charset="0"/>
                        </a:rPr>
                        <a:t>FBS</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ctr"/>
                      <a:r>
                        <a:rPr lang="en-US" sz="800" b="0" i="0" u="none" strike="noStrike" dirty="0">
                          <a:solidFill>
                            <a:srgbClr val="000000"/>
                          </a:solidFill>
                          <a:effectLst/>
                          <a:latin typeface="Arial Narrow" panose="020B0606020202030204" pitchFamily="34" charset="0"/>
                        </a:rPr>
                        <a:t>% accurate projects vs. # of TR received</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98.08%</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N/A</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97.78%</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86.30%</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extLst>
                  <a:ext uri="{0D108BD9-81ED-4DB2-BD59-A6C34878D82A}">
                    <a16:rowId xmlns:a16="http://schemas.microsoft.com/office/drawing/2014/main" val="1122708994"/>
                  </a:ext>
                </a:extLst>
              </a:tr>
              <a:tr h="28638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1" i="0" u="none" strike="noStrike" dirty="0">
                          <a:solidFill>
                            <a:srgbClr val="000000"/>
                          </a:solidFill>
                          <a:effectLst/>
                          <a:latin typeface="Arial Narrow" panose="020B0606020202030204" pitchFamily="34" charset="0"/>
                        </a:rPr>
                        <a:t>FPA</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ctr"/>
                      <a:r>
                        <a:rPr lang="en-US" sz="800" b="0" i="0" u="none" strike="noStrike" dirty="0">
                          <a:solidFill>
                            <a:srgbClr val="000000"/>
                          </a:solidFill>
                          <a:effectLst/>
                          <a:latin typeface="Arial Narrow" panose="020B0606020202030204" pitchFamily="34" charset="0"/>
                        </a:rPr>
                        <a:t>% accurate projects vs. # of TR received</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98.53%</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99.75%</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98.54%</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53.00%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extLst>
                  <a:ext uri="{0D108BD9-81ED-4DB2-BD59-A6C34878D82A}">
                    <a16:rowId xmlns:a16="http://schemas.microsoft.com/office/drawing/2014/main" val="2802495384"/>
                  </a:ext>
                </a:extLst>
              </a:tr>
              <a:tr h="28638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1" i="0" u="none" strike="noStrike" dirty="0">
                          <a:solidFill>
                            <a:srgbClr val="000000"/>
                          </a:solidFill>
                          <a:effectLst/>
                          <a:latin typeface="Arial Narrow" panose="020B0606020202030204" pitchFamily="34" charset="0"/>
                        </a:rPr>
                        <a:t>IBNR</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ctr"/>
                      <a:r>
                        <a:rPr lang="en-US" sz="800" b="0" i="0" u="none" strike="noStrike" dirty="0">
                          <a:solidFill>
                            <a:srgbClr val="000000"/>
                          </a:solidFill>
                          <a:effectLst/>
                          <a:latin typeface="Arial Narrow" panose="020B0606020202030204" pitchFamily="34" charset="0"/>
                        </a:rPr>
                        <a:t>% accurate projects vs. # of TR received</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98.60%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99.30%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98.58%</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57.60%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extLst>
                  <a:ext uri="{0D108BD9-81ED-4DB2-BD59-A6C34878D82A}">
                    <a16:rowId xmlns:a16="http://schemas.microsoft.com/office/drawing/2014/main" val="2225052719"/>
                  </a:ext>
                </a:extLst>
              </a:tr>
              <a:tr h="28638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1" i="0" u="none" strike="noStrike" dirty="0">
                          <a:solidFill>
                            <a:srgbClr val="000000"/>
                          </a:solidFill>
                          <a:effectLst/>
                          <a:latin typeface="Arial Narrow" panose="020B0606020202030204" pitchFamily="34" charset="0"/>
                        </a:rPr>
                        <a:t>PUT</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ctr"/>
                      <a:r>
                        <a:rPr lang="en-US" sz="800" b="0" i="0" u="none" strike="noStrike">
                          <a:solidFill>
                            <a:srgbClr val="000000"/>
                          </a:solidFill>
                          <a:effectLst/>
                          <a:latin typeface="Arial Narrow" panose="020B0606020202030204" pitchFamily="34" charset="0"/>
                        </a:rPr>
                        <a:t>% accurate projects vs. # of TR received</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95.45%</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100%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97.57%</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71.10%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extLst>
                  <a:ext uri="{0D108BD9-81ED-4DB2-BD59-A6C34878D82A}">
                    <a16:rowId xmlns:a16="http://schemas.microsoft.com/office/drawing/2014/main" val="1511027652"/>
                  </a:ext>
                </a:extLst>
              </a:tr>
              <a:tr h="28638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1" i="0" u="none" strike="noStrike" dirty="0" err="1">
                          <a:solidFill>
                            <a:srgbClr val="000000"/>
                          </a:solidFill>
                          <a:effectLst/>
                          <a:latin typeface="Arial Narrow" panose="020B0606020202030204" pitchFamily="34" charset="0"/>
                        </a:rPr>
                        <a:t>HMaps</a:t>
                      </a:r>
                      <a:endParaRPr lang="en-US" sz="900" b="1" i="0" u="none" strike="noStrike" dirty="0">
                        <a:solidFill>
                          <a:srgbClr val="000000"/>
                        </a:solidFill>
                        <a:effectLst/>
                        <a:latin typeface="Arial Narrow" panose="020B0606020202030204" pitchFamily="34" charset="0"/>
                      </a:endParaRP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ctr"/>
                      <a:r>
                        <a:rPr lang="en-US" sz="800" b="0" i="0" u="none" strike="noStrike">
                          <a:solidFill>
                            <a:srgbClr val="000000"/>
                          </a:solidFill>
                          <a:effectLst/>
                          <a:latin typeface="Arial Narrow" panose="020B0606020202030204" pitchFamily="34" charset="0"/>
                        </a:rPr>
                        <a:t>% accurate projects vs. # of TR received</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N/A</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100%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97.84%</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61.10%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extLst>
                  <a:ext uri="{0D108BD9-81ED-4DB2-BD59-A6C34878D82A}">
                    <a16:rowId xmlns:a16="http://schemas.microsoft.com/office/drawing/2014/main" val="547865074"/>
                  </a:ext>
                </a:extLst>
              </a:tr>
              <a:tr h="28638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1" i="0" u="none" strike="noStrike" dirty="0">
                          <a:solidFill>
                            <a:srgbClr val="000000"/>
                          </a:solidFill>
                          <a:effectLst/>
                          <a:latin typeface="Arial Narrow" panose="020B0606020202030204" pitchFamily="34" charset="0"/>
                        </a:rPr>
                        <a:t>PCORI</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ctr"/>
                      <a:r>
                        <a:rPr lang="en-US" sz="800" b="0" i="0" u="none" strike="noStrike">
                          <a:solidFill>
                            <a:srgbClr val="000000"/>
                          </a:solidFill>
                          <a:effectLst/>
                          <a:latin typeface="Arial Narrow" panose="020B0606020202030204" pitchFamily="34" charset="0"/>
                        </a:rPr>
                        <a:t>% accurate projects vs. # of TR received</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N/A</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N/A</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98.74%</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84.80%</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extLst>
                  <a:ext uri="{0D108BD9-81ED-4DB2-BD59-A6C34878D82A}">
                    <a16:rowId xmlns:a16="http://schemas.microsoft.com/office/drawing/2014/main" val="1337455145"/>
                  </a:ext>
                </a:extLst>
              </a:tr>
              <a:tr h="301389">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1" i="0" u="none" strike="noStrike" dirty="0">
                          <a:solidFill>
                            <a:srgbClr val="000000"/>
                          </a:solidFill>
                          <a:effectLst/>
                          <a:latin typeface="Arial Narrow" panose="020B0606020202030204" pitchFamily="34" charset="0"/>
                        </a:rPr>
                        <a:t>CDT  (All process)</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ctr"/>
                      <a:r>
                        <a:rPr lang="en-US" sz="800" b="0" i="0" u="none" strike="noStrike" dirty="0">
                          <a:solidFill>
                            <a:srgbClr val="000000"/>
                          </a:solidFill>
                          <a:effectLst/>
                          <a:latin typeface="Arial Narrow" panose="020B0606020202030204" pitchFamily="34" charset="0"/>
                        </a:rPr>
                        <a:t>% accurate projects vs. # of TR received</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N/A</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a:solidFill>
                            <a:srgbClr val="000000"/>
                          </a:solidFill>
                          <a:effectLst/>
                          <a:latin typeface="Arial Narrow" panose="020B0606020202030204" pitchFamily="34" charset="0"/>
                        </a:rPr>
                        <a:t>N/A</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97.22%</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900" b="0" i="0" u="none" strike="noStrike" dirty="0">
                          <a:solidFill>
                            <a:srgbClr val="000000"/>
                          </a:solidFill>
                          <a:effectLst/>
                          <a:latin typeface="Arial Narrow" panose="020B0606020202030204" pitchFamily="34" charset="0"/>
                        </a:rPr>
                        <a:t>66.32%</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7F6F1"/>
                    </a:solidFill>
                  </a:tcPr>
                </a:tc>
                <a:extLst>
                  <a:ext uri="{0D108BD9-81ED-4DB2-BD59-A6C34878D82A}">
                    <a16:rowId xmlns:a16="http://schemas.microsoft.com/office/drawing/2014/main" val="692043612"/>
                  </a:ext>
                </a:extLst>
              </a:tr>
            </a:tbl>
          </a:graphicData>
        </a:graphic>
      </p:graphicFrame>
      <p:graphicFrame>
        <p:nvGraphicFramePr>
          <p:cNvPr id="8" name="Clients_Perf_Rng3">
            <a:extLst>
              <a:ext uri="{FF2B5EF4-FFF2-40B4-BE49-F238E27FC236}">
                <a16:creationId xmlns:a16="http://schemas.microsoft.com/office/drawing/2014/main" id="{FD89E72F-34EC-4EFD-88F3-80B073050714}"/>
              </a:ext>
            </a:extLst>
          </p:cNvPr>
          <p:cNvGraphicFramePr>
            <a:graphicFrameLocks noGrp="1"/>
          </p:cNvGraphicFramePr>
          <p:nvPr>
            <p:extLst>
              <p:ext uri="{D42A27DB-BD31-4B8C-83A1-F6EECF244321}">
                <p14:modId xmlns:p14="http://schemas.microsoft.com/office/powerpoint/2010/main" val="683859025"/>
              </p:ext>
            </p:extLst>
          </p:nvPr>
        </p:nvGraphicFramePr>
        <p:xfrm>
          <a:off x="6096000" y="394567"/>
          <a:ext cx="5843190" cy="5836161"/>
        </p:xfrm>
        <a:graphic>
          <a:graphicData uri="http://schemas.openxmlformats.org/drawingml/2006/table">
            <a:tbl>
              <a:tblPr/>
              <a:tblGrid>
                <a:gridCol w="1004047">
                  <a:extLst>
                    <a:ext uri="{9D8B030D-6E8A-4147-A177-3AD203B41FA5}">
                      <a16:colId xmlns:a16="http://schemas.microsoft.com/office/drawing/2014/main" val="3420297521"/>
                    </a:ext>
                  </a:extLst>
                </a:gridCol>
                <a:gridCol w="1333229">
                  <a:extLst>
                    <a:ext uri="{9D8B030D-6E8A-4147-A177-3AD203B41FA5}">
                      <a16:colId xmlns:a16="http://schemas.microsoft.com/office/drawing/2014/main" val="3698156688"/>
                    </a:ext>
                  </a:extLst>
                </a:gridCol>
                <a:gridCol w="1168638">
                  <a:extLst>
                    <a:ext uri="{9D8B030D-6E8A-4147-A177-3AD203B41FA5}">
                      <a16:colId xmlns:a16="http://schemas.microsoft.com/office/drawing/2014/main" val="3771863014"/>
                    </a:ext>
                  </a:extLst>
                </a:gridCol>
                <a:gridCol w="1168638">
                  <a:extLst>
                    <a:ext uri="{9D8B030D-6E8A-4147-A177-3AD203B41FA5}">
                      <a16:colId xmlns:a16="http://schemas.microsoft.com/office/drawing/2014/main" val="2950058469"/>
                    </a:ext>
                  </a:extLst>
                </a:gridCol>
                <a:gridCol w="1168638">
                  <a:extLst>
                    <a:ext uri="{9D8B030D-6E8A-4147-A177-3AD203B41FA5}">
                      <a16:colId xmlns:a16="http://schemas.microsoft.com/office/drawing/2014/main" val="1191511716"/>
                    </a:ext>
                  </a:extLst>
                </a:gridCol>
              </a:tblGrid>
              <a:tr h="250415">
                <a:tc gridSpan="5">
                  <a:txBody>
                    <a:bodyPr/>
                    <a:lstStyle/>
                    <a:p>
                      <a:pPr algn="ctr" rtl="0" fontAlgn="ctr"/>
                      <a:r>
                        <a:rPr lang="en-US" sz="1200" b="1" i="0" u="none" strike="noStrike" dirty="0">
                          <a:solidFill>
                            <a:srgbClr val="FFFFFF"/>
                          </a:solidFill>
                          <a:effectLst/>
                          <a:latin typeface="Arial Narrow" panose="020B0606020202030204" pitchFamily="34" charset="0"/>
                        </a:rPr>
                        <a:t>Volume</a:t>
                      </a:r>
                    </a:p>
                  </a:txBody>
                  <a:tcPr marL="6793" marR="6793" marT="679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A0D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57426063"/>
                  </a:ext>
                </a:extLst>
              </a:tr>
              <a:tr h="207241">
                <a:tc>
                  <a:txBody>
                    <a:bodyPr/>
                    <a:lstStyle/>
                    <a:p>
                      <a:pPr algn="ctr" rtl="0" fontAlgn="ctr"/>
                      <a:r>
                        <a:rPr lang="en-US" sz="1000" b="1" i="0" u="none" strike="noStrike" dirty="0">
                          <a:solidFill>
                            <a:srgbClr val="000000"/>
                          </a:solidFill>
                          <a:effectLst/>
                          <a:latin typeface="Arial Narrow" panose="020B0606020202030204" pitchFamily="34" charset="0"/>
                        </a:rPr>
                        <a:t>Process</a:t>
                      </a:r>
                    </a:p>
                  </a:txBody>
                  <a:tcPr marL="6793" marR="6793" marT="679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7E2FF"/>
                    </a:solidFill>
                  </a:tcPr>
                </a:tc>
                <a:tc>
                  <a:txBody>
                    <a:bodyPr/>
                    <a:lstStyle/>
                    <a:p>
                      <a:pPr algn="ctr" rtl="0" fontAlgn="ctr"/>
                      <a:r>
                        <a:rPr lang="en-US" sz="1000" b="1" i="0" u="none" strike="noStrike" dirty="0">
                          <a:solidFill>
                            <a:srgbClr val="000000"/>
                          </a:solidFill>
                          <a:effectLst/>
                          <a:latin typeface="Arial Narrow" panose="020B0606020202030204" pitchFamily="34" charset="0"/>
                        </a:rPr>
                        <a:t>Metric</a:t>
                      </a:r>
                    </a:p>
                  </a:txBody>
                  <a:tcPr marL="6793" marR="6793" marT="679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7E2FF"/>
                    </a:solidFill>
                  </a:tcPr>
                </a:tc>
                <a:tc>
                  <a:txBody>
                    <a:bodyPr/>
                    <a:lstStyle/>
                    <a:p>
                      <a:pPr algn="ctr" rtl="0" fontAlgn="ctr"/>
                      <a:r>
                        <a:rPr lang="en-US" sz="1000" b="1" i="0" u="none" strike="noStrike" dirty="0">
                          <a:solidFill>
                            <a:srgbClr val="000000"/>
                          </a:solidFill>
                          <a:effectLst/>
                          <a:latin typeface="Arial Narrow" panose="020B0606020202030204" pitchFamily="34" charset="0"/>
                        </a:rPr>
                        <a:t>May ‘20  </a:t>
                      </a:r>
                    </a:p>
                  </a:txBody>
                  <a:tcPr marL="6793" marR="6793" marT="679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7E2FF"/>
                    </a:solidFill>
                  </a:tcPr>
                </a:tc>
                <a:tc>
                  <a:txBody>
                    <a:bodyPr/>
                    <a:lstStyle/>
                    <a:p>
                      <a:pPr algn="ctr" rtl="0" fontAlgn="ctr"/>
                      <a:r>
                        <a:rPr lang="en-US" sz="1000" b="1" i="0" u="none" strike="noStrike" dirty="0">
                          <a:solidFill>
                            <a:srgbClr val="000000"/>
                          </a:solidFill>
                          <a:effectLst/>
                          <a:latin typeface="Arial Narrow" panose="020B0606020202030204" pitchFamily="34" charset="0"/>
                        </a:rPr>
                        <a:t>May ’21</a:t>
                      </a:r>
                    </a:p>
                  </a:txBody>
                  <a:tcPr marL="6793" marR="6793" marT="679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7E2FF"/>
                    </a:solidFill>
                  </a:tcPr>
                </a:tc>
                <a:tc>
                  <a:txBody>
                    <a:bodyPr/>
                    <a:lstStyle/>
                    <a:p>
                      <a:pPr algn="ctr" rtl="0" fontAlgn="ctr"/>
                      <a:r>
                        <a:rPr lang="en-US" sz="1000" b="1" i="0" u="none" strike="noStrike" dirty="0">
                          <a:solidFill>
                            <a:srgbClr val="000000"/>
                          </a:solidFill>
                          <a:effectLst/>
                          <a:latin typeface="Arial Narrow" panose="020B0606020202030204" pitchFamily="34" charset="0"/>
                        </a:rPr>
                        <a:t>2021 YTD</a:t>
                      </a:r>
                    </a:p>
                  </a:txBody>
                  <a:tcPr marL="6793" marR="6793" marT="6793"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7E2FF"/>
                    </a:solidFill>
                  </a:tcPr>
                </a:tc>
                <a:extLst>
                  <a:ext uri="{0D108BD9-81ED-4DB2-BD59-A6C34878D82A}">
                    <a16:rowId xmlns:a16="http://schemas.microsoft.com/office/drawing/2014/main" val="1536842830"/>
                  </a:ext>
                </a:extLst>
              </a:tr>
              <a:tr h="189970">
                <a:tc>
                  <a:txBody>
                    <a:bodyPr/>
                    <a:lstStyle/>
                    <a:p>
                      <a:pPr algn="ctr" rtl="0" fontAlgn="ctr"/>
                      <a:r>
                        <a:rPr lang="en-US" sz="900" b="1" i="0" u="none" strike="noStrike" dirty="0">
                          <a:solidFill>
                            <a:srgbClr val="000000"/>
                          </a:solidFill>
                          <a:effectLst/>
                          <a:latin typeface="Arial Narrow" panose="020B0606020202030204" pitchFamily="34" charset="0"/>
                        </a:rPr>
                        <a:t>FBS</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Completed Projects</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260</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1014413876"/>
                  </a:ext>
                </a:extLst>
              </a:tr>
              <a:tr h="189970">
                <a:tc>
                  <a:txBody>
                    <a:bodyPr/>
                    <a:lstStyle/>
                    <a:p>
                      <a:pPr algn="ctr" rtl="0" fontAlgn="ctr"/>
                      <a:r>
                        <a:rPr lang="en-US" sz="900" b="1" i="0" u="none" strike="noStrike" dirty="0">
                          <a:solidFill>
                            <a:srgbClr val="000000"/>
                          </a:solidFill>
                          <a:effectLst/>
                          <a:latin typeface="Arial Narrow" panose="020B0606020202030204" pitchFamily="34" charset="0"/>
                        </a:rPr>
                        <a:t>FPA</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Completed Projects</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94</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57</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1851</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1490330663"/>
                  </a:ext>
                </a:extLst>
              </a:tr>
              <a:tr h="189970">
                <a:tc>
                  <a:txBody>
                    <a:bodyPr/>
                    <a:lstStyle/>
                    <a:p>
                      <a:pPr algn="ctr" rtl="0" fontAlgn="ctr"/>
                      <a:r>
                        <a:rPr lang="en-US" sz="900" b="1" i="0" u="none" strike="noStrike" dirty="0">
                          <a:solidFill>
                            <a:srgbClr val="000000"/>
                          </a:solidFill>
                          <a:effectLst/>
                          <a:latin typeface="Arial Narrow" panose="020B0606020202030204" pitchFamily="34" charset="0"/>
                        </a:rPr>
                        <a:t>IBNR</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Completed Projects</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26</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11</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325</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3140958995"/>
                  </a:ext>
                </a:extLst>
              </a:tr>
              <a:tr h="189970">
                <a:tc>
                  <a:txBody>
                    <a:bodyPr/>
                    <a:lstStyle/>
                    <a:p>
                      <a:pPr algn="ctr" rtl="0" fontAlgn="ctr"/>
                      <a:r>
                        <a:rPr lang="en-US" sz="900" b="1" i="0" u="none" strike="noStrike" dirty="0">
                          <a:solidFill>
                            <a:srgbClr val="000000"/>
                          </a:solidFill>
                          <a:effectLst/>
                          <a:latin typeface="Arial Narrow" panose="020B0606020202030204" pitchFamily="34" charset="0"/>
                        </a:rPr>
                        <a:t>PUT</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Completed Projects</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4</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4</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278</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4211673762"/>
                  </a:ext>
                </a:extLst>
              </a:tr>
              <a:tr h="189970">
                <a:tc>
                  <a:txBody>
                    <a:bodyPr/>
                    <a:lstStyle/>
                    <a:p>
                      <a:pPr algn="ctr" rtl="0" fontAlgn="ctr"/>
                      <a:r>
                        <a:rPr lang="en-US" sz="900" b="1" i="0" u="none" strike="noStrike" dirty="0" err="1">
                          <a:solidFill>
                            <a:srgbClr val="000000"/>
                          </a:solidFill>
                          <a:effectLst/>
                          <a:latin typeface="Arial Narrow" panose="020B0606020202030204" pitchFamily="34" charset="0"/>
                        </a:rPr>
                        <a:t>HMaps</a:t>
                      </a:r>
                      <a:endParaRPr lang="en-US" sz="900" b="1" i="0" u="none" strike="noStrike" dirty="0">
                        <a:solidFill>
                          <a:srgbClr val="000000"/>
                        </a:solidFill>
                        <a:effectLst/>
                        <a:latin typeface="Arial Narrow" panose="020B0606020202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Completed Projects</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51</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433568361"/>
                  </a:ext>
                </a:extLst>
              </a:tr>
              <a:tr h="189970">
                <a:tc>
                  <a:txBody>
                    <a:bodyPr/>
                    <a:lstStyle/>
                    <a:p>
                      <a:pPr algn="ctr" rtl="0" fontAlgn="ctr"/>
                      <a:r>
                        <a:rPr lang="en-US" sz="900" b="1" i="0" u="none" strike="noStrike">
                          <a:solidFill>
                            <a:srgbClr val="000000"/>
                          </a:solidFill>
                          <a:effectLst/>
                          <a:latin typeface="Arial Narrow" panose="020B0606020202030204" pitchFamily="34" charset="0"/>
                        </a:rPr>
                        <a:t>PCORI</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Completed Projects</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33</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954133389"/>
                  </a:ext>
                </a:extLst>
              </a:tr>
              <a:tr h="293591">
                <a:tc rowSpan="12">
                  <a:txBody>
                    <a:bodyPr/>
                    <a:lstStyle/>
                    <a:p>
                      <a:pPr algn="ctr" rtl="0" fontAlgn="ctr"/>
                      <a:r>
                        <a:rPr lang="en-US" sz="900" b="1" i="0" u="none" strike="noStrike" dirty="0">
                          <a:solidFill>
                            <a:srgbClr val="000000"/>
                          </a:solidFill>
                          <a:effectLst/>
                          <a:latin typeface="Arial Narrow" panose="020B0606020202030204" pitchFamily="34" charset="0"/>
                        </a:rPr>
                        <a:t>CDT</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ADML Benchmarking - Completed</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4</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10</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extLst>
                  <a:ext uri="{0D108BD9-81ED-4DB2-BD59-A6C34878D82A}">
                    <a16:rowId xmlns:a16="http://schemas.microsoft.com/office/drawing/2014/main" val="735153147"/>
                  </a:ext>
                </a:extLst>
              </a:tr>
              <a:tr h="189970">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ADML RFP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2</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19</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844283041"/>
                  </a:ext>
                </a:extLst>
              </a:tr>
              <a:tr h="198606">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CCMU Billing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11</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3778691741"/>
                  </a:ext>
                </a:extLst>
              </a:tr>
              <a:tr h="302226">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CCMU Carrier Outreach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2205763553"/>
                  </a:ext>
                </a:extLst>
              </a:tr>
              <a:tr h="302226">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CCMU Reporting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3</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69</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431907978"/>
                  </a:ext>
                </a:extLst>
              </a:tr>
              <a:tr h="189970">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CCMU Vetting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10</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1221169124"/>
                  </a:ext>
                </a:extLst>
              </a:tr>
              <a:tr h="146796">
                <a:tc vMerge="1">
                  <a:txBody>
                    <a:bodyPr/>
                    <a:lstStyle/>
                    <a:p>
                      <a:endParaRPr lang="en-US"/>
                    </a:p>
                  </a:txBody>
                  <a:tcPr/>
                </a:tc>
                <a:tc>
                  <a:txBody>
                    <a:bodyPr/>
                    <a:lstStyle/>
                    <a:p>
                      <a:pPr algn="l" rtl="0" fontAlgn="ctr"/>
                      <a:r>
                        <a:rPr lang="en-US" sz="800" b="0" i="0" u="none" strike="noStrike" dirty="0">
                          <a:solidFill>
                            <a:srgbClr val="000000"/>
                          </a:solidFill>
                          <a:effectLst/>
                          <a:latin typeface="Arial Narrow" panose="020B0606020202030204" pitchFamily="34" charset="0"/>
                        </a:rPr>
                        <a:t>GeoAccess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5</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33</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594304770"/>
                  </a:ext>
                </a:extLst>
              </a:tr>
              <a:tr h="146796">
                <a:tc vMerge="1">
                  <a:txBody>
                    <a:bodyPr/>
                    <a:lstStyle/>
                    <a:p>
                      <a:endParaRPr lang="en-US"/>
                    </a:p>
                  </a:txBody>
                  <a:tcPr/>
                </a:tc>
                <a:tc>
                  <a:txBody>
                    <a:bodyPr/>
                    <a:lstStyle/>
                    <a:p>
                      <a:pPr algn="l" rtl="0" fontAlgn="ctr"/>
                      <a:r>
                        <a:rPr lang="en-US" sz="800" b="0" i="0" u="none" strike="noStrike" dirty="0">
                          <a:solidFill>
                            <a:srgbClr val="000000"/>
                          </a:solidFill>
                          <a:effectLst/>
                          <a:latin typeface="Arial Narrow" panose="020B0606020202030204" pitchFamily="34" charset="0"/>
                        </a:rPr>
                        <a:t>Disruption Analysis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7</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31</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3276111581"/>
                  </a:ext>
                </a:extLst>
              </a:tr>
              <a:tr h="189970">
                <a:tc vMerge="1">
                  <a:txBody>
                    <a:bodyPr/>
                    <a:lstStyle/>
                    <a:p>
                      <a:endParaRPr lang="en-US"/>
                    </a:p>
                  </a:txBody>
                  <a:tcPr/>
                </a:tc>
                <a:tc>
                  <a:txBody>
                    <a:bodyPr/>
                    <a:lstStyle/>
                    <a:p>
                      <a:pPr algn="l" rtl="0" fontAlgn="ctr"/>
                      <a:r>
                        <a:rPr lang="en-US" sz="800" b="0" i="0" u="none" strike="noStrike" dirty="0">
                          <a:solidFill>
                            <a:srgbClr val="000000"/>
                          </a:solidFill>
                          <a:effectLst/>
                          <a:latin typeface="Arial Narrow" panose="020B0606020202030204" pitchFamily="34" charset="0"/>
                        </a:rPr>
                        <a:t>NDT – B&amp;A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2</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3</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121639297"/>
                  </a:ext>
                </a:extLst>
              </a:tr>
              <a:tr h="189970">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NDT Consulting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2</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12</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4142641993"/>
                  </a:ext>
                </a:extLst>
              </a:tr>
              <a:tr h="189970">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NetRPM – B&amp;A – Completed</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21</a:t>
                      </a:r>
                    </a:p>
                  </a:txBody>
                  <a:tcPr marL="6793" marR="6793" marT="6793" marB="0" anchor="ctr">
                    <a:lnL>
                      <a:noFill/>
                    </a:lnL>
                    <a:lnR>
                      <a:noFill/>
                    </a:lnR>
                    <a:lnT>
                      <a:noFill/>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101</a:t>
                      </a:r>
                    </a:p>
                  </a:txBody>
                  <a:tcPr marL="6793" marR="6793" marT="6793" marB="0" anchor="ctr">
                    <a:lnL>
                      <a:noFill/>
                    </a:lnL>
                    <a:lnR>
                      <a:noFill/>
                    </a:lnR>
                    <a:lnT>
                      <a:noFill/>
                    </a:lnT>
                    <a:lnB>
                      <a:noFill/>
                    </a:lnB>
                    <a:solidFill>
                      <a:srgbClr val="F7F6F1"/>
                    </a:solidFill>
                  </a:tcPr>
                </a:tc>
                <a:extLst>
                  <a:ext uri="{0D108BD9-81ED-4DB2-BD59-A6C34878D82A}">
                    <a16:rowId xmlns:a16="http://schemas.microsoft.com/office/drawing/2014/main" val="989170755"/>
                  </a:ext>
                </a:extLst>
              </a:tr>
              <a:tr h="293591">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NetRPM – Consulting – Completed</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4</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2</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30</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392478980"/>
                  </a:ext>
                </a:extLst>
              </a:tr>
              <a:tr h="189970">
                <a:tc>
                  <a:txBody>
                    <a:bodyPr/>
                    <a:lstStyle/>
                    <a:p>
                      <a:pPr algn="ctr" rtl="0" fontAlgn="ctr"/>
                      <a:r>
                        <a:rPr lang="en-US" sz="900" b="1" i="0" u="none" strike="noStrike" dirty="0">
                          <a:solidFill>
                            <a:srgbClr val="000000"/>
                          </a:solidFill>
                          <a:effectLst/>
                          <a:latin typeface="Arial Narrow" panose="020B0606020202030204" pitchFamily="34" charset="0"/>
                        </a:rPr>
                        <a:t>RFP</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Completed RFP (All Types)</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5</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77</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2300154730"/>
                  </a:ext>
                </a:extLst>
              </a:tr>
              <a:tr h="284956">
                <a:tc rowSpan="2">
                  <a:txBody>
                    <a:bodyPr/>
                    <a:lstStyle/>
                    <a:p>
                      <a:pPr algn="ctr" rtl="0" fontAlgn="ctr"/>
                      <a:r>
                        <a:rPr lang="en-US" sz="900" b="1" i="0" u="none" strike="noStrike" dirty="0" err="1">
                          <a:solidFill>
                            <a:srgbClr val="000000"/>
                          </a:solidFill>
                          <a:effectLst/>
                          <a:latin typeface="Arial Narrow" panose="020B0606020202030204" pitchFamily="34" charset="0"/>
                        </a:rPr>
                        <a:t>RxC</a:t>
                      </a:r>
                      <a:endParaRPr lang="en-US" sz="900" b="1" i="0" u="none" strike="noStrike" dirty="0">
                        <a:solidFill>
                          <a:srgbClr val="000000"/>
                        </a:solidFill>
                        <a:effectLst/>
                        <a:latin typeface="Arial Narrow" panose="020B0606020202030204" pitchFamily="34" charset="0"/>
                      </a:endParaRP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Dispensing Fee Reconciliation</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extLst>
                  <a:ext uri="{0D108BD9-81ED-4DB2-BD59-A6C34878D82A}">
                    <a16:rowId xmlns:a16="http://schemas.microsoft.com/office/drawing/2014/main" val="961292921"/>
                  </a:ext>
                </a:extLst>
              </a:tr>
              <a:tr h="440387">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API Letter and Population of price grid for lettersRebate Reconciliation</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a:t>
                      </a:r>
                    </a:p>
                  </a:txBody>
                  <a:tcPr marL="6793" marR="6793" marT="6793"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2616039560"/>
                  </a:ext>
                </a:extLst>
              </a:tr>
              <a:tr h="189970">
                <a:tc rowSpan="3">
                  <a:txBody>
                    <a:bodyPr/>
                    <a:lstStyle/>
                    <a:p>
                      <a:pPr algn="ctr" rtl="0" fontAlgn="ctr"/>
                      <a:r>
                        <a:rPr lang="en-US" sz="900" b="1" i="0" u="none" strike="noStrike" dirty="0">
                          <a:solidFill>
                            <a:srgbClr val="000000"/>
                          </a:solidFill>
                          <a:effectLst/>
                          <a:latin typeface="Arial Narrow" panose="020B0606020202030204" pitchFamily="34" charset="0"/>
                        </a:rPr>
                        <a:t>Carrier Ops</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l" rtl="0" fontAlgn="ctr"/>
                      <a:r>
                        <a:rPr lang="en-US" sz="800" b="0" i="0" u="none" strike="noStrike">
                          <a:solidFill>
                            <a:srgbClr val="000000"/>
                          </a:solidFill>
                          <a:effectLst/>
                          <a:latin typeface="Arial Narrow" panose="020B0606020202030204" pitchFamily="34" charset="0"/>
                        </a:rPr>
                        <a:t>Client Profiling – Completed</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0</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0</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39</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2899772581"/>
                  </a:ext>
                </a:extLst>
              </a:tr>
              <a:tr h="189970">
                <a:tc vMerge="1">
                  <a:txBody>
                    <a:bodyPr/>
                    <a:lstStyle/>
                    <a:p>
                      <a:endParaRPr lang="en-US"/>
                    </a:p>
                  </a:txBody>
                  <a:tcPr/>
                </a:tc>
                <a:tc>
                  <a:txBody>
                    <a:bodyPr/>
                    <a:lstStyle/>
                    <a:p>
                      <a:pPr algn="l" rtl="0" fontAlgn="ctr"/>
                      <a:r>
                        <a:rPr lang="en-US" sz="800" b="0" i="0" u="none" strike="noStrike">
                          <a:solidFill>
                            <a:srgbClr val="000000"/>
                          </a:solidFill>
                          <a:effectLst/>
                          <a:latin typeface="Arial Narrow" panose="020B0606020202030204" pitchFamily="34" charset="0"/>
                        </a:rPr>
                        <a:t>SBC  - Completed</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0</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174</a:t>
                      </a:r>
                    </a:p>
                  </a:txBody>
                  <a:tcPr marL="6793" marR="6793" marT="679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2224390843"/>
                  </a:ext>
                </a:extLst>
              </a:tr>
              <a:tr h="284956">
                <a:tc vMerge="1">
                  <a:txBody>
                    <a:bodyPr/>
                    <a:lstStyle/>
                    <a:p>
                      <a:endParaRPr lang="en-US"/>
                    </a:p>
                  </a:txBody>
                  <a:tcPr/>
                </a:tc>
                <a:tc>
                  <a:txBody>
                    <a:bodyPr/>
                    <a:lstStyle/>
                    <a:p>
                      <a:pPr algn="l" rtl="0" fontAlgn="ctr"/>
                      <a:r>
                        <a:rPr lang="en-US" sz="800" b="0" i="0" u="none" strike="noStrike" dirty="0">
                          <a:solidFill>
                            <a:srgbClr val="000000"/>
                          </a:solidFill>
                          <a:effectLst/>
                          <a:latin typeface="Arial Narrow" panose="020B0606020202030204" pitchFamily="34" charset="0"/>
                        </a:rPr>
                        <a:t>Benefit Summary - Completed</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a:solidFill>
                            <a:srgbClr val="000000"/>
                          </a:solidFill>
                          <a:effectLst/>
                          <a:latin typeface="Arial Narrow" panose="020B0606020202030204" pitchFamily="34" charset="0"/>
                        </a:rPr>
                        <a:t>0</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0</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tc>
                  <a:txBody>
                    <a:bodyPr/>
                    <a:lstStyle/>
                    <a:p>
                      <a:pPr algn="ctr" rtl="0" fontAlgn="ctr"/>
                      <a:r>
                        <a:rPr lang="en-US" sz="1000" b="0" i="0" u="none" strike="noStrike" dirty="0">
                          <a:solidFill>
                            <a:srgbClr val="000000"/>
                          </a:solidFill>
                          <a:effectLst/>
                          <a:latin typeface="Arial Narrow" panose="020B0606020202030204" pitchFamily="34" charset="0"/>
                        </a:rPr>
                        <a:t>140</a:t>
                      </a:r>
                    </a:p>
                  </a:txBody>
                  <a:tcPr marL="6793" marR="6793" marT="6793" marB="0" anchor="ctr">
                    <a:lnL>
                      <a:noFill/>
                    </a:lnL>
                    <a:lnR>
                      <a:noFill/>
                    </a:lnR>
                    <a:lnT w="6350" cap="flat" cmpd="sng" algn="ctr">
                      <a:solidFill>
                        <a:srgbClr val="000000"/>
                      </a:solidFill>
                      <a:prstDash val="solid"/>
                      <a:round/>
                      <a:headEnd type="none" w="med" len="med"/>
                      <a:tailEnd type="none" w="med" len="med"/>
                    </a:lnT>
                    <a:lnB>
                      <a:noFill/>
                    </a:lnB>
                    <a:solidFill>
                      <a:srgbClr val="F7F6F1"/>
                    </a:solidFill>
                  </a:tcPr>
                </a:tc>
                <a:extLst>
                  <a:ext uri="{0D108BD9-81ED-4DB2-BD59-A6C34878D82A}">
                    <a16:rowId xmlns:a16="http://schemas.microsoft.com/office/drawing/2014/main" val="3089426617"/>
                  </a:ext>
                </a:extLst>
              </a:tr>
            </a:tbl>
          </a:graphicData>
        </a:graphic>
      </p:graphicFrame>
      <p:graphicFrame>
        <p:nvGraphicFramePr>
          <p:cNvPr id="13" name="Clients_Perf_Rng2">
            <a:extLst>
              <a:ext uri="{FF2B5EF4-FFF2-40B4-BE49-F238E27FC236}">
                <a16:creationId xmlns:a16="http://schemas.microsoft.com/office/drawing/2014/main" id="{57DAD48E-0600-457E-9B2B-FB434C424E85}"/>
              </a:ext>
            </a:extLst>
          </p:cNvPr>
          <p:cNvGraphicFramePr>
            <a:graphicFrameLocks noGrp="1"/>
          </p:cNvGraphicFramePr>
          <p:nvPr>
            <p:extLst>
              <p:ext uri="{D42A27DB-BD31-4B8C-83A1-F6EECF244321}">
                <p14:modId xmlns:p14="http://schemas.microsoft.com/office/powerpoint/2010/main" val="3179461899"/>
              </p:ext>
            </p:extLst>
          </p:nvPr>
        </p:nvGraphicFramePr>
        <p:xfrm>
          <a:off x="606055" y="3675295"/>
          <a:ext cx="5284129" cy="2530636"/>
        </p:xfrm>
        <a:graphic>
          <a:graphicData uri="http://schemas.openxmlformats.org/drawingml/2006/table">
            <a:tbl>
              <a:tblPr/>
              <a:tblGrid>
                <a:gridCol w="994851">
                  <a:extLst>
                    <a:ext uri="{9D8B030D-6E8A-4147-A177-3AD203B41FA5}">
                      <a16:colId xmlns:a16="http://schemas.microsoft.com/office/drawing/2014/main" val="2529410466"/>
                    </a:ext>
                  </a:extLst>
                </a:gridCol>
                <a:gridCol w="1989703">
                  <a:extLst>
                    <a:ext uri="{9D8B030D-6E8A-4147-A177-3AD203B41FA5}">
                      <a16:colId xmlns:a16="http://schemas.microsoft.com/office/drawing/2014/main" val="4175831425"/>
                    </a:ext>
                  </a:extLst>
                </a:gridCol>
                <a:gridCol w="766525">
                  <a:extLst>
                    <a:ext uri="{9D8B030D-6E8A-4147-A177-3AD203B41FA5}">
                      <a16:colId xmlns:a16="http://schemas.microsoft.com/office/drawing/2014/main" val="3179002305"/>
                    </a:ext>
                  </a:extLst>
                </a:gridCol>
                <a:gridCol w="766525">
                  <a:extLst>
                    <a:ext uri="{9D8B030D-6E8A-4147-A177-3AD203B41FA5}">
                      <a16:colId xmlns:a16="http://schemas.microsoft.com/office/drawing/2014/main" val="1032200404"/>
                    </a:ext>
                  </a:extLst>
                </a:gridCol>
                <a:gridCol w="766525">
                  <a:extLst>
                    <a:ext uri="{9D8B030D-6E8A-4147-A177-3AD203B41FA5}">
                      <a16:colId xmlns:a16="http://schemas.microsoft.com/office/drawing/2014/main" val="2957244754"/>
                    </a:ext>
                  </a:extLst>
                </a:gridCol>
              </a:tblGrid>
              <a:tr h="318606">
                <a:tc gridSpan="5">
                  <a:txBody>
                    <a:bodyPr/>
                    <a:lstStyle/>
                    <a:p>
                      <a:pPr algn="ctr" rtl="0" fontAlgn="ctr"/>
                      <a:r>
                        <a:rPr lang="en-US" sz="1400" b="1" i="0" u="none" strike="noStrike" dirty="0">
                          <a:solidFill>
                            <a:srgbClr val="FFFFFF"/>
                          </a:solidFill>
                          <a:effectLst/>
                          <a:latin typeface="Arial Narrow" panose="020B0606020202030204" pitchFamily="34" charset="0"/>
                        </a:rPr>
                        <a:t>Timeliness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110A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29571631"/>
                  </a:ext>
                </a:extLst>
              </a:tr>
              <a:tr h="318606">
                <a:tc>
                  <a:txBody>
                    <a:bodyPr/>
                    <a:lstStyle/>
                    <a:p>
                      <a:pPr algn="ctr" rtl="0" fontAlgn="ctr"/>
                      <a:r>
                        <a:rPr lang="en-US" sz="1050" b="1" i="0" u="none" strike="noStrike">
                          <a:solidFill>
                            <a:srgbClr val="000000"/>
                          </a:solidFill>
                          <a:effectLst/>
                          <a:latin typeface="Arial Narrow" panose="020B0606020202030204" pitchFamily="34" charset="0"/>
                        </a:rPr>
                        <a:t>Process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AC7F1"/>
                    </a:solidFill>
                  </a:tcPr>
                </a:tc>
                <a:tc>
                  <a:txBody>
                    <a:bodyPr/>
                    <a:lstStyle/>
                    <a:p>
                      <a:pPr algn="ctr" rtl="0" fontAlgn="ctr"/>
                      <a:r>
                        <a:rPr lang="en-US" sz="1050" b="1" i="0" u="none" strike="noStrike" dirty="0">
                          <a:solidFill>
                            <a:srgbClr val="000000"/>
                          </a:solidFill>
                          <a:effectLst/>
                          <a:latin typeface="Arial Narrow" panose="020B0606020202030204" pitchFamily="34" charset="0"/>
                        </a:rPr>
                        <a:t>Metric</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AC7F1"/>
                    </a:solidFill>
                  </a:tcPr>
                </a:tc>
                <a:tc>
                  <a:txBody>
                    <a:bodyPr/>
                    <a:lstStyle/>
                    <a:p>
                      <a:pPr algn="ctr" rtl="0" fontAlgn="ctr"/>
                      <a:r>
                        <a:rPr lang="en-US" sz="1050" b="1" i="0" u="none" strike="noStrike">
                          <a:solidFill>
                            <a:srgbClr val="000000"/>
                          </a:solidFill>
                          <a:effectLst/>
                          <a:latin typeface="Arial Narrow" panose="020B0606020202030204" pitchFamily="34" charset="0"/>
                        </a:rPr>
                        <a:t>Dec </a:t>
                      </a:r>
                      <a:r>
                        <a:rPr lang="en-US" sz="1050" b="1" i="0" u="none" strike="noStrike" dirty="0">
                          <a:solidFill>
                            <a:srgbClr val="000000"/>
                          </a:solidFill>
                          <a:effectLst/>
                          <a:latin typeface="Arial Narrow" panose="020B0606020202030204" pitchFamily="34" charset="0"/>
                        </a:rPr>
                        <a:t>‘19  </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AC7F1"/>
                    </a:solidFill>
                  </a:tcPr>
                </a:tc>
                <a:tc>
                  <a:txBody>
                    <a:bodyPr/>
                    <a:lstStyle/>
                    <a:p>
                      <a:pPr algn="ctr" rtl="0" fontAlgn="ctr"/>
                      <a:r>
                        <a:rPr lang="en-US" sz="1050" b="1" i="0" u="none" strike="noStrike">
                          <a:solidFill>
                            <a:srgbClr val="000000"/>
                          </a:solidFill>
                          <a:effectLst/>
                          <a:latin typeface="Arial Narrow" panose="020B0606020202030204" pitchFamily="34" charset="0"/>
                        </a:rPr>
                        <a:t>Dec’ </a:t>
                      </a:r>
                      <a:r>
                        <a:rPr lang="en-US" sz="1050" b="1" i="0" u="none" strike="noStrike" dirty="0">
                          <a:solidFill>
                            <a:srgbClr val="000000"/>
                          </a:solidFill>
                          <a:effectLst/>
                          <a:latin typeface="Arial Narrow" panose="020B0606020202030204" pitchFamily="34" charset="0"/>
                        </a:rPr>
                        <a:t>20</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AC7F1"/>
                    </a:solidFill>
                  </a:tcPr>
                </a:tc>
                <a:tc>
                  <a:txBody>
                    <a:bodyPr/>
                    <a:lstStyle/>
                    <a:p>
                      <a:pPr algn="ctr" rtl="0" fontAlgn="ctr"/>
                      <a:r>
                        <a:rPr lang="en-US" sz="1050" b="1" i="0" u="none" strike="noStrike">
                          <a:solidFill>
                            <a:srgbClr val="000000"/>
                          </a:solidFill>
                          <a:effectLst/>
                          <a:latin typeface="Arial Narrow" panose="020B0606020202030204" pitchFamily="34" charset="0"/>
                        </a:rPr>
                        <a:t>2020 YTD</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FAC7F1"/>
                    </a:solidFill>
                  </a:tcPr>
                </a:tc>
                <a:extLst>
                  <a:ext uri="{0D108BD9-81ED-4DB2-BD59-A6C34878D82A}">
                    <a16:rowId xmlns:a16="http://schemas.microsoft.com/office/drawing/2014/main" val="143390942"/>
                  </a:ext>
                </a:extLst>
              </a:tr>
              <a:tr h="200266">
                <a:tc>
                  <a:txBody>
                    <a:bodyPr/>
                    <a:lstStyle/>
                    <a:p>
                      <a:pPr algn="ctr" rtl="0" fontAlgn="ctr"/>
                      <a:r>
                        <a:rPr lang="en-US" sz="900" b="1" i="0" u="none" strike="noStrike" dirty="0">
                          <a:solidFill>
                            <a:srgbClr val="000000"/>
                          </a:solidFill>
                          <a:effectLst/>
                          <a:latin typeface="Arial Narrow" panose="020B0606020202030204" pitchFamily="34" charset="0"/>
                        </a:rPr>
                        <a:t>FBS</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800" b="0" i="0" u="none" strike="noStrike">
                          <a:solidFill>
                            <a:srgbClr val="000000"/>
                          </a:solidFill>
                          <a:effectLst/>
                          <a:latin typeface="Arial Narrow" panose="020B0606020202030204" pitchFamily="34" charset="0"/>
                        </a:rPr>
                        <a:t>% of projects meeting deadlines</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1909069062"/>
                  </a:ext>
                </a:extLst>
              </a:tr>
              <a:tr h="309502">
                <a:tc>
                  <a:txBody>
                    <a:bodyPr/>
                    <a:lstStyle/>
                    <a:p>
                      <a:pPr algn="ctr" rtl="0" fontAlgn="ctr"/>
                      <a:r>
                        <a:rPr lang="en-US" sz="900" b="1" i="0" u="none" strike="noStrike" dirty="0">
                          <a:solidFill>
                            <a:srgbClr val="000000"/>
                          </a:solidFill>
                          <a:effectLst/>
                          <a:latin typeface="Arial Narrow" panose="020B0606020202030204" pitchFamily="34" charset="0"/>
                        </a:rPr>
                        <a:t>FPA</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800" b="0" i="0" u="none" strike="noStrike" dirty="0">
                          <a:solidFill>
                            <a:srgbClr val="000000"/>
                          </a:solidFill>
                          <a:effectLst/>
                          <a:latin typeface="Arial Narrow" panose="020B0606020202030204" pitchFamily="34" charset="0"/>
                        </a:rPr>
                        <a:t>% of projects meeting deadlines</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2229564840"/>
                  </a:ext>
                </a:extLst>
              </a:tr>
              <a:tr h="200266">
                <a:tc>
                  <a:txBody>
                    <a:bodyPr/>
                    <a:lstStyle/>
                    <a:p>
                      <a:pPr algn="ctr" rtl="0" fontAlgn="ctr"/>
                      <a:r>
                        <a:rPr lang="en-US" sz="900" b="1" i="0" u="none" strike="noStrike" dirty="0">
                          <a:solidFill>
                            <a:srgbClr val="000000"/>
                          </a:solidFill>
                          <a:effectLst/>
                          <a:latin typeface="Arial Narrow" panose="020B0606020202030204" pitchFamily="34" charset="0"/>
                        </a:rPr>
                        <a:t>IBNR</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800" b="0" i="0" u="none" strike="noStrike">
                          <a:solidFill>
                            <a:srgbClr val="000000"/>
                          </a:solidFill>
                          <a:effectLst/>
                          <a:latin typeface="Arial Narrow" panose="020B0606020202030204" pitchFamily="34" charset="0"/>
                        </a:rPr>
                        <a:t>% of projects meeting deadlines</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502717420"/>
                  </a:ext>
                </a:extLst>
              </a:tr>
              <a:tr h="200266">
                <a:tc>
                  <a:txBody>
                    <a:bodyPr/>
                    <a:lstStyle/>
                    <a:p>
                      <a:pPr algn="ctr" rtl="0" fontAlgn="ctr"/>
                      <a:r>
                        <a:rPr lang="en-US" sz="900" b="1" i="0" u="none" strike="noStrike" dirty="0">
                          <a:solidFill>
                            <a:srgbClr val="000000"/>
                          </a:solidFill>
                          <a:effectLst/>
                          <a:latin typeface="Arial Narrow" panose="020B0606020202030204" pitchFamily="34" charset="0"/>
                        </a:rPr>
                        <a:t>PUT</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800" b="0" i="0" u="none" strike="noStrike">
                          <a:solidFill>
                            <a:srgbClr val="000000"/>
                          </a:solidFill>
                          <a:effectLst/>
                          <a:latin typeface="Arial Narrow" panose="020B0606020202030204" pitchFamily="34" charset="0"/>
                        </a:rPr>
                        <a:t>% of projects meeting deadlines</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3197683739"/>
                  </a:ext>
                </a:extLst>
              </a:tr>
              <a:tr h="200266">
                <a:tc>
                  <a:txBody>
                    <a:bodyPr/>
                    <a:lstStyle/>
                    <a:p>
                      <a:pPr algn="ctr" rtl="0" fontAlgn="ctr"/>
                      <a:r>
                        <a:rPr lang="en-US" sz="900" b="1" i="0" u="none" strike="noStrike" dirty="0" err="1">
                          <a:solidFill>
                            <a:srgbClr val="000000"/>
                          </a:solidFill>
                          <a:effectLst/>
                          <a:latin typeface="Arial Narrow" panose="020B0606020202030204" pitchFamily="34" charset="0"/>
                        </a:rPr>
                        <a:t>HMaps</a:t>
                      </a:r>
                      <a:endParaRPr lang="en-US" sz="900" b="1" i="0" u="none" strike="noStrike" dirty="0">
                        <a:solidFill>
                          <a:srgbClr val="000000"/>
                        </a:solidFill>
                        <a:effectLst/>
                        <a:latin typeface="Arial Narrow" panose="020B0606020202030204" pitchFamily="34" charset="0"/>
                      </a:endParaRP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800" b="0" i="0" u="none" strike="noStrike">
                          <a:solidFill>
                            <a:srgbClr val="000000"/>
                          </a:solidFill>
                          <a:effectLst/>
                          <a:latin typeface="Arial Narrow" panose="020B0606020202030204" pitchFamily="34" charset="0"/>
                        </a:rPr>
                        <a:t>% of projects meeting deadlines</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1543455913"/>
                  </a:ext>
                </a:extLst>
              </a:tr>
              <a:tr h="309502">
                <a:tc>
                  <a:txBody>
                    <a:bodyPr/>
                    <a:lstStyle/>
                    <a:p>
                      <a:pPr algn="ctr" rtl="0" fontAlgn="ctr"/>
                      <a:r>
                        <a:rPr lang="en-US" sz="900" b="1" i="0" u="none" strike="noStrike" dirty="0">
                          <a:solidFill>
                            <a:srgbClr val="000000"/>
                          </a:solidFill>
                          <a:effectLst/>
                          <a:latin typeface="Arial Narrow" panose="020B0606020202030204" pitchFamily="34" charset="0"/>
                        </a:rPr>
                        <a:t>PCORI</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800" b="0" i="0" u="none" strike="noStrike">
                          <a:solidFill>
                            <a:srgbClr val="000000"/>
                          </a:solidFill>
                          <a:effectLst/>
                          <a:latin typeface="Arial Narrow" panose="020B0606020202030204" pitchFamily="34" charset="0"/>
                        </a:rPr>
                        <a:t>% of projects meeting deadlines</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1682263951"/>
                  </a:ext>
                </a:extLst>
              </a:tr>
              <a:tr h="200266">
                <a:tc>
                  <a:txBody>
                    <a:bodyPr/>
                    <a:lstStyle/>
                    <a:p>
                      <a:pPr algn="ctr" rtl="0" fontAlgn="ctr"/>
                      <a:r>
                        <a:rPr lang="en-US" sz="900" b="1" i="0" u="none" strike="noStrike" dirty="0">
                          <a:solidFill>
                            <a:srgbClr val="000000"/>
                          </a:solidFill>
                          <a:effectLst/>
                          <a:latin typeface="Arial Narrow" panose="020B0606020202030204" pitchFamily="34" charset="0"/>
                        </a:rPr>
                        <a:t>CDT Processes</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800" b="0" i="0" u="none" strike="noStrike">
                          <a:solidFill>
                            <a:srgbClr val="000000"/>
                          </a:solidFill>
                          <a:effectLst/>
                          <a:latin typeface="Arial Narrow" panose="020B0606020202030204" pitchFamily="34" charset="0"/>
                        </a:rPr>
                        <a:t>% of projects meeting deadlines</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2152626252"/>
                  </a:ext>
                </a:extLst>
              </a:tr>
              <a:tr h="273090">
                <a:tc>
                  <a:txBody>
                    <a:bodyPr/>
                    <a:lstStyle/>
                    <a:p>
                      <a:pPr algn="ctr" rtl="0" fontAlgn="ctr"/>
                      <a:r>
                        <a:rPr lang="en-US" sz="900" b="1" i="0" u="none" strike="noStrike" dirty="0">
                          <a:solidFill>
                            <a:srgbClr val="000000"/>
                          </a:solidFill>
                          <a:effectLst/>
                          <a:latin typeface="Arial Narrow" panose="020B0606020202030204" pitchFamily="34" charset="0"/>
                        </a:rPr>
                        <a:t>RFP</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800" b="0" i="0" u="none" strike="noStrike" dirty="0">
                          <a:solidFill>
                            <a:srgbClr val="000000"/>
                          </a:solidFill>
                          <a:effectLst/>
                          <a:latin typeface="Arial Narrow" panose="020B0606020202030204" pitchFamily="34" charset="0"/>
                        </a:rPr>
                        <a:t>% of projects meeting deadlines</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tc>
                  <a:txBody>
                    <a:bodyPr/>
                    <a:lstStyle/>
                    <a:p>
                      <a:pPr algn="ctr" rtl="0" fontAlgn="ctr"/>
                      <a:r>
                        <a:rPr lang="en-US" sz="900" b="0" i="0" u="none" strike="noStrike" dirty="0">
                          <a:solidFill>
                            <a:srgbClr val="000000"/>
                          </a:solidFill>
                          <a:effectLst/>
                          <a:latin typeface="Arial Narrow" panose="020B0606020202030204" pitchFamily="34" charset="0"/>
                        </a:rPr>
                        <a:t>100%</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6F1"/>
                    </a:solidFill>
                  </a:tcPr>
                </a:tc>
                <a:extLst>
                  <a:ext uri="{0D108BD9-81ED-4DB2-BD59-A6C34878D82A}">
                    <a16:rowId xmlns:a16="http://schemas.microsoft.com/office/drawing/2014/main" val="2296451084"/>
                  </a:ext>
                </a:extLst>
              </a:tr>
            </a:tbl>
          </a:graphicData>
        </a:graphic>
      </p:graphicFrame>
    </p:spTree>
    <p:extLst>
      <p:ext uri="{BB962C8B-B14F-4D97-AF65-F5344CB8AC3E}">
        <p14:creationId xmlns:p14="http://schemas.microsoft.com/office/powerpoint/2010/main" val="3970350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Clients_Au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C0DC4-2D05-438B-9083-BEDBA8E2E374}"/>
              </a:ext>
            </a:extLst>
          </p:cNvPr>
          <p:cNvSpPr>
            <a:spLocks noGrp="1"/>
          </p:cNvSpPr>
          <p:nvPr>
            <p:ph type="title"/>
          </p:nvPr>
        </p:nvSpPr>
        <p:spPr/>
        <p:txBody>
          <a:bodyPr/>
          <a:lstStyle/>
          <a:p>
            <a:r>
              <a:rPr lang="en-US" dirty="0"/>
              <a:t>Excellence</a:t>
            </a:r>
          </a:p>
        </p:txBody>
      </p:sp>
      <p:sp>
        <p:nvSpPr>
          <p:cNvPr id="3" name="Text Placeholder 2">
            <a:extLst>
              <a:ext uri="{FF2B5EF4-FFF2-40B4-BE49-F238E27FC236}">
                <a16:creationId xmlns:a16="http://schemas.microsoft.com/office/drawing/2014/main" id="{C7A89532-16F9-4B72-BBB4-B19D520A1AB3}"/>
              </a:ext>
            </a:extLst>
          </p:cNvPr>
          <p:cNvSpPr>
            <a:spLocks noGrp="1"/>
          </p:cNvSpPr>
          <p:nvPr>
            <p:ph type="body" sz="quarter" idx="13"/>
          </p:nvPr>
        </p:nvSpPr>
        <p:spPr/>
        <p:txBody>
          <a:bodyPr/>
          <a:lstStyle/>
          <a:p>
            <a:r>
              <a:rPr lang="en-US" dirty="0"/>
              <a:t>Automation Projects  </a:t>
            </a:r>
          </a:p>
        </p:txBody>
      </p:sp>
      <p:graphicFrame>
        <p:nvGraphicFramePr>
          <p:cNvPr id="7" name="Clients_Auto_Rng1">
            <a:extLst>
              <a:ext uri="{FF2B5EF4-FFF2-40B4-BE49-F238E27FC236}">
                <a16:creationId xmlns:a16="http://schemas.microsoft.com/office/drawing/2014/main" id="{030937E7-3419-49B9-9EA3-C27C9D09706B}"/>
              </a:ext>
            </a:extLst>
          </p:cNvPr>
          <p:cNvGraphicFramePr>
            <a:graphicFrameLocks noGrp="1"/>
          </p:cNvGraphicFramePr>
          <p:nvPr>
            <p:ph idx="1"/>
            <p:extLst>
              <p:ext uri="{D42A27DB-BD31-4B8C-83A1-F6EECF244321}">
                <p14:modId xmlns:p14="http://schemas.microsoft.com/office/powerpoint/2010/main" val="2673308142"/>
              </p:ext>
            </p:extLst>
          </p:nvPr>
        </p:nvGraphicFramePr>
        <p:xfrm>
          <a:off x="856275" y="1234867"/>
          <a:ext cx="4992948" cy="4810342"/>
        </p:xfrm>
        <a:graphic>
          <a:graphicData uri="http://schemas.openxmlformats.org/drawingml/2006/table">
            <a:tbl>
              <a:tblPr firstRow="1" bandRow="1">
                <a:tableStyleId>{5C22544A-7EE6-4342-B048-85BDC9FD1C3A}</a:tableStyleId>
              </a:tblPr>
              <a:tblGrid>
                <a:gridCol w="1809423">
                  <a:extLst>
                    <a:ext uri="{9D8B030D-6E8A-4147-A177-3AD203B41FA5}">
                      <a16:colId xmlns:a16="http://schemas.microsoft.com/office/drawing/2014/main" val="73718859"/>
                    </a:ext>
                  </a:extLst>
                </a:gridCol>
                <a:gridCol w="3183525">
                  <a:extLst>
                    <a:ext uri="{9D8B030D-6E8A-4147-A177-3AD203B41FA5}">
                      <a16:colId xmlns:a16="http://schemas.microsoft.com/office/drawing/2014/main" val="2407368130"/>
                    </a:ext>
                  </a:extLst>
                </a:gridCol>
              </a:tblGrid>
              <a:tr h="370840">
                <a:tc gridSpan="2">
                  <a:txBody>
                    <a:bodyPr/>
                    <a:lstStyle/>
                    <a:p>
                      <a:pPr algn="ctr"/>
                      <a:r>
                        <a:rPr lang="en-US" sz="1400" dirty="0"/>
                        <a:t>COMPLETED</a:t>
                      </a:r>
                      <a:endParaRPr lang="en-US" sz="1400" dirty="0">
                        <a:solidFill>
                          <a:schemeClr val="bg1"/>
                        </a:solidFill>
                      </a:endParaRPr>
                    </a:p>
                  </a:txBody>
                  <a:tcPr/>
                </a:tc>
                <a:tc hMerge="1">
                  <a:txBody>
                    <a:bodyPr/>
                    <a:lstStyle/>
                    <a:p>
                      <a:pPr algn="ctr"/>
                      <a:endParaRPr lang="en-US" sz="1400" dirty="0">
                        <a:solidFill>
                          <a:schemeClr val="bg1"/>
                        </a:solidFill>
                      </a:endParaRPr>
                    </a:p>
                  </a:txBody>
                  <a:tcPr/>
                </a:tc>
                <a:extLst>
                  <a:ext uri="{0D108BD9-81ED-4DB2-BD59-A6C34878D82A}">
                    <a16:rowId xmlns:a16="http://schemas.microsoft.com/office/drawing/2014/main" val="773996792"/>
                  </a:ext>
                </a:extLst>
              </a:tr>
              <a:tr h="370840">
                <a:tc>
                  <a:txBody>
                    <a:bodyPr/>
                    <a:lstStyle/>
                    <a:p>
                      <a:pPr algn="ctr"/>
                      <a:r>
                        <a:rPr lang="en-US" sz="1400" dirty="0"/>
                        <a:t>Process</a:t>
                      </a:r>
                      <a:endParaRPr lang="en-US" sz="1400" b="1" dirty="0">
                        <a:solidFill>
                          <a:schemeClr val="bg1"/>
                        </a:solidFill>
                      </a:endParaRPr>
                    </a:p>
                  </a:txBody>
                  <a:tcPr>
                    <a:solidFill>
                      <a:schemeClr val="accent4">
                        <a:lumMod val="20000"/>
                        <a:lumOff val="80000"/>
                      </a:schemeClr>
                    </a:solidFill>
                  </a:tcPr>
                </a:tc>
                <a:tc>
                  <a:txBody>
                    <a:bodyPr/>
                    <a:lstStyle/>
                    <a:p>
                      <a:pPr algn="ctr"/>
                      <a:r>
                        <a:rPr lang="en-US" sz="1400" dirty="0"/>
                        <a:t>Tool/Project Name</a:t>
                      </a:r>
                      <a:endParaRPr lang="en-US" sz="1400" b="1" dirty="0">
                        <a:solidFill>
                          <a:schemeClr val="bg1"/>
                        </a:solidFill>
                      </a:endParaRPr>
                    </a:p>
                  </a:txBody>
                  <a:tcPr>
                    <a:solidFill>
                      <a:schemeClr val="accent4">
                        <a:lumMod val="20000"/>
                        <a:lumOff val="80000"/>
                      </a:schemeClr>
                    </a:solidFill>
                  </a:tcPr>
                </a:tc>
                <a:extLst>
                  <a:ext uri="{0D108BD9-81ED-4DB2-BD59-A6C34878D82A}">
                    <a16:rowId xmlns:a16="http://schemas.microsoft.com/office/drawing/2014/main" val="1883663083"/>
                  </a:ext>
                </a:extLst>
              </a:tr>
              <a:tr h="370840">
                <a:tc>
                  <a:txBody>
                    <a:bodyPr/>
                    <a:lstStyle/>
                    <a:p>
                      <a:pPr marL="0" marR="0">
                        <a:spcBef>
                          <a:spcPts val="0"/>
                        </a:spcBef>
                        <a:spcAft>
                          <a:spcPts val="0"/>
                        </a:spcAft>
                      </a:pPr>
                      <a:r>
                        <a:rPr lang="en-US" sz="1400" dirty="0">
                          <a:effectLst/>
                        </a:rPr>
                        <a:t>Carrier Operations </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Client Profile</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389407223"/>
                  </a:ext>
                </a:extLst>
              </a:tr>
              <a:tr h="370840">
                <a:tc>
                  <a:txBody>
                    <a:bodyPr/>
                    <a:lstStyle/>
                    <a:p>
                      <a:pPr marL="0" marR="0">
                        <a:spcBef>
                          <a:spcPts val="0"/>
                        </a:spcBef>
                        <a:spcAft>
                          <a:spcPts val="0"/>
                        </a:spcAft>
                      </a:pPr>
                      <a:r>
                        <a:rPr lang="en-US" sz="1400" dirty="0">
                          <a:effectLst/>
                        </a:rPr>
                        <a:t>Carrier Operations </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Priority email assistance- automation</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36426424"/>
                  </a:ext>
                </a:extLst>
              </a:tr>
              <a:tr h="360262">
                <a:tc>
                  <a:txBody>
                    <a:bodyPr/>
                    <a:lstStyle/>
                    <a:p>
                      <a:pPr marL="0" marR="0">
                        <a:spcBef>
                          <a:spcPts val="0"/>
                        </a:spcBef>
                        <a:spcAft>
                          <a:spcPts val="0"/>
                        </a:spcAft>
                      </a:pPr>
                      <a:r>
                        <a:rPr lang="en-US" sz="1400" dirty="0">
                          <a:effectLst/>
                        </a:rPr>
                        <a:t>FPA</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FPA Aggregator Tool</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128404702"/>
                  </a:ext>
                </a:extLst>
              </a:tr>
              <a:tr h="370840">
                <a:tc>
                  <a:txBody>
                    <a:bodyPr/>
                    <a:lstStyle/>
                    <a:p>
                      <a:pPr marL="0" marR="0">
                        <a:spcBef>
                          <a:spcPts val="0"/>
                        </a:spcBef>
                        <a:spcAft>
                          <a:spcPts val="0"/>
                        </a:spcAft>
                      </a:pPr>
                      <a:r>
                        <a:rPr lang="en-US" sz="1400" dirty="0">
                          <a:effectLst/>
                        </a:rPr>
                        <a:t>General RFPs</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Standard RFP Census Request </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937134228"/>
                  </a:ext>
                </a:extLst>
              </a:tr>
              <a:tr h="370840">
                <a:tc>
                  <a:txBody>
                    <a:bodyPr/>
                    <a:lstStyle/>
                    <a:p>
                      <a:pPr marL="0" marR="0">
                        <a:spcBef>
                          <a:spcPts val="0"/>
                        </a:spcBef>
                        <a:spcAft>
                          <a:spcPts val="0"/>
                        </a:spcAft>
                      </a:pPr>
                      <a:r>
                        <a:rPr lang="en-US" sz="1400" dirty="0">
                          <a:effectLst/>
                        </a:rPr>
                        <a:t>Med/Den/Vis RFP</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err="1">
                          <a:effectLst/>
                        </a:rPr>
                        <a:t>GeoAccess</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034426383"/>
                  </a:ext>
                </a:extLst>
              </a:tr>
              <a:tr h="370840">
                <a:tc>
                  <a:txBody>
                    <a:bodyPr/>
                    <a:lstStyle/>
                    <a:p>
                      <a:pPr marL="0" marR="0">
                        <a:spcBef>
                          <a:spcPts val="0"/>
                        </a:spcBef>
                        <a:spcAft>
                          <a:spcPts val="0"/>
                        </a:spcAft>
                      </a:pPr>
                      <a:r>
                        <a:rPr lang="en-US" sz="1400" dirty="0">
                          <a:effectLst/>
                        </a:rPr>
                        <a:t>Med/Den/Vis RFP</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Provider Disruption Tool</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495888686"/>
                  </a:ext>
                </a:extLst>
              </a:tr>
              <a:tr h="370840">
                <a:tc>
                  <a:txBody>
                    <a:bodyPr/>
                    <a:lstStyle/>
                    <a:p>
                      <a:pPr marL="0" marR="0">
                        <a:spcBef>
                          <a:spcPts val="0"/>
                        </a:spcBef>
                        <a:spcAft>
                          <a:spcPts val="0"/>
                        </a:spcAft>
                      </a:pPr>
                      <a:r>
                        <a:rPr lang="en-US" sz="1400" dirty="0">
                          <a:effectLst/>
                        </a:rPr>
                        <a:t>ADML RFP</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ADML Census/Volume Calculation</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305234256"/>
                  </a:ext>
                </a:extLst>
              </a:tr>
              <a:tr h="370840">
                <a:tc>
                  <a:txBody>
                    <a:bodyPr/>
                    <a:lstStyle/>
                    <a:p>
                      <a:pPr marL="0" marR="0">
                        <a:spcBef>
                          <a:spcPts val="0"/>
                        </a:spcBef>
                        <a:spcAft>
                          <a:spcPts val="0"/>
                        </a:spcAft>
                      </a:pPr>
                      <a:r>
                        <a:rPr lang="en-US" sz="1400" dirty="0">
                          <a:effectLst/>
                        </a:rPr>
                        <a:t>RxC</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ESI Rebate Aggregator (PDF to Excel)</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847097991"/>
                  </a:ext>
                </a:extLst>
              </a:tr>
              <a:tr h="370840">
                <a:tc>
                  <a:txBody>
                    <a:bodyPr/>
                    <a:lstStyle/>
                    <a:p>
                      <a:pPr marL="0" marR="0">
                        <a:spcBef>
                          <a:spcPts val="0"/>
                        </a:spcBef>
                        <a:spcAft>
                          <a:spcPts val="0"/>
                        </a:spcAft>
                      </a:pPr>
                      <a:r>
                        <a:rPr lang="en-US" sz="1400" dirty="0">
                          <a:effectLst/>
                        </a:rPr>
                        <a:t>FBS</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Demographics Analysis Tool</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322868083"/>
                  </a:ext>
                </a:extLst>
              </a:tr>
              <a:tr h="370840">
                <a:tc>
                  <a:txBody>
                    <a:bodyPr/>
                    <a:lstStyle/>
                    <a:p>
                      <a:pPr marL="0" marR="0">
                        <a:spcBef>
                          <a:spcPts val="0"/>
                        </a:spcBef>
                        <a:spcAft>
                          <a:spcPts val="0"/>
                        </a:spcAft>
                      </a:pPr>
                      <a:r>
                        <a:rPr lang="en-US" sz="1400" dirty="0">
                          <a:effectLst/>
                        </a:rPr>
                        <a:t>Ad Hoc</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COVID US Worksite Analysis</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4115626787"/>
                  </a:ext>
                </a:extLst>
              </a:tr>
              <a:tr h="370840">
                <a:tc>
                  <a:txBody>
                    <a:bodyPr/>
                    <a:lstStyle/>
                    <a:p>
                      <a:pPr marL="0" marR="0">
                        <a:spcBef>
                          <a:spcPts val="0"/>
                        </a:spcBef>
                        <a:spcAft>
                          <a:spcPts val="0"/>
                        </a:spcAft>
                      </a:pPr>
                      <a:r>
                        <a:rPr lang="en-US" sz="1400" dirty="0">
                          <a:effectLst/>
                        </a:rPr>
                        <a:t>Ad Hoc</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rPr>
                        <a:t>COVID Analytics Excel-&gt;PPT</a:t>
                      </a:r>
                      <a:endParaRPr lang="en-US" sz="1400" dirty="0">
                        <a:solidFill>
                          <a:schemeClr val="tx1"/>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541477990"/>
                  </a:ext>
                </a:extLst>
              </a:tr>
            </a:tbl>
          </a:graphicData>
        </a:graphic>
      </p:graphicFrame>
      <p:sp>
        <p:nvSpPr>
          <p:cNvPr id="5" name="Slide Number Placeholder 4">
            <a:extLst>
              <a:ext uri="{FF2B5EF4-FFF2-40B4-BE49-F238E27FC236}">
                <a16:creationId xmlns:a16="http://schemas.microsoft.com/office/drawing/2014/main" id="{341BCFB8-98AE-483F-A119-F7B3851A45E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08BDE681-B31C-4E48-9D1C-CBB602001499}"/>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9" name="Clients_Auto_Rng2">
            <a:extLst>
              <a:ext uri="{FF2B5EF4-FFF2-40B4-BE49-F238E27FC236}">
                <a16:creationId xmlns:a16="http://schemas.microsoft.com/office/drawing/2014/main" id="{395EA37D-0336-40FC-8C2A-5D82D22772E0}"/>
              </a:ext>
            </a:extLst>
          </p:cNvPr>
          <p:cNvGraphicFramePr>
            <a:graphicFrameLocks/>
          </p:cNvGraphicFramePr>
          <p:nvPr>
            <p:extLst>
              <p:ext uri="{D42A27DB-BD31-4B8C-83A1-F6EECF244321}">
                <p14:modId xmlns:p14="http://schemas.microsoft.com/office/powerpoint/2010/main" val="3750037735"/>
              </p:ext>
            </p:extLst>
          </p:nvPr>
        </p:nvGraphicFramePr>
        <p:xfrm>
          <a:off x="6261108" y="1234866"/>
          <a:ext cx="5063211" cy="4256614"/>
        </p:xfrm>
        <a:graphic>
          <a:graphicData uri="http://schemas.openxmlformats.org/drawingml/2006/table">
            <a:tbl>
              <a:tblPr firstRow="1" bandRow="1">
                <a:tableStyleId>{93296810-A885-4BE3-A3E7-6D5BEEA58F35}</a:tableStyleId>
              </a:tblPr>
              <a:tblGrid>
                <a:gridCol w="2103194">
                  <a:extLst>
                    <a:ext uri="{9D8B030D-6E8A-4147-A177-3AD203B41FA5}">
                      <a16:colId xmlns:a16="http://schemas.microsoft.com/office/drawing/2014/main" val="73718859"/>
                    </a:ext>
                  </a:extLst>
                </a:gridCol>
                <a:gridCol w="2960017">
                  <a:extLst>
                    <a:ext uri="{9D8B030D-6E8A-4147-A177-3AD203B41FA5}">
                      <a16:colId xmlns:a16="http://schemas.microsoft.com/office/drawing/2014/main" val="2407368130"/>
                    </a:ext>
                  </a:extLst>
                </a:gridCol>
              </a:tblGrid>
              <a:tr h="373065">
                <a:tc gridSpan="2">
                  <a:txBody>
                    <a:bodyPr/>
                    <a:lstStyle/>
                    <a:p>
                      <a:pPr algn="ctr"/>
                      <a:r>
                        <a:rPr lang="en-US" sz="1400" dirty="0"/>
                        <a:t>ONGOING</a:t>
                      </a:r>
                      <a:endParaRPr lang="en-US" sz="1400" dirty="0">
                        <a:solidFill>
                          <a:schemeClr val="bg1"/>
                        </a:solidFill>
                      </a:endParaRPr>
                    </a:p>
                  </a:txBody>
                  <a:tcPr/>
                </a:tc>
                <a:tc hMerge="1">
                  <a:txBody>
                    <a:bodyPr/>
                    <a:lstStyle/>
                    <a:p>
                      <a:pPr algn="ctr"/>
                      <a:endParaRPr lang="en-US" sz="1400" dirty="0">
                        <a:solidFill>
                          <a:schemeClr val="bg1"/>
                        </a:solidFill>
                      </a:endParaRPr>
                    </a:p>
                  </a:txBody>
                  <a:tcPr/>
                </a:tc>
                <a:extLst>
                  <a:ext uri="{0D108BD9-81ED-4DB2-BD59-A6C34878D82A}">
                    <a16:rowId xmlns:a16="http://schemas.microsoft.com/office/drawing/2014/main" val="1883663083"/>
                  </a:ext>
                </a:extLst>
              </a:tr>
              <a:tr h="370840">
                <a:tc>
                  <a:txBody>
                    <a:bodyPr/>
                    <a:lstStyle/>
                    <a:p>
                      <a:pPr algn="ctr"/>
                      <a:r>
                        <a:rPr lang="en-US" sz="1400" dirty="0">
                          <a:latin typeface="+mn-lt"/>
                        </a:rPr>
                        <a:t>Process</a:t>
                      </a:r>
                      <a:endParaRPr lang="en-US" sz="1400" b="1" dirty="0">
                        <a:solidFill>
                          <a:schemeClr val="bg1"/>
                        </a:solidFill>
                        <a:latin typeface="+mn-lt"/>
                      </a:endParaRPr>
                    </a:p>
                  </a:txBody>
                  <a:tcPr>
                    <a:solidFill>
                      <a:schemeClr val="bg2"/>
                    </a:solidFill>
                  </a:tcPr>
                </a:tc>
                <a:tc>
                  <a:txBody>
                    <a:bodyPr/>
                    <a:lstStyle/>
                    <a:p>
                      <a:pPr algn="ctr"/>
                      <a:r>
                        <a:rPr lang="en-US" sz="1400" dirty="0">
                          <a:latin typeface="+mn-lt"/>
                        </a:rPr>
                        <a:t>Tool/Project Name</a:t>
                      </a:r>
                      <a:endParaRPr lang="en-US" sz="1400" b="1" dirty="0">
                        <a:solidFill>
                          <a:schemeClr val="bg1"/>
                        </a:solidFill>
                        <a:latin typeface="+mn-lt"/>
                      </a:endParaRPr>
                    </a:p>
                  </a:txBody>
                  <a:tcPr>
                    <a:solidFill>
                      <a:schemeClr val="bg2"/>
                    </a:solidFill>
                  </a:tcPr>
                </a:tc>
                <a:extLst>
                  <a:ext uri="{0D108BD9-81ED-4DB2-BD59-A6C34878D82A}">
                    <a16:rowId xmlns:a16="http://schemas.microsoft.com/office/drawing/2014/main" val="2988616556"/>
                  </a:ext>
                </a:extLst>
              </a:tr>
              <a:tr h="370840">
                <a:tc>
                  <a:txBody>
                    <a:bodyPr/>
                    <a:lstStyle/>
                    <a:p>
                      <a:pPr marL="0" marR="0">
                        <a:spcBef>
                          <a:spcPts val="0"/>
                        </a:spcBef>
                        <a:spcAft>
                          <a:spcPts val="0"/>
                        </a:spcAft>
                      </a:pPr>
                      <a:r>
                        <a:rPr lang="en-US" sz="1400" dirty="0">
                          <a:effectLst/>
                          <a:latin typeface="+mn-lt"/>
                        </a:rPr>
                        <a:t>FPA</a:t>
                      </a:r>
                      <a:endParaRPr lang="en-US" sz="1400" dirty="0">
                        <a:solidFill>
                          <a:schemeClr val="tx1"/>
                        </a:solidFill>
                        <a:effectLst/>
                        <a:latin typeface="+mn-lt"/>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latin typeface="+mn-lt"/>
                        </a:rPr>
                        <a:t>FPA Review Tool</a:t>
                      </a:r>
                      <a:endParaRPr lang="en-US" sz="1400" dirty="0">
                        <a:solidFill>
                          <a:schemeClr val="tx1"/>
                        </a:solidFill>
                        <a:effectLst/>
                        <a:latin typeface="+mn-lt"/>
                        <a:ea typeface="Calibri" panose="020F0502020204030204" pitchFamily="34" charset="0"/>
                      </a:endParaRPr>
                    </a:p>
                  </a:txBody>
                  <a:tcPr marL="68580" marR="68580" marT="0" marB="0" anchor="ctr"/>
                </a:tc>
                <a:extLst>
                  <a:ext uri="{0D108BD9-81ED-4DB2-BD59-A6C34878D82A}">
                    <a16:rowId xmlns:a16="http://schemas.microsoft.com/office/drawing/2014/main" val="2389407223"/>
                  </a:ext>
                </a:extLst>
              </a:tr>
              <a:tr h="370840">
                <a:tc>
                  <a:txBody>
                    <a:bodyPr/>
                    <a:lstStyle/>
                    <a:p>
                      <a:pPr marL="0" marR="0">
                        <a:spcBef>
                          <a:spcPts val="0"/>
                        </a:spcBef>
                        <a:spcAft>
                          <a:spcPts val="0"/>
                        </a:spcAft>
                      </a:pPr>
                      <a:r>
                        <a:rPr lang="en-US" sz="1400" dirty="0">
                          <a:effectLst/>
                          <a:latin typeface="+mn-lt"/>
                        </a:rPr>
                        <a:t>FPA</a:t>
                      </a:r>
                      <a:endParaRPr lang="en-US" sz="1400" dirty="0">
                        <a:solidFill>
                          <a:schemeClr val="tx1"/>
                        </a:solidFill>
                        <a:effectLst/>
                        <a:latin typeface="+mn-lt"/>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latin typeface="+mn-lt"/>
                        </a:rPr>
                        <a:t>FPA Aggregator Tool Error Checking</a:t>
                      </a:r>
                      <a:endParaRPr lang="en-US" sz="1400" dirty="0">
                        <a:solidFill>
                          <a:schemeClr val="tx1"/>
                        </a:solidFill>
                        <a:effectLst/>
                        <a:latin typeface="+mn-lt"/>
                        <a:ea typeface="Calibri" panose="020F0502020204030204" pitchFamily="34" charset="0"/>
                      </a:endParaRPr>
                    </a:p>
                  </a:txBody>
                  <a:tcPr marL="68580" marR="68580" marT="0" marB="0" anchor="ctr"/>
                </a:tc>
                <a:extLst>
                  <a:ext uri="{0D108BD9-81ED-4DB2-BD59-A6C34878D82A}">
                    <a16:rowId xmlns:a16="http://schemas.microsoft.com/office/drawing/2014/main" val="236426424"/>
                  </a:ext>
                </a:extLst>
              </a:tr>
              <a:tr h="342841">
                <a:tc>
                  <a:txBody>
                    <a:bodyPr/>
                    <a:lstStyle/>
                    <a:p>
                      <a:pPr marL="0" marR="0">
                        <a:spcBef>
                          <a:spcPts val="0"/>
                        </a:spcBef>
                        <a:spcAft>
                          <a:spcPts val="0"/>
                        </a:spcAft>
                      </a:pPr>
                      <a:r>
                        <a:rPr lang="en-US" sz="1400" dirty="0">
                          <a:effectLst/>
                          <a:latin typeface="+mn-lt"/>
                        </a:rPr>
                        <a:t>Ad Hoc</a:t>
                      </a:r>
                      <a:endParaRPr lang="en-US" sz="1400" dirty="0">
                        <a:solidFill>
                          <a:schemeClr val="tx1"/>
                        </a:solidFill>
                        <a:effectLst/>
                        <a:latin typeface="+mn-lt"/>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latin typeface="+mn-lt"/>
                        </a:rPr>
                        <a:t>Payment Integrity Model</a:t>
                      </a:r>
                      <a:endParaRPr lang="en-US" sz="1400" dirty="0">
                        <a:solidFill>
                          <a:schemeClr val="tx1"/>
                        </a:solidFill>
                        <a:effectLst/>
                        <a:latin typeface="+mn-lt"/>
                        <a:ea typeface="Calibri" panose="020F0502020204030204" pitchFamily="34" charset="0"/>
                      </a:endParaRPr>
                    </a:p>
                  </a:txBody>
                  <a:tcPr marL="68580" marR="68580" marT="0" marB="0" anchor="ctr"/>
                </a:tc>
                <a:extLst>
                  <a:ext uri="{0D108BD9-81ED-4DB2-BD59-A6C34878D82A}">
                    <a16:rowId xmlns:a16="http://schemas.microsoft.com/office/drawing/2014/main" val="1128404702"/>
                  </a:ext>
                </a:extLst>
              </a:tr>
              <a:tr h="462228">
                <a:tc>
                  <a:txBody>
                    <a:bodyPr/>
                    <a:lstStyle/>
                    <a:p>
                      <a:pPr marL="0" marR="0">
                        <a:spcBef>
                          <a:spcPts val="0"/>
                        </a:spcBef>
                        <a:spcAft>
                          <a:spcPts val="0"/>
                        </a:spcAft>
                      </a:pPr>
                      <a:r>
                        <a:rPr lang="en-US" sz="1400" dirty="0" err="1">
                          <a:effectLst/>
                          <a:latin typeface="+mn-lt"/>
                        </a:rPr>
                        <a:t>AMPlify</a:t>
                      </a:r>
                      <a:r>
                        <a:rPr lang="en-US" sz="1400" dirty="0">
                          <a:effectLst/>
                          <a:latin typeface="+mn-lt"/>
                        </a:rPr>
                        <a:t> (Canada)</a:t>
                      </a:r>
                      <a:endParaRPr lang="en-US" sz="1400" dirty="0">
                        <a:solidFill>
                          <a:schemeClr val="tx1"/>
                        </a:solidFill>
                        <a:effectLst/>
                        <a:latin typeface="+mn-lt"/>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latin typeface="+mn-lt"/>
                        </a:rPr>
                        <a:t>Assist with import from PDF</a:t>
                      </a:r>
                      <a:endParaRPr lang="en-US" sz="1400" dirty="0">
                        <a:solidFill>
                          <a:schemeClr val="tx1"/>
                        </a:solidFill>
                        <a:effectLst/>
                        <a:latin typeface="+mn-lt"/>
                        <a:ea typeface="Calibri" panose="020F0502020204030204" pitchFamily="34" charset="0"/>
                      </a:endParaRPr>
                    </a:p>
                  </a:txBody>
                  <a:tcPr marL="68580" marR="68580" marT="0" marB="0" anchor="ctr"/>
                </a:tc>
                <a:extLst>
                  <a:ext uri="{0D108BD9-81ED-4DB2-BD59-A6C34878D82A}">
                    <a16:rowId xmlns:a16="http://schemas.microsoft.com/office/drawing/2014/main" val="937134228"/>
                  </a:ext>
                </a:extLst>
              </a:tr>
              <a:tr h="370840">
                <a:tc>
                  <a:txBody>
                    <a:bodyPr/>
                    <a:lstStyle/>
                    <a:p>
                      <a:pPr marL="0" marR="0">
                        <a:spcBef>
                          <a:spcPts val="0"/>
                        </a:spcBef>
                        <a:spcAft>
                          <a:spcPts val="0"/>
                        </a:spcAft>
                      </a:pPr>
                      <a:r>
                        <a:rPr lang="en-US" sz="1400" dirty="0">
                          <a:effectLst/>
                          <a:latin typeface="+mn-lt"/>
                        </a:rPr>
                        <a:t>RxC</a:t>
                      </a:r>
                      <a:endParaRPr lang="en-US" sz="1400" dirty="0">
                        <a:solidFill>
                          <a:schemeClr val="tx1"/>
                        </a:solidFill>
                        <a:effectLst/>
                        <a:latin typeface="+mn-lt"/>
                        <a:ea typeface="Calibri" panose="020F0502020204030204" pitchFamily="34" charset="0"/>
                      </a:endParaRPr>
                    </a:p>
                  </a:txBody>
                  <a:tcPr marL="68580" marR="68580" marT="0" marB="0" anchor="ctr"/>
                </a:tc>
                <a:tc>
                  <a:txBody>
                    <a:bodyPr/>
                    <a:lstStyle/>
                    <a:p>
                      <a:pPr marL="0" marR="0">
                        <a:spcBef>
                          <a:spcPts val="0"/>
                        </a:spcBef>
                        <a:spcAft>
                          <a:spcPts val="0"/>
                        </a:spcAft>
                      </a:pPr>
                      <a:r>
                        <a:rPr lang="en-US" sz="1400" dirty="0">
                          <a:effectLst/>
                          <a:latin typeface="+mn-lt"/>
                        </a:rPr>
                        <a:t>ESI Reconciliation Tool</a:t>
                      </a:r>
                      <a:endParaRPr lang="en-US" sz="1400" dirty="0">
                        <a:solidFill>
                          <a:schemeClr val="tx1"/>
                        </a:solidFill>
                        <a:effectLst/>
                        <a:latin typeface="+mn-lt"/>
                        <a:ea typeface="Calibri" panose="020F0502020204030204" pitchFamily="34" charset="0"/>
                      </a:endParaRPr>
                    </a:p>
                  </a:txBody>
                  <a:tcPr marL="68580" marR="68580" marT="0" marB="0" anchor="ctr"/>
                </a:tc>
                <a:extLst>
                  <a:ext uri="{0D108BD9-81ED-4DB2-BD59-A6C34878D82A}">
                    <a16:rowId xmlns:a16="http://schemas.microsoft.com/office/drawing/2014/main" val="3034426383"/>
                  </a:ext>
                </a:extLst>
              </a:tr>
              <a:tr h="370840">
                <a:tc>
                  <a:txBody>
                    <a:bodyPr/>
                    <a:lstStyle/>
                    <a:p>
                      <a:pPr marL="0" marR="0">
                        <a:spcBef>
                          <a:spcPts val="0"/>
                        </a:spcBef>
                        <a:spcAft>
                          <a:spcPts val="0"/>
                        </a:spcAft>
                      </a:pPr>
                      <a:r>
                        <a:rPr lang="en-US" sz="1400" dirty="0">
                          <a:solidFill>
                            <a:schemeClr val="tx1"/>
                          </a:solidFill>
                          <a:effectLst/>
                          <a:latin typeface="+mn-lt"/>
                          <a:ea typeface="Calibri" panose="020F0502020204030204" pitchFamily="34" charset="0"/>
                        </a:rPr>
                        <a:t>ADML RFP</a:t>
                      </a:r>
                    </a:p>
                  </a:txBody>
                  <a:tcPr marL="68580" marR="68580" marT="0" marB="0" anchor="ctr"/>
                </a:tc>
                <a:tc>
                  <a:txBody>
                    <a:bodyPr/>
                    <a:lstStyle/>
                    <a:p>
                      <a:pPr marL="0" marR="0">
                        <a:spcBef>
                          <a:spcPts val="0"/>
                        </a:spcBef>
                        <a:spcAft>
                          <a:spcPts val="0"/>
                        </a:spcAft>
                      </a:pPr>
                      <a:r>
                        <a:rPr lang="en-US" sz="1400" dirty="0">
                          <a:solidFill>
                            <a:schemeClr val="tx1"/>
                          </a:solidFill>
                          <a:effectLst/>
                          <a:latin typeface="+mn-lt"/>
                          <a:ea typeface="Calibri" panose="020F0502020204030204" pitchFamily="34" charset="0"/>
                        </a:rPr>
                        <a:t>ADML RFP Roll-up</a:t>
                      </a:r>
                    </a:p>
                  </a:txBody>
                  <a:tcPr marL="68580" marR="68580" marT="0" marB="0" anchor="ctr"/>
                </a:tc>
                <a:extLst>
                  <a:ext uri="{0D108BD9-81ED-4DB2-BD59-A6C34878D82A}">
                    <a16:rowId xmlns:a16="http://schemas.microsoft.com/office/drawing/2014/main" val="4151595735"/>
                  </a:ext>
                </a:extLst>
              </a:tr>
              <a:tr h="370840">
                <a:tc>
                  <a:txBody>
                    <a:bodyPr/>
                    <a:lstStyle/>
                    <a:p>
                      <a:pPr marL="0" marR="0">
                        <a:spcBef>
                          <a:spcPts val="0"/>
                        </a:spcBef>
                        <a:spcAft>
                          <a:spcPts val="0"/>
                        </a:spcAft>
                      </a:pPr>
                      <a:r>
                        <a:rPr lang="en-US" sz="1400" dirty="0">
                          <a:solidFill>
                            <a:schemeClr val="tx1"/>
                          </a:solidFill>
                          <a:effectLst/>
                          <a:latin typeface="+mn-lt"/>
                          <a:ea typeface="Calibri" panose="020F0502020204030204" pitchFamily="34" charset="0"/>
                        </a:rPr>
                        <a:t>Ad Hoc</a:t>
                      </a:r>
                    </a:p>
                  </a:txBody>
                  <a:tcPr marL="68580" marR="68580" marT="0" marB="0" anchor="ctr"/>
                </a:tc>
                <a:tc>
                  <a:txBody>
                    <a:bodyPr/>
                    <a:lstStyle/>
                    <a:p>
                      <a:pPr marL="0" marR="0">
                        <a:spcBef>
                          <a:spcPts val="0"/>
                        </a:spcBef>
                        <a:spcAft>
                          <a:spcPts val="0"/>
                        </a:spcAft>
                      </a:pPr>
                      <a:r>
                        <a:rPr lang="en-US" sz="1400" dirty="0">
                          <a:solidFill>
                            <a:schemeClr val="tx1"/>
                          </a:solidFill>
                          <a:effectLst/>
                          <a:latin typeface="+mn-lt"/>
                          <a:ea typeface="Calibri" panose="020F0502020204030204" pitchFamily="34" charset="0"/>
                        </a:rPr>
                        <a:t>Benefit Valuation</a:t>
                      </a:r>
                    </a:p>
                  </a:txBody>
                  <a:tcPr marL="68580" marR="68580" marT="0" marB="0" anchor="ctr"/>
                </a:tc>
                <a:extLst>
                  <a:ext uri="{0D108BD9-81ED-4DB2-BD59-A6C34878D82A}">
                    <a16:rowId xmlns:a16="http://schemas.microsoft.com/office/drawing/2014/main" val="1635880570"/>
                  </a:ext>
                </a:extLst>
              </a:tr>
              <a:tr h="370840">
                <a:tc>
                  <a:txBody>
                    <a:bodyPr/>
                    <a:lstStyle/>
                    <a:p>
                      <a:pPr marL="0" marR="0">
                        <a:spcBef>
                          <a:spcPts val="0"/>
                        </a:spcBef>
                        <a:spcAft>
                          <a:spcPts val="0"/>
                        </a:spcAft>
                      </a:pPr>
                      <a:r>
                        <a:rPr lang="en-US" sz="1400" dirty="0">
                          <a:solidFill>
                            <a:schemeClr val="tx1"/>
                          </a:solidFill>
                          <a:effectLst/>
                          <a:latin typeface="+mn-lt"/>
                          <a:ea typeface="Calibri" panose="020F0502020204030204" pitchFamily="34" charset="0"/>
                        </a:rPr>
                        <a:t>Form 5500</a:t>
                      </a:r>
                    </a:p>
                  </a:txBody>
                  <a:tcPr marL="68580" marR="68580" marT="0" marB="0" anchor="ctr"/>
                </a:tc>
                <a:tc>
                  <a:txBody>
                    <a:bodyPr/>
                    <a:lstStyle/>
                    <a:p>
                      <a:pPr marL="0" marR="0">
                        <a:spcBef>
                          <a:spcPts val="0"/>
                        </a:spcBef>
                        <a:spcAft>
                          <a:spcPts val="0"/>
                        </a:spcAft>
                      </a:pPr>
                      <a:r>
                        <a:rPr lang="en-US" sz="1400" dirty="0">
                          <a:solidFill>
                            <a:schemeClr val="tx1"/>
                          </a:solidFill>
                          <a:effectLst/>
                          <a:latin typeface="+mn-lt"/>
                          <a:ea typeface="Calibri" panose="020F0502020204030204" pitchFamily="34" charset="0"/>
                        </a:rPr>
                        <a:t>Auto-Email</a:t>
                      </a:r>
                    </a:p>
                  </a:txBody>
                  <a:tcPr marL="68580" marR="68580" marT="0" marB="0" anchor="ctr"/>
                </a:tc>
                <a:extLst>
                  <a:ext uri="{0D108BD9-81ED-4DB2-BD59-A6C34878D82A}">
                    <a16:rowId xmlns:a16="http://schemas.microsoft.com/office/drawing/2014/main" val="1814901801"/>
                  </a:ext>
                </a:extLst>
              </a:tr>
              <a:tr h="370840">
                <a:tc>
                  <a:txBody>
                    <a:bodyPr/>
                    <a:lstStyle/>
                    <a:p>
                      <a:pPr marL="0" marR="0">
                        <a:spcBef>
                          <a:spcPts val="0"/>
                        </a:spcBef>
                        <a:spcAft>
                          <a:spcPts val="0"/>
                        </a:spcAft>
                      </a:pPr>
                      <a:r>
                        <a:rPr lang="en-US" sz="1400" dirty="0">
                          <a:solidFill>
                            <a:schemeClr val="tx1"/>
                          </a:solidFill>
                          <a:effectLst/>
                          <a:latin typeface="+mn-lt"/>
                          <a:ea typeface="Calibri" panose="020F0502020204030204" pitchFamily="34" charset="0"/>
                        </a:rPr>
                        <a:t>San Francisco Ordinance</a:t>
                      </a:r>
                    </a:p>
                  </a:txBody>
                  <a:tcPr marL="68580" marR="68580" marT="0" marB="0" anchor="ctr"/>
                </a:tc>
                <a:tc>
                  <a:txBody>
                    <a:bodyPr/>
                    <a:lstStyle/>
                    <a:p>
                      <a:pPr marL="0" marR="0">
                        <a:spcBef>
                          <a:spcPts val="0"/>
                        </a:spcBef>
                        <a:spcAft>
                          <a:spcPts val="0"/>
                        </a:spcAft>
                      </a:pPr>
                      <a:r>
                        <a:rPr lang="en-US" sz="1400" dirty="0">
                          <a:solidFill>
                            <a:schemeClr val="tx1"/>
                          </a:solidFill>
                          <a:effectLst/>
                          <a:latin typeface="+mn-lt"/>
                          <a:ea typeface="Calibri" panose="020F0502020204030204" pitchFamily="34" charset="0"/>
                        </a:rPr>
                        <a:t>Calculation Automation for several models; standardization</a:t>
                      </a:r>
                    </a:p>
                  </a:txBody>
                  <a:tcPr marL="68580" marR="68580" marT="0" marB="0" anchor="ctr"/>
                </a:tc>
                <a:extLst>
                  <a:ext uri="{0D108BD9-81ED-4DB2-BD59-A6C34878D82A}">
                    <a16:rowId xmlns:a16="http://schemas.microsoft.com/office/drawing/2014/main" val="193687211"/>
                  </a:ext>
                </a:extLst>
              </a:tr>
            </a:tbl>
          </a:graphicData>
        </a:graphic>
      </p:graphicFrame>
      <p:sp>
        <p:nvSpPr>
          <p:cNvPr id="8" name="TextBox 7">
            <a:extLst>
              <a:ext uri="{FF2B5EF4-FFF2-40B4-BE49-F238E27FC236}">
                <a16:creationId xmlns:a16="http://schemas.microsoft.com/office/drawing/2014/main" id="{BC495615-19AD-4C32-9C33-28E3BD471517}"/>
              </a:ext>
            </a:extLst>
          </p:cNvPr>
          <p:cNvSpPr txBox="1"/>
          <p:nvPr/>
        </p:nvSpPr>
        <p:spPr>
          <a:xfrm>
            <a:off x="6261108" y="5491480"/>
            <a:ext cx="4992947" cy="769441"/>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mn-ea"/>
                <a:cs typeface="+mn-cs"/>
              </a:rPr>
              <a:t>All completed projects were supported by JP Hernandez, Marlon Pilor and Bryan Baliday alongside Joe Allbright  and  were done on top of their regular work.</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mn-ea"/>
                <a:cs typeface="+mn-cs"/>
              </a:rPr>
              <a:t>Currently with 1 project hire who is a dedicated full time VB expert.</a:t>
            </a:r>
          </a:p>
        </p:txBody>
      </p:sp>
    </p:spTree>
    <p:extLst>
      <p:ext uri="{BB962C8B-B14F-4D97-AF65-F5344CB8AC3E}">
        <p14:creationId xmlns:p14="http://schemas.microsoft.com/office/powerpoint/2010/main" val="2211701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Clients_Auto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C0DC4-2D05-438B-9083-BEDBA8E2E374}"/>
              </a:ext>
            </a:extLst>
          </p:cNvPr>
          <p:cNvSpPr>
            <a:spLocks noGrp="1"/>
          </p:cNvSpPr>
          <p:nvPr>
            <p:ph type="title"/>
          </p:nvPr>
        </p:nvSpPr>
        <p:spPr/>
        <p:txBody>
          <a:bodyPr/>
          <a:lstStyle/>
          <a:p>
            <a:r>
              <a:rPr lang="en-US" dirty="0"/>
              <a:t>Excellence</a:t>
            </a:r>
          </a:p>
        </p:txBody>
      </p:sp>
      <p:sp>
        <p:nvSpPr>
          <p:cNvPr id="3" name="Text Placeholder 2">
            <a:extLst>
              <a:ext uri="{FF2B5EF4-FFF2-40B4-BE49-F238E27FC236}">
                <a16:creationId xmlns:a16="http://schemas.microsoft.com/office/drawing/2014/main" id="{C7A89532-16F9-4B72-BBB4-B19D520A1AB3}"/>
              </a:ext>
            </a:extLst>
          </p:cNvPr>
          <p:cNvSpPr>
            <a:spLocks noGrp="1"/>
          </p:cNvSpPr>
          <p:nvPr>
            <p:ph type="body" sz="quarter" idx="13"/>
          </p:nvPr>
        </p:nvSpPr>
        <p:spPr/>
        <p:txBody>
          <a:bodyPr/>
          <a:lstStyle/>
          <a:p>
            <a:r>
              <a:rPr lang="en-US" dirty="0"/>
              <a:t>Automation Projects 2021  </a:t>
            </a:r>
          </a:p>
        </p:txBody>
      </p:sp>
      <p:graphicFrame>
        <p:nvGraphicFramePr>
          <p:cNvPr id="7" name="Clients_Auto2_Rng1">
            <a:extLst>
              <a:ext uri="{FF2B5EF4-FFF2-40B4-BE49-F238E27FC236}">
                <a16:creationId xmlns:a16="http://schemas.microsoft.com/office/drawing/2014/main" id="{030937E7-3419-49B9-9EA3-C27C9D09706B}"/>
              </a:ext>
            </a:extLst>
          </p:cNvPr>
          <p:cNvGraphicFramePr>
            <a:graphicFrameLocks noGrp="1"/>
          </p:cNvGraphicFramePr>
          <p:nvPr>
            <p:ph idx="1"/>
            <p:extLst>
              <p:ext uri="{D42A27DB-BD31-4B8C-83A1-F6EECF244321}">
                <p14:modId xmlns:p14="http://schemas.microsoft.com/office/powerpoint/2010/main" val="1462623858"/>
              </p:ext>
            </p:extLst>
          </p:nvPr>
        </p:nvGraphicFramePr>
        <p:xfrm>
          <a:off x="856275" y="1234867"/>
          <a:ext cx="4992948" cy="2585302"/>
        </p:xfrm>
        <a:graphic>
          <a:graphicData uri="http://schemas.openxmlformats.org/drawingml/2006/table">
            <a:tbl>
              <a:tblPr firstRow="1" bandRow="1">
                <a:tableStyleId>{5C22544A-7EE6-4342-B048-85BDC9FD1C3A}</a:tableStyleId>
              </a:tblPr>
              <a:tblGrid>
                <a:gridCol w="1809423">
                  <a:extLst>
                    <a:ext uri="{9D8B030D-6E8A-4147-A177-3AD203B41FA5}">
                      <a16:colId xmlns:a16="http://schemas.microsoft.com/office/drawing/2014/main" val="73718859"/>
                    </a:ext>
                  </a:extLst>
                </a:gridCol>
                <a:gridCol w="3183525">
                  <a:extLst>
                    <a:ext uri="{9D8B030D-6E8A-4147-A177-3AD203B41FA5}">
                      <a16:colId xmlns:a16="http://schemas.microsoft.com/office/drawing/2014/main" val="2407368130"/>
                    </a:ext>
                  </a:extLst>
                </a:gridCol>
              </a:tblGrid>
              <a:tr h="370840">
                <a:tc gridSpan="2">
                  <a:txBody>
                    <a:bodyPr/>
                    <a:lstStyle/>
                    <a:p>
                      <a:pPr algn="ctr"/>
                      <a:r>
                        <a:rPr lang="en-US" sz="1400" b="0" dirty="0">
                          <a:latin typeface="Arial" panose="020B0604020202020204" pitchFamily="34" charset="0"/>
                          <a:cs typeface="Arial" panose="020B0604020202020204" pitchFamily="34" charset="0"/>
                        </a:rPr>
                        <a:t>COMPLETED</a:t>
                      </a:r>
                      <a:endParaRPr lang="en-US" sz="1400" b="0" dirty="0">
                        <a:solidFill>
                          <a:schemeClr val="bg1"/>
                        </a:solidFill>
                        <a:latin typeface="Arial" panose="020B0604020202020204" pitchFamily="34" charset="0"/>
                        <a:cs typeface="Arial" panose="020B0604020202020204" pitchFamily="34" charset="0"/>
                      </a:endParaRPr>
                    </a:p>
                  </a:txBody>
                  <a:tcPr/>
                </a:tc>
                <a:tc hMerge="1">
                  <a:txBody>
                    <a:bodyPr/>
                    <a:lstStyle/>
                    <a:p>
                      <a:pPr algn="ctr"/>
                      <a:endParaRPr lang="en-US" sz="1400" dirty="0">
                        <a:solidFill>
                          <a:schemeClr val="bg1"/>
                        </a:solidFill>
                      </a:endParaRPr>
                    </a:p>
                  </a:txBody>
                  <a:tcPr/>
                </a:tc>
                <a:extLst>
                  <a:ext uri="{0D108BD9-81ED-4DB2-BD59-A6C34878D82A}">
                    <a16:rowId xmlns:a16="http://schemas.microsoft.com/office/drawing/2014/main" val="773996792"/>
                  </a:ext>
                </a:extLst>
              </a:tr>
              <a:tr h="370840">
                <a:tc>
                  <a:txBody>
                    <a:bodyPr/>
                    <a:lstStyle/>
                    <a:p>
                      <a:pPr algn="ctr"/>
                      <a:r>
                        <a:rPr lang="en-US" sz="1400" b="0" dirty="0">
                          <a:latin typeface="Arial" panose="020B0604020202020204" pitchFamily="34" charset="0"/>
                          <a:cs typeface="Arial" panose="020B0604020202020204" pitchFamily="34" charset="0"/>
                        </a:rPr>
                        <a:t>Process</a:t>
                      </a:r>
                      <a:endParaRPr lang="en-US" sz="1400" b="0" dirty="0">
                        <a:solidFill>
                          <a:schemeClr val="bg1"/>
                        </a:solidFill>
                        <a:latin typeface="Arial" panose="020B0604020202020204" pitchFamily="34" charset="0"/>
                        <a:cs typeface="Arial" panose="020B0604020202020204" pitchFamily="34" charset="0"/>
                      </a:endParaRPr>
                    </a:p>
                  </a:txBody>
                  <a:tcPr>
                    <a:solidFill>
                      <a:schemeClr val="accent4">
                        <a:lumMod val="20000"/>
                        <a:lumOff val="80000"/>
                      </a:schemeClr>
                    </a:solidFill>
                  </a:tcPr>
                </a:tc>
                <a:tc>
                  <a:txBody>
                    <a:bodyPr/>
                    <a:lstStyle/>
                    <a:p>
                      <a:pPr algn="ctr"/>
                      <a:r>
                        <a:rPr lang="en-US" sz="1400" b="0" dirty="0">
                          <a:latin typeface="Arial" panose="020B0604020202020204" pitchFamily="34" charset="0"/>
                          <a:cs typeface="Arial" panose="020B0604020202020204" pitchFamily="34" charset="0"/>
                        </a:rPr>
                        <a:t>Tool/Project Name</a:t>
                      </a:r>
                      <a:endParaRPr lang="en-US" sz="1400" b="0" dirty="0">
                        <a:solidFill>
                          <a:schemeClr val="bg1"/>
                        </a:solidFill>
                        <a:latin typeface="Arial" panose="020B0604020202020204" pitchFamily="34" charset="0"/>
                        <a:cs typeface="Arial" panose="020B0604020202020204" pitchFamily="34" charset="0"/>
                      </a:endParaRPr>
                    </a:p>
                  </a:txBody>
                  <a:tcPr>
                    <a:solidFill>
                      <a:schemeClr val="accent4">
                        <a:lumMod val="20000"/>
                        <a:lumOff val="80000"/>
                      </a:schemeClr>
                    </a:solidFill>
                  </a:tcPr>
                </a:tc>
                <a:extLst>
                  <a:ext uri="{0D108BD9-81ED-4DB2-BD59-A6C34878D82A}">
                    <a16:rowId xmlns:a16="http://schemas.microsoft.com/office/drawing/2014/main" val="1883663083"/>
                  </a:ext>
                </a:extLst>
              </a:tr>
              <a:tr h="370840">
                <a:tc>
                  <a:txBody>
                    <a:bodyPr/>
                    <a:lstStyle/>
                    <a:p>
                      <a:pPr marL="0" marR="0">
                        <a:spcBef>
                          <a:spcPts val="0"/>
                        </a:spcBef>
                        <a:spcAft>
                          <a:spcPts val="0"/>
                        </a:spcAft>
                      </a:pPr>
                      <a:r>
                        <a:rPr lang="en-US" sz="1400" b="0" dirty="0">
                          <a:effectLst/>
                          <a:latin typeface="Arial" panose="020B0604020202020204" pitchFamily="34" charset="0"/>
                          <a:cs typeface="Arial" panose="020B0604020202020204" pitchFamily="34" charset="0"/>
                        </a:rPr>
                        <a:t>HBNA</a:t>
                      </a:r>
                      <a:endPar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spcBef>
                          <a:spcPts val="0"/>
                        </a:spcBef>
                        <a:spcAft>
                          <a:spcPts val="0"/>
                        </a:spcAft>
                      </a:pPr>
                      <a:r>
                        <a:rPr lang="en-US" sz="1400" b="0" dirty="0">
                          <a:effectLst/>
                          <a:latin typeface="Arial" panose="020B0604020202020204" pitchFamily="34" charset="0"/>
                          <a:cs typeface="Arial" panose="020B0604020202020204" pitchFamily="34" charset="0"/>
                        </a:rPr>
                        <a:t>I&amp;D Gap Tool</a:t>
                      </a:r>
                      <a:endPar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89407223"/>
                  </a:ext>
                </a:extLst>
              </a:tr>
              <a:tr h="370840">
                <a:tc>
                  <a:txBody>
                    <a:bodyPr/>
                    <a:lstStyle/>
                    <a:p>
                      <a:pPr marL="0" marR="0">
                        <a:spcBef>
                          <a:spcPts val="0"/>
                        </a:spcBef>
                        <a:spcAft>
                          <a:spcPts val="0"/>
                        </a:spcAft>
                      </a:pPr>
                      <a:r>
                        <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rPr>
                        <a:t>HBNA</a:t>
                      </a:r>
                    </a:p>
                  </a:txBody>
                  <a:tcPr marL="68580" marR="68580" marT="0" marB="0" anchor="ctr"/>
                </a:tc>
                <a:tc>
                  <a:txBody>
                    <a:bodyPr/>
                    <a:lstStyle/>
                    <a:p>
                      <a:pPr marL="0" marR="0">
                        <a:spcBef>
                          <a:spcPts val="0"/>
                        </a:spcBef>
                        <a:spcAft>
                          <a:spcPts val="0"/>
                        </a:spcAft>
                      </a:pPr>
                      <a:r>
                        <a:rPr lang="en-US" sz="1400" b="0" dirty="0">
                          <a:effectLst/>
                          <a:latin typeface="Arial" panose="020B0604020202020204" pitchFamily="34" charset="0"/>
                          <a:cs typeface="Arial" panose="020B0604020202020204" pitchFamily="34" charset="0"/>
                        </a:rPr>
                        <a:t>PIE Metrics Tool</a:t>
                      </a:r>
                      <a:endPar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6426424"/>
                  </a:ext>
                </a:extLst>
              </a:tr>
              <a:tr h="360262">
                <a:tc>
                  <a:txBody>
                    <a:bodyPr/>
                    <a:lstStyle/>
                    <a:p>
                      <a:pPr marL="0" marR="0">
                        <a:spcBef>
                          <a:spcPts val="0"/>
                        </a:spcBef>
                        <a:spcAft>
                          <a:spcPts val="0"/>
                        </a:spcAft>
                      </a:pPr>
                      <a:r>
                        <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rPr>
                        <a:t>HBNA</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rPr>
                        <a:t>Benefit Valuation</a:t>
                      </a:r>
                    </a:p>
                  </a:txBody>
                  <a:tcPr marL="68580" marR="68580" marT="0" marB="0" anchor="ctr"/>
                </a:tc>
                <a:extLst>
                  <a:ext uri="{0D108BD9-81ED-4DB2-BD59-A6C34878D82A}">
                    <a16:rowId xmlns:a16="http://schemas.microsoft.com/office/drawing/2014/main" val="1128404702"/>
                  </a:ext>
                </a:extLst>
              </a:tr>
              <a:tr h="370840">
                <a:tc>
                  <a:txBody>
                    <a:bodyPr/>
                    <a:lstStyle/>
                    <a:p>
                      <a:pPr marL="0" marR="0">
                        <a:spcBef>
                          <a:spcPts val="0"/>
                        </a:spcBef>
                        <a:spcAft>
                          <a:spcPts val="0"/>
                        </a:spcAft>
                      </a:pPr>
                      <a:r>
                        <a:rPr lang="en-US" sz="1400" b="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RxC</a:t>
                      </a:r>
                      <a:endPar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spcBef>
                          <a:spcPts val="0"/>
                        </a:spcBef>
                        <a:spcAft>
                          <a:spcPts val="0"/>
                        </a:spcAft>
                      </a:pPr>
                      <a:r>
                        <a:rPr lang="en-US" sz="1400" b="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RxC</a:t>
                      </a:r>
                      <a:r>
                        <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rPr>
                        <a:t> Discount Aggregator</a:t>
                      </a:r>
                    </a:p>
                  </a:txBody>
                  <a:tcPr marL="68580" marR="68580" marT="0" marB="0" anchor="ctr"/>
                </a:tc>
                <a:extLst>
                  <a:ext uri="{0D108BD9-81ED-4DB2-BD59-A6C34878D82A}">
                    <a16:rowId xmlns:a16="http://schemas.microsoft.com/office/drawing/2014/main" val="937134228"/>
                  </a:ext>
                </a:extLst>
              </a:tr>
              <a:tr h="370840">
                <a:tc>
                  <a:txBody>
                    <a:bodyPr/>
                    <a:lstStyle/>
                    <a:p>
                      <a:pPr marL="0" marR="0">
                        <a:spcBef>
                          <a:spcPts val="0"/>
                        </a:spcBef>
                        <a:spcAft>
                          <a:spcPts val="0"/>
                        </a:spcAft>
                      </a:pPr>
                      <a:endPar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spcBef>
                          <a:spcPts val="0"/>
                        </a:spcBef>
                        <a:spcAft>
                          <a:spcPts val="0"/>
                        </a:spcAft>
                      </a:pPr>
                      <a:endParaRPr lang="en-US" sz="14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034426383"/>
                  </a:ext>
                </a:extLst>
              </a:tr>
            </a:tbl>
          </a:graphicData>
        </a:graphic>
      </p:graphicFrame>
      <p:sp>
        <p:nvSpPr>
          <p:cNvPr id="5" name="Slide Number Placeholder 4">
            <a:extLst>
              <a:ext uri="{FF2B5EF4-FFF2-40B4-BE49-F238E27FC236}">
                <a16:creationId xmlns:a16="http://schemas.microsoft.com/office/drawing/2014/main" id="{341BCFB8-98AE-483F-A119-F7B3851A45E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08BDE681-B31C-4E48-9D1C-CBB602001499}"/>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9" name="Clients_Auto2_Rng2">
            <a:extLst>
              <a:ext uri="{FF2B5EF4-FFF2-40B4-BE49-F238E27FC236}">
                <a16:creationId xmlns:a16="http://schemas.microsoft.com/office/drawing/2014/main" id="{395EA37D-0336-40FC-8C2A-5D82D22772E0}"/>
              </a:ext>
            </a:extLst>
          </p:cNvPr>
          <p:cNvGraphicFramePr>
            <a:graphicFrameLocks/>
          </p:cNvGraphicFramePr>
          <p:nvPr>
            <p:extLst>
              <p:ext uri="{D42A27DB-BD31-4B8C-83A1-F6EECF244321}">
                <p14:modId xmlns:p14="http://schemas.microsoft.com/office/powerpoint/2010/main" val="3496040914"/>
              </p:ext>
            </p:extLst>
          </p:nvPr>
        </p:nvGraphicFramePr>
        <p:xfrm>
          <a:off x="6261108" y="1234866"/>
          <a:ext cx="5063211" cy="4256614"/>
        </p:xfrm>
        <a:graphic>
          <a:graphicData uri="http://schemas.openxmlformats.org/drawingml/2006/table">
            <a:tbl>
              <a:tblPr firstRow="1" bandRow="1">
                <a:tableStyleId>{93296810-A885-4BE3-A3E7-6D5BEEA58F35}</a:tableStyleId>
              </a:tblPr>
              <a:tblGrid>
                <a:gridCol w="2103194">
                  <a:extLst>
                    <a:ext uri="{9D8B030D-6E8A-4147-A177-3AD203B41FA5}">
                      <a16:colId xmlns:a16="http://schemas.microsoft.com/office/drawing/2014/main" val="73718859"/>
                    </a:ext>
                  </a:extLst>
                </a:gridCol>
                <a:gridCol w="2960017">
                  <a:extLst>
                    <a:ext uri="{9D8B030D-6E8A-4147-A177-3AD203B41FA5}">
                      <a16:colId xmlns:a16="http://schemas.microsoft.com/office/drawing/2014/main" val="2407368130"/>
                    </a:ext>
                  </a:extLst>
                </a:gridCol>
              </a:tblGrid>
              <a:tr h="373065">
                <a:tc gridSpan="2">
                  <a:txBody>
                    <a:bodyPr/>
                    <a:lstStyle/>
                    <a:p>
                      <a:pPr algn="ctr"/>
                      <a:r>
                        <a:rPr lang="en-US" sz="1400" dirty="0">
                          <a:latin typeface="Arial" panose="020B0604020202020204" pitchFamily="34" charset="0"/>
                          <a:cs typeface="Arial" panose="020B0604020202020204" pitchFamily="34" charset="0"/>
                        </a:rPr>
                        <a:t>ONGOING</a:t>
                      </a:r>
                      <a:endParaRPr lang="en-US" sz="1400" dirty="0">
                        <a:solidFill>
                          <a:schemeClr val="bg1"/>
                        </a:solidFill>
                        <a:latin typeface="Arial" panose="020B0604020202020204" pitchFamily="34" charset="0"/>
                        <a:cs typeface="Arial" panose="020B0604020202020204" pitchFamily="34" charset="0"/>
                      </a:endParaRPr>
                    </a:p>
                  </a:txBody>
                  <a:tcPr/>
                </a:tc>
                <a:tc hMerge="1">
                  <a:txBody>
                    <a:bodyPr/>
                    <a:lstStyle/>
                    <a:p>
                      <a:pPr algn="ctr"/>
                      <a:endParaRPr lang="en-US" sz="1400" dirty="0">
                        <a:solidFill>
                          <a:schemeClr val="bg1"/>
                        </a:solidFill>
                      </a:endParaRPr>
                    </a:p>
                  </a:txBody>
                  <a:tcPr/>
                </a:tc>
                <a:extLst>
                  <a:ext uri="{0D108BD9-81ED-4DB2-BD59-A6C34878D82A}">
                    <a16:rowId xmlns:a16="http://schemas.microsoft.com/office/drawing/2014/main" val="1883663083"/>
                  </a:ext>
                </a:extLst>
              </a:tr>
              <a:tr h="370840">
                <a:tc>
                  <a:txBody>
                    <a:bodyPr/>
                    <a:lstStyle/>
                    <a:p>
                      <a:pPr algn="ctr"/>
                      <a:r>
                        <a:rPr lang="en-US" sz="1400" dirty="0">
                          <a:latin typeface="Arial" panose="020B0604020202020204" pitchFamily="34" charset="0"/>
                          <a:cs typeface="Arial" panose="020B0604020202020204" pitchFamily="34" charset="0"/>
                        </a:rPr>
                        <a:t>Process</a:t>
                      </a:r>
                      <a:endParaRPr lang="en-US" sz="1400" b="1" dirty="0">
                        <a:solidFill>
                          <a:schemeClr val="bg1"/>
                        </a:solidFill>
                        <a:latin typeface="Arial" panose="020B0604020202020204" pitchFamily="34" charset="0"/>
                        <a:cs typeface="Arial" panose="020B0604020202020204" pitchFamily="34" charset="0"/>
                      </a:endParaRPr>
                    </a:p>
                  </a:txBody>
                  <a:tcPr>
                    <a:solidFill>
                      <a:schemeClr val="bg2"/>
                    </a:solidFill>
                  </a:tcPr>
                </a:tc>
                <a:tc>
                  <a:txBody>
                    <a:bodyPr/>
                    <a:lstStyle/>
                    <a:p>
                      <a:pPr algn="ctr"/>
                      <a:r>
                        <a:rPr lang="en-US" sz="1400" dirty="0">
                          <a:latin typeface="Arial" panose="020B0604020202020204" pitchFamily="34" charset="0"/>
                          <a:cs typeface="Arial" panose="020B0604020202020204" pitchFamily="34" charset="0"/>
                        </a:rPr>
                        <a:t>Tool/Project Name</a:t>
                      </a:r>
                      <a:endParaRPr lang="en-US" sz="1400" b="1" dirty="0">
                        <a:solidFill>
                          <a:schemeClr val="bg1"/>
                        </a:solidFill>
                        <a:latin typeface="Arial" panose="020B0604020202020204" pitchFamily="34" charset="0"/>
                        <a:cs typeface="Arial" panose="020B0604020202020204" pitchFamily="34" charset="0"/>
                      </a:endParaRPr>
                    </a:p>
                  </a:txBody>
                  <a:tcPr>
                    <a:solidFill>
                      <a:schemeClr val="bg2"/>
                    </a:solidFill>
                  </a:tcPr>
                </a:tc>
                <a:extLst>
                  <a:ext uri="{0D108BD9-81ED-4DB2-BD59-A6C34878D82A}">
                    <a16:rowId xmlns:a16="http://schemas.microsoft.com/office/drawing/2014/main" val="2988616556"/>
                  </a:ext>
                </a:extLst>
              </a:tr>
              <a:tr h="370840">
                <a:tc>
                  <a:txBody>
                    <a:bodyPr/>
                    <a:lstStyle/>
                    <a:p>
                      <a:pPr marL="0" marR="0">
                        <a:spcBef>
                          <a:spcPts val="0"/>
                        </a:spcBef>
                        <a:spcAft>
                          <a:spcPts val="0"/>
                        </a:spcAft>
                      </a:pPr>
                      <a:r>
                        <a:rPr lang="en-US" sz="1400" dirty="0">
                          <a:effectLst/>
                          <a:latin typeface="Arial" panose="020B0604020202020204" pitchFamily="34" charset="0"/>
                          <a:cs typeface="Arial" panose="020B0604020202020204" pitchFamily="34" charset="0"/>
                        </a:rPr>
                        <a:t>FPA</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spcBef>
                          <a:spcPts val="0"/>
                        </a:spcBef>
                        <a:spcAft>
                          <a:spcPts val="0"/>
                        </a:spcAft>
                      </a:pPr>
                      <a:r>
                        <a:rPr lang="en-US" sz="1400" dirty="0">
                          <a:effectLst/>
                          <a:latin typeface="Arial" panose="020B0604020202020204" pitchFamily="34" charset="0"/>
                          <a:cs typeface="Arial" panose="020B0604020202020204" pitchFamily="34" charset="0"/>
                        </a:rPr>
                        <a:t>FPA Review Tool</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89407223"/>
                  </a:ext>
                </a:extLst>
              </a:tr>
              <a:tr h="370840">
                <a:tc>
                  <a:txBody>
                    <a:bodyPr/>
                    <a:lstStyle/>
                    <a:p>
                      <a:pPr marL="0" marR="0">
                        <a:spcBef>
                          <a:spcPts val="0"/>
                        </a:spcBef>
                        <a:spcAft>
                          <a:spcPts val="0"/>
                        </a:spcAft>
                      </a:pPr>
                      <a:r>
                        <a:rPr lang="en-US" sz="1400" dirty="0">
                          <a:effectLst/>
                          <a:latin typeface="Arial" panose="020B0604020202020204" pitchFamily="34" charset="0"/>
                          <a:cs typeface="Arial" panose="020B0604020202020204" pitchFamily="34" charset="0"/>
                        </a:rPr>
                        <a:t>FPA</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spcBef>
                          <a:spcPts val="0"/>
                        </a:spcBef>
                        <a:spcAft>
                          <a:spcPts val="0"/>
                        </a:spcAft>
                      </a:pPr>
                      <a:r>
                        <a:rPr lang="en-US" sz="1400" dirty="0">
                          <a:effectLst/>
                          <a:latin typeface="Arial" panose="020B0604020202020204" pitchFamily="34" charset="0"/>
                          <a:cs typeface="Arial" panose="020B0604020202020204" pitchFamily="34" charset="0"/>
                        </a:rPr>
                        <a:t>FPA Aggregator Tool Error Checking</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6426424"/>
                  </a:ext>
                </a:extLst>
              </a:tr>
              <a:tr h="342841">
                <a:tc>
                  <a:txBody>
                    <a:bodyPr/>
                    <a:lstStyle/>
                    <a:p>
                      <a:pPr marL="0" marR="0">
                        <a:spcBef>
                          <a:spcPts val="0"/>
                        </a:spcBef>
                        <a:spcAft>
                          <a:spcPts val="0"/>
                        </a:spcAft>
                      </a:pPr>
                      <a:r>
                        <a:rPr lang="en-US" sz="1400" dirty="0">
                          <a:effectLst/>
                          <a:latin typeface="Arial" panose="020B0604020202020204" pitchFamily="34" charset="0"/>
                          <a:cs typeface="Arial" panose="020B0604020202020204" pitchFamily="34" charset="0"/>
                        </a:rPr>
                        <a:t>Ad Hoc</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spcBef>
                          <a:spcPts val="0"/>
                        </a:spcBef>
                        <a:spcAft>
                          <a:spcPts val="0"/>
                        </a:spcAft>
                      </a:pPr>
                      <a:r>
                        <a:rPr lang="en-US" sz="1400" dirty="0">
                          <a:effectLst/>
                          <a:latin typeface="Arial" panose="020B0604020202020204" pitchFamily="34" charset="0"/>
                          <a:cs typeface="Arial" panose="020B0604020202020204" pitchFamily="34" charset="0"/>
                        </a:rPr>
                        <a:t>Payment Integrity Model</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28404702"/>
                  </a:ext>
                </a:extLst>
              </a:tr>
              <a:tr h="462228">
                <a:tc>
                  <a:txBody>
                    <a:bodyPr/>
                    <a:lstStyle/>
                    <a:p>
                      <a:pPr marL="0" marR="0">
                        <a:spcBef>
                          <a:spcPts val="0"/>
                        </a:spcBef>
                        <a:spcAft>
                          <a:spcPts val="0"/>
                        </a:spcAft>
                      </a:pPr>
                      <a:r>
                        <a:rPr lang="en-US" sz="1400" dirty="0" err="1">
                          <a:effectLst/>
                          <a:latin typeface="Arial" panose="020B0604020202020204" pitchFamily="34" charset="0"/>
                          <a:cs typeface="Arial" panose="020B0604020202020204" pitchFamily="34" charset="0"/>
                        </a:rPr>
                        <a:t>AMPlify</a:t>
                      </a:r>
                      <a:r>
                        <a:rPr lang="en-US" sz="1400" dirty="0">
                          <a:effectLst/>
                          <a:latin typeface="Arial" panose="020B0604020202020204" pitchFamily="34" charset="0"/>
                          <a:cs typeface="Arial" panose="020B0604020202020204" pitchFamily="34" charset="0"/>
                        </a:rPr>
                        <a:t> (Canada)</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spcBef>
                          <a:spcPts val="0"/>
                        </a:spcBef>
                        <a:spcAft>
                          <a:spcPts val="0"/>
                        </a:spcAft>
                      </a:pPr>
                      <a:r>
                        <a:rPr lang="en-US" sz="1400" dirty="0">
                          <a:effectLst/>
                          <a:latin typeface="Arial" panose="020B0604020202020204" pitchFamily="34" charset="0"/>
                          <a:cs typeface="Arial" panose="020B0604020202020204" pitchFamily="34" charset="0"/>
                        </a:rPr>
                        <a:t>Assist with import from PDF</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37134228"/>
                  </a:ext>
                </a:extLst>
              </a:tr>
              <a:tr h="370840">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ADML RFP</a:t>
                      </a:r>
                    </a:p>
                  </a:txBody>
                  <a:tcPr marL="68580" marR="68580" marT="0" marB="0" anchor="ctr"/>
                </a:tc>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ADML RFP Roll-up Enhancement</a:t>
                      </a:r>
                    </a:p>
                  </a:txBody>
                  <a:tcPr marL="68580" marR="68580" marT="0" marB="0" anchor="ctr"/>
                </a:tc>
                <a:extLst>
                  <a:ext uri="{0D108BD9-81ED-4DB2-BD59-A6C34878D82A}">
                    <a16:rowId xmlns:a16="http://schemas.microsoft.com/office/drawing/2014/main" val="4151595735"/>
                  </a:ext>
                </a:extLst>
              </a:tr>
              <a:tr h="370840">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Form 5500</a:t>
                      </a:r>
                    </a:p>
                  </a:txBody>
                  <a:tcPr marL="68580" marR="68580" marT="0" marB="0" anchor="ctr"/>
                </a:tc>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Auto-Email</a:t>
                      </a:r>
                    </a:p>
                  </a:txBody>
                  <a:tcPr marL="68580" marR="68580" marT="0" marB="0" anchor="ctr"/>
                </a:tc>
                <a:extLst>
                  <a:ext uri="{0D108BD9-81ED-4DB2-BD59-A6C34878D82A}">
                    <a16:rowId xmlns:a16="http://schemas.microsoft.com/office/drawing/2014/main" val="1814901801"/>
                  </a:ext>
                </a:extLst>
              </a:tr>
              <a:tr h="370840">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San Francisco Ordinance</a:t>
                      </a:r>
                    </a:p>
                  </a:txBody>
                  <a:tcPr marL="68580" marR="68580" marT="0" marB="0" anchor="ctr"/>
                </a:tc>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Calculation Automation for several models; standardization</a:t>
                      </a:r>
                    </a:p>
                  </a:txBody>
                  <a:tcPr marL="68580" marR="68580" marT="0" marB="0" anchor="ctr"/>
                </a:tc>
                <a:extLst>
                  <a:ext uri="{0D108BD9-81ED-4DB2-BD59-A6C34878D82A}">
                    <a16:rowId xmlns:a16="http://schemas.microsoft.com/office/drawing/2014/main" val="193687211"/>
                  </a:ext>
                </a:extLst>
              </a:tr>
              <a:tr h="370840">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Network Analyses</a:t>
                      </a:r>
                    </a:p>
                  </a:txBody>
                  <a:tcPr marL="68580" marR="68580" marT="0" marB="0" anchor="ctr"/>
                </a:tc>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Disruption Template Improvement</a:t>
                      </a:r>
                    </a:p>
                  </a:txBody>
                  <a:tcPr marL="68580" marR="68580" marT="0" marB="0" anchor="ctr"/>
                </a:tc>
                <a:extLst>
                  <a:ext uri="{0D108BD9-81ED-4DB2-BD59-A6C34878D82A}">
                    <a16:rowId xmlns:a16="http://schemas.microsoft.com/office/drawing/2014/main" val="3319558408"/>
                  </a:ext>
                </a:extLst>
              </a:tr>
              <a:tr h="370840">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ADML</a:t>
                      </a:r>
                    </a:p>
                  </a:txBody>
                  <a:tcPr marL="68580" marR="68580" marT="0" marB="0" anchor="ctr"/>
                </a:tc>
                <a:tc>
                  <a:txBody>
                    <a:bodyPr/>
                    <a:lstStyle/>
                    <a:p>
                      <a:pPr marL="0" marR="0">
                        <a:spcBef>
                          <a:spcPts val="0"/>
                        </a:spcBef>
                        <a:spcAft>
                          <a:spcPts val="0"/>
                        </a:spcAft>
                      </a:pP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ADML E-mail Tool</a:t>
                      </a:r>
                    </a:p>
                  </a:txBody>
                  <a:tcPr marL="68580" marR="68580" marT="0" marB="0" anchor="ctr"/>
                </a:tc>
                <a:extLst>
                  <a:ext uri="{0D108BD9-81ED-4DB2-BD59-A6C34878D82A}">
                    <a16:rowId xmlns:a16="http://schemas.microsoft.com/office/drawing/2014/main" val="2301191701"/>
                  </a:ext>
                </a:extLst>
              </a:tr>
            </a:tbl>
          </a:graphicData>
        </a:graphic>
      </p:graphicFrame>
      <p:sp>
        <p:nvSpPr>
          <p:cNvPr id="8" name="TextBox 7">
            <a:extLst>
              <a:ext uri="{FF2B5EF4-FFF2-40B4-BE49-F238E27FC236}">
                <a16:creationId xmlns:a16="http://schemas.microsoft.com/office/drawing/2014/main" id="{BC495615-19AD-4C32-9C33-28E3BD471517}"/>
              </a:ext>
            </a:extLst>
          </p:cNvPr>
          <p:cNvSpPr txBox="1"/>
          <p:nvPr/>
        </p:nvSpPr>
        <p:spPr>
          <a:xfrm>
            <a:off x="609599" y="5288319"/>
            <a:ext cx="4992947" cy="769441"/>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mn-ea"/>
                <a:cs typeface="+mn-cs"/>
              </a:rPr>
              <a:t>All completed projects were supported by JP Hernandez, Marlon Pilor and Bryan Baliday alongside Joe Allbright  and  were done on top of their regular work.</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mn-ea"/>
                <a:cs typeface="+mn-cs"/>
              </a:rPr>
              <a:t>Currently with 1 project hire who is a dedicated full time VB expert.</a:t>
            </a:r>
          </a:p>
        </p:txBody>
      </p:sp>
    </p:spTree>
    <p:extLst>
      <p:ext uri="{BB962C8B-B14F-4D97-AF65-F5344CB8AC3E}">
        <p14:creationId xmlns:p14="http://schemas.microsoft.com/office/powerpoint/2010/main" val="3225382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B53F-5397-4D3C-8B14-336A55D30761}"/>
              </a:ext>
            </a:extLst>
          </p:cNvPr>
          <p:cNvSpPr>
            <a:spLocks noGrp="1"/>
          </p:cNvSpPr>
          <p:nvPr>
            <p:ph type="title"/>
          </p:nvPr>
        </p:nvSpPr>
        <p:spPr/>
        <p:txBody>
          <a:bodyPr/>
          <a:lstStyle/>
          <a:p>
            <a:r>
              <a:rPr lang="en-US" dirty="0"/>
              <a:t>Excellence</a:t>
            </a:r>
          </a:p>
        </p:txBody>
      </p:sp>
      <p:sp>
        <p:nvSpPr>
          <p:cNvPr id="3" name="Text Placeholder 2">
            <a:extLst>
              <a:ext uri="{FF2B5EF4-FFF2-40B4-BE49-F238E27FC236}">
                <a16:creationId xmlns:a16="http://schemas.microsoft.com/office/drawing/2014/main" id="{BD92587A-2BC6-4C4E-AE44-A92FC08E483F}"/>
              </a:ext>
            </a:extLst>
          </p:cNvPr>
          <p:cNvSpPr>
            <a:spLocks noGrp="1"/>
          </p:cNvSpPr>
          <p:nvPr>
            <p:ph type="body" sz="quarter" idx="13"/>
          </p:nvPr>
        </p:nvSpPr>
        <p:spPr/>
        <p:txBody>
          <a:bodyPr/>
          <a:lstStyle/>
          <a:p>
            <a:r>
              <a:rPr lang="en-US" dirty="0"/>
              <a:t>H&amp;B NA Manila YTD Scope</a:t>
            </a:r>
          </a:p>
        </p:txBody>
      </p:sp>
      <p:graphicFrame>
        <p:nvGraphicFramePr>
          <p:cNvPr id="8" name="Content Placeholder 7">
            <a:extLst>
              <a:ext uri="{FF2B5EF4-FFF2-40B4-BE49-F238E27FC236}">
                <a16:creationId xmlns:a16="http://schemas.microsoft.com/office/drawing/2014/main" id="{667E54F3-76A9-4BEB-A354-60344E5DA42B}"/>
              </a:ext>
            </a:extLst>
          </p:cNvPr>
          <p:cNvGraphicFramePr>
            <a:graphicFrameLocks noGrp="1"/>
          </p:cNvGraphicFramePr>
          <p:nvPr>
            <p:ph idx="1"/>
            <p:extLst>
              <p:ext uri="{D42A27DB-BD31-4B8C-83A1-F6EECF244321}">
                <p14:modId xmlns:p14="http://schemas.microsoft.com/office/powerpoint/2010/main" val="4233167283"/>
              </p:ext>
            </p:extLst>
          </p:nvPr>
        </p:nvGraphicFramePr>
        <p:xfrm>
          <a:off x="609600" y="1524000"/>
          <a:ext cx="10972800" cy="43894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38791BE1-D557-4A24-9603-02D59928A82B}"/>
              </a:ext>
            </a:extLst>
          </p:cNvPr>
          <p:cNvSpPr>
            <a:spLocks noGrp="1"/>
          </p:cNvSpPr>
          <p:nvPr>
            <p:ph type="sldNum" sz="quarter" idx="4"/>
          </p:nvPr>
        </p:nvSpPr>
        <p:spPr/>
        <p:txBody>
          <a:bodyPr/>
          <a:lstStyle/>
          <a:p>
            <a:fld id="{2083E393-C0BF-4ED8-8545-7E4C90AFF831}" type="slidenum">
              <a:rPr lang="en-US" smtClean="0"/>
              <a:pPr/>
              <a:t>28</a:t>
            </a:fld>
            <a:endParaRPr lang="en-US" dirty="0"/>
          </a:p>
        </p:txBody>
      </p:sp>
      <p:sp>
        <p:nvSpPr>
          <p:cNvPr id="6" name="Footer Placeholder 5">
            <a:extLst>
              <a:ext uri="{FF2B5EF4-FFF2-40B4-BE49-F238E27FC236}">
                <a16:creationId xmlns:a16="http://schemas.microsoft.com/office/drawing/2014/main" id="{2FCBF242-05B5-4AC0-AC6F-FCECB9218530}"/>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sp>
        <p:nvSpPr>
          <p:cNvPr id="10" name="Flowchart: Terminator 9">
            <a:extLst>
              <a:ext uri="{FF2B5EF4-FFF2-40B4-BE49-F238E27FC236}">
                <a16:creationId xmlns:a16="http://schemas.microsoft.com/office/drawing/2014/main" id="{2D8E5179-E48A-4979-B973-AE8223AF95BA}"/>
              </a:ext>
            </a:extLst>
          </p:cNvPr>
          <p:cNvSpPr/>
          <p:nvPr/>
        </p:nvSpPr>
        <p:spPr>
          <a:xfrm>
            <a:off x="1730980" y="4253024"/>
            <a:ext cx="637954" cy="180754"/>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Pending</a:t>
            </a:r>
          </a:p>
        </p:txBody>
      </p:sp>
      <p:sp>
        <p:nvSpPr>
          <p:cNvPr id="14" name="Flowchart: Terminator 13">
            <a:extLst>
              <a:ext uri="{FF2B5EF4-FFF2-40B4-BE49-F238E27FC236}">
                <a16:creationId xmlns:a16="http://schemas.microsoft.com/office/drawing/2014/main" id="{32FE671F-78AB-4498-A533-CE04E23C6AF3}"/>
              </a:ext>
            </a:extLst>
          </p:cNvPr>
          <p:cNvSpPr/>
          <p:nvPr/>
        </p:nvSpPr>
        <p:spPr>
          <a:xfrm>
            <a:off x="6968878" y="3549661"/>
            <a:ext cx="637954" cy="180754"/>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Pending</a:t>
            </a:r>
          </a:p>
        </p:txBody>
      </p:sp>
      <p:sp>
        <p:nvSpPr>
          <p:cNvPr id="15" name="Flowchart: Terminator 14">
            <a:extLst>
              <a:ext uri="{FF2B5EF4-FFF2-40B4-BE49-F238E27FC236}">
                <a16:creationId xmlns:a16="http://schemas.microsoft.com/office/drawing/2014/main" id="{B7DF969A-E204-45D9-98C4-DC9D67860EF6}"/>
              </a:ext>
            </a:extLst>
          </p:cNvPr>
          <p:cNvSpPr/>
          <p:nvPr/>
        </p:nvSpPr>
        <p:spPr>
          <a:xfrm>
            <a:off x="7327422" y="4223268"/>
            <a:ext cx="637954" cy="180754"/>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Pending</a:t>
            </a:r>
          </a:p>
        </p:txBody>
      </p:sp>
      <p:sp>
        <p:nvSpPr>
          <p:cNvPr id="16" name="Flowchart: Terminator 15">
            <a:extLst>
              <a:ext uri="{FF2B5EF4-FFF2-40B4-BE49-F238E27FC236}">
                <a16:creationId xmlns:a16="http://schemas.microsoft.com/office/drawing/2014/main" id="{C5C8CE9B-A973-4CA2-90D8-62D2EB36E0D1}"/>
              </a:ext>
            </a:extLst>
          </p:cNvPr>
          <p:cNvSpPr/>
          <p:nvPr/>
        </p:nvSpPr>
        <p:spPr>
          <a:xfrm>
            <a:off x="3809022" y="5153246"/>
            <a:ext cx="637954" cy="180754"/>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Pending</a:t>
            </a:r>
          </a:p>
        </p:txBody>
      </p:sp>
      <p:sp>
        <p:nvSpPr>
          <p:cNvPr id="18" name="Flowchart: Terminator 17">
            <a:extLst>
              <a:ext uri="{FF2B5EF4-FFF2-40B4-BE49-F238E27FC236}">
                <a16:creationId xmlns:a16="http://schemas.microsoft.com/office/drawing/2014/main" id="{85659012-7783-4751-9F6C-F34E99D7236F}"/>
              </a:ext>
            </a:extLst>
          </p:cNvPr>
          <p:cNvSpPr/>
          <p:nvPr/>
        </p:nvSpPr>
        <p:spPr>
          <a:xfrm>
            <a:off x="11074400" y="2239650"/>
            <a:ext cx="637954" cy="180754"/>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Pending</a:t>
            </a:r>
          </a:p>
        </p:txBody>
      </p:sp>
    </p:spTree>
    <p:extLst>
      <p:ext uri="{BB962C8B-B14F-4D97-AF65-F5344CB8AC3E}">
        <p14:creationId xmlns:p14="http://schemas.microsoft.com/office/powerpoint/2010/main" val="3426654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FD44E-30E4-42BC-93AC-1D0229681FE3}"/>
              </a:ext>
            </a:extLst>
          </p:cNvPr>
          <p:cNvSpPr>
            <a:spLocks noGrp="1"/>
          </p:cNvSpPr>
          <p:nvPr>
            <p:ph type="title"/>
          </p:nvPr>
        </p:nvSpPr>
        <p:spPr/>
        <p:txBody>
          <a:bodyPr/>
          <a:lstStyle/>
          <a:p>
            <a:r>
              <a:rPr lang="en-US" dirty="0"/>
              <a:t>Appendix</a:t>
            </a:r>
          </a:p>
        </p:txBody>
      </p:sp>
      <p:sp>
        <p:nvSpPr>
          <p:cNvPr id="3" name="Slide Number Placeholder 2">
            <a:extLst>
              <a:ext uri="{FF2B5EF4-FFF2-40B4-BE49-F238E27FC236}">
                <a16:creationId xmlns:a16="http://schemas.microsoft.com/office/drawing/2014/main" id="{FAD1C587-3719-42E8-A75F-A82DBCCEC969}"/>
              </a:ext>
            </a:extLst>
          </p:cNvPr>
          <p:cNvSpPr>
            <a:spLocks noGrp="1"/>
          </p:cNvSpPr>
          <p:nvPr>
            <p:ph type="sldNum" sz="quarter" idx="4"/>
          </p:nvPr>
        </p:nvSpPr>
        <p:spPr/>
        <p:txBody>
          <a:bodyPr/>
          <a:lstStyle/>
          <a:p>
            <a:fld id="{2083E393-C0BF-4ED8-8545-7E4C90AFF831}" type="slidenum">
              <a:rPr lang="en-US" smtClean="0"/>
              <a:pPr/>
              <a:t>29</a:t>
            </a:fld>
            <a:endParaRPr lang="en-US" dirty="0"/>
          </a:p>
        </p:txBody>
      </p:sp>
      <p:sp>
        <p:nvSpPr>
          <p:cNvPr id="4" name="Footer Placeholder 3">
            <a:extLst>
              <a:ext uri="{FF2B5EF4-FFF2-40B4-BE49-F238E27FC236}">
                <a16:creationId xmlns:a16="http://schemas.microsoft.com/office/drawing/2014/main" id="{118F7044-F15D-4DB8-83EE-058DEC470D90}"/>
              </a:ext>
            </a:extLst>
          </p:cNvPr>
          <p:cNvSpPr>
            <a:spLocks noGrp="1"/>
          </p:cNvSpPr>
          <p:nvPr>
            <p:ph type="ftr" sz="quarter" idx="11"/>
          </p:nvPr>
        </p:nvSpPr>
        <p:spPr/>
        <p:txBody>
          <a:bodyPr/>
          <a:lstStyle/>
          <a:p>
            <a:r>
              <a:rPr lang="en-US"/>
              <a:t>© 2020 Willis Towers Watson. All rights reserved. Proprietary and Confidential. For Willis Towers Watson and Willis Towers Watson client use only.</a:t>
            </a:r>
            <a:endParaRPr lang="en-US" dirty="0"/>
          </a:p>
        </p:txBody>
      </p:sp>
    </p:spTree>
    <p:extLst>
      <p:ext uri="{BB962C8B-B14F-4D97-AF65-F5344CB8AC3E}">
        <p14:creationId xmlns:p14="http://schemas.microsoft.com/office/powerpoint/2010/main" val="8823444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About This Report</a:t>
            </a:r>
          </a:p>
        </p:txBody>
      </p:sp>
      <p:sp>
        <p:nvSpPr>
          <p:cNvPr id="3" name="Footer Placeholder 2"/>
          <p:cNvSpPr>
            <a:spLocks noGrp="1"/>
          </p:cNvSpPr>
          <p:nvPr>
            <p:ph type="ftr" sz="quarter" idx="11"/>
          </p:nvPr>
        </p:nvSpPr>
        <p:spPr>
          <a:xfrm>
            <a:off x="495300" y="6400802"/>
            <a:ext cx="5717674" cy="92333"/>
          </a:xfrm>
          <a:prstGeom prst="rect">
            <a:avLst/>
          </a:prstGeom>
        </p:spPr>
        <p:txBody>
          <a:bodyPr vert="horz" wrap="square" lIns="0" tIns="0" rIns="0" bIns="0" rtlCol="0" anchor="t" anchorCtr="0">
            <a:spAutoFit/>
          </a:bodyPr>
          <a:lstStyle>
            <a:defPPr>
              <a:defRPr lang="en-US"/>
            </a:defPPr>
            <a:lvl1pPr marL="0" algn="l" defTabSz="914400" rtl="0" eaLnBrk="1" latinLnBrk="0" hangingPunct="1">
              <a:defRPr sz="6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rPr>
              <a:t>© 2020 Willis Towers Watson. All rights reserved. Proprietary and Confidential. For Willis Towers Watson and Willis Towers Watson client use only.</a:t>
            </a:r>
            <a:endParaRPr lang="en-US" dirty="0">
              <a:solidFill>
                <a:prstClr val="black"/>
              </a:solidFill>
            </a:endParaRPr>
          </a:p>
        </p:txBody>
      </p:sp>
      <p:sp>
        <p:nvSpPr>
          <p:cNvPr id="4" name="Slide Number Placeholder 3"/>
          <p:cNvSpPr>
            <a:spLocks noGrp="1"/>
          </p:cNvSpPr>
          <p:nvPr>
            <p:ph type="sldNum" sz="quarter" idx="12"/>
          </p:nvPr>
        </p:nvSpPr>
        <p:spPr>
          <a:xfrm>
            <a:off x="8997950" y="6400802"/>
            <a:ext cx="412750" cy="138499"/>
          </a:xfrm>
          <a:prstGeom prst="rect">
            <a:avLst/>
          </a:prstGeom>
        </p:spPr>
        <p:txBody>
          <a:bodyPr vert="horz" wrap="square" lIns="0" tIns="0" rIns="0" bIns="0" rtlCol="0" anchor="t" anchorCtr="0">
            <a:spAutoFit/>
          </a:bodyPr>
          <a:lstStyle>
            <a:defPPr>
              <a:defRPr lang="en-US"/>
            </a:defPPr>
            <a:lvl1pPr marL="0" algn="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83E393-C0BF-4ED8-8545-7E4C90AFF831}" type="slidenum">
              <a:rPr lang="en-US" smtClean="0">
                <a:solidFill>
                  <a:prstClr val="black"/>
                </a:solidFill>
              </a:rPr>
              <a:pPr/>
              <a:t>30</a:t>
            </a:fld>
            <a:endParaRPr lang="en-US" dirty="0">
              <a:solidFill>
                <a:prstClr val="black"/>
              </a:solidFill>
            </a:endParaRPr>
          </a:p>
        </p:txBody>
      </p:sp>
      <p:sp>
        <p:nvSpPr>
          <p:cNvPr id="5" name="Text Placeholder 4"/>
          <p:cNvSpPr>
            <a:spLocks noGrp="1"/>
          </p:cNvSpPr>
          <p:nvPr>
            <p:ph type="body" sz="quarter" idx="1"/>
            <p:custDataLst>
              <p:tags r:id="rId3"/>
            </p:custDataLst>
          </p:nvPr>
        </p:nvSpPr>
        <p:spPr>
          <a:xfrm>
            <a:off x="609600" y="1080249"/>
            <a:ext cx="10873563" cy="2757990"/>
          </a:xfrm>
        </p:spPr>
        <p:txBody>
          <a:bodyPr/>
          <a:lstStyle/>
          <a:p>
            <a:r>
              <a:rPr lang="en-US" sz="1300" b="0" dirty="0">
                <a:latin typeface="+mj-lt"/>
              </a:rPr>
              <a:t>The report provides a view into the team’s headcount, productivity and performance on client metrics. The report has been enhanced with data illustration and charting, analysis and forecast on productivity, resource management activities and insights. </a:t>
            </a:r>
          </a:p>
          <a:p>
            <a:endParaRPr lang="en-US" sz="500" b="0" dirty="0">
              <a:latin typeface="+mj-lt"/>
            </a:endParaRPr>
          </a:p>
          <a:p>
            <a:endParaRPr lang="en-US" sz="500" b="0" dirty="0">
              <a:latin typeface="+mj-lt"/>
            </a:endParaRPr>
          </a:p>
          <a:p>
            <a:r>
              <a:rPr lang="en-US" sz="1300" b="0" dirty="0">
                <a:latin typeface="+mj-lt"/>
              </a:rPr>
              <a:t>In alignment with the new global time recording policy, the colleague capacity utilization details for all teams have been adjusted to the new classifications. For a summary of this new approach, please turn to slide 19.</a:t>
            </a:r>
          </a:p>
          <a:p>
            <a:endParaRPr lang="en-US" sz="500" b="0" dirty="0">
              <a:latin typeface="+mj-lt"/>
            </a:endParaRPr>
          </a:p>
          <a:p>
            <a:r>
              <a:rPr lang="en-US" sz="1300" b="0" dirty="0">
                <a:latin typeface="+mj-lt"/>
              </a:rPr>
              <a:t>Please send questions and/or clarifications regarding the report to </a:t>
            </a:r>
            <a:r>
              <a:rPr lang="en-US" sz="1200" dirty="0">
                <a:latin typeface="+mj-lt"/>
                <a:hlinkClick r:id="rId6"/>
              </a:rPr>
              <a:t>WTW.HB.MNL.Financial.Team.Leaders@willistowerswatson.com</a:t>
            </a:r>
            <a:endParaRPr lang="en-US" sz="1200" dirty="0">
              <a:latin typeface="+mj-lt"/>
            </a:endParaRPr>
          </a:p>
          <a:p>
            <a:endParaRPr lang="en-US" sz="1300" b="0" dirty="0">
              <a:latin typeface="+mj-lt"/>
            </a:endParaRPr>
          </a:p>
          <a:p>
            <a:endParaRPr lang="en-US" b="0" dirty="0">
              <a:latin typeface="+mj-lt"/>
            </a:endParaRPr>
          </a:p>
        </p:txBody>
      </p:sp>
      <p:sp>
        <p:nvSpPr>
          <p:cNvPr id="7" name="Path"/>
          <p:cNvSpPr/>
          <p:nvPr/>
        </p:nvSpPr>
        <p:spPr>
          <a:xfrm>
            <a:off x="1973263" y="6569045"/>
            <a:ext cx="557044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dirty="0">
              <a:solidFill>
                <a:prstClr val="black"/>
              </a:solidFill>
            </a:endParaRPr>
          </a:p>
        </p:txBody>
      </p:sp>
      <p:sp>
        <p:nvSpPr>
          <p:cNvPr id="8" name="TextBox 7"/>
          <p:cNvSpPr txBox="1"/>
          <p:nvPr/>
        </p:nvSpPr>
        <p:spPr>
          <a:xfrm>
            <a:off x="2013604" y="3993778"/>
            <a:ext cx="1724678" cy="338554"/>
          </a:xfrm>
          <a:prstGeom prst="rect">
            <a:avLst/>
          </a:prstGeom>
          <a:noFill/>
        </p:spPr>
        <p:txBody>
          <a:bodyPr wrap="square" rtlCol="0">
            <a:spAutoFit/>
          </a:bodyPr>
          <a:lstStyle/>
          <a:p>
            <a:pPr algn="ctr"/>
            <a:r>
              <a:rPr lang="en-PH" sz="1600" dirty="0">
                <a:solidFill>
                  <a:prstClr val="black"/>
                </a:solidFill>
              </a:rPr>
              <a:t>People</a:t>
            </a:r>
            <a:endParaRPr lang="en-US" sz="1600" dirty="0">
              <a:solidFill>
                <a:prstClr val="black"/>
              </a:solidFill>
            </a:endParaRPr>
          </a:p>
        </p:txBody>
      </p:sp>
      <p:sp>
        <p:nvSpPr>
          <p:cNvPr id="9" name="TextBox 8"/>
          <p:cNvSpPr txBox="1"/>
          <p:nvPr/>
        </p:nvSpPr>
        <p:spPr>
          <a:xfrm>
            <a:off x="4065102" y="3986002"/>
            <a:ext cx="1724678" cy="338554"/>
          </a:xfrm>
          <a:prstGeom prst="rect">
            <a:avLst/>
          </a:prstGeom>
          <a:noFill/>
        </p:spPr>
        <p:txBody>
          <a:bodyPr wrap="square" rtlCol="0">
            <a:spAutoFit/>
          </a:bodyPr>
          <a:lstStyle/>
          <a:p>
            <a:pPr algn="ctr"/>
            <a:r>
              <a:rPr lang="en-PH" sz="1600" dirty="0">
                <a:solidFill>
                  <a:prstClr val="black"/>
                </a:solidFill>
              </a:rPr>
              <a:t>Financial</a:t>
            </a:r>
            <a:endParaRPr lang="en-US" sz="1600" dirty="0">
              <a:solidFill>
                <a:prstClr val="black"/>
              </a:solidFill>
            </a:endParaRPr>
          </a:p>
        </p:txBody>
      </p:sp>
      <p:sp>
        <p:nvSpPr>
          <p:cNvPr id="10" name="TextBox 9"/>
          <p:cNvSpPr txBox="1"/>
          <p:nvPr/>
        </p:nvSpPr>
        <p:spPr>
          <a:xfrm>
            <a:off x="6303646" y="3993914"/>
            <a:ext cx="1724678" cy="338554"/>
          </a:xfrm>
          <a:prstGeom prst="rect">
            <a:avLst/>
          </a:prstGeom>
          <a:noFill/>
        </p:spPr>
        <p:txBody>
          <a:bodyPr wrap="square" rtlCol="0">
            <a:spAutoFit/>
          </a:bodyPr>
          <a:lstStyle/>
          <a:p>
            <a:pPr algn="ctr"/>
            <a:r>
              <a:rPr lang="en-PH" sz="1600" dirty="0">
                <a:solidFill>
                  <a:prstClr val="black"/>
                </a:solidFill>
              </a:rPr>
              <a:t>Excellence</a:t>
            </a:r>
            <a:endParaRPr lang="en-US" sz="1600" dirty="0">
              <a:solidFill>
                <a:prstClr val="black"/>
              </a:solidFill>
            </a:endParaRPr>
          </a:p>
        </p:txBody>
      </p:sp>
      <p:sp>
        <p:nvSpPr>
          <p:cNvPr id="11" name="TextBox 10"/>
          <p:cNvSpPr txBox="1"/>
          <p:nvPr/>
        </p:nvSpPr>
        <p:spPr>
          <a:xfrm>
            <a:off x="8371471" y="3993914"/>
            <a:ext cx="1724678" cy="338554"/>
          </a:xfrm>
          <a:prstGeom prst="rect">
            <a:avLst/>
          </a:prstGeom>
          <a:noFill/>
        </p:spPr>
        <p:txBody>
          <a:bodyPr wrap="square" rtlCol="0">
            <a:spAutoFit/>
          </a:bodyPr>
          <a:lstStyle/>
          <a:p>
            <a:pPr algn="ctr"/>
            <a:r>
              <a:rPr lang="en-PH" sz="1600" dirty="0">
                <a:solidFill>
                  <a:prstClr val="black"/>
                </a:solidFill>
              </a:rPr>
              <a:t>Clients</a:t>
            </a:r>
            <a:endParaRPr lang="en-US" sz="1600" dirty="0">
              <a:solidFill>
                <a:prstClr val="black"/>
              </a:solidFill>
            </a:endParaRPr>
          </a:p>
        </p:txBody>
      </p:sp>
      <p:pic>
        <p:nvPicPr>
          <p:cNvPr id="14" name="Picture 13"/>
          <p:cNvPicPr>
            <a:picLocks noChangeAspect="1"/>
          </p:cNvPicPr>
          <p:nvPr/>
        </p:nvPicPr>
        <p:blipFill>
          <a:blip r:embed="rId7">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6825580" y="4392930"/>
            <a:ext cx="680811" cy="618919"/>
          </a:xfrm>
          <a:prstGeom prst="rect">
            <a:avLst/>
          </a:prstGeom>
        </p:spPr>
      </p:pic>
      <p:pic>
        <p:nvPicPr>
          <p:cNvPr id="15" name="Picture 14"/>
          <p:cNvPicPr>
            <a:picLocks noChangeAspect="1"/>
          </p:cNvPicPr>
          <p:nvPr/>
        </p:nvPicPr>
        <p:blipFill>
          <a:blip r:embed="rId8">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8945593" y="4381626"/>
            <a:ext cx="657117" cy="657117"/>
          </a:xfrm>
          <a:prstGeom prst="rect">
            <a:avLst/>
          </a:prstGeom>
        </p:spPr>
      </p:pic>
      <p:cxnSp>
        <p:nvCxnSpPr>
          <p:cNvPr id="17" name="Straight Connector 16"/>
          <p:cNvCxnSpPr/>
          <p:nvPr/>
        </p:nvCxnSpPr>
        <p:spPr>
          <a:xfrm>
            <a:off x="2270033" y="5230907"/>
            <a:ext cx="1183341"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341086" y="5230907"/>
            <a:ext cx="1183341"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574314" y="5230907"/>
            <a:ext cx="1183341"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682480" y="5230907"/>
            <a:ext cx="1183341"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986710" y="5314595"/>
            <a:ext cx="1724678" cy="276999"/>
          </a:xfrm>
          <a:prstGeom prst="rect">
            <a:avLst/>
          </a:prstGeom>
          <a:noFill/>
        </p:spPr>
        <p:txBody>
          <a:bodyPr wrap="square" rtlCol="0">
            <a:spAutoFit/>
          </a:bodyPr>
          <a:lstStyle/>
          <a:p>
            <a:pPr algn="ctr"/>
            <a:r>
              <a:rPr lang="en-PH" sz="1200" dirty="0">
                <a:solidFill>
                  <a:prstClr val="black"/>
                </a:solidFill>
              </a:rPr>
              <a:t>Headcount</a:t>
            </a:r>
            <a:endParaRPr lang="en-US" sz="1200" dirty="0">
              <a:solidFill>
                <a:prstClr val="black"/>
              </a:solidFill>
            </a:endParaRPr>
          </a:p>
        </p:txBody>
      </p:sp>
      <p:sp>
        <p:nvSpPr>
          <p:cNvPr id="22" name="TextBox 21"/>
          <p:cNvSpPr txBox="1"/>
          <p:nvPr/>
        </p:nvSpPr>
        <p:spPr>
          <a:xfrm>
            <a:off x="4038208" y="5306819"/>
            <a:ext cx="1724678" cy="276999"/>
          </a:xfrm>
          <a:prstGeom prst="rect">
            <a:avLst/>
          </a:prstGeom>
          <a:noFill/>
        </p:spPr>
        <p:txBody>
          <a:bodyPr wrap="square" rtlCol="0">
            <a:spAutoFit/>
          </a:bodyPr>
          <a:lstStyle/>
          <a:p>
            <a:pPr algn="ctr"/>
            <a:r>
              <a:rPr lang="en-PH" sz="1200" dirty="0">
                <a:solidFill>
                  <a:prstClr val="black"/>
                </a:solidFill>
              </a:rPr>
              <a:t>Productivity</a:t>
            </a:r>
            <a:endParaRPr lang="en-US" sz="1200" dirty="0">
              <a:solidFill>
                <a:prstClr val="black"/>
              </a:solidFill>
            </a:endParaRPr>
          </a:p>
        </p:txBody>
      </p:sp>
      <p:sp>
        <p:nvSpPr>
          <p:cNvPr id="23" name="TextBox 22"/>
          <p:cNvSpPr txBox="1"/>
          <p:nvPr/>
        </p:nvSpPr>
        <p:spPr>
          <a:xfrm>
            <a:off x="6169176" y="5314731"/>
            <a:ext cx="1993618" cy="276999"/>
          </a:xfrm>
          <a:prstGeom prst="rect">
            <a:avLst/>
          </a:prstGeom>
          <a:noFill/>
        </p:spPr>
        <p:txBody>
          <a:bodyPr wrap="square" rtlCol="0">
            <a:spAutoFit/>
          </a:bodyPr>
          <a:lstStyle/>
          <a:p>
            <a:pPr algn="ctr"/>
            <a:r>
              <a:rPr lang="en-PH" sz="1200" dirty="0">
                <a:solidFill>
                  <a:prstClr val="black"/>
                </a:solidFill>
              </a:rPr>
              <a:t>Resourcing</a:t>
            </a:r>
            <a:endParaRPr lang="en-US" sz="1200" dirty="0">
              <a:solidFill>
                <a:prstClr val="black"/>
              </a:solidFill>
            </a:endParaRPr>
          </a:p>
        </p:txBody>
      </p:sp>
      <p:sp>
        <p:nvSpPr>
          <p:cNvPr id="24" name="TextBox 23"/>
          <p:cNvSpPr txBox="1"/>
          <p:nvPr/>
        </p:nvSpPr>
        <p:spPr>
          <a:xfrm>
            <a:off x="8371471" y="5314731"/>
            <a:ext cx="1724678" cy="276999"/>
          </a:xfrm>
          <a:prstGeom prst="rect">
            <a:avLst/>
          </a:prstGeom>
          <a:noFill/>
        </p:spPr>
        <p:txBody>
          <a:bodyPr wrap="square" rtlCol="0">
            <a:spAutoFit/>
          </a:bodyPr>
          <a:lstStyle/>
          <a:p>
            <a:pPr algn="ctr"/>
            <a:r>
              <a:rPr lang="en-PH" sz="1200" dirty="0">
                <a:solidFill>
                  <a:prstClr val="black"/>
                </a:solidFill>
              </a:rPr>
              <a:t>Performance</a:t>
            </a:r>
            <a:endParaRPr lang="en-US" sz="1200" dirty="0">
              <a:solidFill>
                <a:prstClr val="black"/>
              </a:solidFill>
            </a:endParaRPr>
          </a:p>
        </p:txBody>
      </p:sp>
      <p:grpSp>
        <p:nvGrpSpPr>
          <p:cNvPr id="45" name="Group 44"/>
          <p:cNvGrpSpPr>
            <a:grpSpLocks/>
          </p:cNvGrpSpPr>
          <p:nvPr/>
        </p:nvGrpSpPr>
        <p:grpSpPr>
          <a:xfrm>
            <a:off x="2535798" y="4505385"/>
            <a:ext cx="626502" cy="528706"/>
            <a:chOff x="0" y="0"/>
            <a:chExt cx="374015" cy="339090"/>
          </a:xfrm>
          <a:solidFill>
            <a:srgbClr val="7030A0"/>
          </a:solidFill>
        </p:grpSpPr>
        <p:sp>
          <p:nvSpPr>
            <p:cNvPr id="46" name="Freeform 45"/>
            <p:cNvSpPr>
              <a:spLocks/>
            </p:cNvSpPr>
            <p:nvPr/>
          </p:nvSpPr>
          <p:spPr bwMode="auto">
            <a:xfrm>
              <a:off x="0" y="120650"/>
              <a:ext cx="113665" cy="218440"/>
            </a:xfrm>
            <a:custGeom>
              <a:avLst/>
              <a:gdLst>
                <a:gd name="T0" fmla="*/ 113940 w 144"/>
                <a:gd name="T1" fmla="*/ 26718 h 278"/>
                <a:gd name="T2" fmla="*/ 87829 w 144"/>
                <a:gd name="T3" fmla="*/ 0 h 278"/>
                <a:gd name="T4" fmla="*/ 26903 w 144"/>
                <a:gd name="T5" fmla="*/ 0 h 278"/>
                <a:gd name="T6" fmla="*/ 0 w 144"/>
                <a:gd name="T7" fmla="*/ 26718 h 278"/>
                <a:gd name="T8" fmla="*/ 0 w 144"/>
                <a:gd name="T9" fmla="*/ 111586 h 278"/>
                <a:gd name="T10" fmla="*/ 26903 w 144"/>
                <a:gd name="T11" fmla="*/ 111586 h 278"/>
                <a:gd name="T12" fmla="*/ 26903 w 144"/>
                <a:gd name="T13" fmla="*/ 218458 h 278"/>
                <a:gd name="T14" fmla="*/ 87038 w 144"/>
                <a:gd name="T15" fmla="*/ 218458 h 278"/>
                <a:gd name="T16" fmla="*/ 87038 w 144"/>
                <a:gd name="T17" fmla="*/ 111586 h 278"/>
                <a:gd name="T18" fmla="*/ 113940 w 144"/>
                <a:gd name="T19" fmla="*/ 111586 h 278"/>
                <a:gd name="T20" fmla="*/ 113940 w 144"/>
                <a:gd name="T21" fmla="*/ 26718 h 2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4" h="278">
                  <a:moveTo>
                    <a:pt x="144" y="34"/>
                  </a:moveTo>
                  <a:cubicBezTo>
                    <a:pt x="144" y="15"/>
                    <a:pt x="129" y="0"/>
                    <a:pt x="111" y="0"/>
                  </a:cubicBezTo>
                  <a:cubicBezTo>
                    <a:pt x="34" y="0"/>
                    <a:pt x="34" y="0"/>
                    <a:pt x="34" y="0"/>
                  </a:cubicBezTo>
                  <a:cubicBezTo>
                    <a:pt x="15" y="0"/>
                    <a:pt x="0" y="15"/>
                    <a:pt x="0" y="34"/>
                  </a:cubicBezTo>
                  <a:cubicBezTo>
                    <a:pt x="0" y="142"/>
                    <a:pt x="0" y="142"/>
                    <a:pt x="0" y="142"/>
                  </a:cubicBezTo>
                  <a:cubicBezTo>
                    <a:pt x="34" y="142"/>
                    <a:pt x="34" y="142"/>
                    <a:pt x="34" y="142"/>
                  </a:cubicBezTo>
                  <a:cubicBezTo>
                    <a:pt x="34" y="278"/>
                    <a:pt x="34" y="278"/>
                    <a:pt x="34" y="278"/>
                  </a:cubicBezTo>
                  <a:cubicBezTo>
                    <a:pt x="110" y="278"/>
                    <a:pt x="110" y="278"/>
                    <a:pt x="110" y="278"/>
                  </a:cubicBezTo>
                  <a:cubicBezTo>
                    <a:pt x="110" y="142"/>
                    <a:pt x="110" y="142"/>
                    <a:pt x="110" y="142"/>
                  </a:cubicBezTo>
                  <a:cubicBezTo>
                    <a:pt x="144" y="142"/>
                    <a:pt x="144" y="142"/>
                    <a:pt x="144" y="142"/>
                  </a:cubicBezTo>
                  <a:lnTo>
                    <a:pt x="14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89154" tIns="44577" rIns="89154" bIns="44577" anchor="t" anchorCtr="0" upright="1">
              <a:noAutofit/>
            </a:bodyPr>
            <a:lstStyle/>
            <a:p>
              <a:endParaRPr lang="en-US" sz="1756" dirty="0">
                <a:solidFill>
                  <a:prstClr val="black"/>
                </a:solidFill>
              </a:endParaRPr>
            </a:p>
          </p:txBody>
        </p:sp>
        <p:grpSp>
          <p:nvGrpSpPr>
            <p:cNvPr id="47" name="Group 46"/>
            <p:cNvGrpSpPr/>
            <p:nvPr/>
          </p:nvGrpSpPr>
          <p:grpSpPr>
            <a:xfrm>
              <a:off x="31750" y="0"/>
              <a:ext cx="342265" cy="332740"/>
              <a:chOff x="0" y="0"/>
              <a:chExt cx="342265" cy="332740"/>
            </a:xfrm>
            <a:grpFill/>
          </p:grpSpPr>
          <p:sp>
            <p:nvSpPr>
              <p:cNvPr id="48" name="Oval 47"/>
              <p:cNvSpPr>
                <a:spLocks noChangeArrowheads="1"/>
              </p:cNvSpPr>
              <p:nvPr/>
            </p:nvSpPr>
            <p:spPr bwMode="auto">
              <a:xfrm>
                <a:off x="0" y="57150"/>
                <a:ext cx="48260" cy="48260"/>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sp>
            <p:nvSpPr>
              <p:cNvPr id="49" name="Oval 48"/>
              <p:cNvSpPr>
                <a:spLocks noChangeArrowheads="1"/>
              </p:cNvSpPr>
              <p:nvPr/>
            </p:nvSpPr>
            <p:spPr bwMode="auto">
              <a:xfrm>
                <a:off x="69850" y="57150"/>
                <a:ext cx="48260" cy="48260"/>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sp>
            <p:nvSpPr>
              <p:cNvPr id="50" name="Oval 49"/>
              <p:cNvSpPr>
                <a:spLocks noChangeArrowheads="1"/>
              </p:cNvSpPr>
              <p:nvPr/>
            </p:nvSpPr>
            <p:spPr bwMode="auto">
              <a:xfrm>
                <a:off x="190500" y="57150"/>
                <a:ext cx="48260" cy="48260"/>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sp>
            <p:nvSpPr>
              <p:cNvPr id="51" name="Freeform 50"/>
              <p:cNvSpPr>
                <a:spLocks/>
              </p:cNvSpPr>
              <p:nvPr/>
            </p:nvSpPr>
            <p:spPr bwMode="auto">
              <a:xfrm>
                <a:off x="95250" y="114300"/>
                <a:ext cx="113030" cy="218440"/>
              </a:xfrm>
              <a:custGeom>
                <a:avLst/>
                <a:gdLst>
                  <a:gd name="T0" fmla="*/ 113159 w 144"/>
                  <a:gd name="T1" fmla="*/ 26718 h 278"/>
                  <a:gd name="T2" fmla="*/ 87227 w 144"/>
                  <a:gd name="T3" fmla="*/ 0 h 278"/>
                  <a:gd name="T4" fmla="*/ 25932 w 144"/>
                  <a:gd name="T5" fmla="*/ 0 h 278"/>
                  <a:gd name="T6" fmla="*/ 0 w 144"/>
                  <a:gd name="T7" fmla="*/ 26718 h 278"/>
                  <a:gd name="T8" fmla="*/ 0 w 144"/>
                  <a:gd name="T9" fmla="*/ 111586 h 278"/>
                  <a:gd name="T10" fmla="*/ 26718 w 144"/>
                  <a:gd name="T11" fmla="*/ 111586 h 278"/>
                  <a:gd name="T12" fmla="*/ 26718 w 144"/>
                  <a:gd name="T13" fmla="*/ 218458 h 278"/>
                  <a:gd name="T14" fmla="*/ 86441 w 144"/>
                  <a:gd name="T15" fmla="*/ 218458 h 278"/>
                  <a:gd name="T16" fmla="*/ 86441 w 144"/>
                  <a:gd name="T17" fmla="*/ 111586 h 278"/>
                  <a:gd name="T18" fmla="*/ 113159 w 144"/>
                  <a:gd name="T19" fmla="*/ 111586 h 278"/>
                  <a:gd name="T20" fmla="*/ 113159 w 144"/>
                  <a:gd name="T21" fmla="*/ 26718 h 2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4" h="278">
                    <a:moveTo>
                      <a:pt x="144" y="34"/>
                    </a:moveTo>
                    <a:cubicBezTo>
                      <a:pt x="144" y="15"/>
                      <a:pt x="129" y="0"/>
                      <a:pt x="111" y="0"/>
                    </a:cubicBezTo>
                    <a:cubicBezTo>
                      <a:pt x="33" y="0"/>
                      <a:pt x="33" y="0"/>
                      <a:pt x="33" y="0"/>
                    </a:cubicBezTo>
                    <a:cubicBezTo>
                      <a:pt x="15" y="0"/>
                      <a:pt x="0" y="15"/>
                      <a:pt x="0" y="34"/>
                    </a:cubicBezTo>
                    <a:cubicBezTo>
                      <a:pt x="0" y="142"/>
                      <a:pt x="0" y="142"/>
                      <a:pt x="0" y="142"/>
                    </a:cubicBezTo>
                    <a:cubicBezTo>
                      <a:pt x="34" y="142"/>
                      <a:pt x="34" y="142"/>
                      <a:pt x="34" y="142"/>
                    </a:cubicBezTo>
                    <a:cubicBezTo>
                      <a:pt x="34" y="278"/>
                      <a:pt x="34" y="278"/>
                      <a:pt x="34" y="278"/>
                    </a:cubicBezTo>
                    <a:cubicBezTo>
                      <a:pt x="110" y="278"/>
                      <a:pt x="110" y="278"/>
                      <a:pt x="110" y="278"/>
                    </a:cubicBezTo>
                    <a:cubicBezTo>
                      <a:pt x="110" y="142"/>
                      <a:pt x="110" y="142"/>
                      <a:pt x="110" y="142"/>
                    </a:cubicBezTo>
                    <a:cubicBezTo>
                      <a:pt x="144" y="142"/>
                      <a:pt x="144" y="142"/>
                      <a:pt x="144" y="142"/>
                    </a:cubicBezTo>
                    <a:lnTo>
                      <a:pt x="14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89154" tIns="44577" rIns="89154" bIns="44577" anchor="t" anchorCtr="0" upright="1">
                <a:noAutofit/>
              </a:bodyPr>
              <a:lstStyle/>
              <a:p>
                <a:endParaRPr lang="en-US" sz="1756" dirty="0">
                  <a:solidFill>
                    <a:prstClr val="black"/>
                  </a:solidFill>
                </a:endParaRPr>
              </a:p>
            </p:txBody>
          </p:sp>
          <p:sp>
            <p:nvSpPr>
              <p:cNvPr id="52" name="Oval 51"/>
              <p:cNvSpPr>
                <a:spLocks noChangeArrowheads="1"/>
              </p:cNvSpPr>
              <p:nvPr/>
            </p:nvSpPr>
            <p:spPr bwMode="auto">
              <a:xfrm>
                <a:off x="127000" y="57150"/>
                <a:ext cx="48895" cy="48260"/>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sp>
            <p:nvSpPr>
              <p:cNvPr id="53" name="Oval 52"/>
              <p:cNvSpPr>
                <a:spLocks noChangeArrowheads="1"/>
              </p:cNvSpPr>
              <p:nvPr/>
            </p:nvSpPr>
            <p:spPr bwMode="auto">
              <a:xfrm>
                <a:off x="38100" y="0"/>
                <a:ext cx="48260" cy="48895"/>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sp>
            <p:nvSpPr>
              <p:cNvPr id="54" name="Oval 53"/>
              <p:cNvSpPr>
                <a:spLocks noChangeArrowheads="1"/>
              </p:cNvSpPr>
              <p:nvPr/>
            </p:nvSpPr>
            <p:spPr bwMode="auto">
              <a:xfrm>
                <a:off x="101600" y="0"/>
                <a:ext cx="47625" cy="48895"/>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sp>
            <p:nvSpPr>
              <p:cNvPr id="55" name="Oval 54"/>
              <p:cNvSpPr>
                <a:spLocks noChangeArrowheads="1"/>
              </p:cNvSpPr>
              <p:nvPr/>
            </p:nvSpPr>
            <p:spPr bwMode="auto">
              <a:xfrm>
                <a:off x="228600" y="0"/>
                <a:ext cx="48260" cy="48895"/>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sp>
            <p:nvSpPr>
              <p:cNvPr id="56" name="Oval 55"/>
              <p:cNvSpPr>
                <a:spLocks noChangeArrowheads="1"/>
              </p:cNvSpPr>
              <p:nvPr/>
            </p:nvSpPr>
            <p:spPr bwMode="auto">
              <a:xfrm>
                <a:off x="165100" y="0"/>
                <a:ext cx="48260" cy="48895"/>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sp>
            <p:nvSpPr>
              <p:cNvPr id="57" name="Freeform 56"/>
              <p:cNvSpPr>
                <a:spLocks/>
              </p:cNvSpPr>
              <p:nvPr/>
            </p:nvSpPr>
            <p:spPr bwMode="auto">
              <a:xfrm>
                <a:off x="228600" y="114300"/>
                <a:ext cx="113665" cy="218440"/>
              </a:xfrm>
              <a:custGeom>
                <a:avLst/>
                <a:gdLst>
                  <a:gd name="T0" fmla="*/ 113940 w 144"/>
                  <a:gd name="T1" fmla="*/ 26718 h 278"/>
                  <a:gd name="T2" fmla="*/ 87038 w 144"/>
                  <a:gd name="T3" fmla="*/ 0 h 278"/>
                  <a:gd name="T4" fmla="*/ 26111 w 144"/>
                  <a:gd name="T5" fmla="*/ 0 h 278"/>
                  <a:gd name="T6" fmla="*/ 0 w 144"/>
                  <a:gd name="T7" fmla="*/ 26718 h 278"/>
                  <a:gd name="T8" fmla="*/ 0 w 144"/>
                  <a:gd name="T9" fmla="*/ 111586 h 278"/>
                  <a:gd name="T10" fmla="*/ 26903 w 144"/>
                  <a:gd name="T11" fmla="*/ 111586 h 278"/>
                  <a:gd name="T12" fmla="*/ 26903 w 144"/>
                  <a:gd name="T13" fmla="*/ 218458 h 278"/>
                  <a:gd name="T14" fmla="*/ 87038 w 144"/>
                  <a:gd name="T15" fmla="*/ 218458 h 278"/>
                  <a:gd name="T16" fmla="*/ 87038 w 144"/>
                  <a:gd name="T17" fmla="*/ 111586 h 278"/>
                  <a:gd name="T18" fmla="*/ 113940 w 144"/>
                  <a:gd name="T19" fmla="*/ 111586 h 278"/>
                  <a:gd name="T20" fmla="*/ 113940 w 144"/>
                  <a:gd name="T21" fmla="*/ 26718 h 2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4" h="278">
                    <a:moveTo>
                      <a:pt x="144" y="34"/>
                    </a:moveTo>
                    <a:cubicBezTo>
                      <a:pt x="144" y="15"/>
                      <a:pt x="129" y="0"/>
                      <a:pt x="110" y="0"/>
                    </a:cubicBezTo>
                    <a:cubicBezTo>
                      <a:pt x="33" y="0"/>
                      <a:pt x="33" y="0"/>
                      <a:pt x="33" y="0"/>
                    </a:cubicBezTo>
                    <a:cubicBezTo>
                      <a:pt x="15" y="0"/>
                      <a:pt x="0" y="15"/>
                      <a:pt x="0" y="34"/>
                    </a:cubicBezTo>
                    <a:cubicBezTo>
                      <a:pt x="0" y="142"/>
                      <a:pt x="0" y="142"/>
                      <a:pt x="0" y="142"/>
                    </a:cubicBezTo>
                    <a:cubicBezTo>
                      <a:pt x="34" y="142"/>
                      <a:pt x="34" y="142"/>
                      <a:pt x="34" y="142"/>
                    </a:cubicBezTo>
                    <a:cubicBezTo>
                      <a:pt x="34" y="278"/>
                      <a:pt x="34" y="278"/>
                      <a:pt x="34" y="278"/>
                    </a:cubicBezTo>
                    <a:cubicBezTo>
                      <a:pt x="110" y="278"/>
                      <a:pt x="110" y="278"/>
                      <a:pt x="110" y="278"/>
                    </a:cubicBezTo>
                    <a:cubicBezTo>
                      <a:pt x="110" y="142"/>
                      <a:pt x="110" y="142"/>
                      <a:pt x="110" y="142"/>
                    </a:cubicBezTo>
                    <a:cubicBezTo>
                      <a:pt x="144" y="142"/>
                      <a:pt x="144" y="142"/>
                      <a:pt x="144" y="142"/>
                    </a:cubicBezTo>
                    <a:lnTo>
                      <a:pt x="14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89154" tIns="44577" rIns="89154" bIns="44577" anchor="t" anchorCtr="0" upright="1">
                <a:noAutofit/>
              </a:bodyPr>
              <a:lstStyle/>
              <a:p>
                <a:endParaRPr lang="en-US" sz="1756" dirty="0">
                  <a:solidFill>
                    <a:prstClr val="black"/>
                  </a:solidFill>
                </a:endParaRPr>
              </a:p>
            </p:txBody>
          </p:sp>
          <p:sp>
            <p:nvSpPr>
              <p:cNvPr id="58" name="Oval 57"/>
              <p:cNvSpPr>
                <a:spLocks noChangeArrowheads="1"/>
              </p:cNvSpPr>
              <p:nvPr/>
            </p:nvSpPr>
            <p:spPr bwMode="auto">
              <a:xfrm>
                <a:off x="260350" y="57150"/>
                <a:ext cx="48260" cy="48260"/>
              </a:xfrm>
              <a:prstGeom prst="ellipse">
                <a:avLst/>
              </a:prstGeom>
              <a:grpFill/>
              <a:ln>
                <a:noFill/>
              </a:ln>
            </p:spPr>
            <p:txBody>
              <a:bodyPr vert="horz" wrap="square" lIns="64293" tIns="32147" rIns="64293" bIns="32147" numCol="1" anchor="t" anchorCtr="0" compatLnSpc="1">
                <a:prstTxWarp prst="textNoShape">
                  <a:avLst/>
                </a:prstTxWarp>
              </a:bodyPr>
              <a:lstStyle/>
              <a:p>
                <a:endParaRPr lang="en-US" sz="1756" dirty="0">
                  <a:solidFill>
                    <a:prstClr val="black"/>
                  </a:solidFill>
                </a:endParaRPr>
              </a:p>
            </p:txBody>
          </p:sp>
        </p:grpSp>
      </p:grpSp>
      <p:grpSp>
        <p:nvGrpSpPr>
          <p:cNvPr id="59" name="Group 58"/>
          <p:cNvGrpSpPr>
            <a:grpSpLocks/>
          </p:cNvGrpSpPr>
          <p:nvPr/>
        </p:nvGrpSpPr>
        <p:grpSpPr bwMode="auto">
          <a:xfrm>
            <a:off x="4641715" y="4504926"/>
            <a:ext cx="608804" cy="531114"/>
            <a:chOff x="0" y="0"/>
            <a:chExt cx="264795" cy="248389"/>
          </a:xfrm>
          <a:solidFill>
            <a:srgbClr val="00B0F0">
              <a:alpha val="85000"/>
            </a:srgbClr>
          </a:solidFill>
        </p:grpSpPr>
        <p:sp>
          <p:nvSpPr>
            <p:cNvPr id="60" name="Freeform 59"/>
            <p:cNvSpPr>
              <a:spLocks/>
            </p:cNvSpPr>
            <p:nvPr/>
          </p:nvSpPr>
          <p:spPr bwMode="auto">
            <a:xfrm>
              <a:off x="10633" y="138224"/>
              <a:ext cx="59690" cy="105410"/>
            </a:xfrm>
            <a:custGeom>
              <a:avLst/>
              <a:gdLst>
                <a:gd name="T0" fmla="*/ 0 w 129"/>
                <a:gd name="T1" fmla="*/ 50615 h 227"/>
                <a:gd name="T2" fmla="*/ 0 w 129"/>
                <a:gd name="T3" fmla="*/ 105410 h 227"/>
                <a:gd name="T4" fmla="*/ 59690 w 129"/>
                <a:gd name="T5" fmla="*/ 105410 h 227"/>
                <a:gd name="T6" fmla="*/ 59690 w 129"/>
                <a:gd name="T7" fmla="*/ 3251 h 227"/>
                <a:gd name="T8" fmla="*/ 55988 w 129"/>
                <a:gd name="T9" fmla="*/ 0 h 227"/>
                <a:gd name="T10" fmla="*/ 0 w 129"/>
                <a:gd name="T11" fmla="*/ 50615 h 2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9" h="227">
                  <a:moveTo>
                    <a:pt x="0" y="109"/>
                  </a:moveTo>
                  <a:lnTo>
                    <a:pt x="0" y="227"/>
                  </a:lnTo>
                  <a:lnTo>
                    <a:pt x="129" y="227"/>
                  </a:lnTo>
                  <a:lnTo>
                    <a:pt x="129" y="7"/>
                  </a:lnTo>
                  <a:lnTo>
                    <a:pt x="121" y="0"/>
                  </a:lnTo>
                  <a:lnTo>
                    <a:pt x="0"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solidFill>
                  <a:prstClr val="black"/>
                </a:solidFill>
              </a:endParaRPr>
            </a:p>
          </p:txBody>
        </p:sp>
        <p:sp>
          <p:nvSpPr>
            <p:cNvPr id="61" name="Freeform 60"/>
            <p:cNvSpPr>
              <a:spLocks/>
            </p:cNvSpPr>
            <p:nvPr/>
          </p:nvSpPr>
          <p:spPr bwMode="auto">
            <a:xfrm>
              <a:off x="87773" y="159489"/>
              <a:ext cx="61595" cy="88900"/>
            </a:xfrm>
            <a:custGeom>
              <a:avLst/>
              <a:gdLst>
                <a:gd name="T0" fmla="*/ 0 w 133"/>
                <a:gd name="T1" fmla="*/ 5556 h 192"/>
                <a:gd name="T2" fmla="*/ 0 w 133"/>
                <a:gd name="T3" fmla="*/ 88900 h 192"/>
                <a:gd name="T4" fmla="*/ 61595 w 133"/>
                <a:gd name="T5" fmla="*/ 88900 h 192"/>
                <a:gd name="T6" fmla="*/ 61595 w 133"/>
                <a:gd name="T7" fmla="*/ 0 h 192"/>
                <a:gd name="T8" fmla="*/ 27324 w 133"/>
                <a:gd name="T9" fmla="*/ 32411 h 192"/>
                <a:gd name="T10" fmla="*/ 0 w 133"/>
                <a:gd name="T11" fmla="*/ 5556 h 1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3" h="192">
                  <a:moveTo>
                    <a:pt x="0" y="12"/>
                  </a:moveTo>
                  <a:lnTo>
                    <a:pt x="0" y="192"/>
                  </a:lnTo>
                  <a:lnTo>
                    <a:pt x="133" y="192"/>
                  </a:lnTo>
                  <a:lnTo>
                    <a:pt x="133" y="0"/>
                  </a:lnTo>
                  <a:lnTo>
                    <a:pt x="59" y="7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solidFill>
                  <a:prstClr val="black"/>
                </a:solidFill>
              </a:endParaRPr>
            </a:p>
          </p:txBody>
        </p:sp>
        <p:sp>
          <p:nvSpPr>
            <p:cNvPr id="62" name="Freeform 61"/>
            <p:cNvSpPr>
              <a:spLocks/>
            </p:cNvSpPr>
            <p:nvPr/>
          </p:nvSpPr>
          <p:spPr bwMode="auto">
            <a:xfrm>
              <a:off x="0" y="0"/>
              <a:ext cx="264795" cy="154940"/>
            </a:xfrm>
            <a:custGeom>
              <a:avLst/>
              <a:gdLst>
                <a:gd name="T0" fmla="*/ 0 w 570"/>
                <a:gd name="T1" fmla="*/ 138190 h 333"/>
                <a:gd name="T2" fmla="*/ 14401 w 570"/>
                <a:gd name="T3" fmla="*/ 154940 h 333"/>
                <a:gd name="T4" fmla="*/ 72470 w 570"/>
                <a:gd name="T5" fmla="*/ 103759 h 333"/>
                <a:gd name="T6" fmla="*/ 121713 w 570"/>
                <a:gd name="T7" fmla="*/ 153079 h 333"/>
                <a:gd name="T8" fmla="*/ 228560 w 570"/>
                <a:gd name="T9" fmla="*/ 50716 h 333"/>
                <a:gd name="T10" fmla="*/ 246677 w 570"/>
                <a:gd name="T11" fmla="*/ 71189 h 333"/>
                <a:gd name="T12" fmla="*/ 264795 w 570"/>
                <a:gd name="T13" fmla="*/ 0 h 333"/>
                <a:gd name="T14" fmla="*/ 196041 w 570"/>
                <a:gd name="T15" fmla="*/ 20007 h 333"/>
                <a:gd name="T16" fmla="*/ 214159 w 570"/>
                <a:gd name="T17" fmla="*/ 36292 h 333"/>
                <a:gd name="T18" fmla="*/ 121713 w 570"/>
                <a:gd name="T19" fmla="*/ 121905 h 333"/>
                <a:gd name="T20" fmla="*/ 72470 w 570"/>
                <a:gd name="T21" fmla="*/ 72585 h 333"/>
                <a:gd name="T22" fmla="*/ 0 w 570"/>
                <a:gd name="T23" fmla="*/ 138190 h 3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70" h="333">
                  <a:moveTo>
                    <a:pt x="0" y="297"/>
                  </a:moveTo>
                  <a:lnTo>
                    <a:pt x="31" y="333"/>
                  </a:lnTo>
                  <a:lnTo>
                    <a:pt x="156" y="223"/>
                  </a:lnTo>
                  <a:lnTo>
                    <a:pt x="262" y="329"/>
                  </a:lnTo>
                  <a:lnTo>
                    <a:pt x="492" y="109"/>
                  </a:lnTo>
                  <a:lnTo>
                    <a:pt x="531" y="153"/>
                  </a:lnTo>
                  <a:lnTo>
                    <a:pt x="570" y="0"/>
                  </a:lnTo>
                  <a:lnTo>
                    <a:pt x="422" y="43"/>
                  </a:lnTo>
                  <a:lnTo>
                    <a:pt x="461" y="78"/>
                  </a:lnTo>
                  <a:lnTo>
                    <a:pt x="262" y="262"/>
                  </a:lnTo>
                  <a:lnTo>
                    <a:pt x="156" y="156"/>
                  </a:lnTo>
                  <a:lnTo>
                    <a:pt x="0" y="297"/>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solidFill>
                  <a:prstClr val="black"/>
                </a:solidFill>
              </a:endParaRPr>
            </a:p>
          </p:txBody>
        </p:sp>
        <p:sp>
          <p:nvSpPr>
            <p:cNvPr id="63" name="Freeform 62"/>
            <p:cNvSpPr>
              <a:spLocks/>
            </p:cNvSpPr>
            <p:nvPr/>
          </p:nvSpPr>
          <p:spPr bwMode="auto">
            <a:xfrm>
              <a:off x="170121" y="85061"/>
              <a:ext cx="61595" cy="160020"/>
            </a:xfrm>
            <a:custGeom>
              <a:avLst/>
              <a:gdLst>
                <a:gd name="T0" fmla="*/ 0 w 133"/>
                <a:gd name="T1" fmla="*/ 52876 h 345"/>
                <a:gd name="T2" fmla="*/ 0 w 133"/>
                <a:gd name="T3" fmla="*/ 160020 h 345"/>
                <a:gd name="T4" fmla="*/ 61595 w 133"/>
                <a:gd name="T5" fmla="*/ 160020 h 345"/>
                <a:gd name="T6" fmla="*/ 61595 w 133"/>
                <a:gd name="T7" fmla="*/ 3711 h 345"/>
                <a:gd name="T8" fmla="*/ 57890 w 133"/>
                <a:gd name="T9" fmla="*/ 0 h 345"/>
                <a:gd name="T10" fmla="*/ 0 w 133"/>
                <a:gd name="T11" fmla="*/ 52876 h 3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3" h="345">
                  <a:moveTo>
                    <a:pt x="0" y="114"/>
                  </a:moveTo>
                  <a:lnTo>
                    <a:pt x="0" y="345"/>
                  </a:lnTo>
                  <a:lnTo>
                    <a:pt x="133" y="345"/>
                  </a:lnTo>
                  <a:lnTo>
                    <a:pt x="133" y="8"/>
                  </a:lnTo>
                  <a:lnTo>
                    <a:pt x="125" y="0"/>
                  </a:lnTo>
                  <a:lnTo>
                    <a:pt x="0" y="1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solidFill>
                  <a:prstClr val="black"/>
                </a:solidFill>
              </a:endParaRPr>
            </a:p>
          </p:txBody>
        </p:sp>
      </p:grpSp>
    </p:spTree>
    <p:custDataLst>
      <p:tags r:id="rId1"/>
    </p:custDataLst>
    <p:extLst>
      <p:ext uri="{BB962C8B-B14F-4D97-AF65-F5344CB8AC3E}">
        <p14:creationId xmlns:p14="http://schemas.microsoft.com/office/powerpoint/2010/main" val="3690527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Productivity Computation</a:t>
            </a:r>
          </a:p>
        </p:txBody>
      </p:sp>
      <p:sp>
        <p:nvSpPr>
          <p:cNvPr id="3" name="Footer Placeholder 2"/>
          <p:cNvSpPr>
            <a:spLocks noGrp="1"/>
          </p:cNvSpPr>
          <p:nvPr>
            <p:ph type="ftr" sz="quarter" idx="11"/>
          </p:nvPr>
        </p:nvSpPr>
        <p:spPr>
          <a:xfrm>
            <a:off x="495300" y="6400802"/>
            <a:ext cx="5717674" cy="92333"/>
          </a:xfrm>
          <a:prstGeom prst="rect">
            <a:avLst/>
          </a:prstGeom>
        </p:spPr>
        <p:txBody>
          <a:bodyPr vert="horz" wrap="square" lIns="0" tIns="0" rIns="0" bIns="0" rtlCol="0" anchor="t" anchorCtr="0">
            <a:spAutoFit/>
          </a:bodyPr>
          <a:lstStyle>
            <a:defPPr>
              <a:defRPr lang="en-US"/>
            </a:defPPr>
            <a:lvl1pPr marL="0" algn="l" defTabSz="914400" rtl="0" eaLnBrk="1" latinLnBrk="0" hangingPunct="1">
              <a:defRPr sz="6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rPr>
              <a:t>© 2020 Willis Towers Watson. All rights reserved. Proprietary and Confidential. For Willis Towers Watson and Willis Towers Watson client use only.</a:t>
            </a:r>
            <a:endParaRPr lang="en-US" dirty="0">
              <a:solidFill>
                <a:prstClr val="black"/>
              </a:solidFill>
            </a:endParaRPr>
          </a:p>
        </p:txBody>
      </p:sp>
      <p:sp>
        <p:nvSpPr>
          <p:cNvPr id="4" name="Slide Number Placeholder 3"/>
          <p:cNvSpPr>
            <a:spLocks noGrp="1"/>
          </p:cNvSpPr>
          <p:nvPr>
            <p:ph type="sldNum" sz="quarter" idx="12"/>
          </p:nvPr>
        </p:nvSpPr>
        <p:spPr>
          <a:xfrm>
            <a:off x="8997950" y="6400802"/>
            <a:ext cx="412750" cy="138499"/>
          </a:xfrm>
          <a:prstGeom prst="rect">
            <a:avLst/>
          </a:prstGeom>
        </p:spPr>
        <p:txBody>
          <a:bodyPr vert="horz" wrap="square" lIns="0" tIns="0" rIns="0" bIns="0" rtlCol="0" anchor="t" anchorCtr="0">
            <a:spAutoFit/>
          </a:bodyPr>
          <a:lstStyle>
            <a:defPPr>
              <a:defRPr lang="en-US"/>
            </a:defPPr>
            <a:lvl1pPr marL="0" algn="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83E393-C0BF-4ED8-8545-7E4C90AFF831}" type="slidenum">
              <a:rPr lang="en-US" smtClean="0">
                <a:solidFill>
                  <a:prstClr val="black"/>
                </a:solidFill>
              </a:rPr>
              <a:pPr/>
              <a:t>31</a:t>
            </a:fld>
            <a:endParaRPr lang="en-US" dirty="0">
              <a:solidFill>
                <a:prstClr val="black"/>
              </a:solidFill>
            </a:endParaRPr>
          </a:p>
        </p:txBody>
      </p:sp>
      <p:sp>
        <p:nvSpPr>
          <p:cNvPr id="7" name="Path"/>
          <p:cNvSpPr/>
          <p:nvPr/>
        </p:nvSpPr>
        <p:spPr>
          <a:xfrm>
            <a:off x="1973263" y="6569045"/>
            <a:ext cx="557044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dirty="0">
              <a:solidFill>
                <a:prstClr val="black"/>
              </a:solidFill>
            </a:endParaRPr>
          </a:p>
        </p:txBody>
      </p:sp>
      <p:sp>
        <p:nvSpPr>
          <p:cNvPr id="52" name="TextBox 51"/>
          <p:cNvSpPr txBox="1"/>
          <p:nvPr/>
        </p:nvSpPr>
        <p:spPr>
          <a:xfrm>
            <a:off x="2936853" y="1859415"/>
            <a:ext cx="2782877" cy="261610"/>
          </a:xfrm>
          <a:prstGeom prst="rect">
            <a:avLst/>
          </a:prstGeom>
          <a:noFill/>
        </p:spPr>
        <p:txBody>
          <a:bodyPr wrap="square" rtlCol="0">
            <a:spAutoFit/>
          </a:bodyPr>
          <a:lstStyle/>
          <a:p>
            <a:r>
              <a:rPr lang="en-US" sz="1100" dirty="0">
                <a:solidFill>
                  <a:prstClr val="black"/>
                </a:solidFill>
              </a:rPr>
              <a:t>The productivity expectation is set at 70%</a:t>
            </a:r>
          </a:p>
        </p:txBody>
      </p:sp>
      <p:sp>
        <p:nvSpPr>
          <p:cNvPr id="53" name="TextBox 52"/>
          <p:cNvSpPr txBox="1"/>
          <p:nvPr/>
        </p:nvSpPr>
        <p:spPr>
          <a:xfrm>
            <a:off x="1737770" y="1424583"/>
            <a:ext cx="1236236" cy="830997"/>
          </a:xfrm>
          <a:prstGeom prst="rect">
            <a:avLst/>
          </a:prstGeom>
          <a:noFill/>
        </p:spPr>
        <p:txBody>
          <a:bodyPr wrap="none" rtlCol="0">
            <a:spAutoFit/>
          </a:bodyPr>
          <a:lstStyle/>
          <a:p>
            <a:r>
              <a:rPr lang="en-US" sz="4800" b="1" dirty="0">
                <a:solidFill>
                  <a:srgbClr val="00C389"/>
                </a:solidFill>
              </a:rPr>
              <a:t>70</a:t>
            </a:r>
            <a:r>
              <a:rPr lang="en-US" sz="3200" b="1" dirty="0">
                <a:solidFill>
                  <a:srgbClr val="00C389"/>
                </a:solidFill>
              </a:rPr>
              <a:t>%</a:t>
            </a:r>
          </a:p>
        </p:txBody>
      </p:sp>
      <p:sp>
        <p:nvSpPr>
          <p:cNvPr id="55" name="TextBox 54"/>
          <p:cNvSpPr txBox="1"/>
          <p:nvPr/>
        </p:nvSpPr>
        <p:spPr>
          <a:xfrm>
            <a:off x="2170523" y="2092028"/>
            <a:ext cx="680956" cy="307777"/>
          </a:xfrm>
          <a:prstGeom prst="rect">
            <a:avLst/>
          </a:prstGeom>
          <a:noFill/>
        </p:spPr>
        <p:txBody>
          <a:bodyPr wrap="none" rtlCol="0">
            <a:spAutoFit/>
          </a:bodyPr>
          <a:lstStyle/>
          <a:p>
            <a:r>
              <a:rPr lang="en-US" sz="1400" dirty="0">
                <a:solidFill>
                  <a:srgbClr val="00C389"/>
                </a:solidFill>
              </a:rPr>
              <a:t>Target</a:t>
            </a:r>
          </a:p>
        </p:txBody>
      </p:sp>
      <p:grpSp>
        <p:nvGrpSpPr>
          <p:cNvPr id="10" name="Group 9"/>
          <p:cNvGrpSpPr/>
          <p:nvPr/>
        </p:nvGrpSpPr>
        <p:grpSpPr>
          <a:xfrm>
            <a:off x="5729613" y="1756952"/>
            <a:ext cx="4893564" cy="1270180"/>
            <a:chOff x="232101" y="3441520"/>
            <a:chExt cx="4893564" cy="1270180"/>
          </a:xfrm>
        </p:grpSpPr>
        <p:sp>
          <p:nvSpPr>
            <p:cNvPr id="77" name="Content Placeholder 2"/>
            <p:cNvSpPr txBox="1">
              <a:spLocks/>
            </p:cNvSpPr>
            <p:nvPr>
              <p:custDataLst>
                <p:tags r:id="rId3"/>
              </p:custDataLst>
            </p:nvPr>
          </p:nvSpPr>
          <p:spPr bwMode="auto">
            <a:xfrm>
              <a:off x="232101" y="3709500"/>
              <a:ext cx="2253366"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a:lstStyle>
              <a:lvl1pPr marL="342900" indent="-342900" algn="l" rtl="0" eaLnBrk="0" fontAlgn="base" hangingPunct="0">
                <a:spcBef>
                  <a:spcPct val="20000"/>
                </a:spcBef>
                <a:spcAft>
                  <a:spcPct val="0"/>
                </a:spcAft>
                <a:defRPr sz="2000" b="1" kern="1200">
                  <a:solidFill>
                    <a:schemeClr val="tx1"/>
                  </a:solidFill>
                  <a:latin typeface="+mn-lt"/>
                  <a:ea typeface="+mn-ea"/>
                  <a:cs typeface="+mn-cs"/>
                </a:defRPr>
              </a:lvl1pPr>
              <a:lvl2pPr marL="742950" indent="-285750" algn="l" rtl="0" eaLnBrk="0" fontAlgn="base" hangingPunct="0">
                <a:spcBef>
                  <a:spcPct val="20000"/>
                </a:spcBef>
                <a:spcAft>
                  <a:spcPct val="0"/>
                </a:spcAft>
                <a:defRPr sz="2000" kern="1200">
                  <a:solidFill>
                    <a:schemeClr val="tx1"/>
                  </a:solidFill>
                  <a:latin typeface="+mn-lt"/>
                  <a:ea typeface="+mn-ea"/>
                  <a:cs typeface="+mn-cs"/>
                </a:defRPr>
              </a:lvl2pPr>
              <a:lvl3pPr marL="265113" indent="-265113" algn="l" rtl="0" eaLnBrk="0" fontAlgn="base" hangingPunct="0">
                <a:spcBef>
                  <a:spcPct val="20000"/>
                </a:spcBef>
                <a:spcAft>
                  <a:spcPct val="0"/>
                </a:spcAft>
                <a:buClr>
                  <a:schemeClr val="bg2"/>
                </a:buClr>
                <a:buSzPct val="60000"/>
                <a:buFont typeface="Wingdings" pitchFamily="2" charset="2"/>
                <a:buChar char=""/>
                <a:defRPr sz="2000" kern="1200">
                  <a:solidFill>
                    <a:schemeClr val="tx1"/>
                  </a:solidFill>
                  <a:latin typeface="+mn-lt"/>
                  <a:ea typeface="+mn-ea"/>
                  <a:cs typeface="+mn-cs"/>
                </a:defRPr>
              </a:lvl3pPr>
              <a:lvl4pPr marL="542925" indent="-277813" algn="l" rtl="0" eaLnBrk="0" fontAlgn="base" hangingPunct="0">
                <a:spcBef>
                  <a:spcPct val="20000"/>
                </a:spcBef>
                <a:spcAft>
                  <a:spcPct val="0"/>
                </a:spcAft>
                <a:buClr>
                  <a:schemeClr val="tx2"/>
                </a:buClr>
                <a:buSzPct val="60000"/>
                <a:buFont typeface="Wingdings" pitchFamily="2" charset="2"/>
                <a:buChar char=""/>
                <a:defRPr kern="1200">
                  <a:solidFill>
                    <a:schemeClr val="tx1"/>
                  </a:solidFill>
                  <a:latin typeface="+mn-lt"/>
                  <a:ea typeface="+mn-ea"/>
                  <a:cs typeface="+mn-cs"/>
                </a:defRPr>
              </a:lvl4pPr>
              <a:lvl5pPr marL="808038" indent="-265113" algn="l" rtl="0" eaLnBrk="0" fontAlgn="base" hangingPunct="0">
                <a:spcBef>
                  <a:spcPct val="20000"/>
                </a:spcBef>
                <a:spcAft>
                  <a:spcPct val="0"/>
                </a:spcAft>
                <a:buClr>
                  <a:schemeClr val="accent1"/>
                </a:buClr>
                <a:buSzPct val="100000"/>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a:buClr>
                  <a:srgbClr val="EEECE1"/>
                </a:buClr>
                <a:buNone/>
                <a:defRPr/>
              </a:pPr>
              <a:r>
                <a:rPr lang="en-US" sz="1800" b="1" dirty="0">
                  <a:solidFill>
                    <a:srgbClr val="702082"/>
                  </a:solidFill>
                </a:rPr>
                <a:t>Productivity %    =  </a:t>
              </a:r>
            </a:p>
          </p:txBody>
        </p:sp>
        <p:grpSp>
          <p:nvGrpSpPr>
            <p:cNvPr id="9" name="Group 8"/>
            <p:cNvGrpSpPr/>
            <p:nvPr/>
          </p:nvGrpSpPr>
          <p:grpSpPr>
            <a:xfrm>
              <a:off x="2436253" y="3441520"/>
              <a:ext cx="2689412" cy="1270180"/>
              <a:chOff x="2436253" y="3441520"/>
              <a:chExt cx="2689412" cy="1270180"/>
            </a:xfrm>
          </p:grpSpPr>
          <p:sp>
            <p:nvSpPr>
              <p:cNvPr id="72" name="Content Placeholder 2"/>
              <p:cNvSpPr txBox="1">
                <a:spLocks/>
              </p:cNvSpPr>
              <p:nvPr>
                <p:custDataLst>
                  <p:tags r:id="rId4"/>
                </p:custDataLst>
              </p:nvPr>
            </p:nvSpPr>
            <p:spPr bwMode="auto">
              <a:xfrm>
                <a:off x="2476593" y="3441520"/>
                <a:ext cx="2622177" cy="361823"/>
              </a:xfrm>
              <a:prstGeom prst="rect">
                <a:avLst/>
              </a:prstGeom>
              <a:noFill/>
              <a:ln>
                <a:noFill/>
              </a:ln>
            </p:spPr>
            <p:txBody>
              <a:bodyPr lIns="0" tIns="0"/>
              <a:lstStyle>
                <a:lvl1pPr marL="342900" indent="-342900" algn="l" rtl="0" eaLnBrk="0" fontAlgn="base" hangingPunct="0">
                  <a:spcBef>
                    <a:spcPct val="20000"/>
                  </a:spcBef>
                  <a:spcAft>
                    <a:spcPct val="0"/>
                  </a:spcAft>
                  <a:defRPr sz="2000" b="1" kern="1200">
                    <a:solidFill>
                      <a:schemeClr val="tx1"/>
                    </a:solidFill>
                    <a:latin typeface="+mn-lt"/>
                    <a:ea typeface="+mn-ea"/>
                    <a:cs typeface="+mn-cs"/>
                  </a:defRPr>
                </a:lvl1pPr>
                <a:lvl2pPr marL="742950" indent="-285750" algn="l" rtl="0" eaLnBrk="0" fontAlgn="base" hangingPunct="0">
                  <a:spcBef>
                    <a:spcPct val="20000"/>
                  </a:spcBef>
                  <a:spcAft>
                    <a:spcPct val="0"/>
                  </a:spcAft>
                  <a:defRPr sz="2000" kern="1200">
                    <a:solidFill>
                      <a:schemeClr val="tx1"/>
                    </a:solidFill>
                    <a:latin typeface="+mn-lt"/>
                    <a:ea typeface="+mn-ea"/>
                    <a:cs typeface="+mn-cs"/>
                  </a:defRPr>
                </a:lvl2pPr>
                <a:lvl3pPr marL="265113" indent="-265113" algn="l" rtl="0" eaLnBrk="0" fontAlgn="base" hangingPunct="0">
                  <a:spcBef>
                    <a:spcPct val="20000"/>
                  </a:spcBef>
                  <a:spcAft>
                    <a:spcPct val="0"/>
                  </a:spcAft>
                  <a:buClr>
                    <a:schemeClr val="bg2"/>
                  </a:buClr>
                  <a:buSzPct val="60000"/>
                  <a:buFont typeface="Wingdings" pitchFamily="2" charset="2"/>
                  <a:buChar char=""/>
                  <a:defRPr sz="2000" kern="1200">
                    <a:solidFill>
                      <a:schemeClr val="tx1"/>
                    </a:solidFill>
                    <a:latin typeface="+mn-lt"/>
                    <a:ea typeface="+mn-ea"/>
                    <a:cs typeface="+mn-cs"/>
                  </a:defRPr>
                </a:lvl3pPr>
                <a:lvl4pPr marL="542925" indent="-277813" algn="l" rtl="0" eaLnBrk="0" fontAlgn="base" hangingPunct="0">
                  <a:spcBef>
                    <a:spcPct val="20000"/>
                  </a:spcBef>
                  <a:spcAft>
                    <a:spcPct val="0"/>
                  </a:spcAft>
                  <a:buClr>
                    <a:schemeClr val="tx2"/>
                  </a:buClr>
                  <a:buSzPct val="60000"/>
                  <a:buFont typeface="Wingdings" pitchFamily="2" charset="2"/>
                  <a:buChar char=""/>
                  <a:defRPr kern="1200">
                    <a:solidFill>
                      <a:schemeClr val="tx1"/>
                    </a:solidFill>
                    <a:latin typeface="+mn-lt"/>
                    <a:ea typeface="+mn-ea"/>
                    <a:cs typeface="+mn-cs"/>
                  </a:defRPr>
                </a:lvl4pPr>
                <a:lvl5pPr marL="808038" indent="-265113" algn="l" rtl="0" eaLnBrk="0" fontAlgn="base" hangingPunct="0">
                  <a:spcBef>
                    <a:spcPct val="20000"/>
                  </a:spcBef>
                  <a:spcAft>
                    <a:spcPct val="0"/>
                  </a:spcAft>
                  <a:buClr>
                    <a:schemeClr val="accent1"/>
                  </a:buClr>
                  <a:buSzPct val="100000"/>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algn="ctr">
                  <a:buClr>
                    <a:srgbClr val="EEECE1"/>
                  </a:buClr>
                  <a:buNone/>
                  <a:defRPr/>
                </a:pPr>
                <a:r>
                  <a:rPr lang="en-US" sz="1700" b="1" dirty="0">
                    <a:solidFill>
                      <a:prstClr val="black"/>
                    </a:solidFill>
                  </a:rPr>
                  <a:t>Client Time + Approved Non-Client Time</a:t>
                </a:r>
              </a:p>
            </p:txBody>
          </p:sp>
          <p:sp>
            <p:nvSpPr>
              <p:cNvPr id="73" name="Content Placeholder 2"/>
              <p:cNvSpPr txBox="1">
                <a:spLocks/>
              </p:cNvSpPr>
              <p:nvPr>
                <p:custDataLst>
                  <p:tags r:id="rId5"/>
                </p:custDataLst>
              </p:nvPr>
            </p:nvSpPr>
            <p:spPr bwMode="auto">
              <a:xfrm>
                <a:off x="2758707" y="4004725"/>
                <a:ext cx="2044787" cy="579882"/>
              </a:xfrm>
              <a:prstGeom prst="rect">
                <a:avLst/>
              </a:prstGeom>
              <a:noFill/>
              <a:ln>
                <a:noFill/>
              </a:ln>
            </p:spPr>
            <p:txBody>
              <a:bodyPr lIns="0" tIns="0"/>
              <a:lstStyle>
                <a:lvl1pPr marL="342900" indent="-342900" algn="l" rtl="0" eaLnBrk="0" fontAlgn="base" hangingPunct="0">
                  <a:spcBef>
                    <a:spcPct val="20000"/>
                  </a:spcBef>
                  <a:spcAft>
                    <a:spcPct val="0"/>
                  </a:spcAft>
                  <a:defRPr sz="2000" b="1" kern="1200">
                    <a:solidFill>
                      <a:schemeClr val="tx1"/>
                    </a:solidFill>
                    <a:latin typeface="+mn-lt"/>
                    <a:ea typeface="+mn-ea"/>
                    <a:cs typeface="+mn-cs"/>
                  </a:defRPr>
                </a:lvl1pPr>
                <a:lvl2pPr marL="742950" indent="-285750" algn="l" rtl="0" eaLnBrk="0" fontAlgn="base" hangingPunct="0">
                  <a:spcBef>
                    <a:spcPct val="20000"/>
                  </a:spcBef>
                  <a:spcAft>
                    <a:spcPct val="0"/>
                  </a:spcAft>
                  <a:defRPr sz="2000" kern="1200">
                    <a:solidFill>
                      <a:schemeClr val="tx1"/>
                    </a:solidFill>
                    <a:latin typeface="+mn-lt"/>
                    <a:ea typeface="+mn-ea"/>
                    <a:cs typeface="+mn-cs"/>
                  </a:defRPr>
                </a:lvl2pPr>
                <a:lvl3pPr marL="265113" indent="-265113" algn="l" rtl="0" eaLnBrk="0" fontAlgn="base" hangingPunct="0">
                  <a:spcBef>
                    <a:spcPct val="20000"/>
                  </a:spcBef>
                  <a:spcAft>
                    <a:spcPct val="0"/>
                  </a:spcAft>
                  <a:buClr>
                    <a:schemeClr val="bg2"/>
                  </a:buClr>
                  <a:buSzPct val="60000"/>
                  <a:buFont typeface="Wingdings" pitchFamily="2" charset="2"/>
                  <a:buChar char=""/>
                  <a:defRPr sz="2000" kern="1200">
                    <a:solidFill>
                      <a:schemeClr val="tx1"/>
                    </a:solidFill>
                    <a:latin typeface="+mn-lt"/>
                    <a:ea typeface="+mn-ea"/>
                    <a:cs typeface="+mn-cs"/>
                  </a:defRPr>
                </a:lvl3pPr>
                <a:lvl4pPr marL="542925" indent="-277813" algn="l" rtl="0" eaLnBrk="0" fontAlgn="base" hangingPunct="0">
                  <a:spcBef>
                    <a:spcPct val="20000"/>
                  </a:spcBef>
                  <a:spcAft>
                    <a:spcPct val="0"/>
                  </a:spcAft>
                  <a:buClr>
                    <a:schemeClr val="tx2"/>
                  </a:buClr>
                  <a:buSzPct val="60000"/>
                  <a:buFont typeface="Wingdings" pitchFamily="2" charset="2"/>
                  <a:buChar char=""/>
                  <a:defRPr kern="1200">
                    <a:solidFill>
                      <a:schemeClr val="tx1"/>
                    </a:solidFill>
                    <a:latin typeface="+mn-lt"/>
                    <a:ea typeface="+mn-ea"/>
                    <a:cs typeface="+mn-cs"/>
                  </a:defRPr>
                </a:lvl4pPr>
                <a:lvl5pPr marL="808038" indent="-265113" algn="l" rtl="0" eaLnBrk="0" fontAlgn="base" hangingPunct="0">
                  <a:spcBef>
                    <a:spcPct val="20000"/>
                  </a:spcBef>
                  <a:spcAft>
                    <a:spcPct val="0"/>
                  </a:spcAft>
                  <a:buClr>
                    <a:schemeClr val="accent1"/>
                  </a:buClr>
                  <a:buSzPct val="100000"/>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algn="ctr">
                  <a:buClr>
                    <a:srgbClr val="EEECE1"/>
                  </a:buClr>
                  <a:buNone/>
                  <a:defRPr/>
                </a:pPr>
                <a:r>
                  <a:rPr lang="en-US" sz="1700" b="1" dirty="0">
                    <a:solidFill>
                      <a:prstClr val="black"/>
                    </a:solidFill>
                  </a:rPr>
                  <a:t>Standard</a:t>
                </a:r>
                <a:br>
                  <a:rPr lang="en-US" sz="1700" b="1" dirty="0">
                    <a:solidFill>
                      <a:prstClr val="black"/>
                    </a:solidFill>
                  </a:rPr>
                </a:br>
                <a:r>
                  <a:rPr lang="en-US" sz="1700" b="1" dirty="0">
                    <a:solidFill>
                      <a:prstClr val="black"/>
                    </a:solidFill>
                  </a:rPr>
                  <a:t>Working Hours</a:t>
                </a:r>
              </a:p>
            </p:txBody>
          </p:sp>
          <p:sp>
            <p:nvSpPr>
              <p:cNvPr id="74" name="Content Placeholder 2"/>
              <p:cNvSpPr txBox="1">
                <a:spLocks/>
              </p:cNvSpPr>
              <p:nvPr>
                <p:custDataLst>
                  <p:tags r:id="rId6"/>
                </p:custDataLst>
              </p:nvPr>
            </p:nvSpPr>
            <p:spPr>
              <a:xfrm>
                <a:off x="2931522" y="4589770"/>
                <a:ext cx="1673816" cy="121930"/>
              </a:xfrm>
              <a:prstGeom prst="rect">
                <a:avLst/>
              </a:prstGeom>
            </p:spPr>
            <p:txBody>
              <a:bodyPr lIns="0" tIns="0" rIns="0" bIns="0"/>
              <a:lstStyle>
                <a:lvl1pPr marL="0" indent="0" algn="l" defTabSz="761963" rtl="0" eaLnBrk="1" latinLnBrk="0" hangingPunct="1">
                  <a:spcBef>
                    <a:spcPct val="20000"/>
                  </a:spcBef>
                  <a:buFontTx/>
                  <a:buNone/>
                  <a:defRPr sz="1667" b="1" kern="1200">
                    <a:solidFill>
                      <a:schemeClr val="tx1"/>
                    </a:solidFill>
                    <a:latin typeface="+mn-lt"/>
                    <a:ea typeface="+mn-ea"/>
                    <a:cs typeface="+mn-cs"/>
                  </a:defRPr>
                </a:lvl1pPr>
                <a:lvl2pPr marL="0" indent="0" algn="l" defTabSz="761963" rtl="0" eaLnBrk="1" latinLnBrk="0" hangingPunct="1">
                  <a:spcBef>
                    <a:spcPct val="20000"/>
                  </a:spcBef>
                  <a:buFontTx/>
                  <a:buNone/>
                  <a:defRPr sz="1667" kern="1200">
                    <a:solidFill>
                      <a:schemeClr val="tx1"/>
                    </a:solidFill>
                    <a:latin typeface="+mn-lt"/>
                    <a:ea typeface="+mn-ea"/>
                    <a:cs typeface="+mn-cs"/>
                  </a:defRPr>
                </a:lvl2pPr>
                <a:lvl3pPr marL="220916" indent="-220916" algn="l" defTabSz="761963" rtl="0" eaLnBrk="1" latinLnBrk="0" hangingPunct="1">
                  <a:spcBef>
                    <a:spcPct val="20000"/>
                  </a:spcBef>
                  <a:buClr>
                    <a:schemeClr val="bg2"/>
                  </a:buClr>
                  <a:buSzPct val="60000"/>
                  <a:buFont typeface="Wingdings" pitchFamily="2" charset="2"/>
                  <a:buChar char=""/>
                  <a:defRPr sz="1667" kern="1200">
                    <a:solidFill>
                      <a:schemeClr val="tx1"/>
                    </a:solidFill>
                    <a:latin typeface="+mn-lt"/>
                    <a:ea typeface="+mn-ea"/>
                    <a:cs typeface="+mn-cs"/>
                  </a:defRPr>
                </a:lvl3pPr>
                <a:lvl4pPr marL="452416" indent="-231499" algn="l" defTabSz="761963" rtl="0" eaLnBrk="1" latinLnBrk="0" hangingPunct="1">
                  <a:spcBef>
                    <a:spcPct val="20000"/>
                  </a:spcBef>
                  <a:buClr>
                    <a:schemeClr val="tx2"/>
                  </a:buClr>
                  <a:buSzPct val="60000"/>
                  <a:buFont typeface="Wingdings" pitchFamily="2" charset="2"/>
                  <a:buChar char=""/>
                  <a:defRPr sz="1500" kern="1200">
                    <a:solidFill>
                      <a:schemeClr val="tx1"/>
                    </a:solidFill>
                    <a:latin typeface="+mn-lt"/>
                    <a:ea typeface="+mn-ea"/>
                    <a:cs typeface="+mn-cs"/>
                  </a:defRPr>
                </a:lvl4pPr>
                <a:lvl5pPr marL="673331" indent="-220916" algn="l" defTabSz="761963" rtl="0" eaLnBrk="1" latinLnBrk="0" hangingPunct="1">
                  <a:spcBef>
                    <a:spcPct val="20000"/>
                  </a:spcBef>
                  <a:buClr>
                    <a:schemeClr val="accent1"/>
                  </a:buClr>
                  <a:buSzPct val="100000"/>
                  <a:buFont typeface="Arial" pitchFamily="34" charset="0"/>
                  <a:buChar char="–"/>
                  <a:defRPr sz="1333" kern="1200">
                    <a:solidFill>
                      <a:schemeClr val="tx1"/>
                    </a:solidFill>
                    <a:latin typeface="+mn-lt"/>
                    <a:ea typeface="+mn-ea"/>
                    <a:cs typeface="+mn-cs"/>
                  </a:defRPr>
                </a:lvl5pPr>
                <a:lvl6pPr marL="2095395" indent="-190490" algn="l" defTabSz="761963"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376" indent="-190490" algn="l" defTabSz="761963"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58" indent="-190490" algn="l" defTabSz="761963"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38" indent="-190490" algn="l" defTabSz="761963" rtl="0" eaLnBrk="1" latinLnBrk="0" hangingPunct="1">
                  <a:spcBef>
                    <a:spcPct val="20000"/>
                  </a:spcBef>
                  <a:buFont typeface="Arial" pitchFamily="34" charset="0"/>
                  <a:buChar char="•"/>
                  <a:defRPr sz="1667" kern="1200">
                    <a:solidFill>
                      <a:schemeClr val="tx1"/>
                    </a:solidFill>
                    <a:latin typeface="+mn-lt"/>
                    <a:ea typeface="+mn-ea"/>
                    <a:cs typeface="+mn-cs"/>
                  </a:defRPr>
                </a:lvl9pPr>
              </a:lstStyle>
              <a:p>
                <a:pPr marL="0" lvl="2" indent="0" algn="ctr">
                  <a:spcBef>
                    <a:spcPts val="600"/>
                  </a:spcBef>
                  <a:buClr>
                    <a:srgbClr val="EEECE1"/>
                  </a:buClr>
                  <a:buNone/>
                  <a:defRPr/>
                </a:pPr>
                <a:r>
                  <a:rPr lang="en-US" sz="600" i="1" dirty="0">
                    <a:solidFill>
                      <a:prstClr val="black">
                        <a:lumMod val="85000"/>
                        <a:lumOff val="15000"/>
                      </a:prstClr>
                    </a:solidFill>
                  </a:rPr>
                  <a:t>40 hours per week, including public holidays</a:t>
                </a:r>
              </a:p>
            </p:txBody>
          </p:sp>
          <p:cxnSp>
            <p:nvCxnSpPr>
              <p:cNvPr id="8" name="Straight Connector 7"/>
              <p:cNvCxnSpPr/>
              <p:nvPr/>
            </p:nvCxnSpPr>
            <p:spPr>
              <a:xfrm>
                <a:off x="2436253" y="3996454"/>
                <a:ext cx="2689412" cy="6325"/>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05" name="Group 104"/>
          <p:cNvGrpSpPr/>
          <p:nvPr/>
        </p:nvGrpSpPr>
        <p:grpSpPr>
          <a:xfrm>
            <a:off x="1973264" y="3235293"/>
            <a:ext cx="7600673" cy="2528706"/>
            <a:chOff x="-32274" y="2560183"/>
            <a:chExt cx="7600673" cy="2528706"/>
          </a:xfrm>
        </p:grpSpPr>
        <p:cxnSp>
          <p:nvCxnSpPr>
            <p:cNvPr id="124" name="Straight Connector 123"/>
            <p:cNvCxnSpPr/>
            <p:nvPr/>
          </p:nvCxnSpPr>
          <p:spPr>
            <a:xfrm flipH="1">
              <a:off x="-32274" y="2560183"/>
              <a:ext cx="4205610" cy="0"/>
            </a:xfrm>
            <a:prstGeom prst="line">
              <a:avLst/>
            </a:prstGeom>
            <a:noFill/>
            <a:ln w="9525" cap="flat" cmpd="sng" algn="ctr">
              <a:solidFill>
                <a:srgbClr val="EFEEDE"/>
              </a:solidFill>
              <a:prstDash val="solid"/>
            </a:ln>
            <a:effectLst/>
          </p:spPr>
        </p:cxnSp>
        <p:sp>
          <p:nvSpPr>
            <p:cNvPr id="125" name="Rectangle 18"/>
            <p:cNvSpPr>
              <a:spLocks noChangeArrowheads="1"/>
            </p:cNvSpPr>
            <p:nvPr/>
          </p:nvSpPr>
          <p:spPr bwMode="auto">
            <a:xfrm>
              <a:off x="937260" y="3028912"/>
              <a:ext cx="2506671" cy="1474507"/>
            </a:xfrm>
            <a:prstGeom prst="rect">
              <a:avLst/>
            </a:prstGeom>
            <a:solidFill>
              <a:srgbClr val="FFB81C"/>
            </a:solidFill>
            <a:ln w="9525">
              <a:noFill/>
              <a:miter lim="800000"/>
              <a:headEnd/>
              <a:tailEnd/>
            </a:ln>
          </p:spPr>
          <p:txBody>
            <a:bodyPr vert="horz" wrap="square" lIns="91440" tIns="91440" rIns="91440" bIns="91440" numCol="1" anchor="t" anchorCtr="0" compatLnSpc="1">
              <a:prstTxWarp prst="textNoShape">
                <a:avLst/>
              </a:prstTxWarp>
            </a:bodyPr>
            <a:lstStyle/>
            <a:p>
              <a:pPr fontAlgn="base">
                <a:spcBef>
                  <a:spcPct val="0"/>
                </a:spcBef>
                <a:spcAft>
                  <a:spcPct val="0"/>
                </a:spcAft>
              </a:pPr>
              <a:endParaRPr lang="en-US" sz="1200" dirty="0">
                <a:solidFill>
                  <a:prstClr val="black"/>
                </a:solidFill>
              </a:endParaRPr>
            </a:p>
          </p:txBody>
        </p:sp>
        <p:sp>
          <p:nvSpPr>
            <p:cNvPr id="126" name="Rectangle 125"/>
            <p:cNvSpPr>
              <a:spLocks noChangeArrowheads="1"/>
            </p:cNvSpPr>
            <p:nvPr/>
          </p:nvSpPr>
          <p:spPr bwMode="auto">
            <a:xfrm>
              <a:off x="1028700" y="3011525"/>
              <a:ext cx="2041208" cy="803275"/>
            </a:xfrm>
            <a:prstGeom prst="rect">
              <a:avLst/>
            </a:prstGeom>
            <a:noFill/>
            <a:ln w="9525">
              <a:noFill/>
              <a:miter lim="800000"/>
              <a:headEnd/>
              <a:tailEnd/>
            </a:ln>
          </p:spPr>
          <p:txBody>
            <a:bodyPr vert="horz" wrap="square" lIns="109728" tIns="109728" rIns="0" bIns="91440" numCol="1" anchor="t" anchorCtr="0" compatLnSpc="1">
              <a:prstTxWarp prst="textNoShape">
                <a:avLst/>
              </a:prstTxWarp>
            </a:bodyPr>
            <a:lstStyle/>
            <a:p>
              <a:pPr fontAlgn="base">
                <a:spcBef>
                  <a:spcPct val="0"/>
                </a:spcBef>
                <a:spcAft>
                  <a:spcPct val="0"/>
                </a:spcAft>
              </a:pPr>
              <a:r>
                <a:rPr lang="en-GB" sz="1400" b="1" dirty="0">
                  <a:solidFill>
                    <a:prstClr val="black"/>
                  </a:solidFill>
                </a:rPr>
                <a:t>Client Time</a:t>
              </a:r>
            </a:p>
            <a:p>
              <a:pPr fontAlgn="base">
                <a:spcBef>
                  <a:spcPct val="0"/>
                </a:spcBef>
                <a:spcAft>
                  <a:spcPct val="0"/>
                </a:spcAft>
              </a:pPr>
              <a:endParaRPr lang="en-GB" sz="800" b="1" dirty="0">
                <a:solidFill>
                  <a:prstClr val="black"/>
                </a:solidFill>
              </a:endParaRPr>
            </a:p>
            <a:p>
              <a:pPr fontAlgn="base">
                <a:spcBef>
                  <a:spcPct val="0"/>
                </a:spcBef>
                <a:spcAft>
                  <a:spcPct val="0"/>
                </a:spcAft>
              </a:pPr>
              <a:r>
                <a:rPr lang="en-GB" sz="800" dirty="0">
                  <a:solidFill>
                    <a:prstClr val="black"/>
                  </a:solidFill>
                </a:rPr>
                <a:t>Direct Client &amp; Project Activities</a:t>
              </a:r>
            </a:p>
            <a:p>
              <a:pPr fontAlgn="base">
                <a:spcBef>
                  <a:spcPct val="0"/>
                </a:spcBef>
                <a:spcAft>
                  <a:spcPct val="0"/>
                </a:spcAft>
              </a:pPr>
              <a:endParaRPr lang="en-GB" sz="800" dirty="0">
                <a:solidFill>
                  <a:prstClr val="black"/>
                </a:solidFill>
              </a:endParaRPr>
            </a:p>
            <a:p>
              <a:pPr marL="171450" indent="-171450" fontAlgn="base">
                <a:spcBef>
                  <a:spcPct val="0"/>
                </a:spcBef>
                <a:spcAft>
                  <a:spcPct val="0"/>
                </a:spcAft>
                <a:buFont typeface="Wingdings" panose="05000000000000000000" pitchFamily="2" charset="2"/>
                <a:buChar char="§"/>
              </a:pPr>
              <a:r>
                <a:rPr lang="en-US" sz="800" dirty="0">
                  <a:solidFill>
                    <a:prstClr val="black"/>
                  </a:solidFill>
                  <a:cs typeface="Arial" charset="0"/>
                </a:rPr>
                <a:t>Software Development, Delivery and Shared Services  time recorded to HRT, GDS, EI, EC project codes</a:t>
              </a:r>
            </a:p>
            <a:p>
              <a:pPr marL="171450" indent="-171450" fontAlgn="base">
                <a:spcBef>
                  <a:spcPct val="0"/>
                </a:spcBef>
                <a:spcAft>
                  <a:spcPct val="0"/>
                </a:spcAft>
                <a:buFont typeface="Wingdings" panose="05000000000000000000" pitchFamily="2" charset="2"/>
                <a:buChar char="§"/>
              </a:pPr>
              <a:r>
                <a:rPr lang="en-US" sz="800" dirty="0">
                  <a:solidFill>
                    <a:prstClr val="black"/>
                  </a:solidFill>
                  <a:cs typeface="Arial" charset="0"/>
                </a:rPr>
                <a:t>Project review meetings</a:t>
              </a:r>
            </a:p>
            <a:p>
              <a:pPr marL="171450" indent="-171450" fontAlgn="base">
                <a:spcBef>
                  <a:spcPct val="0"/>
                </a:spcBef>
                <a:spcAft>
                  <a:spcPct val="0"/>
                </a:spcAft>
                <a:buFont typeface="Wingdings" panose="05000000000000000000" pitchFamily="2" charset="2"/>
                <a:buChar char="§"/>
              </a:pPr>
              <a:r>
                <a:rPr lang="en-US" sz="800" dirty="0">
                  <a:solidFill>
                    <a:prstClr val="black"/>
                  </a:solidFill>
                  <a:cs typeface="Arial" charset="0"/>
                </a:rPr>
                <a:t>Billable and Non-billable                </a:t>
              </a:r>
            </a:p>
          </p:txBody>
        </p:sp>
        <p:sp>
          <p:nvSpPr>
            <p:cNvPr id="127" name="Oval 14"/>
            <p:cNvSpPr>
              <a:spLocks noChangeArrowheads="1"/>
            </p:cNvSpPr>
            <p:nvPr/>
          </p:nvSpPr>
          <p:spPr bwMode="gray">
            <a:xfrm>
              <a:off x="3069908" y="2920754"/>
              <a:ext cx="2252662" cy="2168135"/>
            </a:xfrm>
            <a:prstGeom prst="ellipse">
              <a:avLst/>
            </a:prstGeom>
            <a:solidFill>
              <a:srgbClr val="702082"/>
            </a:solidFill>
            <a:ln w="9525" algn="ctr">
              <a:noFill/>
              <a:round/>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endParaRPr lang="en-US" dirty="0">
                <a:solidFill>
                  <a:prstClr val="black"/>
                </a:solidFill>
              </a:endParaRPr>
            </a:p>
          </p:txBody>
        </p:sp>
        <p:sp>
          <p:nvSpPr>
            <p:cNvPr id="128" name="Oval 15"/>
            <p:cNvSpPr>
              <a:spLocks noChangeArrowheads="1"/>
            </p:cNvSpPr>
            <p:nvPr/>
          </p:nvSpPr>
          <p:spPr bwMode="gray">
            <a:xfrm>
              <a:off x="3442368" y="3311465"/>
              <a:ext cx="1507742" cy="1400730"/>
            </a:xfrm>
            <a:prstGeom prst="ellipse">
              <a:avLst/>
            </a:prstGeom>
            <a:pattFill prst="pct20">
              <a:fgClr>
                <a:srgbClr val="702082"/>
              </a:fgClr>
              <a:bgClr>
                <a:schemeClr val="bg1"/>
              </a:bgClr>
            </a:pattFill>
            <a:ln w="9525" algn="ctr">
              <a:noFill/>
              <a:round/>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r>
                <a:rPr lang="en-GB" sz="1600" dirty="0">
                  <a:solidFill>
                    <a:prstClr val="black"/>
                  </a:solidFill>
                </a:rPr>
                <a:t>All Time </a:t>
              </a:r>
            </a:p>
            <a:p>
              <a:pPr algn="ctr" fontAlgn="base">
                <a:spcBef>
                  <a:spcPct val="0"/>
                </a:spcBef>
                <a:spcAft>
                  <a:spcPct val="0"/>
                </a:spcAft>
              </a:pPr>
              <a:r>
                <a:rPr lang="en-GB" sz="1600" dirty="0">
                  <a:solidFill>
                    <a:prstClr val="black"/>
                  </a:solidFill>
                </a:rPr>
                <a:t>Recorded</a:t>
              </a:r>
            </a:p>
          </p:txBody>
        </p:sp>
        <p:sp>
          <p:nvSpPr>
            <p:cNvPr id="129" name="AutoShape 16"/>
            <p:cNvSpPr>
              <a:spLocks noChangeArrowheads="1"/>
            </p:cNvSpPr>
            <p:nvPr/>
          </p:nvSpPr>
          <p:spPr bwMode="gray">
            <a:xfrm rot="1925452">
              <a:off x="3060542" y="3211439"/>
              <a:ext cx="596454" cy="386860"/>
            </a:xfrm>
            <a:prstGeom prst="rightArrow">
              <a:avLst>
                <a:gd name="adj1" fmla="val 50000"/>
                <a:gd name="adj2" fmla="val 39621"/>
              </a:avLst>
            </a:prstGeom>
            <a:solidFill>
              <a:srgbClr val="FFB81C"/>
            </a:solidFill>
            <a:ln w="9525" algn="ctr">
              <a:noFill/>
              <a:miter lim="800000"/>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endParaRPr lang="en-US" dirty="0">
                <a:solidFill>
                  <a:prstClr val="black"/>
                </a:solidFill>
              </a:endParaRPr>
            </a:p>
          </p:txBody>
        </p:sp>
        <p:sp>
          <p:nvSpPr>
            <p:cNvPr id="130" name="Rectangle 18"/>
            <p:cNvSpPr>
              <a:spLocks noChangeArrowheads="1"/>
            </p:cNvSpPr>
            <p:nvPr/>
          </p:nvSpPr>
          <p:spPr bwMode="auto">
            <a:xfrm>
              <a:off x="5379095" y="2945338"/>
              <a:ext cx="2189304" cy="1061264"/>
            </a:xfrm>
            <a:prstGeom prst="rect">
              <a:avLst/>
            </a:prstGeom>
            <a:noFill/>
            <a:ln w="9525">
              <a:noFill/>
              <a:miter lim="800000"/>
              <a:headEnd/>
              <a:tailEnd/>
            </a:ln>
          </p:spPr>
          <p:txBody>
            <a:bodyPr vert="horz" wrap="square" lIns="109728" tIns="109728" rIns="0" bIns="91440" numCol="1" anchor="t" anchorCtr="0" compatLnSpc="1">
              <a:prstTxWarp prst="textNoShape">
                <a:avLst/>
              </a:prstTxWarp>
            </a:bodyPr>
            <a:lstStyle/>
            <a:p>
              <a:pPr fontAlgn="base">
                <a:spcBef>
                  <a:spcPct val="0"/>
                </a:spcBef>
                <a:spcAft>
                  <a:spcPct val="0"/>
                </a:spcAft>
              </a:pPr>
              <a:r>
                <a:rPr lang="en-GB" sz="1400" b="1" dirty="0">
                  <a:solidFill>
                    <a:prstClr val="black"/>
                  </a:solidFill>
                </a:rPr>
                <a:t>Non-Client Time</a:t>
              </a:r>
            </a:p>
            <a:p>
              <a:pPr fontAlgn="base">
                <a:spcBef>
                  <a:spcPct val="0"/>
                </a:spcBef>
                <a:spcAft>
                  <a:spcPct val="0"/>
                </a:spcAft>
              </a:pPr>
              <a:r>
                <a:rPr lang="en-GB" sz="800" dirty="0">
                  <a:solidFill>
                    <a:prstClr val="black"/>
                  </a:solidFill>
                </a:rPr>
                <a:t>T&amp;R Ops Manila Operations Support Activity</a:t>
              </a:r>
            </a:p>
            <a:p>
              <a:pPr fontAlgn="base">
                <a:spcBef>
                  <a:spcPct val="0"/>
                </a:spcBef>
                <a:spcAft>
                  <a:spcPct val="0"/>
                </a:spcAft>
              </a:pPr>
              <a:r>
                <a:rPr lang="en-GB" sz="800" dirty="0">
                  <a:solidFill>
                    <a:prstClr val="black"/>
                  </a:solidFill>
                </a:rPr>
                <a:t>Learning &amp; Development</a:t>
              </a:r>
            </a:p>
            <a:p>
              <a:pPr fontAlgn="base">
                <a:spcBef>
                  <a:spcPct val="0"/>
                </a:spcBef>
                <a:spcAft>
                  <a:spcPct val="0"/>
                </a:spcAft>
              </a:pPr>
              <a:r>
                <a:rPr lang="en-GB" sz="800" dirty="0">
                  <a:solidFill>
                    <a:prstClr val="black"/>
                  </a:solidFill>
                </a:rPr>
                <a:t>Non-Project Specific Task</a:t>
              </a:r>
            </a:p>
            <a:p>
              <a:pPr fontAlgn="base">
                <a:spcBef>
                  <a:spcPct val="0"/>
                </a:spcBef>
                <a:spcAft>
                  <a:spcPct val="0"/>
                </a:spcAft>
              </a:pPr>
              <a:r>
                <a:rPr lang="en-GB" sz="800" dirty="0">
                  <a:solidFill>
                    <a:prstClr val="black"/>
                  </a:solidFill>
                </a:rPr>
                <a:t>General Management &amp; Administration</a:t>
              </a:r>
            </a:p>
          </p:txBody>
        </p:sp>
        <p:sp>
          <p:nvSpPr>
            <p:cNvPr id="131" name="AutoShape 16"/>
            <p:cNvSpPr>
              <a:spLocks noChangeArrowheads="1"/>
            </p:cNvSpPr>
            <p:nvPr/>
          </p:nvSpPr>
          <p:spPr bwMode="gray">
            <a:xfrm rot="8981384">
              <a:off x="4736698" y="3222619"/>
              <a:ext cx="508385" cy="386860"/>
            </a:xfrm>
            <a:prstGeom prst="rightArrow">
              <a:avLst>
                <a:gd name="adj1" fmla="val 50000"/>
                <a:gd name="adj2" fmla="val 39621"/>
              </a:avLst>
            </a:prstGeom>
            <a:solidFill>
              <a:schemeClr val="bg2"/>
            </a:solidFill>
            <a:ln w="9525" algn="ctr">
              <a:noFill/>
              <a:miter lim="800000"/>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endParaRPr lang="en-US" dirty="0">
                <a:solidFill>
                  <a:prstClr val="black"/>
                </a:solidFill>
              </a:endParaRPr>
            </a:p>
          </p:txBody>
        </p:sp>
        <p:sp>
          <p:nvSpPr>
            <p:cNvPr id="132" name="AutoShape 16"/>
            <p:cNvSpPr>
              <a:spLocks noChangeArrowheads="1"/>
            </p:cNvSpPr>
            <p:nvPr/>
          </p:nvSpPr>
          <p:spPr bwMode="gray">
            <a:xfrm rot="12480740">
              <a:off x="4832379" y="4290651"/>
              <a:ext cx="508385" cy="386860"/>
            </a:xfrm>
            <a:prstGeom prst="rightArrow">
              <a:avLst>
                <a:gd name="adj1" fmla="val 50000"/>
                <a:gd name="adj2" fmla="val 39621"/>
              </a:avLst>
            </a:prstGeom>
            <a:solidFill>
              <a:schemeClr val="bg2"/>
            </a:solidFill>
            <a:ln w="9525" algn="ctr">
              <a:noFill/>
              <a:miter lim="800000"/>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endParaRPr lang="en-US" dirty="0">
                <a:solidFill>
                  <a:prstClr val="black"/>
                </a:solidFill>
              </a:endParaRPr>
            </a:p>
          </p:txBody>
        </p:sp>
        <p:sp>
          <p:nvSpPr>
            <p:cNvPr id="133" name="Rectangle 18"/>
            <p:cNvSpPr>
              <a:spLocks noChangeArrowheads="1"/>
            </p:cNvSpPr>
            <p:nvPr/>
          </p:nvSpPr>
          <p:spPr bwMode="auto">
            <a:xfrm>
              <a:off x="5379095" y="4179143"/>
              <a:ext cx="1980032" cy="904705"/>
            </a:xfrm>
            <a:prstGeom prst="rect">
              <a:avLst/>
            </a:prstGeom>
            <a:noFill/>
            <a:ln w="9525">
              <a:noFill/>
              <a:miter lim="800000"/>
              <a:headEnd/>
              <a:tailEnd/>
            </a:ln>
          </p:spPr>
          <p:txBody>
            <a:bodyPr vert="horz" wrap="square" lIns="109728" tIns="109728" rIns="0" bIns="91440" numCol="1" anchor="t" anchorCtr="0" compatLnSpc="1">
              <a:prstTxWarp prst="textNoShape">
                <a:avLst/>
              </a:prstTxWarp>
            </a:bodyPr>
            <a:lstStyle/>
            <a:p>
              <a:pPr fontAlgn="base">
                <a:spcBef>
                  <a:spcPct val="0"/>
                </a:spcBef>
                <a:spcAft>
                  <a:spcPct val="0"/>
                </a:spcAft>
              </a:pPr>
              <a:r>
                <a:rPr lang="en-GB" sz="1400" b="1" dirty="0">
                  <a:solidFill>
                    <a:prstClr val="black"/>
                  </a:solidFill>
                </a:rPr>
                <a:t>Non-Working Time</a:t>
              </a:r>
            </a:p>
            <a:p>
              <a:pPr fontAlgn="base">
                <a:spcBef>
                  <a:spcPct val="0"/>
                </a:spcBef>
                <a:spcAft>
                  <a:spcPct val="0"/>
                </a:spcAft>
              </a:pPr>
              <a:r>
                <a:rPr lang="en-GB" sz="800" dirty="0">
                  <a:solidFill>
                    <a:prstClr val="black"/>
                  </a:solidFill>
                </a:rPr>
                <a:t>Holiday</a:t>
              </a:r>
            </a:p>
            <a:p>
              <a:pPr fontAlgn="base">
                <a:spcBef>
                  <a:spcPct val="0"/>
                </a:spcBef>
                <a:spcAft>
                  <a:spcPct val="0"/>
                </a:spcAft>
              </a:pPr>
              <a:r>
                <a:rPr lang="en-GB" sz="800" dirty="0">
                  <a:solidFill>
                    <a:prstClr val="black"/>
                  </a:solidFill>
                </a:rPr>
                <a:t>Vacation Leave</a:t>
              </a:r>
            </a:p>
            <a:p>
              <a:pPr fontAlgn="base">
                <a:spcBef>
                  <a:spcPct val="0"/>
                </a:spcBef>
                <a:spcAft>
                  <a:spcPct val="0"/>
                </a:spcAft>
              </a:pPr>
              <a:r>
                <a:rPr lang="en-GB" sz="800" dirty="0">
                  <a:solidFill>
                    <a:prstClr val="black"/>
                  </a:solidFill>
                </a:rPr>
                <a:t>Sick Leave</a:t>
              </a:r>
            </a:p>
            <a:p>
              <a:pPr fontAlgn="base">
                <a:spcBef>
                  <a:spcPct val="0"/>
                </a:spcBef>
                <a:spcAft>
                  <a:spcPct val="0"/>
                </a:spcAft>
              </a:pPr>
              <a:r>
                <a:rPr lang="en-GB" sz="800" dirty="0">
                  <a:solidFill>
                    <a:prstClr val="black"/>
                  </a:solidFill>
                </a:rPr>
                <a:t>Maternity &amp; Paternity Leave</a:t>
              </a:r>
            </a:p>
            <a:p>
              <a:pPr fontAlgn="base">
                <a:spcBef>
                  <a:spcPct val="0"/>
                </a:spcBef>
                <a:spcAft>
                  <a:spcPct val="0"/>
                </a:spcAft>
              </a:pPr>
              <a:r>
                <a:rPr lang="en-GB" sz="800" dirty="0">
                  <a:solidFill>
                    <a:prstClr val="black"/>
                  </a:solidFill>
                </a:rPr>
                <a:t>Emergency Leave</a:t>
              </a:r>
            </a:p>
          </p:txBody>
        </p:sp>
      </p:grpSp>
      <p:sp>
        <p:nvSpPr>
          <p:cNvPr id="6" name="Rectangle 5"/>
          <p:cNvSpPr/>
          <p:nvPr/>
        </p:nvSpPr>
        <p:spPr>
          <a:xfrm>
            <a:off x="1737770" y="2404288"/>
            <a:ext cx="4110580" cy="600164"/>
          </a:xfrm>
          <a:prstGeom prst="rect">
            <a:avLst/>
          </a:prstGeom>
        </p:spPr>
        <p:txBody>
          <a:bodyPr wrap="square">
            <a:spAutoFit/>
          </a:bodyPr>
          <a:lstStyle/>
          <a:p>
            <a:r>
              <a:rPr lang="en-US" sz="1100" dirty="0">
                <a:solidFill>
                  <a:prstClr val="black"/>
                </a:solidFill>
              </a:rPr>
              <a:t>Team coordinators, senior team coordinators and managers are included in measuring monthly and year-to-date team utilization. </a:t>
            </a:r>
          </a:p>
        </p:txBody>
      </p:sp>
    </p:spTree>
    <p:custDataLst>
      <p:tags r:id="rId1"/>
    </p:custDataLst>
    <p:extLst>
      <p:ext uri="{BB962C8B-B14F-4D97-AF65-F5344CB8AC3E}">
        <p14:creationId xmlns:p14="http://schemas.microsoft.com/office/powerpoint/2010/main" val="3939857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D175-4719-4BC4-87EC-B621160B49CF}"/>
              </a:ext>
            </a:extLst>
          </p:cNvPr>
          <p:cNvSpPr>
            <a:spLocks noGrp="1"/>
          </p:cNvSpPr>
          <p:nvPr>
            <p:ph type="title"/>
          </p:nvPr>
        </p:nvSpPr>
        <p:spPr/>
        <p:txBody>
          <a:bodyPr/>
          <a:lstStyle/>
          <a:p>
            <a:r>
              <a:rPr lang="en-US" dirty="0"/>
              <a:t>People</a:t>
            </a:r>
          </a:p>
        </p:txBody>
      </p:sp>
      <p:sp>
        <p:nvSpPr>
          <p:cNvPr id="5" name="Slide Number Placeholder 4">
            <a:extLst>
              <a:ext uri="{FF2B5EF4-FFF2-40B4-BE49-F238E27FC236}">
                <a16:creationId xmlns:a16="http://schemas.microsoft.com/office/drawing/2014/main" id="{166F179E-99AA-4BB4-A3B5-0CBAB3B19C08}"/>
              </a:ext>
            </a:extLst>
          </p:cNvPr>
          <p:cNvSpPr>
            <a:spLocks noGrp="1"/>
          </p:cNvSpPr>
          <p:nvPr>
            <p:ph type="sldNum" sz="quarter" idx="4"/>
          </p:nvPr>
        </p:nvSpPr>
        <p:spPr/>
        <p:txBody>
          <a:bodyPr/>
          <a:lstStyle/>
          <a:p>
            <a:fld id="{2083E393-C0BF-4ED8-8545-7E4C90AFF831}" type="slidenum">
              <a:rPr lang="en-US" smtClean="0"/>
              <a:pPr/>
              <a:t>32</a:t>
            </a:fld>
            <a:endParaRPr lang="en-US" dirty="0"/>
          </a:p>
        </p:txBody>
      </p:sp>
      <p:sp>
        <p:nvSpPr>
          <p:cNvPr id="6" name="Footer Placeholder 5">
            <a:extLst>
              <a:ext uri="{FF2B5EF4-FFF2-40B4-BE49-F238E27FC236}">
                <a16:creationId xmlns:a16="http://schemas.microsoft.com/office/drawing/2014/main" id="{0659B65D-A602-465B-BB26-5590015744CA}"/>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pSp>
        <p:nvGrpSpPr>
          <p:cNvPr id="7" name="Group 6">
            <a:extLst>
              <a:ext uri="{FF2B5EF4-FFF2-40B4-BE49-F238E27FC236}">
                <a16:creationId xmlns:a16="http://schemas.microsoft.com/office/drawing/2014/main" id="{A2A27BE5-D5D0-4CE6-BF7B-A4FF979F040D}"/>
              </a:ext>
            </a:extLst>
          </p:cNvPr>
          <p:cNvGrpSpPr/>
          <p:nvPr/>
        </p:nvGrpSpPr>
        <p:grpSpPr>
          <a:xfrm>
            <a:off x="1074613" y="171034"/>
            <a:ext cx="5237162" cy="5038793"/>
            <a:chOff x="598488" y="499110"/>
            <a:chExt cx="5237162" cy="5038793"/>
          </a:xfrm>
        </p:grpSpPr>
        <p:grpSp>
          <p:nvGrpSpPr>
            <p:cNvPr id="8" name="Group 7">
              <a:extLst>
                <a:ext uri="{FF2B5EF4-FFF2-40B4-BE49-F238E27FC236}">
                  <a16:creationId xmlns:a16="http://schemas.microsoft.com/office/drawing/2014/main" id="{686A32C7-41A5-41F5-855C-25811EFA5FFE}"/>
                </a:ext>
              </a:extLst>
            </p:cNvPr>
            <p:cNvGrpSpPr/>
            <p:nvPr/>
          </p:nvGrpSpPr>
          <p:grpSpPr>
            <a:xfrm>
              <a:off x="598488" y="499110"/>
              <a:ext cx="4248150" cy="5038793"/>
              <a:chOff x="4109358" y="473331"/>
              <a:chExt cx="4767942" cy="5655327"/>
            </a:xfrm>
          </p:grpSpPr>
          <p:grpSp>
            <p:nvGrpSpPr>
              <p:cNvPr id="18" name="Group 17">
                <a:extLst>
                  <a:ext uri="{FF2B5EF4-FFF2-40B4-BE49-F238E27FC236}">
                    <a16:creationId xmlns:a16="http://schemas.microsoft.com/office/drawing/2014/main" id="{9C60DE40-BA9C-4AC7-9092-7BC06104AC43}"/>
                  </a:ext>
                </a:extLst>
              </p:cNvPr>
              <p:cNvGrpSpPr/>
              <p:nvPr/>
            </p:nvGrpSpPr>
            <p:grpSpPr>
              <a:xfrm>
                <a:off x="4109358" y="1524000"/>
                <a:ext cx="4767942" cy="4604658"/>
                <a:chOff x="3004458" y="1524000"/>
                <a:chExt cx="6977742" cy="4604658"/>
              </a:xfrm>
            </p:grpSpPr>
            <p:sp>
              <p:nvSpPr>
                <p:cNvPr id="20" name="Oval 19">
                  <a:extLst>
                    <a:ext uri="{FF2B5EF4-FFF2-40B4-BE49-F238E27FC236}">
                      <a16:creationId xmlns:a16="http://schemas.microsoft.com/office/drawing/2014/main" id="{5D2D94EA-3A31-42CF-BD74-B1BED01ADDD0}"/>
                    </a:ext>
                  </a:extLst>
                </p:cNvPr>
                <p:cNvSpPr/>
                <p:nvPr/>
              </p:nvSpPr>
              <p:spPr>
                <a:xfrm>
                  <a:off x="3004458" y="1524000"/>
                  <a:ext cx="6977742" cy="4604658"/>
                </a:xfrm>
                <a:prstGeom prst="ellipse">
                  <a:avLst/>
                </a:prstGeom>
                <a:solidFill>
                  <a:srgbClr val="C8D7DF"/>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endParaRPr lang="en-US" sz="1200" dirty="0">
                    <a:solidFill>
                      <a:prstClr val="black"/>
                    </a:solidFill>
                  </a:endParaRPr>
                </a:p>
              </p:txBody>
            </p:sp>
            <p:sp>
              <p:nvSpPr>
                <p:cNvPr id="21" name="Oval 20">
                  <a:extLst>
                    <a:ext uri="{FF2B5EF4-FFF2-40B4-BE49-F238E27FC236}">
                      <a16:creationId xmlns:a16="http://schemas.microsoft.com/office/drawing/2014/main" id="{72457813-FC83-4E77-9FA9-7C378A4AF1B9}"/>
                    </a:ext>
                  </a:extLst>
                </p:cNvPr>
                <p:cNvSpPr/>
                <p:nvPr/>
              </p:nvSpPr>
              <p:spPr>
                <a:xfrm>
                  <a:off x="4724666" y="1524000"/>
                  <a:ext cx="3537328" cy="2266950"/>
                </a:xfrm>
                <a:prstGeom prst="ellipse">
                  <a:avLst/>
                </a:prstGeom>
                <a:solidFill>
                  <a:srgbClr val="D8D7DF"/>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endParaRPr lang="en-US" sz="1200" dirty="0">
                    <a:solidFill>
                      <a:prstClr val="black"/>
                    </a:solidFill>
                  </a:endParaRPr>
                </a:p>
              </p:txBody>
            </p:sp>
            <p:sp>
              <p:nvSpPr>
                <p:cNvPr id="22" name="TextBox 21">
                  <a:extLst>
                    <a:ext uri="{FF2B5EF4-FFF2-40B4-BE49-F238E27FC236}">
                      <a16:creationId xmlns:a16="http://schemas.microsoft.com/office/drawing/2014/main" id="{8C9D3B9E-B8B1-4226-AA39-778AD2951B41}"/>
                    </a:ext>
                  </a:extLst>
                </p:cNvPr>
                <p:cNvSpPr txBox="1"/>
                <p:nvPr/>
              </p:nvSpPr>
              <p:spPr>
                <a:xfrm>
                  <a:off x="5371601" y="2667013"/>
                  <a:ext cx="2243454" cy="990374"/>
                </a:xfrm>
                <a:prstGeom prst="rect">
                  <a:avLst/>
                </a:prstGeom>
                <a:noFill/>
              </p:spPr>
              <p:txBody>
                <a:bodyPr wrap="none" rtlCol="0">
                  <a:prstTxWarp prst="textArchDown">
                    <a:avLst/>
                  </a:prstTxWarp>
                  <a:spAutoFit/>
                </a:bodyPr>
                <a:lstStyle/>
                <a:p>
                  <a:pPr algn="ctr"/>
                  <a:r>
                    <a:rPr lang="en-US" sz="1200" dirty="0">
                      <a:solidFill>
                        <a:prstClr val="black"/>
                      </a:solidFill>
                    </a:rPr>
                    <a:t>Team Leaders*</a:t>
                  </a:r>
                </a:p>
              </p:txBody>
            </p:sp>
            <p:sp>
              <p:nvSpPr>
                <p:cNvPr id="23" name="TextBox 22">
                  <a:extLst>
                    <a:ext uri="{FF2B5EF4-FFF2-40B4-BE49-F238E27FC236}">
                      <a16:creationId xmlns:a16="http://schemas.microsoft.com/office/drawing/2014/main" id="{9A62D3C7-9A4E-41AB-AF0B-35367C0F9664}"/>
                    </a:ext>
                  </a:extLst>
                </p:cNvPr>
                <p:cNvSpPr txBox="1"/>
                <p:nvPr/>
              </p:nvSpPr>
              <p:spPr>
                <a:xfrm>
                  <a:off x="5371602" y="5302250"/>
                  <a:ext cx="2243454" cy="698287"/>
                </a:xfrm>
                <a:prstGeom prst="rect">
                  <a:avLst/>
                </a:prstGeom>
                <a:noFill/>
              </p:spPr>
              <p:txBody>
                <a:bodyPr wrap="none" rtlCol="0">
                  <a:prstTxWarp prst="textArchDown">
                    <a:avLst/>
                  </a:prstTxWarp>
                  <a:spAutoFit/>
                </a:bodyPr>
                <a:lstStyle/>
                <a:p>
                  <a:pPr algn="ctr"/>
                  <a:r>
                    <a:rPr lang="en-US" sz="1200" dirty="0">
                      <a:solidFill>
                        <a:prstClr val="black"/>
                      </a:solidFill>
                    </a:rPr>
                    <a:t>Analysts*</a:t>
                  </a:r>
                </a:p>
              </p:txBody>
            </p:sp>
            <p:sp>
              <p:nvSpPr>
                <p:cNvPr id="24" name="Oval 23">
                  <a:extLst>
                    <a:ext uri="{FF2B5EF4-FFF2-40B4-BE49-F238E27FC236}">
                      <a16:creationId xmlns:a16="http://schemas.microsoft.com/office/drawing/2014/main" id="{2075CC48-7435-4F50-952E-2EFB0789C2EC}"/>
                    </a:ext>
                  </a:extLst>
                </p:cNvPr>
                <p:cNvSpPr/>
                <p:nvPr/>
              </p:nvSpPr>
              <p:spPr>
                <a:xfrm>
                  <a:off x="5736946" y="1524000"/>
                  <a:ext cx="1512766" cy="998284"/>
                </a:xfrm>
                <a:prstGeom prst="ellipse">
                  <a:avLst/>
                </a:prstGeom>
                <a:solidFill>
                  <a:srgbClr val="DDD0CF"/>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sz="1200" dirty="0">
                    <a:solidFill>
                      <a:prstClr val="black"/>
                    </a:solidFill>
                  </a:endParaRPr>
                </a:p>
              </p:txBody>
            </p:sp>
          </p:grpSp>
          <p:sp>
            <p:nvSpPr>
              <p:cNvPr id="19" name="TextBox 18">
                <a:extLst>
                  <a:ext uri="{FF2B5EF4-FFF2-40B4-BE49-F238E27FC236}">
                    <a16:creationId xmlns:a16="http://schemas.microsoft.com/office/drawing/2014/main" id="{3627005A-D980-46E7-AD68-CC7E1439662F}"/>
                  </a:ext>
                </a:extLst>
              </p:cNvPr>
              <p:cNvSpPr txBox="1"/>
              <p:nvPr/>
            </p:nvSpPr>
            <p:spPr>
              <a:xfrm>
                <a:off x="5371603" y="473331"/>
                <a:ext cx="2243454" cy="1907964"/>
              </a:xfrm>
              <a:prstGeom prst="rect">
                <a:avLst/>
              </a:prstGeom>
              <a:noFill/>
            </p:spPr>
            <p:txBody>
              <a:bodyPr wrap="none" rtlCol="0">
                <a:prstTxWarp prst="textArchDown">
                  <a:avLst/>
                </a:prstTxWarp>
                <a:spAutoFit/>
              </a:bodyPr>
              <a:lstStyle/>
              <a:p>
                <a:pPr algn="ctr"/>
                <a:r>
                  <a:rPr lang="en-US" sz="1050" dirty="0">
                    <a:solidFill>
                      <a:prstClr val="black"/>
                    </a:solidFill>
                  </a:rPr>
                  <a:t>Managers*</a:t>
                </a:r>
              </a:p>
            </p:txBody>
          </p:sp>
        </p:grpSp>
        <p:sp>
          <p:nvSpPr>
            <p:cNvPr id="9" name="TextBox 8">
              <a:extLst>
                <a:ext uri="{FF2B5EF4-FFF2-40B4-BE49-F238E27FC236}">
                  <a16:creationId xmlns:a16="http://schemas.microsoft.com/office/drawing/2014/main" id="{75B89B25-C070-4B38-9116-F4D7E319B06D}"/>
                </a:ext>
              </a:extLst>
            </p:cNvPr>
            <p:cNvSpPr txBox="1"/>
            <p:nvPr/>
          </p:nvSpPr>
          <p:spPr>
            <a:xfrm>
              <a:off x="2407414" y="1655888"/>
              <a:ext cx="630301" cy="461665"/>
            </a:xfrm>
            <a:prstGeom prst="rect">
              <a:avLst/>
            </a:prstGeom>
            <a:noFill/>
          </p:spPr>
          <p:txBody>
            <a:bodyPr wrap="none" rtlCol="0">
              <a:spAutoFit/>
            </a:bodyPr>
            <a:lstStyle/>
            <a:p>
              <a:pPr algn="ctr"/>
              <a:r>
                <a:rPr lang="en-US" sz="2400" dirty="0">
                  <a:solidFill>
                    <a:prstClr val="black"/>
                  </a:solidFill>
                </a:rPr>
                <a:t>1%</a:t>
              </a:r>
            </a:p>
          </p:txBody>
        </p:sp>
        <p:sp>
          <p:nvSpPr>
            <p:cNvPr id="10" name="TextBox 9">
              <a:extLst>
                <a:ext uri="{FF2B5EF4-FFF2-40B4-BE49-F238E27FC236}">
                  <a16:creationId xmlns:a16="http://schemas.microsoft.com/office/drawing/2014/main" id="{2117B06F-609D-4696-A5DF-2074F1CDED06}"/>
                </a:ext>
              </a:extLst>
            </p:cNvPr>
            <p:cNvSpPr txBox="1"/>
            <p:nvPr/>
          </p:nvSpPr>
          <p:spPr>
            <a:xfrm>
              <a:off x="2407414" y="2555468"/>
              <a:ext cx="630301" cy="461665"/>
            </a:xfrm>
            <a:prstGeom prst="rect">
              <a:avLst/>
            </a:prstGeom>
            <a:noFill/>
          </p:spPr>
          <p:txBody>
            <a:bodyPr wrap="none" rtlCol="0">
              <a:spAutoFit/>
            </a:bodyPr>
            <a:lstStyle/>
            <a:p>
              <a:pPr algn="ctr"/>
              <a:r>
                <a:rPr lang="en-US" sz="2400" dirty="0">
                  <a:solidFill>
                    <a:prstClr val="black"/>
                  </a:solidFill>
                </a:rPr>
                <a:t>8%</a:t>
              </a:r>
            </a:p>
          </p:txBody>
        </p:sp>
        <p:sp>
          <p:nvSpPr>
            <p:cNvPr id="11" name="TextBox 10">
              <a:extLst>
                <a:ext uri="{FF2B5EF4-FFF2-40B4-BE49-F238E27FC236}">
                  <a16:creationId xmlns:a16="http://schemas.microsoft.com/office/drawing/2014/main" id="{A6F018D4-7FE1-4858-ABA9-3CFEA3B39D6E}"/>
                </a:ext>
              </a:extLst>
            </p:cNvPr>
            <p:cNvSpPr txBox="1"/>
            <p:nvPr/>
          </p:nvSpPr>
          <p:spPr>
            <a:xfrm>
              <a:off x="2407414" y="4740722"/>
              <a:ext cx="801823" cy="461665"/>
            </a:xfrm>
            <a:prstGeom prst="rect">
              <a:avLst/>
            </a:prstGeom>
            <a:noFill/>
          </p:spPr>
          <p:txBody>
            <a:bodyPr wrap="none" rtlCol="0">
              <a:spAutoFit/>
            </a:bodyPr>
            <a:lstStyle/>
            <a:p>
              <a:pPr algn="ctr"/>
              <a:r>
                <a:rPr lang="en-US" sz="2400" dirty="0">
                  <a:solidFill>
                    <a:prstClr val="black"/>
                  </a:solidFill>
                </a:rPr>
                <a:t>91%</a:t>
              </a:r>
            </a:p>
          </p:txBody>
        </p:sp>
        <p:sp>
          <p:nvSpPr>
            <p:cNvPr id="12" name="Oval 11">
              <a:extLst>
                <a:ext uri="{FF2B5EF4-FFF2-40B4-BE49-F238E27FC236}">
                  <a16:creationId xmlns:a16="http://schemas.microsoft.com/office/drawing/2014/main" id="{4F6C7721-CC36-4B46-BB93-7EF5382C686A}"/>
                </a:ext>
              </a:extLst>
            </p:cNvPr>
            <p:cNvSpPr/>
            <p:nvPr/>
          </p:nvSpPr>
          <p:spPr>
            <a:xfrm>
              <a:off x="5187950" y="1838325"/>
              <a:ext cx="647700" cy="6477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prstClr val="white"/>
                  </a:solidFill>
                </a:rPr>
                <a:t>1:5</a:t>
              </a:r>
            </a:p>
          </p:txBody>
        </p:sp>
        <p:cxnSp>
          <p:nvCxnSpPr>
            <p:cNvPr id="13" name="Elbow Connector 12">
              <a:extLst>
                <a:ext uri="{FF2B5EF4-FFF2-40B4-BE49-F238E27FC236}">
                  <a16:creationId xmlns:a16="http://schemas.microsoft.com/office/drawing/2014/main" id="{1162411C-048B-42C3-B98D-DEF2DA04E12C}"/>
                </a:ext>
              </a:extLst>
            </p:cNvPr>
            <p:cNvCxnSpPr>
              <a:endCxn id="12" idx="2"/>
            </p:cNvCxnSpPr>
            <p:nvPr/>
          </p:nvCxnSpPr>
          <p:spPr>
            <a:xfrm flipV="1">
              <a:off x="3799351" y="2162175"/>
              <a:ext cx="1388599" cy="169566"/>
            </a:xfrm>
            <a:prstGeom prst="bentConnector3">
              <a:avLst>
                <a:gd name="adj1" fmla="val 87576"/>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9FF2F225-CDF3-45B2-940D-09CF77B94477}"/>
                </a:ext>
              </a:extLst>
            </p:cNvPr>
            <p:cNvCxnSpPr>
              <a:endCxn id="12" idx="2"/>
            </p:cNvCxnSpPr>
            <p:nvPr/>
          </p:nvCxnSpPr>
          <p:spPr>
            <a:xfrm>
              <a:off x="3183060" y="1987126"/>
              <a:ext cx="2004890" cy="175049"/>
            </a:xfrm>
            <a:prstGeom prst="bentConnector3">
              <a:avLst>
                <a:gd name="adj1" fmla="val 91408"/>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0CB2587-9AAB-429E-AE80-3B1A8A7C456F}"/>
                </a:ext>
              </a:extLst>
            </p:cNvPr>
            <p:cNvSpPr/>
            <p:nvPr/>
          </p:nvSpPr>
          <p:spPr>
            <a:xfrm>
              <a:off x="5187950" y="2630483"/>
              <a:ext cx="647700" cy="6477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prstClr val="white"/>
                </a:solidFill>
              </a:endParaRPr>
            </a:p>
          </p:txBody>
        </p:sp>
        <p:cxnSp>
          <p:nvCxnSpPr>
            <p:cNvPr id="16" name="Elbow Connector 15">
              <a:extLst>
                <a:ext uri="{FF2B5EF4-FFF2-40B4-BE49-F238E27FC236}">
                  <a16:creationId xmlns:a16="http://schemas.microsoft.com/office/drawing/2014/main" id="{7341CC3C-47F7-4043-9238-FEB29CB3B383}"/>
                </a:ext>
              </a:extLst>
            </p:cNvPr>
            <p:cNvCxnSpPr>
              <a:endCxn id="15" idx="2"/>
            </p:cNvCxnSpPr>
            <p:nvPr/>
          </p:nvCxnSpPr>
          <p:spPr>
            <a:xfrm>
              <a:off x="3810000" y="2519363"/>
              <a:ext cx="1377950" cy="434970"/>
            </a:xfrm>
            <a:prstGeom prst="bentConnector3">
              <a:avLst>
                <a:gd name="adj1" fmla="val 87771"/>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30317BE4-A9AA-4EC8-B069-9738B7361BCE}"/>
                </a:ext>
              </a:extLst>
            </p:cNvPr>
            <p:cNvCxnSpPr>
              <a:stCxn id="20" idx="6"/>
              <a:endCxn id="15" idx="2"/>
            </p:cNvCxnSpPr>
            <p:nvPr/>
          </p:nvCxnSpPr>
          <p:spPr>
            <a:xfrm flipV="1">
              <a:off x="4846638" y="2954333"/>
              <a:ext cx="341312" cy="532237"/>
            </a:xfrm>
            <a:prstGeom prst="bentConnector3">
              <a:avLst>
                <a:gd name="adj1" fmla="val 50125"/>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26" name="Table 25">
            <a:extLst>
              <a:ext uri="{FF2B5EF4-FFF2-40B4-BE49-F238E27FC236}">
                <a16:creationId xmlns:a16="http://schemas.microsoft.com/office/drawing/2014/main" id="{5FBCE220-1BDD-42A9-B482-F06DD9DECA48}"/>
              </a:ext>
            </a:extLst>
          </p:cNvPr>
          <p:cNvGraphicFramePr>
            <a:graphicFrameLocks noGrp="1"/>
          </p:cNvGraphicFramePr>
          <p:nvPr>
            <p:extLst>
              <p:ext uri="{D42A27DB-BD31-4B8C-83A1-F6EECF244321}">
                <p14:modId xmlns:p14="http://schemas.microsoft.com/office/powerpoint/2010/main" val="386054928"/>
              </p:ext>
            </p:extLst>
          </p:nvPr>
        </p:nvGraphicFramePr>
        <p:xfrm>
          <a:off x="6921954" y="3170145"/>
          <a:ext cx="3540126" cy="1371600"/>
        </p:xfrm>
        <a:graphic>
          <a:graphicData uri="http://schemas.openxmlformats.org/drawingml/2006/table">
            <a:tbl>
              <a:tblPr firstRow="1" bandRow="1">
                <a:tableStyleId>{5C22544A-7EE6-4342-B048-85BDC9FD1C3A}</a:tableStyleId>
              </a:tblPr>
              <a:tblGrid>
                <a:gridCol w="1272300">
                  <a:extLst>
                    <a:ext uri="{9D8B030D-6E8A-4147-A177-3AD203B41FA5}">
                      <a16:colId xmlns:a16="http://schemas.microsoft.com/office/drawing/2014/main" val="20000"/>
                    </a:ext>
                  </a:extLst>
                </a:gridCol>
                <a:gridCol w="1086726">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tblGrid>
              <a:tr h="0">
                <a:tc>
                  <a:txBody>
                    <a:bodyPr/>
                    <a:lstStyle/>
                    <a:p>
                      <a:r>
                        <a:rPr lang="en-US" sz="1200" dirty="0"/>
                        <a:t>By Tenure</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en-US" sz="1200" dirty="0"/>
                        <a:t>Headcount</a:t>
                      </a:r>
                    </a:p>
                  </a:txBody>
                  <a:tcPr anchor="ctr">
                    <a:lnT w="12700" cap="flat" cmpd="sng" algn="ctr">
                      <a:noFill/>
                      <a:prstDash val="solid"/>
                      <a:round/>
                      <a:headEnd type="none" w="med" len="med"/>
                      <a:tailEnd type="none" w="med" len="med"/>
                    </a:lnT>
                  </a:tcPr>
                </a:tc>
                <a:tc>
                  <a:txBody>
                    <a:bodyPr/>
                    <a:lstStyle/>
                    <a:p>
                      <a:pPr algn="ctr"/>
                      <a:r>
                        <a:rPr lang="en-US" sz="1200" dirty="0"/>
                        <a:t>YTD Attrition</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0000"/>
                  </a:ext>
                </a:extLst>
              </a:tr>
              <a:tr h="119380">
                <a:tc>
                  <a:txBody>
                    <a:bodyPr/>
                    <a:lstStyle/>
                    <a:p>
                      <a:r>
                        <a:rPr lang="en-US" sz="1200" dirty="0"/>
                        <a:t>&lt; 1 year</a:t>
                      </a:r>
                    </a:p>
                  </a:txBody>
                  <a:tcPr anchor="ctr">
                    <a:lnL w="12700" cap="flat" cmpd="sng" algn="ctr">
                      <a:noFill/>
                      <a:prstDash val="solid"/>
                      <a:round/>
                      <a:headEnd type="none" w="med" len="med"/>
                      <a:tailEnd type="none" w="med" len="med"/>
                    </a:lnL>
                  </a:tcPr>
                </a:tc>
                <a:tc>
                  <a:txBody>
                    <a:bodyPr/>
                    <a:lstStyle/>
                    <a:p>
                      <a:pPr algn="ctr"/>
                      <a:r>
                        <a:rPr lang="en-PH" sz="1200" dirty="0"/>
                        <a:t>31%</a:t>
                      </a:r>
                      <a:endParaRPr lang="en-US" sz="1200" dirty="0"/>
                    </a:p>
                  </a:txBody>
                  <a:tcPr anchor="ctr"/>
                </a:tc>
                <a:tc>
                  <a:txBody>
                    <a:bodyPr/>
                    <a:lstStyle/>
                    <a:p>
                      <a:pPr algn="ctr"/>
                      <a:r>
                        <a:rPr lang="en-PH" sz="1200" dirty="0"/>
                        <a:t>1</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1"/>
                  </a:ext>
                </a:extLst>
              </a:tr>
              <a:tr h="119380">
                <a:tc>
                  <a:txBody>
                    <a:bodyPr/>
                    <a:lstStyle/>
                    <a:p>
                      <a:r>
                        <a:rPr lang="en-PH" sz="1200" dirty="0"/>
                        <a:t>1-3</a:t>
                      </a:r>
                      <a:r>
                        <a:rPr lang="en-PH" sz="1200" baseline="0" dirty="0"/>
                        <a:t> years</a:t>
                      </a:r>
                      <a:endParaRPr lang="en-US" sz="1200" dirty="0"/>
                    </a:p>
                  </a:txBody>
                  <a:tcPr anchor="ctr">
                    <a:lnL w="12700" cap="flat" cmpd="sng" algn="ctr">
                      <a:noFill/>
                      <a:prstDash val="solid"/>
                      <a:round/>
                      <a:headEnd type="none" w="med" len="med"/>
                      <a:tailEnd type="none" w="med" len="med"/>
                    </a:lnL>
                  </a:tcPr>
                </a:tc>
                <a:tc>
                  <a:txBody>
                    <a:bodyPr/>
                    <a:lstStyle/>
                    <a:p>
                      <a:pPr algn="ctr"/>
                      <a:r>
                        <a:rPr lang="en-PH" sz="1200" dirty="0"/>
                        <a:t>68%</a:t>
                      </a:r>
                      <a:endParaRPr lang="en-US" sz="1200" dirty="0"/>
                    </a:p>
                  </a:txBody>
                  <a:tcPr anchor="ctr"/>
                </a:tc>
                <a:tc>
                  <a:txBody>
                    <a:bodyPr/>
                    <a:lstStyle/>
                    <a:p>
                      <a:pPr algn="ctr"/>
                      <a:r>
                        <a:rPr lang="en-PH" sz="1200" dirty="0"/>
                        <a:t>1</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2"/>
                  </a:ext>
                </a:extLst>
              </a:tr>
              <a:tr h="119380">
                <a:tc>
                  <a:txBody>
                    <a:bodyPr/>
                    <a:lstStyle/>
                    <a:p>
                      <a:r>
                        <a:rPr lang="en-PH" sz="1200" dirty="0"/>
                        <a:t>4-5</a:t>
                      </a:r>
                      <a:r>
                        <a:rPr lang="en-PH" sz="1200" baseline="0" dirty="0"/>
                        <a:t> years</a:t>
                      </a:r>
                      <a:endParaRPr lang="en-US" sz="1200" dirty="0"/>
                    </a:p>
                  </a:txBody>
                  <a:tcPr anchor="ctr">
                    <a:lnL w="12700" cap="flat" cmpd="sng" algn="ctr">
                      <a:noFill/>
                      <a:prstDash val="solid"/>
                      <a:round/>
                      <a:headEnd type="none" w="med" len="med"/>
                      <a:tailEnd type="none" w="med" len="med"/>
                    </a:lnL>
                  </a:tcPr>
                </a:tc>
                <a:tc>
                  <a:txBody>
                    <a:bodyPr/>
                    <a:lstStyle/>
                    <a:p>
                      <a:pPr algn="ctr"/>
                      <a:r>
                        <a:rPr lang="en-PH" sz="1200" dirty="0"/>
                        <a:t>0%</a:t>
                      </a:r>
                      <a:endParaRPr lang="en-US" sz="1200" dirty="0"/>
                    </a:p>
                  </a:txBody>
                  <a:tcPr anchor="ctr"/>
                </a:tc>
                <a:tc>
                  <a:txBody>
                    <a:bodyPr/>
                    <a:lstStyle/>
                    <a:p>
                      <a:pPr algn="ctr"/>
                      <a:r>
                        <a:rPr lang="en-PH" sz="1200" dirty="0"/>
                        <a:t>0</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3"/>
                  </a:ext>
                </a:extLst>
              </a:tr>
              <a:tr h="119380">
                <a:tc>
                  <a:txBody>
                    <a:bodyPr/>
                    <a:lstStyle/>
                    <a:p>
                      <a:r>
                        <a:rPr lang="en-PH" sz="1200" dirty="0"/>
                        <a:t>&gt;</a:t>
                      </a:r>
                      <a:r>
                        <a:rPr lang="en-PH" sz="1200" baseline="0" dirty="0"/>
                        <a:t> 5 years</a:t>
                      </a:r>
                      <a:endParaRPr lang="en-US" sz="1200" dirty="0"/>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n-PH" sz="1200" dirty="0"/>
                        <a:t>1%</a:t>
                      </a:r>
                      <a:endParaRPr lang="en-US" sz="1200" dirty="0"/>
                    </a:p>
                  </a:txBody>
                  <a:tcPr anchor="ctr">
                    <a:lnB w="12700" cap="flat" cmpd="sng" algn="ctr">
                      <a:noFill/>
                      <a:prstDash val="solid"/>
                      <a:round/>
                      <a:headEnd type="none" w="med" len="med"/>
                      <a:tailEnd type="none" w="med" len="med"/>
                    </a:lnB>
                  </a:tcPr>
                </a:tc>
                <a:tc>
                  <a:txBody>
                    <a:bodyPr/>
                    <a:lstStyle/>
                    <a:p>
                      <a:pPr algn="ctr"/>
                      <a:r>
                        <a:rPr lang="en-PH" sz="1200" u="none" dirty="0"/>
                        <a:t>0</a:t>
                      </a:r>
                      <a:endParaRPr lang="en-US" sz="1200" u="none" dirty="0"/>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27" name="Table 26">
            <a:extLst>
              <a:ext uri="{FF2B5EF4-FFF2-40B4-BE49-F238E27FC236}">
                <a16:creationId xmlns:a16="http://schemas.microsoft.com/office/drawing/2014/main" id="{47D4D717-BC15-478E-9125-DCE3B38371D7}"/>
              </a:ext>
            </a:extLst>
          </p:cNvPr>
          <p:cNvGraphicFramePr>
            <a:graphicFrameLocks noGrp="1"/>
          </p:cNvGraphicFramePr>
          <p:nvPr>
            <p:extLst>
              <p:ext uri="{D42A27DB-BD31-4B8C-83A1-F6EECF244321}">
                <p14:modId xmlns:p14="http://schemas.microsoft.com/office/powerpoint/2010/main" val="4031761383"/>
              </p:ext>
            </p:extLst>
          </p:nvPr>
        </p:nvGraphicFramePr>
        <p:xfrm>
          <a:off x="6921954" y="4779782"/>
          <a:ext cx="3540126" cy="1097280"/>
        </p:xfrm>
        <a:graphic>
          <a:graphicData uri="http://schemas.openxmlformats.org/drawingml/2006/table">
            <a:tbl>
              <a:tblPr firstRow="1" bandRow="1">
                <a:tableStyleId>{5C22544A-7EE6-4342-B048-85BDC9FD1C3A}</a:tableStyleId>
              </a:tblPr>
              <a:tblGrid>
                <a:gridCol w="1272300">
                  <a:extLst>
                    <a:ext uri="{9D8B030D-6E8A-4147-A177-3AD203B41FA5}">
                      <a16:colId xmlns:a16="http://schemas.microsoft.com/office/drawing/2014/main" val="20000"/>
                    </a:ext>
                  </a:extLst>
                </a:gridCol>
                <a:gridCol w="1086726">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tblGrid>
              <a:tr h="119380">
                <a:tc>
                  <a:txBody>
                    <a:bodyPr/>
                    <a:lstStyle/>
                    <a:p>
                      <a:r>
                        <a:rPr lang="en-US" sz="1200" dirty="0"/>
                        <a:t>By Job</a:t>
                      </a:r>
                      <a:r>
                        <a:rPr lang="en-US" sz="1200" baseline="0" dirty="0"/>
                        <a:t> Level</a:t>
                      </a:r>
                      <a:endParaRPr lang="en-US" sz="1200" dirty="0"/>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en-US" sz="1200" dirty="0"/>
                        <a:t>Headcount</a:t>
                      </a:r>
                    </a:p>
                  </a:txBody>
                  <a:tcPr anchor="ctr">
                    <a:lnT w="12700" cap="flat" cmpd="sng" algn="ctr">
                      <a:noFill/>
                      <a:prstDash val="solid"/>
                      <a:round/>
                      <a:headEnd type="none" w="med" len="med"/>
                      <a:tailEnd type="none" w="med" len="med"/>
                    </a:lnT>
                  </a:tcPr>
                </a:tc>
                <a:tc>
                  <a:txBody>
                    <a:bodyPr/>
                    <a:lstStyle/>
                    <a:p>
                      <a:pPr algn="ctr"/>
                      <a:r>
                        <a:rPr lang="en-US" sz="1200" dirty="0"/>
                        <a:t>YTD Attrition</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0000"/>
                  </a:ext>
                </a:extLst>
              </a:tr>
              <a:tr h="119380">
                <a:tc>
                  <a:txBody>
                    <a:bodyPr/>
                    <a:lstStyle/>
                    <a:p>
                      <a:r>
                        <a:rPr lang="en-PH" sz="1200" dirty="0"/>
                        <a:t>68-83</a:t>
                      </a:r>
                      <a:endParaRPr lang="en-US" sz="1200" dirty="0"/>
                    </a:p>
                  </a:txBody>
                  <a:tcPr anchor="ctr">
                    <a:lnL w="12700" cap="flat" cmpd="sng" algn="ctr">
                      <a:noFill/>
                      <a:prstDash val="solid"/>
                      <a:round/>
                      <a:headEnd type="none" w="med" len="med"/>
                      <a:tailEnd type="none" w="med" len="med"/>
                    </a:lnL>
                  </a:tcPr>
                </a:tc>
                <a:tc>
                  <a:txBody>
                    <a:bodyPr/>
                    <a:lstStyle/>
                    <a:p>
                      <a:pPr algn="ctr"/>
                      <a:r>
                        <a:rPr lang="en-PH" sz="1200" dirty="0"/>
                        <a:t>78%</a:t>
                      </a:r>
                      <a:endParaRPr lang="en-US" sz="1200" dirty="0"/>
                    </a:p>
                  </a:txBody>
                  <a:tcPr anchor="ctr"/>
                </a:tc>
                <a:tc>
                  <a:txBody>
                    <a:bodyPr/>
                    <a:lstStyle/>
                    <a:p>
                      <a:pPr algn="ctr"/>
                      <a:r>
                        <a:rPr lang="en-PH" sz="1200" dirty="0"/>
                        <a:t>1</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1"/>
                  </a:ext>
                </a:extLst>
              </a:tr>
              <a:tr h="119380">
                <a:tc>
                  <a:txBody>
                    <a:bodyPr/>
                    <a:lstStyle/>
                    <a:p>
                      <a:r>
                        <a:rPr lang="en-PH" sz="1200" dirty="0"/>
                        <a:t>58-63</a:t>
                      </a:r>
                      <a:endParaRPr lang="en-US" sz="1200" dirty="0"/>
                    </a:p>
                  </a:txBody>
                  <a:tcPr anchor="ctr">
                    <a:lnL w="12700" cap="flat" cmpd="sng" algn="ctr">
                      <a:noFill/>
                      <a:prstDash val="solid"/>
                      <a:round/>
                      <a:headEnd type="none" w="med" len="med"/>
                      <a:tailEnd type="none" w="med" len="med"/>
                    </a:lnL>
                  </a:tcPr>
                </a:tc>
                <a:tc>
                  <a:txBody>
                    <a:bodyPr/>
                    <a:lstStyle/>
                    <a:p>
                      <a:pPr algn="ctr"/>
                      <a:r>
                        <a:rPr lang="en-PH" sz="1200" dirty="0"/>
                        <a:t>21%</a:t>
                      </a:r>
                      <a:endParaRPr lang="en-US" sz="1200" dirty="0"/>
                    </a:p>
                  </a:txBody>
                  <a:tcPr anchor="ctr"/>
                </a:tc>
                <a:tc>
                  <a:txBody>
                    <a:bodyPr/>
                    <a:lstStyle/>
                    <a:p>
                      <a:pPr algn="ctr"/>
                      <a:r>
                        <a:rPr lang="en-PH" sz="1200" dirty="0"/>
                        <a:t>1</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2"/>
                  </a:ext>
                </a:extLst>
              </a:tr>
              <a:tr h="119380">
                <a:tc>
                  <a:txBody>
                    <a:bodyPr/>
                    <a:lstStyle/>
                    <a:p>
                      <a:r>
                        <a:rPr lang="en-PH" sz="1200" dirty="0"/>
                        <a:t>48-53</a:t>
                      </a:r>
                      <a:endParaRPr lang="en-US" sz="1200" dirty="0"/>
                    </a:p>
                  </a:txBody>
                  <a:tcPr anchor="ctr">
                    <a:lnL w="12700" cap="flat" cmpd="sng" algn="ctr">
                      <a:noFill/>
                      <a:prstDash val="solid"/>
                      <a:round/>
                      <a:headEnd type="none" w="med" len="med"/>
                      <a:tailEnd type="none" w="med" len="med"/>
                    </a:lnL>
                  </a:tcPr>
                </a:tc>
                <a:tc>
                  <a:txBody>
                    <a:bodyPr/>
                    <a:lstStyle/>
                    <a:p>
                      <a:pPr algn="ctr"/>
                      <a:r>
                        <a:rPr lang="en-PH" sz="1200" dirty="0"/>
                        <a:t>1%</a:t>
                      </a:r>
                      <a:endParaRPr lang="en-US" sz="1200" dirty="0"/>
                    </a:p>
                  </a:txBody>
                  <a:tcPr anchor="ctr"/>
                </a:tc>
                <a:tc>
                  <a:txBody>
                    <a:bodyPr/>
                    <a:lstStyle/>
                    <a:p>
                      <a:pPr algn="ctr"/>
                      <a:r>
                        <a:rPr lang="en-PH" sz="1200" dirty="0"/>
                        <a:t>0</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graphicFrame>
        <p:nvGraphicFramePr>
          <p:cNvPr id="28" name="Table 27">
            <a:extLst>
              <a:ext uri="{FF2B5EF4-FFF2-40B4-BE49-F238E27FC236}">
                <a16:creationId xmlns:a16="http://schemas.microsoft.com/office/drawing/2014/main" id="{E7373F90-9DD7-434B-8ED5-9D0CB81012C9}"/>
              </a:ext>
            </a:extLst>
          </p:cNvPr>
          <p:cNvGraphicFramePr>
            <a:graphicFrameLocks noGrp="1"/>
          </p:cNvGraphicFramePr>
          <p:nvPr>
            <p:extLst>
              <p:ext uri="{D42A27DB-BD31-4B8C-83A1-F6EECF244321}">
                <p14:modId xmlns:p14="http://schemas.microsoft.com/office/powerpoint/2010/main" val="4279467449"/>
              </p:ext>
            </p:extLst>
          </p:nvPr>
        </p:nvGraphicFramePr>
        <p:xfrm>
          <a:off x="6921954" y="1036015"/>
          <a:ext cx="3540126" cy="1920240"/>
        </p:xfrm>
        <a:graphic>
          <a:graphicData uri="http://schemas.openxmlformats.org/drawingml/2006/table">
            <a:tbl>
              <a:tblPr firstRow="1" bandRow="1">
                <a:tableStyleId>{5C22544A-7EE6-4342-B048-85BDC9FD1C3A}</a:tableStyleId>
              </a:tblPr>
              <a:tblGrid>
                <a:gridCol w="1272300">
                  <a:extLst>
                    <a:ext uri="{9D8B030D-6E8A-4147-A177-3AD203B41FA5}">
                      <a16:colId xmlns:a16="http://schemas.microsoft.com/office/drawing/2014/main" val="20000"/>
                    </a:ext>
                  </a:extLst>
                </a:gridCol>
                <a:gridCol w="1086726">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tblGrid>
              <a:tr h="233808">
                <a:tc>
                  <a:txBody>
                    <a:bodyPr/>
                    <a:lstStyle/>
                    <a:p>
                      <a:r>
                        <a:rPr lang="en-US" sz="1200" dirty="0"/>
                        <a:t>By Region</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en-US" sz="1200" dirty="0"/>
                        <a:t>Headcount</a:t>
                      </a:r>
                    </a:p>
                  </a:txBody>
                  <a:tcPr anchor="ctr">
                    <a:lnT w="12700" cap="flat" cmpd="sng" algn="ctr">
                      <a:noFill/>
                      <a:prstDash val="solid"/>
                      <a:round/>
                      <a:headEnd type="none" w="med" len="med"/>
                      <a:tailEnd type="none" w="med" len="med"/>
                    </a:lnT>
                  </a:tcPr>
                </a:tc>
                <a:tc>
                  <a:txBody>
                    <a:bodyPr/>
                    <a:lstStyle/>
                    <a:p>
                      <a:pPr algn="ctr"/>
                      <a:r>
                        <a:rPr lang="en-US" sz="1200" dirty="0"/>
                        <a:t>YTD Attrition</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0000"/>
                  </a:ext>
                </a:extLst>
              </a:tr>
              <a:tr h="119380">
                <a:tc>
                  <a:txBody>
                    <a:bodyPr/>
                    <a:lstStyle/>
                    <a:p>
                      <a:r>
                        <a:rPr lang="en-US" sz="1200" dirty="0"/>
                        <a:t>West</a:t>
                      </a:r>
                    </a:p>
                  </a:txBody>
                  <a:tcPr anchor="ctr">
                    <a:lnL w="12700" cap="flat" cmpd="sng" algn="ctr">
                      <a:noFill/>
                      <a:prstDash val="solid"/>
                      <a:round/>
                      <a:headEnd type="none" w="med" len="med"/>
                      <a:tailEnd type="none" w="med" len="med"/>
                    </a:lnL>
                  </a:tcPr>
                </a:tc>
                <a:tc>
                  <a:txBody>
                    <a:bodyPr/>
                    <a:lstStyle/>
                    <a:p>
                      <a:pPr algn="ctr"/>
                      <a:r>
                        <a:rPr lang="en-PH" sz="1200" dirty="0"/>
                        <a:t>23</a:t>
                      </a:r>
                      <a:endParaRPr lang="en-US" sz="1200" dirty="0"/>
                    </a:p>
                  </a:txBody>
                  <a:tcPr anchor="ctr"/>
                </a:tc>
                <a:tc>
                  <a:txBody>
                    <a:bodyPr/>
                    <a:lstStyle/>
                    <a:p>
                      <a:pPr algn="ctr"/>
                      <a:r>
                        <a:rPr lang="en-PH" sz="1200" dirty="0"/>
                        <a:t>1</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1"/>
                  </a:ext>
                </a:extLst>
              </a:tr>
              <a:tr h="119380">
                <a:tc>
                  <a:txBody>
                    <a:bodyPr/>
                    <a:lstStyle/>
                    <a:p>
                      <a:r>
                        <a:rPr lang="en-US" sz="1200" dirty="0"/>
                        <a:t>Midwest</a:t>
                      </a:r>
                    </a:p>
                  </a:txBody>
                  <a:tcPr anchor="ctr">
                    <a:lnL w="12700" cap="flat" cmpd="sng" algn="ctr">
                      <a:noFill/>
                      <a:prstDash val="solid"/>
                      <a:round/>
                      <a:headEnd type="none" w="med" len="med"/>
                      <a:tailEnd type="none" w="med" len="med"/>
                    </a:lnL>
                  </a:tcPr>
                </a:tc>
                <a:tc>
                  <a:txBody>
                    <a:bodyPr/>
                    <a:lstStyle/>
                    <a:p>
                      <a:pPr algn="ctr"/>
                      <a:r>
                        <a:rPr lang="en-PH" sz="1200" dirty="0"/>
                        <a:t>15</a:t>
                      </a:r>
                      <a:endParaRPr lang="en-US" sz="1200" dirty="0"/>
                    </a:p>
                  </a:txBody>
                  <a:tcPr anchor="ctr"/>
                </a:tc>
                <a:tc>
                  <a:txBody>
                    <a:bodyPr/>
                    <a:lstStyle/>
                    <a:p>
                      <a:pPr algn="ctr"/>
                      <a:r>
                        <a:rPr lang="en-PH" sz="1200" dirty="0"/>
                        <a:t>1</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2"/>
                  </a:ext>
                </a:extLst>
              </a:tr>
              <a:tr h="119380">
                <a:tc>
                  <a:txBody>
                    <a:bodyPr/>
                    <a:lstStyle/>
                    <a:p>
                      <a:r>
                        <a:rPr lang="en-US" sz="1200" dirty="0"/>
                        <a:t>Southeast</a:t>
                      </a:r>
                    </a:p>
                  </a:txBody>
                  <a:tcPr anchor="ctr">
                    <a:lnL w="12700" cap="flat" cmpd="sng" algn="ctr">
                      <a:noFill/>
                      <a:prstDash val="solid"/>
                      <a:round/>
                      <a:headEnd type="none" w="med" len="med"/>
                      <a:tailEnd type="none" w="med" len="med"/>
                    </a:lnL>
                  </a:tcPr>
                </a:tc>
                <a:tc>
                  <a:txBody>
                    <a:bodyPr/>
                    <a:lstStyle/>
                    <a:p>
                      <a:pPr algn="ctr"/>
                      <a:r>
                        <a:rPr lang="en-PH" sz="1200" dirty="0"/>
                        <a:t>11</a:t>
                      </a:r>
                      <a:endParaRPr lang="en-US" sz="1200" dirty="0"/>
                    </a:p>
                  </a:txBody>
                  <a:tcPr anchor="ctr"/>
                </a:tc>
                <a:tc>
                  <a:txBody>
                    <a:bodyPr/>
                    <a:lstStyle/>
                    <a:p>
                      <a:pPr algn="ctr"/>
                      <a:r>
                        <a:rPr lang="en-PH" sz="1200" dirty="0"/>
                        <a:t>0</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0003"/>
                  </a:ext>
                </a:extLst>
              </a:tr>
              <a:tr h="119380">
                <a:tc>
                  <a:txBody>
                    <a:bodyPr/>
                    <a:lstStyle/>
                    <a:p>
                      <a:r>
                        <a:rPr lang="en-PH" sz="1200" dirty="0"/>
                        <a:t>Northeast</a:t>
                      </a:r>
                      <a:endParaRPr lang="en-US" sz="1200" dirty="0"/>
                    </a:p>
                  </a:txBody>
                  <a:tcPr anchor="ctr">
                    <a:lnL w="12700" cap="flat" cmpd="sng" algn="ctr">
                      <a:noFill/>
                      <a:prstDash val="solid"/>
                      <a:round/>
                      <a:headEnd type="none" w="med" len="med"/>
                      <a:tailEnd type="none" w="med" len="med"/>
                    </a:lnL>
                  </a:tcPr>
                </a:tc>
                <a:tc>
                  <a:txBody>
                    <a:bodyPr/>
                    <a:lstStyle/>
                    <a:p>
                      <a:pPr algn="ctr"/>
                      <a:r>
                        <a:rPr lang="en-PH" sz="1200" dirty="0"/>
                        <a:t>12</a:t>
                      </a:r>
                      <a:endParaRPr lang="en-US" sz="1200" dirty="0"/>
                    </a:p>
                  </a:txBody>
                  <a:tcPr anchor="ctr"/>
                </a:tc>
                <a:tc>
                  <a:txBody>
                    <a:bodyPr/>
                    <a:lstStyle/>
                    <a:p>
                      <a:pPr algn="ctr"/>
                      <a:r>
                        <a:rPr lang="en-PH" sz="1200" dirty="0"/>
                        <a:t>0</a:t>
                      </a:r>
                      <a:endParaRPr lang="en-US" sz="1200" dirty="0"/>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2184376830"/>
                  </a:ext>
                </a:extLst>
              </a:tr>
              <a:tr h="119380">
                <a:tc>
                  <a:txBody>
                    <a:bodyPr/>
                    <a:lstStyle/>
                    <a:p>
                      <a:r>
                        <a:rPr lang="en-US" sz="1200" dirty="0"/>
                        <a:t>CDT</a:t>
                      </a:r>
                    </a:p>
                  </a:txBody>
                  <a:tcPr anchor="ctr">
                    <a:lnL w="12700" cap="flat" cmpd="sng" algn="ctr">
                      <a:noFill/>
                      <a:prstDash val="solid"/>
                      <a:round/>
                      <a:headEnd type="none" w="med" len="med"/>
                      <a:tailEnd type="none" w="med" len="med"/>
                    </a:lnL>
                  </a:tcPr>
                </a:tc>
                <a:tc>
                  <a:txBody>
                    <a:bodyPr/>
                    <a:lstStyle/>
                    <a:p>
                      <a:pPr algn="ctr"/>
                      <a:r>
                        <a:rPr lang="en-US" sz="1200" dirty="0"/>
                        <a:t>10</a:t>
                      </a:r>
                    </a:p>
                  </a:txBody>
                  <a:tcPr anchor="ctr"/>
                </a:tc>
                <a:tc>
                  <a:txBody>
                    <a:bodyPr/>
                    <a:lstStyle/>
                    <a:p>
                      <a:pPr algn="ctr"/>
                      <a:r>
                        <a:rPr lang="en-US" sz="1200" dirty="0"/>
                        <a:t>0</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273289173"/>
                  </a:ext>
                </a:extLst>
              </a:tr>
              <a:tr h="119380">
                <a:tc>
                  <a:txBody>
                    <a:bodyPr/>
                    <a:lstStyle/>
                    <a:p>
                      <a:r>
                        <a:rPr lang="en-US" sz="1200" dirty="0"/>
                        <a:t>RFP</a:t>
                      </a: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n-US" sz="1200" dirty="0"/>
                        <a:t>2</a:t>
                      </a:r>
                    </a:p>
                  </a:txBody>
                  <a:tcPr anchor="ctr">
                    <a:lnB w="12700" cap="flat" cmpd="sng" algn="ctr">
                      <a:noFill/>
                      <a:prstDash val="solid"/>
                      <a:round/>
                      <a:headEnd type="none" w="med" len="med"/>
                      <a:tailEnd type="none" w="med" len="med"/>
                    </a:lnB>
                  </a:tcPr>
                </a:tc>
                <a:tc>
                  <a:txBody>
                    <a:bodyPr/>
                    <a:lstStyle/>
                    <a:p>
                      <a:pPr algn="ctr"/>
                      <a:r>
                        <a:rPr lang="en-US" sz="1200" dirty="0"/>
                        <a:t>0</a:t>
                      </a: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897012069"/>
                  </a:ext>
                </a:extLst>
              </a:tr>
            </a:tbl>
          </a:graphicData>
        </a:graphic>
      </p:graphicFrame>
      <p:sp>
        <p:nvSpPr>
          <p:cNvPr id="29" name="TextBox 28">
            <a:extLst>
              <a:ext uri="{FF2B5EF4-FFF2-40B4-BE49-F238E27FC236}">
                <a16:creationId xmlns:a16="http://schemas.microsoft.com/office/drawing/2014/main" id="{0DB172A5-BD75-409B-B44A-2452CA66E3EE}"/>
              </a:ext>
            </a:extLst>
          </p:cNvPr>
          <p:cNvSpPr txBox="1"/>
          <p:nvPr/>
        </p:nvSpPr>
        <p:spPr>
          <a:xfrm>
            <a:off x="5654562" y="2480404"/>
            <a:ext cx="641535" cy="307777"/>
          </a:xfrm>
          <a:prstGeom prst="rect">
            <a:avLst/>
          </a:prstGeom>
          <a:noFill/>
        </p:spPr>
        <p:txBody>
          <a:bodyPr wrap="square" rtlCol="0">
            <a:spAutoFit/>
          </a:bodyPr>
          <a:lstStyle/>
          <a:p>
            <a:pPr algn="ctr"/>
            <a:r>
              <a:rPr lang="en-US" sz="1400" dirty="0">
                <a:solidFill>
                  <a:prstClr val="white"/>
                </a:solidFill>
              </a:rPr>
              <a:t>1:12</a:t>
            </a:r>
          </a:p>
        </p:txBody>
      </p:sp>
      <p:sp>
        <p:nvSpPr>
          <p:cNvPr id="30" name="TextBox 29">
            <a:extLst>
              <a:ext uri="{FF2B5EF4-FFF2-40B4-BE49-F238E27FC236}">
                <a16:creationId xmlns:a16="http://schemas.microsoft.com/office/drawing/2014/main" id="{7059FBF4-9F90-4D75-B55D-577B8BED5CBE}"/>
              </a:ext>
            </a:extLst>
          </p:cNvPr>
          <p:cNvSpPr txBox="1"/>
          <p:nvPr/>
        </p:nvSpPr>
        <p:spPr>
          <a:xfrm>
            <a:off x="6921954" y="5976599"/>
            <a:ext cx="3223645" cy="276999"/>
          </a:xfrm>
          <a:prstGeom prst="rect">
            <a:avLst/>
          </a:prstGeom>
          <a:noFill/>
        </p:spPr>
        <p:txBody>
          <a:bodyPr wrap="square" rtlCol="0">
            <a:spAutoFit/>
          </a:bodyPr>
          <a:lstStyle/>
          <a:p>
            <a:r>
              <a:rPr lang="en-US" sz="1200" i="1" dirty="0"/>
              <a:t>Attrition: 1 voluntary, 1 non-regularization</a:t>
            </a:r>
          </a:p>
        </p:txBody>
      </p:sp>
      <p:sp>
        <p:nvSpPr>
          <p:cNvPr id="31" name="TextBox 30">
            <a:extLst>
              <a:ext uri="{FF2B5EF4-FFF2-40B4-BE49-F238E27FC236}">
                <a16:creationId xmlns:a16="http://schemas.microsoft.com/office/drawing/2014/main" id="{C6EE4C87-B4F4-409D-9BCA-22A70A8F9C90}"/>
              </a:ext>
            </a:extLst>
          </p:cNvPr>
          <p:cNvSpPr txBox="1"/>
          <p:nvPr/>
        </p:nvSpPr>
        <p:spPr>
          <a:xfrm>
            <a:off x="609599" y="5931046"/>
            <a:ext cx="3223645" cy="276999"/>
          </a:xfrm>
          <a:prstGeom prst="rect">
            <a:avLst/>
          </a:prstGeom>
          <a:noFill/>
        </p:spPr>
        <p:txBody>
          <a:bodyPr wrap="square" rtlCol="0">
            <a:spAutoFit/>
          </a:bodyPr>
          <a:lstStyle/>
          <a:p>
            <a:r>
              <a:rPr lang="en-US" sz="1200" i="1" dirty="0"/>
              <a:t>Status quo </a:t>
            </a:r>
            <a:r>
              <a:rPr lang="en-US" sz="1200" i="1"/>
              <a:t>for December</a:t>
            </a:r>
            <a:endParaRPr lang="en-US" sz="1200" i="1" dirty="0"/>
          </a:p>
        </p:txBody>
      </p:sp>
    </p:spTree>
    <p:extLst>
      <p:ext uri="{BB962C8B-B14F-4D97-AF65-F5344CB8AC3E}">
        <p14:creationId xmlns:p14="http://schemas.microsoft.com/office/powerpoint/2010/main" val="3446727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Overall_Feedb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3B90C-E0A3-4AEE-A18A-7331356394A3}"/>
              </a:ext>
            </a:extLst>
          </p:cNvPr>
          <p:cNvSpPr>
            <a:spLocks noGrp="1"/>
          </p:cNvSpPr>
          <p:nvPr>
            <p:ph type="title"/>
          </p:nvPr>
        </p:nvSpPr>
        <p:spPr/>
        <p:txBody>
          <a:bodyPr/>
          <a:lstStyle/>
          <a:p>
            <a:r>
              <a:rPr lang="en-US" dirty="0"/>
              <a:t>Feedback Rate YTD</a:t>
            </a:r>
          </a:p>
        </p:txBody>
      </p:sp>
      <p:sp>
        <p:nvSpPr>
          <p:cNvPr id="5" name="Slide Number Placeholder 4">
            <a:extLst>
              <a:ext uri="{FF2B5EF4-FFF2-40B4-BE49-F238E27FC236}">
                <a16:creationId xmlns:a16="http://schemas.microsoft.com/office/drawing/2014/main" id="{A06045D2-1D29-4E74-9AB0-E39B0831AF7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83E393-C0BF-4ED8-8545-7E4C90AFF831}" type="slidenum">
              <a:rPr kumimoji="0" lang="en-US" sz="9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12058093-73EB-43E0-9D6A-50E94C4C8289}"/>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a:ea typeface="+mn-ea"/>
                <a:cs typeface="+mn-cs"/>
              </a:rPr>
              <a:t>© 2020 Willis Towers Watson. All rights reserved. Proprietary and Confidential. For Willis Towers Watson and Willis Towers Watson client use only.</a:t>
            </a:r>
            <a:endParaRPr kumimoji="0" lang="en-US" sz="600" b="0" i="0" u="none" strike="noStrike" kern="1200" cap="none" spc="0" normalizeH="0" baseline="0" noProof="0" dirty="0">
              <a:ln>
                <a:noFill/>
              </a:ln>
              <a:solidFill>
                <a:prstClr val="black"/>
              </a:solidFill>
              <a:effectLst/>
              <a:uLnTx/>
              <a:uFillTx/>
              <a:latin typeface="Arial"/>
              <a:ea typeface="+mn-ea"/>
              <a:cs typeface="+mn-cs"/>
            </a:endParaRPr>
          </a:p>
        </p:txBody>
      </p:sp>
      <p:pic>
        <p:nvPicPr>
          <p:cNvPr id="4" name="OVF_Pic1">
            <a:extLst>
              <a:ext uri="{FF2B5EF4-FFF2-40B4-BE49-F238E27FC236}">
                <a16:creationId xmlns:a16="http://schemas.microsoft.com/office/drawing/2014/main" id="{E48D5A3F-7581-4568-8841-17C40EF6F919}"/>
              </a:ext>
            </a:extLst>
          </p:cNvPr>
          <p:cNvPicPr>
            <a:picLocks noChangeAspect="1"/>
          </p:cNvPicPr>
          <p:nvPr/>
        </p:nvPicPr>
        <p:blipFill>
          <a:blip r:embed="rId3"/>
          <a:stretch>
            <a:fillRect/>
          </a:stretch>
        </p:blipFill>
        <p:spPr>
          <a:xfrm>
            <a:off x="1104522" y="910139"/>
            <a:ext cx="10223878" cy="5185086"/>
          </a:xfrm>
          <a:prstGeom prst="rect">
            <a:avLst/>
          </a:prstGeom>
        </p:spPr>
      </p:pic>
    </p:spTree>
    <p:extLst>
      <p:ext uri="{BB962C8B-B14F-4D97-AF65-F5344CB8AC3E}">
        <p14:creationId xmlns:p14="http://schemas.microsoft.com/office/powerpoint/2010/main" val="1040740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Feedback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p:txBody>
          <a:bodyPr/>
          <a:lstStyle/>
          <a:p>
            <a:r>
              <a:rPr lang="en-US" dirty="0"/>
              <a:t>Feedback Rate by Office (Q1 vs Q2)</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34</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9" name="F1_Pic1">
            <a:extLst>
              <a:ext uri="{FF2B5EF4-FFF2-40B4-BE49-F238E27FC236}">
                <a16:creationId xmlns:a16="http://schemas.microsoft.com/office/drawing/2014/main" id="{65DFA261-C9B5-43FB-BC6D-7126ABC5D39D}"/>
              </a:ext>
            </a:extLst>
          </p:cNvPr>
          <p:cNvPicPr>
            <a:picLocks noChangeAspect="1"/>
          </p:cNvPicPr>
          <p:nvPr/>
        </p:nvPicPr>
        <p:blipFill>
          <a:blip r:embed="rId2"/>
          <a:stretch>
            <a:fillRect/>
          </a:stretch>
        </p:blipFill>
        <p:spPr>
          <a:xfrm>
            <a:off x="567281" y="759744"/>
            <a:ext cx="11057434" cy="5306063"/>
          </a:xfrm>
          <a:prstGeom prst="rect">
            <a:avLst/>
          </a:prstGeom>
        </p:spPr>
      </p:pic>
    </p:spTree>
    <p:extLst>
      <p:ext uri="{BB962C8B-B14F-4D97-AF65-F5344CB8AC3E}">
        <p14:creationId xmlns:p14="http://schemas.microsoft.com/office/powerpoint/2010/main" val="2384181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Feedback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p:txBody>
          <a:bodyPr/>
          <a:lstStyle/>
          <a:p>
            <a:r>
              <a:rPr lang="en-US" dirty="0"/>
              <a:t>FPA Feedback Rate by Office (Q1 vs Q2)</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35</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8" name="F2_Pic1">
            <a:extLst>
              <a:ext uri="{FF2B5EF4-FFF2-40B4-BE49-F238E27FC236}">
                <a16:creationId xmlns:a16="http://schemas.microsoft.com/office/drawing/2014/main" id="{B694B6CC-7BCC-44BA-92FC-B95393C94987}"/>
              </a:ext>
            </a:extLst>
          </p:cNvPr>
          <p:cNvPicPr>
            <a:picLocks noChangeAspect="1"/>
          </p:cNvPicPr>
          <p:nvPr/>
        </p:nvPicPr>
        <p:blipFill>
          <a:blip r:embed="rId2"/>
          <a:stretch>
            <a:fillRect/>
          </a:stretch>
        </p:blipFill>
        <p:spPr>
          <a:xfrm>
            <a:off x="567282" y="759744"/>
            <a:ext cx="11057434" cy="5306063"/>
          </a:xfrm>
          <a:prstGeom prst="rect">
            <a:avLst/>
          </a:prstGeom>
        </p:spPr>
      </p:pic>
    </p:spTree>
    <p:extLst>
      <p:ext uri="{BB962C8B-B14F-4D97-AF65-F5344CB8AC3E}">
        <p14:creationId xmlns:p14="http://schemas.microsoft.com/office/powerpoint/2010/main" val="1701737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Feedback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B7EFC-C202-4517-BB96-07319278EF35}"/>
              </a:ext>
            </a:extLst>
          </p:cNvPr>
          <p:cNvSpPr>
            <a:spLocks noGrp="1"/>
          </p:cNvSpPr>
          <p:nvPr>
            <p:ph type="title"/>
          </p:nvPr>
        </p:nvSpPr>
        <p:spPr>
          <a:xfrm>
            <a:off x="609599" y="223086"/>
            <a:ext cx="10972800" cy="307777"/>
          </a:xfrm>
        </p:spPr>
        <p:txBody>
          <a:bodyPr/>
          <a:lstStyle/>
          <a:p>
            <a:r>
              <a:rPr lang="en-US" dirty="0"/>
              <a:t>PUT Feedback Rate by Office (Q1 vs Q2)</a:t>
            </a:r>
          </a:p>
        </p:txBody>
      </p:sp>
      <p:sp>
        <p:nvSpPr>
          <p:cNvPr id="5" name="Slide Number Placeholder 4">
            <a:extLst>
              <a:ext uri="{FF2B5EF4-FFF2-40B4-BE49-F238E27FC236}">
                <a16:creationId xmlns:a16="http://schemas.microsoft.com/office/drawing/2014/main" id="{C693D0F0-B459-43D6-B3C0-576B6AE55C57}"/>
              </a:ext>
            </a:extLst>
          </p:cNvPr>
          <p:cNvSpPr>
            <a:spLocks noGrp="1"/>
          </p:cNvSpPr>
          <p:nvPr>
            <p:ph type="sldNum" sz="quarter" idx="4"/>
          </p:nvPr>
        </p:nvSpPr>
        <p:spPr/>
        <p:txBody>
          <a:bodyPr/>
          <a:lstStyle/>
          <a:p>
            <a:fld id="{2083E393-C0BF-4ED8-8545-7E4C90AFF831}" type="slidenum">
              <a:rPr lang="en-US" smtClean="0"/>
              <a:pPr/>
              <a:t>36</a:t>
            </a:fld>
            <a:endParaRPr lang="en-US" dirty="0"/>
          </a:p>
        </p:txBody>
      </p:sp>
      <p:sp>
        <p:nvSpPr>
          <p:cNvPr id="6" name="Footer Placeholder 5">
            <a:extLst>
              <a:ext uri="{FF2B5EF4-FFF2-40B4-BE49-F238E27FC236}">
                <a16:creationId xmlns:a16="http://schemas.microsoft.com/office/drawing/2014/main" id="{542EC64C-8377-411D-93A2-44C62F39D746}"/>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8" name="F3_Pic1">
            <a:extLst>
              <a:ext uri="{FF2B5EF4-FFF2-40B4-BE49-F238E27FC236}">
                <a16:creationId xmlns:a16="http://schemas.microsoft.com/office/drawing/2014/main" id="{FCED1212-C3E4-4F2A-AB3A-EA76EDA9703A}"/>
              </a:ext>
            </a:extLst>
          </p:cNvPr>
          <p:cNvPicPr>
            <a:picLocks noChangeAspect="1"/>
          </p:cNvPicPr>
          <p:nvPr/>
        </p:nvPicPr>
        <p:blipFill>
          <a:blip r:embed="rId3"/>
          <a:stretch>
            <a:fillRect/>
          </a:stretch>
        </p:blipFill>
        <p:spPr>
          <a:xfrm>
            <a:off x="345972" y="1109749"/>
            <a:ext cx="11236426" cy="5391955"/>
          </a:xfrm>
          <a:prstGeom prst="rect">
            <a:avLst/>
          </a:prstGeom>
        </p:spPr>
      </p:pic>
    </p:spTree>
    <p:extLst>
      <p:ext uri="{BB962C8B-B14F-4D97-AF65-F5344CB8AC3E}">
        <p14:creationId xmlns:p14="http://schemas.microsoft.com/office/powerpoint/2010/main" val="23161498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Feedback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p:txBody>
          <a:bodyPr>
            <a:normAutofit fontScale="90000"/>
          </a:bodyPr>
          <a:lstStyle/>
          <a:p>
            <a:r>
              <a:rPr lang="en-US" dirty="0"/>
              <a:t>IBNR Feedback Rate by Office (Q1 vs Q2)</a:t>
            </a:r>
            <a:br>
              <a:rPr lang="en-US" dirty="0"/>
            </a:br>
            <a:endParaRPr lang="en-US" dirty="0"/>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37</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8" name="F4_Pic1">
            <a:extLst>
              <a:ext uri="{FF2B5EF4-FFF2-40B4-BE49-F238E27FC236}">
                <a16:creationId xmlns:a16="http://schemas.microsoft.com/office/drawing/2014/main" id="{C47847B2-EA9A-4CF7-82E1-C1DC32F6F3E9}"/>
              </a:ext>
            </a:extLst>
          </p:cNvPr>
          <p:cNvPicPr>
            <a:picLocks noChangeAspect="1"/>
          </p:cNvPicPr>
          <p:nvPr/>
        </p:nvPicPr>
        <p:blipFill>
          <a:blip r:embed="rId2"/>
          <a:stretch>
            <a:fillRect/>
          </a:stretch>
        </p:blipFill>
        <p:spPr>
          <a:xfrm>
            <a:off x="609597" y="764978"/>
            <a:ext cx="11057434" cy="5306063"/>
          </a:xfrm>
          <a:prstGeom prst="rect">
            <a:avLst/>
          </a:prstGeom>
        </p:spPr>
      </p:pic>
    </p:spTree>
    <p:extLst>
      <p:ext uri="{BB962C8B-B14F-4D97-AF65-F5344CB8AC3E}">
        <p14:creationId xmlns:p14="http://schemas.microsoft.com/office/powerpoint/2010/main" val="20957535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Feedback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p:txBody>
          <a:bodyPr>
            <a:normAutofit/>
          </a:bodyPr>
          <a:lstStyle/>
          <a:p>
            <a:r>
              <a:rPr lang="en-US" dirty="0"/>
              <a:t>FBS Feedback Rate by Office (Q1 vs Q2)</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38</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8" name="F5_Pic1">
            <a:extLst>
              <a:ext uri="{FF2B5EF4-FFF2-40B4-BE49-F238E27FC236}">
                <a16:creationId xmlns:a16="http://schemas.microsoft.com/office/drawing/2014/main" id="{1A630D51-F090-496D-89EA-2C351FC188D9}"/>
              </a:ext>
            </a:extLst>
          </p:cNvPr>
          <p:cNvPicPr>
            <a:picLocks noChangeAspect="1"/>
          </p:cNvPicPr>
          <p:nvPr/>
        </p:nvPicPr>
        <p:blipFill>
          <a:blip r:embed="rId2"/>
          <a:stretch>
            <a:fillRect/>
          </a:stretch>
        </p:blipFill>
        <p:spPr>
          <a:xfrm>
            <a:off x="609596" y="764978"/>
            <a:ext cx="11057434" cy="5306063"/>
          </a:xfrm>
          <a:prstGeom prst="rect">
            <a:avLst/>
          </a:prstGeom>
        </p:spPr>
      </p:pic>
    </p:spTree>
    <p:extLst>
      <p:ext uri="{BB962C8B-B14F-4D97-AF65-F5344CB8AC3E}">
        <p14:creationId xmlns:p14="http://schemas.microsoft.com/office/powerpoint/2010/main" val="33528318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Feedback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p:txBody>
          <a:bodyPr>
            <a:normAutofit/>
          </a:bodyPr>
          <a:lstStyle/>
          <a:p>
            <a:r>
              <a:rPr lang="en-US" dirty="0" err="1"/>
              <a:t>HealthMaps</a:t>
            </a:r>
            <a:r>
              <a:rPr lang="en-US" dirty="0"/>
              <a:t> Feedback Rate by Office (Q1 vs Q2)</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39</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4" name="F6_Pic1">
            <a:extLst>
              <a:ext uri="{FF2B5EF4-FFF2-40B4-BE49-F238E27FC236}">
                <a16:creationId xmlns:a16="http://schemas.microsoft.com/office/drawing/2014/main" id="{08429675-BC5F-44E3-8BB3-3AD3BA0098F6}"/>
              </a:ext>
            </a:extLst>
          </p:cNvPr>
          <p:cNvPicPr>
            <a:picLocks noChangeAspect="1"/>
          </p:cNvPicPr>
          <p:nvPr/>
        </p:nvPicPr>
        <p:blipFill>
          <a:blip r:embed="rId2"/>
          <a:stretch>
            <a:fillRect/>
          </a:stretch>
        </p:blipFill>
        <p:spPr>
          <a:xfrm>
            <a:off x="609595" y="764978"/>
            <a:ext cx="11057434" cy="5306063"/>
          </a:xfrm>
          <a:prstGeom prst="rect">
            <a:avLst/>
          </a:prstGeom>
        </p:spPr>
      </p:pic>
    </p:spTree>
    <p:extLst>
      <p:ext uri="{BB962C8B-B14F-4D97-AF65-F5344CB8AC3E}">
        <p14:creationId xmlns:p14="http://schemas.microsoft.com/office/powerpoint/2010/main" val="693465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Feedback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p:txBody>
          <a:bodyPr>
            <a:normAutofit/>
          </a:bodyPr>
          <a:lstStyle/>
          <a:p>
            <a:r>
              <a:rPr lang="en-US" dirty="0"/>
              <a:t>PCORI Feedback Rate by Office (Q1 vs Q2)</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40</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7" name="F7_Pic1">
            <a:extLst>
              <a:ext uri="{FF2B5EF4-FFF2-40B4-BE49-F238E27FC236}">
                <a16:creationId xmlns:a16="http://schemas.microsoft.com/office/drawing/2014/main" id="{BEF31E73-5418-4A36-AF14-26ACAC641047}"/>
              </a:ext>
            </a:extLst>
          </p:cNvPr>
          <p:cNvPicPr>
            <a:picLocks noChangeAspect="1"/>
          </p:cNvPicPr>
          <p:nvPr/>
        </p:nvPicPr>
        <p:blipFill>
          <a:blip r:embed="rId2"/>
          <a:stretch>
            <a:fillRect/>
          </a:stretch>
        </p:blipFill>
        <p:spPr>
          <a:xfrm>
            <a:off x="609594" y="764978"/>
            <a:ext cx="11057434" cy="5306063"/>
          </a:xfrm>
          <a:prstGeom prst="rect">
            <a:avLst/>
          </a:prstGeom>
        </p:spPr>
      </p:pic>
    </p:spTree>
    <p:extLst>
      <p:ext uri="{BB962C8B-B14F-4D97-AF65-F5344CB8AC3E}">
        <p14:creationId xmlns:p14="http://schemas.microsoft.com/office/powerpoint/2010/main" val="8102353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TQS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a:xfrm>
            <a:off x="609600" y="403601"/>
            <a:ext cx="10972800" cy="307777"/>
          </a:xfrm>
        </p:spPr>
        <p:txBody>
          <a:bodyPr>
            <a:normAutofit/>
          </a:bodyPr>
          <a:lstStyle/>
          <a:p>
            <a:r>
              <a:rPr lang="en-US" dirty="0"/>
              <a:t>Total Quality Score (YTD)</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41</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8" name="TQS1_Pic1">
            <a:extLst>
              <a:ext uri="{FF2B5EF4-FFF2-40B4-BE49-F238E27FC236}">
                <a16:creationId xmlns:a16="http://schemas.microsoft.com/office/drawing/2014/main" id="{99C5D483-A448-4534-8012-4AD3C563F6A3}"/>
              </a:ext>
            </a:extLst>
          </p:cNvPr>
          <p:cNvPicPr>
            <a:picLocks noChangeAspect="1"/>
          </p:cNvPicPr>
          <p:nvPr/>
        </p:nvPicPr>
        <p:blipFill>
          <a:blip r:embed="rId2"/>
          <a:stretch>
            <a:fillRect/>
          </a:stretch>
        </p:blipFill>
        <p:spPr>
          <a:xfrm>
            <a:off x="647832" y="936331"/>
            <a:ext cx="10680569" cy="5125220"/>
          </a:xfrm>
          <a:prstGeom prst="rect">
            <a:avLst/>
          </a:prstGeom>
        </p:spPr>
      </p:pic>
    </p:spTree>
    <p:extLst>
      <p:ext uri="{BB962C8B-B14F-4D97-AF65-F5344CB8AC3E}">
        <p14:creationId xmlns:p14="http://schemas.microsoft.com/office/powerpoint/2010/main" val="6837698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TQS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a:xfrm>
            <a:off x="609600" y="403601"/>
            <a:ext cx="10972800" cy="307777"/>
          </a:xfrm>
        </p:spPr>
        <p:txBody>
          <a:bodyPr>
            <a:normAutofit/>
          </a:bodyPr>
          <a:lstStyle/>
          <a:p>
            <a:r>
              <a:rPr lang="en-US" dirty="0"/>
              <a:t>Total Quality Score (Q1 vs Q2)</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42</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4" name="TQS2_Pic1">
            <a:extLst>
              <a:ext uri="{FF2B5EF4-FFF2-40B4-BE49-F238E27FC236}">
                <a16:creationId xmlns:a16="http://schemas.microsoft.com/office/drawing/2014/main" id="{5BC88EEA-885B-482C-97C2-CC25EE7A0FE6}"/>
              </a:ext>
            </a:extLst>
          </p:cNvPr>
          <p:cNvPicPr>
            <a:picLocks noChangeAspect="1"/>
          </p:cNvPicPr>
          <p:nvPr/>
        </p:nvPicPr>
        <p:blipFill>
          <a:blip r:embed="rId2"/>
          <a:stretch>
            <a:fillRect/>
          </a:stretch>
        </p:blipFill>
        <p:spPr>
          <a:xfrm>
            <a:off x="647833" y="936331"/>
            <a:ext cx="10680569" cy="5125220"/>
          </a:xfrm>
          <a:prstGeom prst="rect">
            <a:avLst/>
          </a:prstGeom>
        </p:spPr>
      </p:pic>
    </p:spTree>
    <p:extLst>
      <p:ext uri="{BB962C8B-B14F-4D97-AF65-F5344CB8AC3E}">
        <p14:creationId xmlns:p14="http://schemas.microsoft.com/office/powerpoint/2010/main" val="31510624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TQS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a:xfrm>
            <a:off x="609600" y="403601"/>
            <a:ext cx="10972800" cy="307777"/>
          </a:xfrm>
        </p:spPr>
        <p:txBody>
          <a:bodyPr>
            <a:normAutofit/>
          </a:bodyPr>
          <a:lstStyle/>
          <a:p>
            <a:r>
              <a:rPr lang="en-US" dirty="0"/>
              <a:t>Total Quality Score (YTD)</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43</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7" name="TQS3_Pic1">
            <a:extLst>
              <a:ext uri="{FF2B5EF4-FFF2-40B4-BE49-F238E27FC236}">
                <a16:creationId xmlns:a16="http://schemas.microsoft.com/office/drawing/2014/main" id="{DD44AF76-A7C7-4381-B5C6-C0203784667C}"/>
              </a:ext>
            </a:extLst>
          </p:cNvPr>
          <p:cNvPicPr>
            <a:picLocks noChangeAspect="1"/>
          </p:cNvPicPr>
          <p:nvPr/>
        </p:nvPicPr>
        <p:blipFill>
          <a:blip r:embed="rId2"/>
          <a:stretch>
            <a:fillRect/>
          </a:stretch>
        </p:blipFill>
        <p:spPr>
          <a:xfrm>
            <a:off x="647834" y="936331"/>
            <a:ext cx="10680569" cy="5125220"/>
          </a:xfrm>
          <a:prstGeom prst="rect">
            <a:avLst/>
          </a:prstGeom>
        </p:spPr>
      </p:pic>
    </p:spTree>
    <p:extLst>
      <p:ext uri="{BB962C8B-B14F-4D97-AF65-F5344CB8AC3E}">
        <p14:creationId xmlns:p14="http://schemas.microsoft.com/office/powerpoint/2010/main" val="1099918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TQS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785C-FA62-416A-A8FD-6244AAC1E5A5}"/>
              </a:ext>
            </a:extLst>
          </p:cNvPr>
          <p:cNvSpPr>
            <a:spLocks noGrp="1"/>
          </p:cNvSpPr>
          <p:nvPr>
            <p:ph type="title"/>
          </p:nvPr>
        </p:nvSpPr>
        <p:spPr>
          <a:xfrm>
            <a:off x="609600" y="403601"/>
            <a:ext cx="10972800" cy="307777"/>
          </a:xfrm>
        </p:spPr>
        <p:txBody>
          <a:bodyPr>
            <a:normAutofit/>
          </a:bodyPr>
          <a:lstStyle/>
          <a:p>
            <a:r>
              <a:rPr lang="en-US" dirty="0"/>
              <a:t>Total Quality Score (YTD)</a:t>
            </a:r>
          </a:p>
        </p:txBody>
      </p:sp>
      <p:sp>
        <p:nvSpPr>
          <p:cNvPr id="5" name="Slide Number Placeholder 4">
            <a:extLst>
              <a:ext uri="{FF2B5EF4-FFF2-40B4-BE49-F238E27FC236}">
                <a16:creationId xmlns:a16="http://schemas.microsoft.com/office/drawing/2014/main" id="{8C72A31C-E215-48BA-85D8-B62BDAAF044A}"/>
              </a:ext>
            </a:extLst>
          </p:cNvPr>
          <p:cNvSpPr>
            <a:spLocks noGrp="1"/>
          </p:cNvSpPr>
          <p:nvPr>
            <p:ph type="sldNum" sz="quarter" idx="4"/>
          </p:nvPr>
        </p:nvSpPr>
        <p:spPr/>
        <p:txBody>
          <a:bodyPr/>
          <a:lstStyle/>
          <a:p>
            <a:fld id="{2083E393-C0BF-4ED8-8545-7E4C90AFF831}" type="slidenum">
              <a:rPr lang="en-US" smtClean="0"/>
              <a:pPr/>
              <a:t>44</a:t>
            </a:fld>
            <a:endParaRPr lang="en-US" dirty="0"/>
          </a:p>
        </p:txBody>
      </p:sp>
      <p:sp>
        <p:nvSpPr>
          <p:cNvPr id="6" name="Footer Placeholder 5">
            <a:extLst>
              <a:ext uri="{FF2B5EF4-FFF2-40B4-BE49-F238E27FC236}">
                <a16:creationId xmlns:a16="http://schemas.microsoft.com/office/drawing/2014/main" id="{802BF71D-008B-4F09-BD57-80C47CB1ACD4}"/>
              </a:ext>
            </a:extLst>
          </p:cNvPr>
          <p:cNvSpPr>
            <a:spLocks noGrp="1"/>
          </p:cNvSpPr>
          <p:nvPr>
            <p:ph type="ftr" sz="quarter" idx="3"/>
          </p:nvPr>
        </p:nvSpPr>
        <p:spPr/>
        <p:txBody>
          <a:bodyPr/>
          <a:lstStyle/>
          <a:p>
            <a:r>
              <a:rPr lang="en-US"/>
              <a:t>© 2021 Willis Towers Watson. All rights reserved. Proprietary and Confidential. For Willis Towers Watson and Willis Towers Watson client use only.</a:t>
            </a:r>
            <a:endParaRPr lang="en-US" dirty="0"/>
          </a:p>
        </p:txBody>
      </p:sp>
      <p:pic>
        <p:nvPicPr>
          <p:cNvPr id="3" name="TQS4_Pic1">
            <a:extLst>
              <a:ext uri="{FF2B5EF4-FFF2-40B4-BE49-F238E27FC236}">
                <a16:creationId xmlns:a16="http://schemas.microsoft.com/office/drawing/2014/main" id="{19C8FAC4-0F75-4B25-A115-B23E9394E570}"/>
              </a:ext>
            </a:extLst>
          </p:cNvPr>
          <p:cNvPicPr>
            <a:picLocks noChangeAspect="1"/>
          </p:cNvPicPr>
          <p:nvPr/>
        </p:nvPicPr>
        <p:blipFill>
          <a:blip r:embed="rId2"/>
          <a:stretch>
            <a:fillRect/>
          </a:stretch>
        </p:blipFill>
        <p:spPr>
          <a:xfrm>
            <a:off x="647834" y="936331"/>
            <a:ext cx="10680569" cy="5125220"/>
          </a:xfrm>
          <a:prstGeom prst="rect">
            <a:avLst/>
          </a:prstGeom>
        </p:spPr>
      </p:pic>
    </p:spTree>
    <p:extLst>
      <p:ext uri="{BB962C8B-B14F-4D97-AF65-F5344CB8AC3E}">
        <p14:creationId xmlns:p14="http://schemas.microsoft.com/office/powerpoint/2010/main" val="25599235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T_FOOTER" val="Watermark"/>
  <p:tag name="TAGPREFIX" val="WT_"/>
  <p:tag name="WT_TEMPLATENAME" val="WTW.pptx"/>
  <p:tag name="WT_CREATEDATE" val="14 March 2017"/>
  <p:tag name="WT_DPI" val=""/>
</p:tagLst>
</file>

<file path=ppt/tags/tag2.xml><?xml version="1.0" encoding="utf-8"?>
<p:tagLst xmlns:a="http://schemas.openxmlformats.org/drawingml/2006/main" xmlns:r="http://schemas.openxmlformats.org/officeDocument/2006/relationships" xmlns:p="http://schemas.openxmlformats.org/presentationml/2006/main">
  <p:tag name="TW_FOOTER" val="Watermark"/>
  <p:tag name="WT_FOOTER" val="Watermark"/>
</p:tagLst>
</file>

<file path=ppt/tags/tag3.xml><?xml version="1.0" encoding="utf-8"?>
<p:tagLst xmlns:a="http://schemas.openxmlformats.org/drawingml/2006/main" xmlns:r="http://schemas.openxmlformats.org/officeDocument/2006/relationships" xmlns:p="http://schemas.openxmlformats.org/presentationml/2006/main">
  <p:tag name="WT_DIALOGNAME" val="Title Image Slide"/>
  <p:tag name="WT_SHORTNAME" val="BASIC"/>
  <p:tag name="WT_ASSOCIATEDSLIDES" val=""/>
  <p:tag name="WT_INNEWPRESENTATION" val="YES"/>
  <p:tag name="WT_ONINSERTSLIDEDLG" val="YES"/>
</p:tagLst>
</file>

<file path=ppt/tags/tag4.xml><?xml version="1.0" encoding="utf-8"?>
<p:tagLst xmlns:a="http://schemas.openxmlformats.org/drawingml/2006/main" xmlns:r="http://schemas.openxmlformats.org/officeDocument/2006/relationships" xmlns:p="http://schemas.openxmlformats.org/presentationml/2006/main">
  <p:tag name="WT_DELETETEXT" val="YES"/>
</p:tagLst>
</file>

<file path=ppt/tags/tag5.xml><?xml version="1.0" encoding="utf-8"?>
<p:tagLst xmlns:a="http://schemas.openxmlformats.org/drawingml/2006/main" xmlns:r="http://schemas.openxmlformats.org/officeDocument/2006/relationships" xmlns:p="http://schemas.openxmlformats.org/presentationml/2006/main">
  <p:tag name="WT_DELETETEXT" val="YES"/>
</p:tagLst>
</file>

<file path=ppt/tags/tag6.xml><?xml version="1.0" encoding="utf-8"?>
<p:tagLst xmlns:a="http://schemas.openxmlformats.org/drawingml/2006/main" xmlns:r="http://schemas.openxmlformats.org/officeDocument/2006/relationships" xmlns:p="http://schemas.openxmlformats.org/presentationml/2006/main">
  <p:tag name="WT_DELETETEXT" val="YES"/>
</p:tagLst>
</file>

<file path=ppt/tags/tag7.xml><?xml version="1.0" encoding="utf-8"?>
<p:tagLst xmlns:a="http://schemas.openxmlformats.org/drawingml/2006/main" xmlns:r="http://schemas.openxmlformats.org/officeDocument/2006/relationships" xmlns:p="http://schemas.openxmlformats.org/presentationml/2006/main">
  <p:tag name="WT_DIALOGNAME" val=""/>
  <p:tag name="WT_SHORTNAME" val=""/>
  <p:tag name="WT_ASSOCIATEDSLIDES" val=""/>
  <p:tag name="WT_INNEWPRESENTATION" val="YES"/>
  <p:tag name="WT_ONINSERTSLIDEDLG" val="NO"/>
</p:tagLst>
</file>

<file path=ppt/tags/tag8.xml><?xml version="1.0" encoding="utf-8"?>
<p:tagLst xmlns:a="http://schemas.openxmlformats.org/drawingml/2006/main" xmlns:r="http://schemas.openxmlformats.org/officeDocument/2006/relationships" xmlns:p="http://schemas.openxmlformats.org/presentationml/2006/main">
  <p:tag name="WT_DELETETEXT" val="YES"/>
</p:tagLst>
</file>

<file path=ppt/tags/tag9.xml><?xml version="1.0" encoding="utf-8"?>
<p:tagLst xmlns:a="http://schemas.openxmlformats.org/drawingml/2006/main" xmlns:r="http://schemas.openxmlformats.org/officeDocument/2006/relationships" xmlns:p="http://schemas.openxmlformats.org/presentationml/2006/main">
  <p:tag name="WT_DIALOGNAME" val="One-Column Slide with Basic Bullets"/>
  <p:tag name="WT_SHORTNAME" val="BASIC"/>
  <p:tag name="WT_ASSOCIATEDSLIDES" val=""/>
  <p:tag name="WT_INNEWPRESENTATION" val="YES"/>
  <p:tag name="WT_ONINSERTSLIDEDLG" val="YES"/>
</p:tagLst>
</file>

<file path=ppt/tags/tag10.xml><?xml version="1.0" encoding="utf-8"?>
<p:tagLst xmlns:a="http://schemas.openxmlformats.org/drawingml/2006/main" xmlns:r="http://schemas.openxmlformats.org/officeDocument/2006/relationships" xmlns:p="http://schemas.openxmlformats.org/presentationml/2006/main">
  <p:tag name="WT_DELETETEXT" val="YES"/>
</p:tagLst>
</file>

<file path=ppt/tags/tag11.xml><?xml version="1.0" encoding="utf-8"?>
<p:tagLst xmlns:a="http://schemas.openxmlformats.org/drawingml/2006/main" xmlns:r="http://schemas.openxmlformats.org/officeDocument/2006/relationships" xmlns:p="http://schemas.openxmlformats.org/presentationml/2006/main">
  <p:tag name="WT_DELETETEXT" val="YES"/>
</p:tagLst>
</file>

<file path=ppt/tags/tag12.xml><?xml version="1.0" encoding="utf-8"?>
<p:tagLst xmlns:a="http://schemas.openxmlformats.org/drawingml/2006/main" xmlns:r="http://schemas.openxmlformats.org/officeDocument/2006/relationships" xmlns:p="http://schemas.openxmlformats.org/presentationml/2006/main">
  <p:tag name="WT_DIALOGNAME" val="One-Column Slide with Basic Bullets"/>
  <p:tag name="WT_SHORTNAME" val="BASIC"/>
  <p:tag name="WT_ASSOCIATEDSLIDES" val=""/>
  <p:tag name="WT_INNEWPRESENTATION" val="YES"/>
  <p:tag name="WT_ONINSERTSLIDEDLG" val="YES"/>
</p:tagLst>
</file>

<file path=ppt/tags/tag13.xml><?xml version="1.0" encoding="utf-8"?>
<p:tagLst xmlns:a="http://schemas.openxmlformats.org/drawingml/2006/main" xmlns:r="http://schemas.openxmlformats.org/officeDocument/2006/relationships" xmlns:p="http://schemas.openxmlformats.org/presentationml/2006/main">
  <p:tag name="WT_DELETETEXT" val="YES"/>
</p:tagLst>
</file>

<file path=ppt/tags/tag14.xml><?xml version="1.0" encoding="utf-8"?>
<p:tagLst xmlns:a="http://schemas.openxmlformats.org/drawingml/2006/main" xmlns:r="http://schemas.openxmlformats.org/officeDocument/2006/relationships" xmlns:p="http://schemas.openxmlformats.org/presentationml/2006/main">
  <p:tag name="TW_DELETETEXT" val="YES"/>
</p:tagLst>
</file>

<file path=ppt/tags/tag15.xml><?xml version="1.0" encoding="utf-8"?>
<p:tagLst xmlns:a="http://schemas.openxmlformats.org/drawingml/2006/main" xmlns:r="http://schemas.openxmlformats.org/officeDocument/2006/relationships" xmlns:p="http://schemas.openxmlformats.org/presentationml/2006/main">
  <p:tag name="TW_DELETETEXT" val="YES"/>
</p:tagLst>
</file>

<file path=ppt/tags/tag16.xml><?xml version="1.0" encoding="utf-8"?>
<p:tagLst xmlns:a="http://schemas.openxmlformats.org/drawingml/2006/main" xmlns:r="http://schemas.openxmlformats.org/officeDocument/2006/relationships" xmlns:p="http://schemas.openxmlformats.org/presentationml/2006/main">
  <p:tag name="TW_DELETETEXT" val="YES"/>
</p:tagLst>
</file>

<file path=ppt/tags/tag17.xml><?xml version="1.0" encoding="utf-8"?>
<p:tagLst xmlns:a="http://schemas.openxmlformats.org/drawingml/2006/main" xmlns:r="http://schemas.openxmlformats.org/officeDocument/2006/relationships" xmlns:p="http://schemas.openxmlformats.org/presentationml/2006/main">
  <p:tag name="TW_DELETETEXT" val="YES"/>
</p:tagLst>
</file>

<file path=ppt/theme/theme1.xml><?xml version="1.0" encoding="utf-8"?>
<a:theme xmlns:a="http://schemas.openxmlformats.org/drawingml/2006/main" name="WTW">
  <a:themeElements>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WTW Light Gray">
      <a:srgbClr val="D8DBD8"/>
    </a:custClr>
    <a:custClr name="WTW Light Violet">
      <a:srgbClr val="D8D7DF"/>
    </a:custClr>
    <a:custClr name="WTW Pink">
      <a:srgbClr val="DDD0CF"/>
    </a:custClr>
    <a:custClr name="WTW Light Blue">
      <a:srgbClr val="C8D7DF"/>
    </a:custClr>
    <a:custClr name="WTW Light Green">
      <a:srgbClr val="D9E6DC"/>
    </a:custClr>
    <a:custClr name="WTW Light Sand">
      <a:srgbClr val="EFEEDE"/>
    </a:custClr>
  </a:custClrLst>
  <a:extLst>
    <a:ext uri="{05A4C25C-085E-4340-85A3-A5531E510DB2}">
      <thm15:themeFamily xmlns:thm15="http://schemas.microsoft.com/office/thememl/2012/main" name="Presentation461" id="{D9369743-1FF6-46BD-812F-C556575F0977}" vid="{2F04C674-D7EA-43AC-ABA7-288918924A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BA0AC98B397C44180CA570C5AC6522F" ma:contentTypeVersion="13" ma:contentTypeDescription="Create a new document." ma:contentTypeScope="" ma:versionID="5b1cfa79dbcc9bce85c744613cea18e5">
  <xsd:schema xmlns:xsd="http://www.w3.org/2001/XMLSchema" xmlns:xs="http://www.w3.org/2001/XMLSchema" xmlns:p="http://schemas.microsoft.com/office/2006/metadata/properties" xmlns:ns3="f7bf8130-f91d-4f7b-868e-4e084862a058" xmlns:ns4="141f7dfb-76f3-470c-98c5-2c93a645396e" targetNamespace="http://schemas.microsoft.com/office/2006/metadata/properties" ma:root="true" ma:fieldsID="671dff4c161ed92dd6c7f6efeac5403d" ns3:_="" ns4:_="">
    <xsd:import namespace="f7bf8130-f91d-4f7b-868e-4e084862a058"/>
    <xsd:import namespace="141f7dfb-76f3-470c-98c5-2c93a645396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bf8130-f91d-4f7b-868e-4e084862a0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41f7dfb-76f3-470c-98c5-2c93a645396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B77D69-0F8A-497A-84E0-43B43AD2ABA3}">
  <ds:schemaRefs>
    <ds:schemaRef ds:uri="http://schemas.microsoft.com/sharepoint/v3/contenttype/forms"/>
  </ds:schemaRefs>
</ds:datastoreItem>
</file>

<file path=customXml/itemProps2.xml><?xml version="1.0" encoding="utf-8"?>
<ds:datastoreItem xmlns:ds="http://schemas.openxmlformats.org/officeDocument/2006/customXml" ds:itemID="{26E012AD-ADC9-49A4-B385-76342EC44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bf8130-f91d-4f7b-868e-4e084862a058"/>
    <ds:schemaRef ds:uri="141f7dfb-76f3-470c-98c5-2c93a64539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98C15D-B00F-485D-A66E-7B6C8AA6EE97}">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f7bf8130-f91d-4f7b-868e-4e084862a058"/>
    <ds:schemaRef ds:uri="http://purl.org/dc/terms/"/>
    <ds:schemaRef ds:uri="http://schemas.openxmlformats.org/package/2006/metadata/core-properties"/>
    <ds:schemaRef ds:uri="141f7dfb-76f3-470c-98c5-2c93a645396e"/>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WTW</Template>
  <TotalTime>6433</TotalTime>
  <Words>4598</Words>
  <Application>Microsoft Office PowerPoint</Application>
  <PresentationFormat>Widescreen</PresentationFormat>
  <Paragraphs>933</Paragraphs>
  <Slides>44</Slides>
  <Notes>26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0" baseType="lpstr">
      <vt:lpstr>Arial</vt:lpstr>
      <vt:lpstr>Arial Narrow</vt:lpstr>
      <vt:lpstr>Calibri</vt:lpstr>
      <vt:lpstr>Wingdings</vt:lpstr>
      <vt:lpstr>WTW</vt:lpstr>
      <vt:lpstr>Worksheet</vt:lpstr>
      <vt:lpstr>H&amp;B NA Global Data Management: Metrics Report</vt:lpstr>
      <vt:lpstr>Executive Summary</vt:lpstr>
      <vt:lpstr>H&amp;B NA Manila Team Risk Management</vt:lpstr>
      <vt:lpstr>Financials</vt:lpstr>
      <vt:lpstr>Financials</vt:lpstr>
      <vt:lpstr>Financials</vt:lpstr>
      <vt:lpstr>Financials</vt:lpstr>
      <vt:lpstr>Financials</vt:lpstr>
      <vt:lpstr>Financials</vt:lpstr>
      <vt:lpstr>Financials</vt:lpstr>
      <vt:lpstr>Financials</vt:lpstr>
      <vt:lpstr>Financials</vt:lpstr>
      <vt:lpstr>Financials</vt:lpstr>
      <vt:lpstr>Excellence</vt:lpstr>
      <vt:lpstr>Excellence</vt:lpstr>
      <vt:lpstr>Excellence</vt:lpstr>
      <vt:lpstr>Excellence</vt:lpstr>
      <vt:lpstr>Excellence</vt:lpstr>
      <vt:lpstr>Excellence</vt:lpstr>
      <vt:lpstr>Excellence</vt:lpstr>
      <vt:lpstr>Excellence</vt:lpstr>
      <vt:lpstr>Excellence</vt:lpstr>
      <vt:lpstr>Excellence</vt:lpstr>
      <vt:lpstr>Excellence</vt:lpstr>
      <vt:lpstr>Clients</vt:lpstr>
      <vt:lpstr>Excellence</vt:lpstr>
      <vt:lpstr>Excellence</vt:lpstr>
      <vt:lpstr>Excellence</vt:lpstr>
      <vt:lpstr>Appendix</vt:lpstr>
      <vt:lpstr>About This Report</vt:lpstr>
      <vt:lpstr>Productivity Computation</vt:lpstr>
      <vt:lpstr>People</vt:lpstr>
      <vt:lpstr>Feedback Rate YTD</vt:lpstr>
      <vt:lpstr>Feedback Rate by Office (Q1 vs Q2)</vt:lpstr>
      <vt:lpstr>FPA Feedback Rate by Office (Q1 vs Q2)</vt:lpstr>
      <vt:lpstr>PUT Feedback Rate by Office (Q1 vs Q2)</vt:lpstr>
      <vt:lpstr>IBNR Feedback Rate by Office (Q1 vs Q2) </vt:lpstr>
      <vt:lpstr>FBS Feedback Rate by Office (Q1 vs Q2)</vt:lpstr>
      <vt:lpstr>HealthMaps Feedback Rate by Office (Q1 vs Q2)</vt:lpstr>
      <vt:lpstr>PCORI Feedback Rate by Office (Q1 vs Q2)</vt:lpstr>
      <vt:lpstr>Total Quality Score (YTD)</vt:lpstr>
      <vt:lpstr>Total Quality Score (Q1 vs Q2)</vt:lpstr>
      <vt:lpstr>Total Quality Score (YTD)</vt:lpstr>
      <vt:lpstr>Total Quality Score (YTD)</vt:lpstr>
    </vt:vector>
  </TitlesOfParts>
  <Company>Willis Towers Watson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Capulong, Adrian (Manila)</dc:creator>
  <cp:lastModifiedBy>Valdez, Ronald Kyle (Taguig City 1634)</cp:lastModifiedBy>
  <cp:revision>842</cp:revision>
  <cp:lastPrinted>2017-01-10T23:11:46Z</cp:lastPrinted>
  <dcterms:created xsi:type="dcterms:W3CDTF">2020-09-08T10:42:09Z</dcterms:created>
  <dcterms:modified xsi:type="dcterms:W3CDTF">2021-08-02T03:26:08Z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atermark">
    <vt:lpwstr/>
  </property>
  <property fmtid="{D5CDD505-2E9C-101B-9397-08002B2CF9AE}" pid="3" name="ContentTypeId">
    <vt:lpwstr>0x0101007BA0AC98B397C44180CA570C5AC6522F</vt:lpwstr>
  </property>
  <property fmtid="{D5CDD505-2E9C-101B-9397-08002B2CF9AE}" pid="4" name="MSIP_Label_d347b247-e90e-43a3-9d7b-004f14ae6873_Enabled">
    <vt:lpwstr>true</vt:lpwstr>
  </property>
  <property fmtid="{D5CDD505-2E9C-101B-9397-08002B2CF9AE}" pid="5" name="MSIP_Label_d347b247-e90e-43a3-9d7b-004f14ae6873_SetDate">
    <vt:lpwstr>2021-06-19T16:01:05Z</vt:lpwstr>
  </property>
  <property fmtid="{D5CDD505-2E9C-101B-9397-08002B2CF9AE}" pid="6" name="MSIP_Label_d347b247-e90e-43a3-9d7b-004f14ae6873_Method">
    <vt:lpwstr>Standard</vt:lpwstr>
  </property>
  <property fmtid="{D5CDD505-2E9C-101B-9397-08002B2CF9AE}" pid="7" name="MSIP_Label_d347b247-e90e-43a3-9d7b-004f14ae6873_Name">
    <vt:lpwstr>d347b247-e90e-43a3-9d7b-004f14ae6873</vt:lpwstr>
  </property>
  <property fmtid="{D5CDD505-2E9C-101B-9397-08002B2CF9AE}" pid="8" name="MSIP_Label_d347b247-e90e-43a3-9d7b-004f14ae6873_SiteId">
    <vt:lpwstr>76e3921f-489b-4b7e-9547-9ea297add9b5</vt:lpwstr>
  </property>
  <property fmtid="{D5CDD505-2E9C-101B-9397-08002B2CF9AE}" pid="9" name="MSIP_Label_d347b247-e90e-43a3-9d7b-004f14ae6873_ActionId">
    <vt:lpwstr>26fe52a7-e461-4d07-9ef5-be95787fdb72</vt:lpwstr>
  </property>
  <property fmtid="{D5CDD505-2E9C-101B-9397-08002B2CF9AE}" pid="10" name="MSIP_Label_d347b247-e90e-43a3-9d7b-004f14ae6873_ContentBits">
    <vt:lpwstr>0</vt:lpwstr>
  </property>
</Properties>
</file>